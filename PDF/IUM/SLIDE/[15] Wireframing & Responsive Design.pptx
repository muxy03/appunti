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Amatic SC"/>
      <p:regular r:id="rId45"/>
      <p:bold r:id="rId46"/>
    </p:embeddedFont>
    <p:embeddedFont>
      <p:font typeface="Source Code Pro"/>
      <p:regular r:id="rId47"/>
      <p:bold r:id="rId48"/>
      <p:italic r:id="rId49"/>
      <p:boldItalic r:id="rId50"/>
    </p:embeddedFont>
    <p:embeddedFont>
      <p:font typeface="Proxima Nova Semibold"/>
      <p:regular r:id="rId51"/>
      <p:bold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AmaticSC-bold.fntdata"/><Relationship Id="rId45" Type="http://schemas.openxmlformats.org/officeDocument/2006/relationships/font" Target="fonts/AmaticS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ourceCodePro-bold.fntdata"/><Relationship Id="rId47" Type="http://schemas.openxmlformats.org/officeDocument/2006/relationships/font" Target="fonts/SourceCodePro-regular.fntdata"/><Relationship Id="rId49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roximaNovaSemibold-regular.fntdata"/><Relationship Id="rId50" Type="http://schemas.openxmlformats.org/officeDocument/2006/relationships/font" Target="fonts/SourceCodePro-boldItalic.fntdata"/><Relationship Id="rId53" Type="http://schemas.openxmlformats.org/officeDocument/2006/relationships/font" Target="fonts/ProximaNovaSemibold-boldItalic.fntdata"/><Relationship Id="rId52" Type="http://schemas.openxmlformats.org/officeDocument/2006/relationships/font" Target="fonts/ProximaNova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linkedin.com/pulse/amazons-recommendation-engine-secret-sauce-mario-gavira/" TargetMode="Externa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619238f5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619238f5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0619238f5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0619238f5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0619238f5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0619238f5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f194de5f2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f194de5f2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f194de5f2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f194de5f2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194de5f23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f194de5f23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0619238f5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0619238f5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0619238f5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10619238f5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f194de5f23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f194de5f23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0619238f5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0619238f5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0e94e65c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0e94e65c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10619238f5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10619238f5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f194de5f23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f194de5f2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1f194de5f23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1f194de5f23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0e94e65c17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0e94e65c17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0e94e65c17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0e94e65c17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0e94e65c17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0e94e65c17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0e94e65c17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0e94e65c17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0e94e65c17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0e94e65c17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0e94e65c17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0e94e65c17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0e94e65c17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0e94e65c17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0e94e65c17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0e94e65c17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0e94e65c17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0e94e65c17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0e94e65c17_0_1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0e94e65c17_0_1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0e94e65c17_0_1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0e94e65c17_0_1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solidFill>
                  <a:schemeClr val="hlink"/>
                </a:solidFill>
                <a:hlinkClick r:id="rId2"/>
              </a:rPr>
              <a:t>https://www.linkedin.com/pulse/amazons-recommendation-engine-secret-sauce-mario-gavira/</a:t>
            </a:r>
            <a:r>
              <a:rPr lang="it"/>
              <a:t>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0e94e65c17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0e94e65c17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0e94e65c17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0e94e65c17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0e94e65c17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0e94e65c17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0e94e65c17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0e94e65c17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0e94e65c17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0e94e65c17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0e94e65c17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0e94e65c17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0e94e65c1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0e94e65c1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0e94e65c1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0e94e65c1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0e94e65c17_0_1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0e94e65c17_0_1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0e94e65c17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0e94e65c17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b644ef7ad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b644ef7ad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b644ef7ad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b644ef7ad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b644ef7ad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b644ef7ad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Source Code Pro"/>
              <a:buChar char="●"/>
              <a:defRPr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urce Code Pro"/>
              <a:buChar char="○"/>
              <a:defRPr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urce Code Pro"/>
              <a:buChar char="■"/>
              <a:defRPr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urce Code Pro"/>
              <a:buChar char="●"/>
              <a:defRPr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urce Code Pro"/>
              <a:buChar char="○"/>
              <a:defRPr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urce Code Pro"/>
              <a:buChar char="■"/>
              <a:defRPr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urce Code Pro"/>
              <a:buChar char="●"/>
              <a:defRPr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urce Code Pro"/>
              <a:buChar char="○"/>
              <a:defRPr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Source Code Pro"/>
              <a:buChar char="■"/>
              <a:defRPr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583850" y="4881425"/>
            <a:ext cx="597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DANIELE MAZZEI, ROBERTO FIGLIE’, TOMMASO TURCHI - IUM 24-25 </a:t>
            </a:r>
            <a:r>
              <a:rPr lang="it" sz="700">
                <a:latin typeface="Source Code Pro"/>
                <a:ea typeface="Source Code Pro"/>
                <a:cs typeface="Source Code Pro"/>
                <a:sym typeface="Source Code Pro"/>
              </a:rPr>
              <a:t>(all rights reserved)</a:t>
            </a:r>
            <a:endParaRPr sz="7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interaction-design.org/literature/topics/wireframing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usability.gov/how-to-and-tools/methods/wireframing.html" TargetMode="External"/><Relationship Id="rId4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www.justinmind.com/wireframe/low-fidelity-vs-high-fidelity-wireframing-is-paper-dead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interaction-design.org/literature/topics/responsive-design" TargetMode="External"/><Relationship Id="rId4" Type="http://schemas.openxmlformats.org/officeDocument/2006/relationships/image" Target="../media/image2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amazon.science/the-history-of-amazons-recommendation-algorithm" TargetMode="External"/><Relationship Id="rId4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interaction-design.org/literature/topics/accessibility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jpg"/><Relationship Id="rId4" Type="http://schemas.openxmlformats.org/officeDocument/2006/relationships/image" Target="../media/image18.png"/><Relationship Id="rId5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w3.org/WAI/standards-guidelines/wcag/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w3.org/WAI/fundamentals/accessibility-principles/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careerfoundry.com/en/blog/ux-design/what-are-user-flows/#where-do-user-flows-fit-into-the-ux-design-process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Wireframing &amp;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Responsive Design</a:t>
            </a:r>
            <a:endParaRPr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roberto.figlie@phd.unipi.it</a:t>
            </a:r>
            <a:endParaRPr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9477" y="4098364"/>
            <a:ext cx="362375" cy="3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Lesson Outline</a:t>
            </a:r>
            <a:endParaRPr/>
          </a:p>
        </p:txBody>
      </p:sp>
      <p:sp>
        <p:nvSpPr>
          <p:cNvPr id="65" name="Google Shape;65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Wireframing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Adaptability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Responsive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Accessibility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Wireflows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What is a Wireframe?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Why wireframes?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Suppose you have a wonderful idea for a product (a website, an app, a </a:t>
            </a:r>
            <a:r>
              <a:rPr lang="it" sz="1800"/>
              <a:t>video game, anything</a:t>
            </a:r>
            <a:r>
              <a:rPr lang="it" sz="1800"/>
              <a:t>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/>
              <a:t>If </a:t>
            </a:r>
            <a:r>
              <a:rPr lang="it" sz="1800"/>
              <a:t>you</a:t>
            </a:r>
            <a:r>
              <a:rPr lang="it" sz="1800"/>
              <a:t> are not capable to convey that idea to other people, everyone will do what they think it is the best. </a:t>
            </a:r>
            <a:r>
              <a:rPr b="1" lang="it" sz="1800"/>
              <a:t>This means that everyone will go in different directions</a:t>
            </a:r>
            <a:r>
              <a:rPr lang="it"/>
              <a:t>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Unless you are working alone, and even in that case you may think to have a precise idea of the design you are thinking of, but in fact it is not.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Why </a:t>
            </a:r>
            <a:r>
              <a:rPr lang="it"/>
              <a:t>wireframes</a:t>
            </a:r>
            <a:r>
              <a:rPr lang="it"/>
              <a:t>?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228675"/>
            <a:ext cx="4413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What is the best way to clarify a thought process that humans discovered during the past </a:t>
            </a:r>
            <a:r>
              <a:rPr lang="it"/>
              <a:t>millennia?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Start with </a:t>
            </a:r>
            <a:r>
              <a:rPr b="1" lang="it"/>
              <a:t>pen and paper</a:t>
            </a:r>
            <a:r>
              <a:rPr lang="it"/>
              <a:t>!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5000" y="1228675"/>
            <a:ext cx="4114201" cy="2986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What is a wireframe?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228675"/>
            <a:ext cx="84027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Coming back to developing a product: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800"/>
              <a:t>Wireframes are blueprints</a:t>
            </a:r>
            <a:r>
              <a:rPr lang="it" sz="1800"/>
              <a:t> that help </a:t>
            </a:r>
            <a:r>
              <a:rPr b="1" lang="it" sz="1800"/>
              <a:t>communication</a:t>
            </a:r>
            <a:r>
              <a:rPr lang="it" sz="1800"/>
              <a:t> between designers and programmers about the structure of the website or app they are developing.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Wireframes represent the beginning of putting information architecture into practice.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What is a wireframe?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225000"/>
            <a:ext cx="3274500" cy="36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activity of wireframing indicates the </a:t>
            </a:r>
            <a:r>
              <a:rPr b="1" lang="it"/>
              <a:t>process of creating basic sketches</a:t>
            </a:r>
            <a:r>
              <a:rPr lang="it"/>
              <a:t> of a website or application's interface to </a:t>
            </a:r>
            <a:r>
              <a:rPr b="1" lang="it"/>
              <a:t>demonstrate</a:t>
            </a:r>
            <a:r>
              <a:rPr lang="it"/>
              <a:t> its </a:t>
            </a:r>
            <a:r>
              <a:rPr b="1" lang="it"/>
              <a:t>structure</a:t>
            </a:r>
            <a:r>
              <a:rPr lang="it"/>
              <a:t> and </a:t>
            </a:r>
            <a:r>
              <a:rPr b="1" lang="it"/>
              <a:t>layout</a:t>
            </a:r>
            <a:r>
              <a:rPr lang="it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200" u="sng">
                <a:solidFill>
                  <a:schemeClr val="hlink"/>
                </a:solidFill>
                <a:hlinkClick r:id="rId3"/>
              </a:rPr>
              <a:t>https://www.interaction-design.org/literature/topics/wireframing</a:t>
            </a:r>
            <a:r>
              <a:rPr lang="it" sz="1200"/>
              <a:t> </a:t>
            </a: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4">
            <a:alphaModFix/>
          </a:blip>
          <a:srcRect b="8186" l="7923" r="4234" t="7418"/>
          <a:stretch/>
        </p:blipFill>
        <p:spPr>
          <a:xfrm>
            <a:off x="3647125" y="924463"/>
            <a:ext cx="5143500" cy="329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</a:t>
            </a:r>
            <a:r>
              <a:rPr lang="it"/>
              <a:t>hat is a wireframe?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/>
              <a:t>What can?</a:t>
            </a:r>
            <a:endParaRPr b="1" sz="1500"/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Give its first visual shape to an information architecture.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Encourage discussion within the team.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Determine the </a:t>
            </a:r>
            <a:r>
              <a:rPr lang="it" sz="1500"/>
              <a:t>functionalities</a:t>
            </a:r>
            <a:r>
              <a:rPr lang="it" sz="1500"/>
              <a:t> of the UI.</a:t>
            </a:r>
            <a:endParaRPr sz="15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03" name="Google Shape;103;p20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/>
              <a:t>What cannot?</a:t>
            </a:r>
            <a:endParaRPr b="1" sz="1500"/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Give the feeling of the UI final look.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Provide working functionalities.</a:t>
            </a:r>
            <a:endParaRPr sz="1500"/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Guarantee you are understood :)</a:t>
            </a:r>
            <a:endParaRPr sz="1500"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563" y="3975975"/>
            <a:ext cx="1034175" cy="103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5275" y="3975975"/>
            <a:ext cx="1034150" cy="103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What is a wireframe?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637050" y="4451350"/>
            <a:ext cx="7869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https://www.usability.gov/how-to-and-tools/methods/wireframing.html</a:t>
            </a:r>
            <a:r>
              <a:rPr lang="it"/>
              <a:t> </a:t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4850" y="1199675"/>
            <a:ext cx="4274285" cy="305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228675"/>
            <a:ext cx="2123100" cy="13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Example: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6923925" y="1365850"/>
            <a:ext cx="2123100" cy="21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No colors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No images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Basic fonts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Types of wireframes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316300"/>
            <a:ext cx="3999900" cy="34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Low-fidelity Wireframes:</a:t>
            </a:r>
            <a:r>
              <a:rPr lang="it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Simple sketches of the interface, focusing on the structure and layout.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High-fidelity Wireframes: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Detailed representation of the interface with basic typography, icons and documentation details.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9675" y="623900"/>
            <a:ext cx="4834324" cy="370629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4765600" y="4451100"/>
            <a:ext cx="429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4"/>
              </a:rPr>
              <a:t>https://www.justinmind.com/wireframe/low-fidelity-vs-high-fidelity-wireframing-is-paper-dead</a:t>
            </a:r>
            <a:r>
              <a:rPr lang="it" sz="9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9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Adaptability, Responsive design &amp; Accessibility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role of context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Context plays an important role</a:t>
            </a:r>
            <a:r>
              <a:rPr lang="it"/>
              <a:t> in UX Design.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Examples of how context can affect user behavior and preferences: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 user browsing a website on a mobile device may have different needs and behaviors than a user on a desktop computer.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 user with an high degree of knowledge in the domain of a website may have different needs and preferences than a user that does not have it.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Context can include a wide range of factors such as user demographics, device, location, culture, and accessibility needs.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So it</a:t>
            </a:r>
            <a:r>
              <a:rPr lang="it"/>
              <a:t> is important to c</a:t>
            </a:r>
            <a:r>
              <a:rPr lang="it"/>
              <a:t>onduct </a:t>
            </a:r>
            <a:r>
              <a:rPr b="1" lang="it"/>
              <a:t>user research and testing</a:t>
            </a:r>
            <a:r>
              <a:rPr lang="it"/>
              <a:t> to understand the different contexts in which users will interact with the design.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Adaptability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Remember: </a:t>
            </a:r>
            <a:r>
              <a:rPr b="1" lang="it"/>
              <a:t>you are not designing for yourself!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This means two things: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Others think differently from you (subjective and/or cultural differences, etc.).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it"/>
              <a:t>Others have different needs and capabilities (different skills, physical capabilities, etc.).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Adaptability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Adaptability in UX design is an umbrella term and refers to the ability of a design to adjust and respond to different user needs, contexts, skills, and preferences.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Usually, it covers the notions of: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Responsive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Accessibility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Responsive Design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228675"/>
            <a:ext cx="3738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W</a:t>
            </a:r>
            <a:r>
              <a:rPr lang="it"/>
              <a:t>ith the explosion of the device market came a </a:t>
            </a:r>
            <a:r>
              <a:rPr b="1" lang="it"/>
              <a:t>fragmentation of the different display sizes</a:t>
            </a:r>
            <a:r>
              <a:rPr lang="it"/>
              <a:t> available.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Moreover, each device has different layouts, standards, icons etc.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4537350" y="3850000"/>
            <a:ext cx="392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3"/>
              </a:rPr>
              <a:t>https://www.interaction-design.org/literature/topics/responsive-design</a:t>
            </a: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9750" y="713143"/>
            <a:ext cx="4941302" cy="291218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7"/>
          <p:cNvSpPr/>
          <p:nvPr/>
        </p:nvSpPr>
        <p:spPr>
          <a:xfrm>
            <a:off x="8115825" y="738525"/>
            <a:ext cx="678600" cy="61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Responsive Design</a:t>
            </a:r>
            <a:endParaRPr/>
          </a:p>
        </p:txBody>
      </p:sp>
      <p:sp>
        <p:nvSpPr>
          <p:cNvPr id="160" name="Google Shape;160;p2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With the increasing use of mobile devices to access the internet, it is crucial to ensure that websites are easily readable and usable on a wide range of devices.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Responsive design comes to help as a </a:t>
            </a:r>
            <a:r>
              <a:rPr b="1" lang="it"/>
              <a:t>method of designing and coding web pages, apps</a:t>
            </a:r>
            <a:r>
              <a:rPr lang="it"/>
              <a:t>, etc., to adapt to the size and resolution of different devices.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RD a</a:t>
            </a:r>
            <a:r>
              <a:rPr lang="it"/>
              <a:t>llows users to have a </a:t>
            </a:r>
            <a:r>
              <a:rPr b="1" lang="it"/>
              <a:t>consistent experience</a:t>
            </a:r>
            <a:r>
              <a:rPr lang="it"/>
              <a:t> whether they are accessing the website on a desktop, tablet, or mobile device. It also makes it </a:t>
            </a:r>
            <a:r>
              <a:rPr b="1" lang="it"/>
              <a:t>easier for businesses to maintain and update</a:t>
            </a:r>
            <a:r>
              <a:rPr lang="it"/>
              <a:t> their website, as they only need to maintain one version of the site.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Responsive design: Techniques</a:t>
            </a:r>
            <a:endParaRPr/>
          </a:p>
        </p:txBody>
      </p:sp>
      <p:sp>
        <p:nvSpPr>
          <p:cNvPr id="166" name="Google Shape;166;p29"/>
          <p:cNvSpPr txBox="1"/>
          <p:nvPr>
            <p:ph idx="1" type="body"/>
          </p:nvPr>
        </p:nvSpPr>
        <p:spPr>
          <a:xfrm>
            <a:off x="311700" y="1228675"/>
            <a:ext cx="8520600" cy="10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it"/>
              <a:t>Flexible grid</a:t>
            </a:r>
            <a:r>
              <a:rPr lang="it"/>
              <a:t>: A flexible grid allows elements to adjust to the size of the screen. This can be achieved in many ways, depending on the framework you are using.</a:t>
            </a:r>
            <a:endParaRPr/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413" y="2316075"/>
            <a:ext cx="5701174" cy="25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9"/>
          <p:cNvSpPr/>
          <p:nvPr/>
        </p:nvSpPr>
        <p:spPr>
          <a:xfrm>
            <a:off x="1805800" y="2503275"/>
            <a:ext cx="844500" cy="18261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9"/>
          <p:cNvSpPr/>
          <p:nvPr/>
        </p:nvSpPr>
        <p:spPr>
          <a:xfrm>
            <a:off x="2696475" y="2503275"/>
            <a:ext cx="1566900" cy="21762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70" name="Google Shape;170;p29"/>
          <p:cNvSpPr/>
          <p:nvPr/>
        </p:nvSpPr>
        <p:spPr>
          <a:xfrm>
            <a:off x="4363450" y="2503275"/>
            <a:ext cx="1566900" cy="150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9"/>
          <p:cNvSpPr/>
          <p:nvPr/>
        </p:nvSpPr>
        <p:spPr>
          <a:xfrm>
            <a:off x="5930350" y="2503275"/>
            <a:ext cx="1422300" cy="150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9"/>
          <p:cNvSpPr/>
          <p:nvPr/>
        </p:nvSpPr>
        <p:spPr>
          <a:xfrm>
            <a:off x="4363450" y="4009875"/>
            <a:ext cx="2989200" cy="669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Responsive design: Techniques</a:t>
            </a:r>
            <a:endParaRPr/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2286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it"/>
              <a:t>Flexible images</a:t>
            </a:r>
            <a:r>
              <a:rPr lang="it"/>
              <a:t>: Make images scale and adjust to the size of the screen.</a:t>
            </a:r>
            <a:endParaRPr/>
          </a:p>
        </p:txBody>
      </p:sp>
      <p:pic>
        <p:nvPicPr>
          <p:cNvPr id="179" name="Google Shape;1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6500" y="2008700"/>
            <a:ext cx="4744650" cy="301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0"/>
          <p:cNvSpPr/>
          <p:nvPr/>
        </p:nvSpPr>
        <p:spPr>
          <a:xfrm>
            <a:off x="1957975" y="3553250"/>
            <a:ext cx="585900" cy="327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0"/>
          <p:cNvSpPr/>
          <p:nvPr/>
        </p:nvSpPr>
        <p:spPr>
          <a:xfrm>
            <a:off x="2749500" y="4177400"/>
            <a:ext cx="1089300" cy="608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0"/>
          <p:cNvSpPr/>
          <p:nvPr/>
        </p:nvSpPr>
        <p:spPr>
          <a:xfrm>
            <a:off x="4728000" y="3066725"/>
            <a:ext cx="197400" cy="212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Responsive design: Techniques</a:t>
            </a:r>
            <a:endParaRPr/>
          </a:p>
        </p:txBody>
      </p:sp>
      <p:sp>
        <p:nvSpPr>
          <p:cNvPr id="188" name="Google Shape;188;p31"/>
          <p:cNvSpPr txBox="1"/>
          <p:nvPr>
            <p:ph idx="1" type="body"/>
          </p:nvPr>
        </p:nvSpPr>
        <p:spPr>
          <a:xfrm>
            <a:off x="311700" y="1228675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it"/>
              <a:t>Media queries &amp; breakpoints</a:t>
            </a:r>
            <a:r>
              <a:rPr lang="it"/>
              <a:t>: Allows different styles to be applied based on the characteristics of the device.</a:t>
            </a:r>
            <a:endParaRPr/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413" y="2316075"/>
            <a:ext cx="5701174" cy="25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1"/>
          <p:cNvSpPr/>
          <p:nvPr/>
        </p:nvSpPr>
        <p:spPr>
          <a:xfrm>
            <a:off x="1805800" y="2503275"/>
            <a:ext cx="844500" cy="18261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1"/>
          <p:cNvSpPr/>
          <p:nvPr/>
        </p:nvSpPr>
        <p:spPr>
          <a:xfrm>
            <a:off x="2696475" y="2503275"/>
            <a:ext cx="1566900" cy="21762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92" name="Google Shape;192;p31"/>
          <p:cNvSpPr/>
          <p:nvPr/>
        </p:nvSpPr>
        <p:spPr>
          <a:xfrm>
            <a:off x="4363450" y="2503275"/>
            <a:ext cx="1566900" cy="150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1"/>
          <p:cNvSpPr/>
          <p:nvPr/>
        </p:nvSpPr>
        <p:spPr>
          <a:xfrm>
            <a:off x="5930350" y="2503275"/>
            <a:ext cx="1422300" cy="1506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1"/>
          <p:cNvSpPr/>
          <p:nvPr/>
        </p:nvSpPr>
        <p:spPr>
          <a:xfrm>
            <a:off x="4363450" y="4009875"/>
            <a:ext cx="2989200" cy="6696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1"/>
          <p:cNvSpPr/>
          <p:nvPr/>
        </p:nvSpPr>
        <p:spPr>
          <a:xfrm>
            <a:off x="6075150" y="2761975"/>
            <a:ext cx="790500" cy="9891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1"/>
          <p:cNvSpPr/>
          <p:nvPr/>
        </p:nvSpPr>
        <p:spPr>
          <a:xfrm>
            <a:off x="3001450" y="3043950"/>
            <a:ext cx="999300" cy="8745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1"/>
          <p:cNvSpPr/>
          <p:nvPr/>
        </p:nvSpPr>
        <p:spPr>
          <a:xfrm>
            <a:off x="2019400" y="3272425"/>
            <a:ext cx="417300" cy="1134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Responsive design: Mobile first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Mobile-first design is a design philosophy that </a:t>
            </a:r>
            <a:r>
              <a:rPr b="1" lang="it"/>
              <a:t>prioritizes mobile over desktop</a:t>
            </a:r>
            <a:r>
              <a:rPr lang="it"/>
              <a:t>. This approach ensures that the mobile experience is optimized before designing for larger screens.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By designing for mobile first, designers </a:t>
            </a:r>
            <a:r>
              <a:rPr b="1" lang="it"/>
              <a:t>ensure that the most important content and functionality is easily accessible</a:t>
            </a:r>
            <a:r>
              <a:rPr lang="it"/>
              <a:t> on small screens, and that the site is easy to navigate with touch-based controls.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This approach also helps to ensure that the site loads quickly on mobile devices with slower internet connections. Additionally, mobile-first design can help improve search engine optimization (SEO) by making sure the site is optimized for smaller screens.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Responsive design: Mobile first</a:t>
            </a:r>
            <a:endParaRPr/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Mobile-first allows for a “</a:t>
            </a:r>
            <a:r>
              <a:rPr b="1" lang="it"/>
              <a:t>progress advancement</a:t>
            </a:r>
            <a:r>
              <a:rPr lang="it"/>
              <a:t>” design, meaning that the </a:t>
            </a:r>
            <a:r>
              <a:rPr b="1" lang="it"/>
              <a:t>design starts from the minimum functions and basic interactions</a:t>
            </a:r>
            <a:r>
              <a:rPr lang="it"/>
              <a:t> (usually found in smartphones), then building up adding more </a:t>
            </a:r>
            <a:r>
              <a:rPr lang="it"/>
              <a:t>interactions</a:t>
            </a:r>
            <a:r>
              <a:rPr lang="it"/>
              <a:t> and effects (usually found in desktop).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This is opposed to “</a:t>
            </a:r>
            <a:r>
              <a:rPr b="1" lang="it"/>
              <a:t>graceful degradation</a:t>
            </a:r>
            <a:r>
              <a:rPr lang="it"/>
              <a:t>”, that is starting with a complete design based on advanced devices, then cutting features to </a:t>
            </a:r>
            <a:r>
              <a:rPr lang="it"/>
              <a:t>accommodate</a:t>
            </a:r>
            <a:r>
              <a:rPr lang="it"/>
              <a:t> for smaller and less capable devices.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Examples?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Responsive design: other best practices</a:t>
            </a:r>
            <a:endParaRPr/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11700" y="1228675"/>
            <a:ext cx="85206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Keep it simple</a:t>
            </a:r>
            <a:r>
              <a:rPr lang="it"/>
              <a:t>: Avoid using complex layouts and keep the design minimalistic.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Prioritize the content</a:t>
            </a:r>
            <a:r>
              <a:rPr lang="it"/>
              <a:t>: The content should be the most important element on the page, and it should be easily readable on all devices.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Design for touch</a:t>
            </a:r>
            <a:r>
              <a:rPr lang="it"/>
              <a:t>: Make sure buttons and links are large enough to be easily tapped with a finger.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Optimize for load time</a:t>
            </a:r>
            <a:r>
              <a:rPr lang="it"/>
              <a:t>: Large images and other heavy elements can slow down a site's load time, especially on mobile devices. Optimizing these elements can improve the user experience.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Test, test, test</a:t>
            </a:r>
            <a:r>
              <a:rPr lang="it"/>
              <a:t>: Test the website on a variety of devices to ensure that it looks and functions correctly (possibly outside your “laboratory”).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Adaptive design</a:t>
            </a:r>
            <a:endParaRPr/>
          </a:p>
        </p:txBody>
      </p:sp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Other then responsive design there is another way to make the interface automatically adaptable to the user: adaptive design.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Responsive design is a type of adaptation to the device in a fluid and flexible way.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Adaptive design, usually stands for creating different layouts for each device.</a:t>
            </a:r>
            <a:r>
              <a:rPr lang="it"/>
              <a:t> It is more expensive, but sometimes is better (e.g., big companies that have to make their website better for mobile, without spending time in retrofitting the desktop version)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Adaptive design</a:t>
            </a:r>
            <a:endParaRPr/>
          </a:p>
        </p:txBody>
      </p:sp>
      <p:grpSp>
        <p:nvGrpSpPr>
          <p:cNvPr id="227" name="Google Shape;227;p36"/>
          <p:cNvGrpSpPr/>
          <p:nvPr/>
        </p:nvGrpSpPr>
        <p:grpSpPr>
          <a:xfrm>
            <a:off x="3392302" y="134311"/>
            <a:ext cx="4875779" cy="4874871"/>
            <a:chOff x="2961500" y="961400"/>
            <a:chExt cx="3221100" cy="3220500"/>
          </a:xfrm>
        </p:grpSpPr>
        <p:sp>
          <p:nvSpPr>
            <p:cNvPr id="228" name="Google Shape;228;p36"/>
            <p:cNvSpPr/>
            <p:nvPr/>
          </p:nvSpPr>
          <p:spPr>
            <a:xfrm>
              <a:off x="2961500" y="961400"/>
              <a:ext cx="3221100" cy="3220500"/>
            </a:xfrm>
            <a:prstGeom prst="ellipse">
              <a:avLst/>
            </a:prstGeom>
            <a:solidFill>
              <a:srgbClr val="08563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  <p:sp>
          <p:nvSpPr>
            <p:cNvPr id="229" name="Google Shape;229;p36"/>
            <p:cNvSpPr txBox="1"/>
            <p:nvPr/>
          </p:nvSpPr>
          <p:spPr>
            <a:xfrm>
              <a:off x="3782900" y="1200950"/>
              <a:ext cx="15780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600">
                  <a:solidFill>
                    <a:srgbClr val="FFFFFF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Design for adaptability</a:t>
              </a:r>
              <a:endPara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230" name="Google Shape;230;p36"/>
          <p:cNvGrpSpPr/>
          <p:nvPr/>
        </p:nvGrpSpPr>
        <p:grpSpPr>
          <a:xfrm>
            <a:off x="3388272" y="1350856"/>
            <a:ext cx="2441948" cy="2441948"/>
            <a:chOff x="3401686" y="1841492"/>
            <a:chExt cx="2340600" cy="2340600"/>
          </a:xfrm>
        </p:grpSpPr>
        <p:sp>
          <p:nvSpPr>
            <p:cNvPr id="231" name="Google Shape;231;p36"/>
            <p:cNvSpPr/>
            <p:nvPr/>
          </p:nvSpPr>
          <p:spPr>
            <a:xfrm>
              <a:off x="3401686" y="1841492"/>
              <a:ext cx="2340600" cy="2340600"/>
            </a:xfrm>
            <a:prstGeom prst="ellipse">
              <a:avLst/>
            </a:prstGeom>
            <a:solidFill>
              <a:srgbClr val="0B77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  <p:sp>
          <p:nvSpPr>
            <p:cNvPr id="232" name="Google Shape;232;p36"/>
            <p:cNvSpPr txBox="1"/>
            <p:nvPr/>
          </p:nvSpPr>
          <p:spPr>
            <a:xfrm>
              <a:off x="3833274" y="2126800"/>
              <a:ext cx="14772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600">
                  <a:solidFill>
                    <a:srgbClr val="FFFFFF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User</a:t>
              </a:r>
              <a:endPara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233" name="Google Shape;233;p36"/>
          <p:cNvGrpSpPr/>
          <p:nvPr/>
        </p:nvGrpSpPr>
        <p:grpSpPr>
          <a:xfrm>
            <a:off x="5830486" y="1350866"/>
            <a:ext cx="2441948" cy="2441948"/>
            <a:chOff x="3401686" y="1723330"/>
            <a:chExt cx="2340600" cy="2340600"/>
          </a:xfrm>
        </p:grpSpPr>
        <p:sp>
          <p:nvSpPr>
            <p:cNvPr id="234" name="Google Shape;234;p36"/>
            <p:cNvSpPr/>
            <p:nvPr/>
          </p:nvSpPr>
          <p:spPr>
            <a:xfrm>
              <a:off x="3401686" y="1723330"/>
              <a:ext cx="2340600" cy="2340600"/>
            </a:xfrm>
            <a:prstGeom prst="ellipse">
              <a:avLst/>
            </a:prstGeom>
            <a:solidFill>
              <a:srgbClr val="0B77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  <p:sp>
          <p:nvSpPr>
            <p:cNvPr id="235" name="Google Shape;235;p36"/>
            <p:cNvSpPr txBox="1"/>
            <p:nvPr/>
          </p:nvSpPr>
          <p:spPr>
            <a:xfrm>
              <a:off x="3833384" y="2052730"/>
              <a:ext cx="14772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600">
                  <a:solidFill>
                    <a:srgbClr val="FFFFFF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Device</a:t>
              </a:r>
              <a:endParaRPr sz="16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236" name="Google Shape;236;p36"/>
          <p:cNvGrpSpPr/>
          <p:nvPr/>
        </p:nvGrpSpPr>
        <p:grpSpPr>
          <a:xfrm>
            <a:off x="6056936" y="2588417"/>
            <a:ext cx="994682" cy="994682"/>
            <a:chOff x="3615890" y="2899116"/>
            <a:chExt cx="953400" cy="953400"/>
          </a:xfrm>
        </p:grpSpPr>
        <p:sp>
          <p:nvSpPr>
            <p:cNvPr id="237" name="Google Shape;237;p36"/>
            <p:cNvSpPr/>
            <p:nvPr/>
          </p:nvSpPr>
          <p:spPr>
            <a:xfrm>
              <a:off x="3615890" y="2899116"/>
              <a:ext cx="953400" cy="953400"/>
            </a:xfrm>
            <a:prstGeom prst="ellipse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  <p:sp>
          <p:nvSpPr>
            <p:cNvPr id="238" name="Google Shape;238;p36"/>
            <p:cNvSpPr txBox="1"/>
            <p:nvPr/>
          </p:nvSpPr>
          <p:spPr>
            <a:xfrm>
              <a:off x="3695554" y="3181981"/>
              <a:ext cx="794100" cy="41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900">
                  <a:solidFill>
                    <a:srgbClr val="FFFFFF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Responsive design</a:t>
              </a:r>
              <a:endParaRPr sz="9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cxnSp>
        <p:nvCxnSpPr>
          <p:cNvPr id="239" name="Google Shape;239;p36"/>
          <p:cNvCxnSpPr>
            <a:stCxn id="226" idx="0"/>
            <a:endCxn id="226" idx="0"/>
          </p:cNvCxnSpPr>
          <p:nvPr/>
        </p:nvCxnSpPr>
        <p:spPr>
          <a:xfrm>
            <a:off x="4572000" y="29285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0" name="Google Shape;240;p36"/>
          <p:cNvGrpSpPr/>
          <p:nvPr/>
        </p:nvGrpSpPr>
        <p:grpSpPr>
          <a:xfrm>
            <a:off x="7051463" y="2588417"/>
            <a:ext cx="994682" cy="994682"/>
            <a:chOff x="4401412" y="2899116"/>
            <a:chExt cx="953400" cy="953400"/>
          </a:xfrm>
        </p:grpSpPr>
        <p:sp>
          <p:nvSpPr>
            <p:cNvPr id="241" name="Google Shape;241;p36"/>
            <p:cNvSpPr/>
            <p:nvPr/>
          </p:nvSpPr>
          <p:spPr>
            <a:xfrm>
              <a:off x="4401412" y="2899116"/>
              <a:ext cx="953400" cy="953400"/>
            </a:xfrm>
            <a:prstGeom prst="ellipse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  <p:sp>
          <p:nvSpPr>
            <p:cNvPr id="242" name="Google Shape;242;p36"/>
            <p:cNvSpPr txBox="1"/>
            <p:nvPr/>
          </p:nvSpPr>
          <p:spPr>
            <a:xfrm>
              <a:off x="4481075" y="3181981"/>
              <a:ext cx="794100" cy="41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FFFFFF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Adaptive design</a:t>
              </a:r>
              <a:endParaRPr sz="1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243" name="Google Shape;243;p36"/>
          <p:cNvGrpSpPr/>
          <p:nvPr/>
        </p:nvGrpSpPr>
        <p:grpSpPr>
          <a:xfrm>
            <a:off x="3614644" y="2588417"/>
            <a:ext cx="994682" cy="994682"/>
            <a:chOff x="3615890" y="2899116"/>
            <a:chExt cx="953400" cy="953400"/>
          </a:xfrm>
        </p:grpSpPr>
        <p:sp>
          <p:nvSpPr>
            <p:cNvPr id="244" name="Google Shape;244;p36"/>
            <p:cNvSpPr/>
            <p:nvPr/>
          </p:nvSpPr>
          <p:spPr>
            <a:xfrm>
              <a:off x="3615890" y="2899116"/>
              <a:ext cx="953400" cy="953400"/>
            </a:xfrm>
            <a:prstGeom prst="ellipse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  <p:sp>
          <p:nvSpPr>
            <p:cNvPr id="245" name="Google Shape;245;p36"/>
            <p:cNvSpPr txBox="1"/>
            <p:nvPr/>
          </p:nvSpPr>
          <p:spPr>
            <a:xfrm>
              <a:off x="3695554" y="3181981"/>
              <a:ext cx="794100" cy="41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900">
                  <a:solidFill>
                    <a:srgbClr val="FFFFFF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Accessibility</a:t>
              </a:r>
              <a:endParaRPr sz="9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grpSp>
        <p:nvGrpSpPr>
          <p:cNvPr id="246" name="Google Shape;246;p36"/>
          <p:cNvGrpSpPr/>
          <p:nvPr/>
        </p:nvGrpSpPr>
        <p:grpSpPr>
          <a:xfrm>
            <a:off x="4609170" y="2588417"/>
            <a:ext cx="994682" cy="994682"/>
            <a:chOff x="4401412" y="2899116"/>
            <a:chExt cx="953400" cy="953400"/>
          </a:xfrm>
        </p:grpSpPr>
        <p:sp>
          <p:nvSpPr>
            <p:cNvPr id="247" name="Google Shape;247;p36"/>
            <p:cNvSpPr/>
            <p:nvPr/>
          </p:nvSpPr>
          <p:spPr>
            <a:xfrm>
              <a:off x="4401412" y="2899116"/>
              <a:ext cx="953400" cy="953400"/>
            </a:xfrm>
            <a:prstGeom prst="ellipse">
              <a:avLst/>
            </a:prstGeom>
            <a:solidFill>
              <a:srgbClr val="0E94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  <p:sp>
          <p:nvSpPr>
            <p:cNvPr id="248" name="Google Shape;248;p36"/>
            <p:cNvSpPr txBox="1"/>
            <p:nvPr/>
          </p:nvSpPr>
          <p:spPr>
            <a:xfrm>
              <a:off x="4481075" y="3181981"/>
              <a:ext cx="794100" cy="41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FFFFFF"/>
                  </a:solidFill>
                  <a:latin typeface="Proxima Nova Semibold"/>
                  <a:ea typeface="Proxima Nova Semibold"/>
                  <a:cs typeface="Proxima Nova Semibold"/>
                  <a:sym typeface="Proxima Nova Semibold"/>
                </a:rPr>
                <a:t>Adaptive UX</a:t>
              </a:r>
              <a:endParaRPr sz="11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endParaRPr>
            </a:p>
          </p:txBody>
        </p:sp>
      </p:grpSp>
      <p:sp>
        <p:nvSpPr>
          <p:cNvPr id="249" name="Google Shape;249;p36"/>
          <p:cNvSpPr txBox="1"/>
          <p:nvPr/>
        </p:nvSpPr>
        <p:spPr>
          <a:xfrm>
            <a:off x="311700" y="1350875"/>
            <a:ext cx="2850000" cy="3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But there can  be another way in which the system can be adaptive to the user.</a:t>
            </a:r>
            <a:endParaRPr sz="18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difference lays in the </a:t>
            </a:r>
            <a:r>
              <a:rPr b="1" lang="it"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context of use</a:t>
            </a:r>
            <a:r>
              <a:rPr lang="it"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:</a:t>
            </a:r>
            <a:endParaRPr sz="18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ource Code Pro"/>
              <a:buChar char="●"/>
            </a:pPr>
            <a:r>
              <a:rPr lang="it"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depends on the device used</a:t>
            </a:r>
            <a:endParaRPr sz="1800">
              <a:solidFill>
                <a:schemeClr val="accen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ource Code Pro"/>
              <a:buChar char="●"/>
            </a:pPr>
            <a:r>
              <a:rPr b="1" lang="it"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depends on the users themselves</a:t>
            </a:r>
            <a:r>
              <a:rPr lang="it" sz="18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.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Adaptive UX</a:t>
            </a:r>
            <a:endParaRPr/>
          </a:p>
        </p:txBody>
      </p:sp>
      <p:sp>
        <p:nvSpPr>
          <p:cNvPr id="255" name="Google Shape;255;p37"/>
          <p:cNvSpPr txBox="1"/>
          <p:nvPr>
            <p:ph idx="1" type="body"/>
          </p:nvPr>
        </p:nvSpPr>
        <p:spPr>
          <a:xfrm>
            <a:off x="311700" y="1228675"/>
            <a:ext cx="8520600" cy="12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How can a system adapt to a user?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Having a basic information on the user (position through GPS, collaborative filtering, or even a user model from analytics) you can leverage them to adapt the the interface to the user.</a:t>
            </a:r>
            <a:endParaRPr/>
          </a:p>
        </p:txBody>
      </p:sp>
      <p:sp>
        <p:nvSpPr>
          <p:cNvPr id="256" name="Google Shape;256;p37"/>
          <p:cNvSpPr txBox="1"/>
          <p:nvPr/>
        </p:nvSpPr>
        <p:spPr>
          <a:xfrm>
            <a:off x="382975" y="2366325"/>
            <a:ext cx="3819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In the case of collaborative filtering: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Code Pro"/>
              <a:buChar char="●"/>
            </a:pP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user A </a:t>
            </a: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likes </a:t>
            </a: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X and Y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Code Pro"/>
              <a:buChar char="●"/>
            </a:pP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and user B </a:t>
            </a: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likes </a:t>
            </a: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Code Pro"/>
              <a:buChar char="●"/>
            </a:pP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so user B may be interested in Y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489500" y="4298925"/>
            <a:ext cx="3933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3"/>
              </a:rPr>
              <a:t>https://www.amazon.science/the-history-of-amazons-recommendation-algorithm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258" name="Google Shape;25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1199" y="2537300"/>
            <a:ext cx="4683874" cy="166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Adaptive UX</a:t>
            </a:r>
            <a:endParaRPr/>
          </a:p>
        </p:txBody>
      </p:sp>
      <p:sp>
        <p:nvSpPr>
          <p:cNvPr id="264" name="Google Shape;264;p38"/>
          <p:cNvSpPr txBox="1"/>
          <p:nvPr>
            <p:ph idx="1" type="body"/>
          </p:nvPr>
        </p:nvSpPr>
        <p:spPr>
          <a:xfrm>
            <a:off x="311700" y="1228675"/>
            <a:ext cx="3297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Together with collaborative filtering, </a:t>
            </a:r>
            <a:r>
              <a:rPr b="1" lang="it"/>
              <a:t>content-based filtering</a:t>
            </a:r>
            <a:r>
              <a:rPr lang="it"/>
              <a:t> is another possibility, </a:t>
            </a:r>
            <a:r>
              <a:rPr lang="it"/>
              <a:t>but it</a:t>
            </a:r>
            <a:r>
              <a:rPr b="1" lang="it"/>
              <a:t> is not based on the users</a:t>
            </a:r>
            <a:r>
              <a:rPr lang="it"/>
              <a:t>, rather on the contents themselves.</a:t>
            </a:r>
            <a:endParaRPr/>
          </a:p>
        </p:txBody>
      </p:sp>
      <p:pic>
        <p:nvPicPr>
          <p:cNvPr id="265" name="Google Shape;26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000" y="1056425"/>
            <a:ext cx="5401925" cy="3310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Accessibility</a:t>
            </a:r>
            <a:endParaRPr/>
          </a:p>
        </p:txBody>
      </p:sp>
      <p:sp>
        <p:nvSpPr>
          <p:cNvPr id="271" name="Google Shape;271;p3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Accessibility in UXD is crucial</a:t>
            </a:r>
            <a:r>
              <a:rPr lang="it"/>
              <a:t> because it ensures that all users can access and interact with the digital products, regardless of their abilities.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With the increasing use of digital products and services, it is essential that designers consider accessibility to make sure that everyone can use them.</a:t>
            </a:r>
            <a:endParaRPr/>
          </a:p>
        </p:txBody>
      </p:sp>
      <p:sp>
        <p:nvSpPr>
          <p:cNvPr id="272" name="Google Shape;272;p39"/>
          <p:cNvSpPr txBox="1"/>
          <p:nvPr/>
        </p:nvSpPr>
        <p:spPr>
          <a:xfrm>
            <a:off x="1105800" y="4146750"/>
            <a:ext cx="6437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3"/>
              </a:rPr>
              <a:t>https://www.interaction-design.org/literature/topics/accessibility</a:t>
            </a:r>
            <a:r>
              <a:rPr lang="it" sz="12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Accessibility</a:t>
            </a:r>
            <a:endParaRPr/>
          </a:p>
        </p:txBody>
      </p:sp>
      <p:sp>
        <p:nvSpPr>
          <p:cNvPr id="278" name="Google Shape;278;p4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Remember: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Accessibility helps everyone!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Having a product that provides accessibility, is not only the right thing to do, but is more usable to the whole range of users.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Some examples?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Accessibility</a:t>
            </a:r>
            <a:endParaRPr/>
          </a:p>
        </p:txBody>
      </p:sp>
      <p:pic>
        <p:nvPicPr>
          <p:cNvPr id="284" name="Google Shape;28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38625"/>
            <a:ext cx="3535348" cy="374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0700" y="140337"/>
            <a:ext cx="3936875" cy="20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0700" y="2818862"/>
            <a:ext cx="3936875" cy="20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1"/>
          <p:cNvSpPr txBox="1"/>
          <p:nvPr/>
        </p:nvSpPr>
        <p:spPr>
          <a:xfrm>
            <a:off x="6593625" y="2318388"/>
            <a:ext cx="41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VS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Accessibility</a:t>
            </a:r>
            <a:endParaRPr/>
          </a:p>
        </p:txBody>
      </p:sp>
      <p:sp>
        <p:nvSpPr>
          <p:cNvPr id="293" name="Google Shape;293;p4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To be aware of the possible accessibility issues, here is a list of a few: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Visual (e.g., color blindness)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Motor/mobility (e.g., wheelchair-user concerns)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Auditory (hearing difficulties)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Seizures (especially photosensitive epilepsy)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Learning/cognitive (e.g., dyslexia)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Ability barriers can also arise for any user: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Incidental (e.g., sleep-deprivation)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Environmental (e.g., using a mobile device underground)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Accessibility standards: WCAG</a:t>
            </a:r>
            <a:endParaRPr/>
          </a:p>
        </p:txBody>
      </p:sp>
      <p:sp>
        <p:nvSpPr>
          <p:cNvPr id="299" name="Google Shape;299;p4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Accessibility guidelines and standards provide a framework for creating accessible products.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The most widely recognized accessibility standard is the Web Content Accessibility Guidelines (WCAG) by the W3C, which is a set of guidelines for making web content more accessible to people with disabilities.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https://www.w3.org/WAI/standards-guidelines/wcag/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Accessibility standards: WCAG</a:t>
            </a:r>
            <a:endParaRPr/>
          </a:p>
        </p:txBody>
      </p:sp>
      <p:sp>
        <p:nvSpPr>
          <p:cNvPr id="305" name="Google Shape;305;p4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Some examples of accessibility best practices are:</a:t>
            </a:r>
            <a:endParaRPr/>
          </a:p>
          <a:p>
            <a:pPr indent="-317182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Text alternatives for non-text content</a:t>
            </a:r>
            <a:r>
              <a:rPr lang="it"/>
              <a:t> (e.g, images, icons, graphs)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Captions and other alternatives for multimedia</a:t>
            </a:r>
            <a:r>
              <a:rPr lang="it"/>
              <a:t> (e.g, subtitles on videos)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Content can be presented in different ways</a:t>
            </a:r>
            <a:r>
              <a:rPr lang="it"/>
              <a:t> (e.g., provide different layout possibilities, enlarge, read aloud, different colors)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Content is easier to see and hear</a:t>
            </a:r>
            <a:r>
              <a:rPr lang="it"/>
              <a:t> (e.g., font size, background color)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Users can use different input modalities beyond keyboard</a:t>
            </a:r>
            <a:r>
              <a:rPr lang="it"/>
              <a:t> (consider other input modalities)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Users can easily navigate, find content, and determine where they are</a:t>
            </a:r>
            <a:r>
              <a:rPr lang="it"/>
              <a:t> (have a clear information architecture and organize well the content!)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and so on…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You can find a better explanation and others at </a:t>
            </a:r>
            <a:r>
              <a:rPr lang="it" u="sng">
                <a:solidFill>
                  <a:schemeClr val="hlink"/>
                </a:solidFill>
                <a:hlinkClick r:id="rId3"/>
              </a:rPr>
              <a:t>https://www.w3.org/WAI/fundamentals/accessibility-principles/</a:t>
            </a: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Recap: How to design for adaptability?</a:t>
            </a:r>
            <a:endParaRPr/>
          </a:p>
        </p:txBody>
      </p:sp>
      <p:sp>
        <p:nvSpPr>
          <p:cNvPr id="311" name="Google Shape;311;p4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You cannot think about adaptability only at the end of the design process.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Designing for adaptability should be integrated throughout the design process</a:t>
            </a:r>
            <a:r>
              <a:rPr lang="it"/>
              <a:t>, starting from the research phase to the testing and implementation phase.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Especially when you start to build wireframes, you already should know for whom you are designing and what are their needs.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Recap: How to design for adaptability?</a:t>
            </a:r>
            <a:endParaRPr/>
          </a:p>
        </p:txBody>
      </p:sp>
      <p:pic>
        <p:nvPicPr>
          <p:cNvPr id="317" name="Google Shape;31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44400"/>
            <a:ext cx="1547475" cy="154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6"/>
          <p:cNvSpPr txBox="1"/>
          <p:nvPr/>
        </p:nvSpPr>
        <p:spPr>
          <a:xfrm>
            <a:off x="273675" y="2929375"/>
            <a:ext cx="1585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Source Code Pro"/>
                <a:ea typeface="Source Code Pro"/>
                <a:cs typeface="Source Code Pro"/>
                <a:sym typeface="Source Code Pro"/>
              </a:rPr>
              <a:t>User research</a:t>
            </a:r>
            <a:r>
              <a:rPr lang="it" sz="1300">
                <a:latin typeface="Source Code Pro"/>
                <a:ea typeface="Source Code Pro"/>
                <a:cs typeface="Source Code Pro"/>
                <a:sym typeface="Source Code Pro"/>
              </a:rPr>
              <a:t>: understanding the user needs, behaviors and preferences in different contexts.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19" name="Google Shape;319;p46"/>
          <p:cNvSpPr txBox="1"/>
          <p:nvPr/>
        </p:nvSpPr>
        <p:spPr>
          <a:xfrm>
            <a:off x="2571733" y="2929375"/>
            <a:ext cx="1585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Source Code Pro"/>
                <a:ea typeface="Source Code Pro"/>
                <a:cs typeface="Source Code Pro"/>
                <a:sym typeface="Source Code Pro"/>
              </a:rPr>
              <a:t>Responsive design</a:t>
            </a:r>
            <a:r>
              <a:rPr lang="it" sz="1300">
                <a:latin typeface="Source Code Pro"/>
                <a:ea typeface="Source Code Pro"/>
                <a:cs typeface="Source Code Pro"/>
                <a:sym typeface="Source Code Pro"/>
              </a:rPr>
              <a:t>: creating designs that adapt to different screen sizes and devices.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20" name="Google Shape;320;p46"/>
          <p:cNvSpPr txBox="1"/>
          <p:nvPr/>
        </p:nvSpPr>
        <p:spPr>
          <a:xfrm>
            <a:off x="4869792" y="2929375"/>
            <a:ext cx="15855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Source Code Pro"/>
                <a:ea typeface="Source Code Pro"/>
                <a:cs typeface="Source Code Pro"/>
                <a:sym typeface="Source Code Pro"/>
              </a:rPr>
              <a:t>Accessibility</a:t>
            </a:r>
            <a:r>
              <a:rPr lang="it" sz="1300">
                <a:latin typeface="Source Code Pro"/>
                <a:ea typeface="Source Code Pro"/>
                <a:cs typeface="Source Code Pro"/>
                <a:sym typeface="Source Code Pro"/>
              </a:rPr>
              <a:t>: ensuring that the design is usable for people with disabilities.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21" name="Google Shape;321;p46"/>
          <p:cNvSpPr txBox="1"/>
          <p:nvPr/>
        </p:nvSpPr>
        <p:spPr>
          <a:xfrm>
            <a:off x="7167850" y="2929375"/>
            <a:ext cx="1585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latin typeface="Source Code Pro"/>
                <a:ea typeface="Source Code Pro"/>
                <a:cs typeface="Source Code Pro"/>
                <a:sym typeface="Source Code Pro"/>
              </a:rPr>
              <a:t>Testing</a:t>
            </a:r>
            <a:r>
              <a:rPr lang="it" sz="1300">
                <a:latin typeface="Source Code Pro"/>
                <a:ea typeface="Source Code Pro"/>
                <a:cs typeface="Source Code Pro"/>
                <a:sym typeface="Source Code Pro"/>
              </a:rPr>
              <a:t>: validating the design in different contexts and making adjustments accordingly.</a:t>
            </a:r>
            <a:endParaRPr sz="13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322" name="Google Shape;32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0750" y="1344400"/>
            <a:ext cx="1547475" cy="15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6863" y="1298763"/>
            <a:ext cx="1547475" cy="154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8813" y="1350476"/>
            <a:ext cx="1547475" cy="154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7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From wireframes to wireflows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User flows</a:t>
            </a:r>
            <a:endParaRPr/>
          </a:p>
        </p:txBody>
      </p:sp>
      <p:sp>
        <p:nvSpPr>
          <p:cNvPr id="335" name="Google Shape;335;p4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We said that wireframes are used to visually </a:t>
            </a:r>
            <a:r>
              <a:rPr lang="it"/>
              <a:t>describe the user interface by means of static blueprints. But </a:t>
            </a:r>
            <a:r>
              <a:rPr b="1" lang="it"/>
              <a:t>the real actions that the user will have on that interface are not static!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This is why we can use user flows.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User flows help to describe the possible actions available to the a particular user in our interface. </a:t>
            </a:r>
            <a:r>
              <a:rPr lang="it"/>
              <a:t>It helps to map out all the possible steps and the movement of the user in our app/website.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sz="1151" u="sng">
                <a:solidFill>
                  <a:schemeClr val="hlink"/>
                </a:solidFill>
                <a:hlinkClick r:id="rId3"/>
              </a:rPr>
              <a:t>https://careerfoundry.com/en/blog/ux-design/what-are-user-flows/#where-do-user-flows-fit-into-the-ux-design-process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</a:t>
            </a:r>
            <a:r>
              <a:rPr lang="it"/>
              <a:t>ser flows: flowchart</a:t>
            </a:r>
            <a:endParaRPr/>
          </a:p>
        </p:txBody>
      </p:sp>
      <p:sp>
        <p:nvSpPr>
          <p:cNvPr id="341" name="Google Shape;341;p49"/>
          <p:cNvSpPr txBox="1"/>
          <p:nvPr>
            <p:ph idx="1" type="body"/>
          </p:nvPr>
        </p:nvSpPr>
        <p:spPr>
          <a:xfrm>
            <a:off x="311700" y="1126100"/>
            <a:ext cx="3129900" cy="34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When defining the flow the better way is to start from the personas, the requirements, scenarios and (even better) the user journey.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Thinking about the possible </a:t>
            </a:r>
            <a:r>
              <a:rPr b="1" lang="it"/>
              <a:t>touchpoints that the user will have</a:t>
            </a:r>
            <a:r>
              <a:rPr lang="it"/>
              <a:t> with the system we can define an abstract </a:t>
            </a:r>
            <a:r>
              <a:rPr b="1" lang="it"/>
              <a:t>flowchart</a:t>
            </a:r>
            <a:r>
              <a:rPr lang="it"/>
              <a:t>.</a:t>
            </a:r>
            <a:endParaRPr/>
          </a:p>
        </p:txBody>
      </p:sp>
      <p:pic>
        <p:nvPicPr>
          <p:cNvPr id="342" name="Google Shape;34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1672" y="789950"/>
            <a:ext cx="5537377" cy="356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User flows: wireflows</a:t>
            </a:r>
            <a:endParaRPr/>
          </a:p>
        </p:txBody>
      </p:sp>
      <p:sp>
        <p:nvSpPr>
          <p:cNvPr id="348" name="Google Shape;348;p50"/>
          <p:cNvSpPr txBox="1"/>
          <p:nvPr>
            <p:ph idx="1" type="body"/>
          </p:nvPr>
        </p:nvSpPr>
        <p:spPr>
          <a:xfrm>
            <a:off x="311700" y="1228675"/>
            <a:ext cx="8520600" cy="9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Wireflows further express a </a:t>
            </a:r>
            <a:r>
              <a:rPr lang="it"/>
              <a:t>flowchart</a:t>
            </a:r>
            <a:r>
              <a:rPr lang="it"/>
              <a:t> by using wireframes instead of abstract descriptions.</a:t>
            </a:r>
            <a:endParaRPr/>
          </a:p>
        </p:txBody>
      </p:sp>
      <p:pic>
        <p:nvPicPr>
          <p:cNvPr id="349" name="Google Shape;34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9750" y="2009175"/>
            <a:ext cx="5504499" cy="309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User flows and wireflows</a:t>
            </a:r>
            <a:endParaRPr/>
          </a:p>
        </p:txBody>
      </p:sp>
      <p:sp>
        <p:nvSpPr>
          <p:cNvPr id="355" name="Google Shape;355;p51"/>
          <p:cNvSpPr txBox="1"/>
          <p:nvPr>
            <p:ph idx="1" type="body"/>
          </p:nvPr>
        </p:nvSpPr>
        <p:spPr>
          <a:xfrm>
            <a:off x="311700" y="1228675"/>
            <a:ext cx="3769200" cy="343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 wireflow can be also used to describe a particular user flow.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When you take the course of action that a specific persona can take in your system and describe it through a </a:t>
            </a:r>
            <a:r>
              <a:rPr lang="it"/>
              <a:t>particular flow chart you have a </a:t>
            </a:r>
            <a:r>
              <a:rPr b="1" lang="it"/>
              <a:t>user flow</a:t>
            </a:r>
            <a:r>
              <a:rPr lang="it"/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A user flow expressed with the use of wireframes, as a wireflow, narrates better the use of the interface.</a:t>
            </a:r>
            <a:endParaRPr/>
          </a:p>
        </p:txBody>
      </p:sp>
      <p:pic>
        <p:nvPicPr>
          <p:cNvPr id="356" name="Google Shape;35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9950" y="477538"/>
            <a:ext cx="5124050" cy="418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