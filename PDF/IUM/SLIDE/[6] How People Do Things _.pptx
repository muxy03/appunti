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05b4b2e0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605b4b2e0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05b4b2e0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05b4b2e0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605b4b2e0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605b4b2e0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61a78171a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61a78171a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605b4b2e0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605b4b2e0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605b4b2e0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605b4b2e0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605b4b2e0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05b4b2e0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605b4b2e0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05b4b2e0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605b4b2e0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605b4b2e0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605b4b2e0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605b4b2e0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605b4b2e0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605b4b2e0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9e0fc21d0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9e0fc21d0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e0fc21d05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e0fc21d05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1bc1b029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1bc1b029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61bc1b029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61bc1b029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61bc1b029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61bc1b029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61bc1b029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61bc1b029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a78171a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a78171a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a78171a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a78171a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9e0fc21d05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9e0fc21d05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9e0fc21d0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9e0fc21d0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9e0fc21d0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9e0fc21d0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9e0fc21d0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9e0fc21d0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9e0fc21d0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9e0fc21d0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9e0fc21d05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9e0fc21d0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9e0fc21d0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9e0fc21d0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9e0fc21d0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9e0fc21d0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9e0fc21d05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9e0fc21d05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9e0fc21d05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9e0fc21d05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9e0fc21d05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9e0fc21d05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9e0fc21d05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9e0fc21d0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9e0fc21d05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9e0fc21d0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How People Do Things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a:t>
            </a:r>
            <a:r>
              <a:rPr lang="it"/>
              <a:t>ow do people do things?</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It is easy to learn a few basic steps to perform operations with our technologies.</a:t>
            </a:r>
            <a:endParaRPr/>
          </a:p>
          <a:p>
            <a:pPr indent="0" lvl="0" marL="0" rtl="0" algn="l">
              <a:spcBef>
                <a:spcPts val="1600"/>
              </a:spcBef>
              <a:spcAft>
                <a:spcPts val="0"/>
              </a:spcAft>
              <a:buNone/>
            </a:pPr>
            <a:r>
              <a:rPr lang="it"/>
              <a:t>But what happens when things go wrong? How do we detect that they aren’t working, and then how do we know what to do? </a:t>
            </a:r>
            <a:endParaRPr/>
          </a:p>
          <a:p>
            <a:pPr indent="0" lvl="0" marL="0" rtl="0" algn="l">
              <a:spcBef>
                <a:spcPts val="1600"/>
              </a:spcBef>
              <a:spcAft>
                <a:spcPts val="0"/>
              </a:spcAft>
              <a:buNone/>
            </a:pPr>
            <a:r>
              <a:rPr lang="it"/>
              <a:t>To help understand this, we need to delve into </a:t>
            </a:r>
            <a:r>
              <a:rPr b="1" lang="it"/>
              <a:t>human psychology</a:t>
            </a:r>
            <a:r>
              <a:rPr lang="it"/>
              <a:t> and a simple conceptual model </a:t>
            </a:r>
            <a:r>
              <a:rPr b="1" lang="it"/>
              <a:t>of how people select and then evaluate their actions.</a:t>
            </a:r>
            <a:r>
              <a:rPr lang="it"/>
              <a:t> </a:t>
            </a:r>
            <a:endParaRPr/>
          </a:p>
          <a:p>
            <a:pPr indent="0" lvl="0" marL="0" rtl="0" algn="l">
              <a:spcBef>
                <a:spcPts val="1600"/>
              </a:spcBef>
              <a:spcAft>
                <a:spcPts val="0"/>
              </a:spcAft>
              <a:buClr>
                <a:schemeClr val="dk1"/>
              </a:buClr>
              <a:buSzPts val="1100"/>
              <a:buFont typeface="Arial"/>
              <a:buNone/>
            </a:pPr>
            <a:r>
              <a:rPr lang="it"/>
              <a:t>This leads the discussion to the role of understanding (via a conceptual model) and of </a:t>
            </a:r>
            <a:r>
              <a:rPr b="1" lang="it"/>
              <a:t>emotions</a:t>
            </a:r>
            <a:r>
              <a:rPr lang="it"/>
              <a:t>: </a:t>
            </a:r>
            <a:r>
              <a:rPr b="1" lang="it"/>
              <a:t>pleasure </a:t>
            </a:r>
            <a:r>
              <a:rPr lang="it"/>
              <a:t>when things work smoothly and </a:t>
            </a:r>
            <a:r>
              <a:rPr b="1" lang="it"/>
              <a:t>frustration </a:t>
            </a:r>
            <a:r>
              <a:rPr lang="it"/>
              <a:t>when our plans are thwarted.</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68" name="Google Shape;68;p15"/>
          <p:cNvSpPr txBox="1"/>
          <p:nvPr>
            <p:ph idx="1" type="body"/>
          </p:nvPr>
        </p:nvSpPr>
        <p:spPr>
          <a:xfrm>
            <a:off x="311700" y="1152475"/>
            <a:ext cx="5612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people use something, they face two gulfs: </a:t>
            </a:r>
            <a:endParaRPr/>
          </a:p>
          <a:p>
            <a:pPr indent="-342900" lvl="0" marL="457200" rtl="0" algn="l">
              <a:spcBef>
                <a:spcPts val="1600"/>
              </a:spcBef>
              <a:spcAft>
                <a:spcPts val="0"/>
              </a:spcAft>
              <a:buSzPts val="1800"/>
              <a:buChar char="●"/>
            </a:pPr>
            <a:r>
              <a:rPr lang="it"/>
              <a:t>Gulf of Execution, where they try to figure out how it operates</a:t>
            </a:r>
            <a:endParaRPr/>
          </a:p>
          <a:p>
            <a:pPr indent="-342900" lvl="0" marL="457200" rtl="0" algn="l">
              <a:spcBef>
                <a:spcPts val="0"/>
              </a:spcBef>
              <a:spcAft>
                <a:spcPts val="0"/>
              </a:spcAft>
              <a:buSzPts val="1800"/>
              <a:buChar char="●"/>
            </a:pPr>
            <a:r>
              <a:rPr lang="it"/>
              <a:t>Gulf of Evaluation, where they try to figure out what happened </a:t>
            </a:r>
            <a:endParaRPr/>
          </a:p>
          <a:p>
            <a:pPr indent="0" lvl="0" marL="0" rtl="0" algn="l">
              <a:spcBef>
                <a:spcPts val="1600"/>
              </a:spcBef>
              <a:spcAft>
                <a:spcPts val="0"/>
              </a:spcAft>
              <a:buClr>
                <a:schemeClr val="dk1"/>
              </a:buClr>
              <a:buSzPts val="1100"/>
              <a:buFont typeface="Arial"/>
              <a:buNone/>
            </a:pPr>
            <a:r>
              <a:rPr b="1" lang="it"/>
              <a:t>The role of the designer is to help people bridge the two gulfs.</a:t>
            </a:r>
            <a:endParaRPr b="1"/>
          </a:p>
          <a:p>
            <a:pPr indent="0" lvl="0" marL="0" rtl="0" algn="l">
              <a:spcBef>
                <a:spcPts val="1600"/>
              </a:spcBef>
              <a:spcAft>
                <a:spcPts val="1600"/>
              </a:spcAft>
              <a:buNone/>
            </a:pPr>
            <a:r>
              <a:t/>
            </a:r>
            <a:endParaRPr/>
          </a:p>
        </p:txBody>
      </p:sp>
      <p:pic>
        <p:nvPicPr>
          <p:cNvPr id="69" name="Google Shape;69;p15"/>
          <p:cNvPicPr preferRelativeResize="0"/>
          <p:nvPr/>
        </p:nvPicPr>
        <p:blipFill>
          <a:blip r:embed="rId3">
            <a:alphaModFix/>
          </a:blip>
          <a:stretch>
            <a:fillRect/>
          </a:stretch>
        </p:blipFill>
        <p:spPr>
          <a:xfrm>
            <a:off x="5923800" y="1017725"/>
            <a:ext cx="3124200" cy="2828925"/>
          </a:xfrm>
          <a:prstGeom prst="rect">
            <a:avLst/>
          </a:prstGeom>
          <a:noFill/>
          <a:ln>
            <a:noFill/>
          </a:ln>
        </p:spPr>
      </p:pic>
      <p:sp>
        <p:nvSpPr>
          <p:cNvPr id="70" name="Google Shape;70;p15"/>
          <p:cNvSpPr txBox="1"/>
          <p:nvPr/>
        </p:nvSpPr>
        <p:spPr>
          <a:xfrm>
            <a:off x="7020150" y="1000075"/>
            <a:ext cx="9315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rgbClr val="FFFFFF"/>
                </a:solidFill>
              </a:rPr>
              <a:t>USER</a:t>
            </a:r>
            <a:endParaRPr b="1">
              <a:solidFill>
                <a:srgbClr val="FFFFFF"/>
              </a:solidFill>
            </a:endParaRPr>
          </a:p>
        </p:txBody>
      </p:sp>
      <p:sp>
        <p:nvSpPr>
          <p:cNvPr id="71" name="Google Shape;71;p15"/>
          <p:cNvSpPr txBox="1"/>
          <p:nvPr/>
        </p:nvSpPr>
        <p:spPr>
          <a:xfrm>
            <a:off x="7661650" y="3385275"/>
            <a:ext cx="9315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rgbClr val="FFFFFF"/>
                </a:solidFill>
              </a:rPr>
              <a:t>/DEVICE</a:t>
            </a:r>
            <a:endParaRPr b="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77" name="Google Shape;77;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The Gulf of Evaluation is typically perceived as </a:t>
            </a:r>
            <a:r>
              <a:rPr lang="it" u="sng"/>
              <a:t>easy</a:t>
            </a:r>
            <a:r>
              <a:rPr lang="it" u="sng"/>
              <a:t> to </a:t>
            </a:r>
            <a:r>
              <a:rPr lang="it" u="sng"/>
              <a:t>bridge</a:t>
            </a:r>
            <a:r>
              <a:rPr lang="it"/>
              <a:t>, at first.</a:t>
            </a:r>
            <a:endParaRPr/>
          </a:p>
          <a:p>
            <a:pPr indent="0" lvl="0" marL="0" rtl="0" algn="l">
              <a:spcBef>
                <a:spcPts val="1600"/>
              </a:spcBef>
              <a:spcAft>
                <a:spcPts val="0"/>
              </a:spcAft>
              <a:buNone/>
            </a:pPr>
            <a:r>
              <a:rPr lang="it"/>
              <a:t>The Gulf of Evaluation reflects the amount of effort that the person must make to interpret the physical state of the device and to determine how well the expectations and intentions have been met. </a:t>
            </a:r>
            <a:endParaRPr/>
          </a:p>
          <a:p>
            <a:pPr indent="0" lvl="0" marL="0" rtl="0" algn="l">
              <a:spcBef>
                <a:spcPts val="1600"/>
              </a:spcBef>
              <a:spcAft>
                <a:spcPts val="1600"/>
              </a:spcAft>
              <a:buNone/>
            </a:pPr>
            <a:r>
              <a:rPr lang="it"/>
              <a:t>The gulf is small when the device provides information about its state in a form that is easy to get, is easy to interpret, and matches the way the person thinks about the system.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Gulfs of Execution and Evaluation</a:t>
            </a:r>
            <a:endParaRPr/>
          </a:p>
          <a:p>
            <a:pPr indent="0" lvl="0" marL="0" rtl="0" algn="l">
              <a:spcBef>
                <a:spcPts val="0"/>
              </a:spcBef>
              <a:spcAft>
                <a:spcPts val="0"/>
              </a:spcAft>
              <a:buNone/>
            </a:pPr>
            <a:r>
              <a:t/>
            </a:r>
            <a:endParaRPr/>
          </a:p>
        </p:txBody>
      </p:sp>
      <p:sp>
        <p:nvSpPr>
          <p:cNvPr id="83" name="Google Shape;83;p17"/>
          <p:cNvSpPr txBox="1"/>
          <p:nvPr>
            <p:ph idx="1" type="body"/>
          </p:nvPr>
        </p:nvSpPr>
        <p:spPr>
          <a:xfrm>
            <a:off x="311700" y="1174675"/>
            <a:ext cx="3478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are the major design elements that help bridge the Gulf of Execution?</a:t>
            </a:r>
            <a:endParaRPr/>
          </a:p>
          <a:p>
            <a:pPr indent="0" lvl="0" marL="0" rtl="0" algn="l">
              <a:spcBef>
                <a:spcPts val="1600"/>
              </a:spcBef>
              <a:spcAft>
                <a:spcPts val="0"/>
              </a:spcAft>
              <a:buNone/>
            </a:pPr>
            <a:r>
              <a:rPr b="1" lang="it"/>
              <a:t>signifiers, constraints, mappings, and a conceptual model.</a:t>
            </a:r>
            <a:endParaRPr b="1"/>
          </a:p>
          <a:p>
            <a:pPr indent="0" lvl="0" marL="0" rtl="0" algn="l">
              <a:spcBef>
                <a:spcPts val="1600"/>
              </a:spcBef>
              <a:spcAft>
                <a:spcPts val="1600"/>
              </a:spcAft>
              <a:buNone/>
            </a:pPr>
            <a:r>
              <a:t/>
            </a:r>
            <a:endParaRPr/>
          </a:p>
        </p:txBody>
      </p:sp>
      <p:pic>
        <p:nvPicPr>
          <p:cNvPr id="84" name="Google Shape;84;p17"/>
          <p:cNvPicPr preferRelativeResize="0"/>
          <p:nvPr/>
        </p:nvPicPr>
        <p:blipFill rotWithShape="1">
          <a:blip r:embed="rId3">
            <a:alphaModFix/>
          </a:blip>
          <a:srcRect b="17668" l="17968" r="17788" t="16723"/>
          <a:stretch/>
        </p:blipFill>
        <p:spPr>
          <a:xfrm>
            <a:off x="5024050" y="1329263"/>
            <a:ext cx="4056382" cy="3107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90" name="Google Shape;90;p18"/>
          <p:cNvSpPr txBox="1"/>
          <p:nvPr>
            <p:ph idx="1" type="body"/>
          </p:nvPr>
        </p:nvSpPr>
        <p:spPr>
          <a:xfrm>
            <a:off x="311700" y="1152475"/>
            <a:ext cx="3478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are the major design elements that help bridge the Gulf of Evaluation?</a:t>
            </a:r>
            <a:endParaRPr/>
          </a:p>
          <a:p>
            <a:pPr indent="0" lvl="0" marL="0" rtl="0" algn="l">
              <a:spcBef>
                <a:spcPts val="1600"/>
              </a:spcBef>
              <a:spcAft>
                <a:spcPts val="0"/>
              </a:spcAft>
              <a:buClr>
                <a:schemeClr val="dk1"/>
              </a:buClr>
              <a:buSzPts val="1100"/>
              <a:buFont typeface="Arial"/>
              <a:buNone/>
            </a:pPr>
            <a:r>
              <a:rPr b="1" lang="it"/>
              <a:t>Feedback and conceptual model</a:t>
            </a:r>
            <a:endParaRPr b="1"/>
          </a:p>
          <a:p>
            <a:pPr indent="0" lvl="0" marL="0" rtl="0" algn="l">
              <a:spcBef>
                <a:spcPts val="1600"/>
              </a:spcBef>
              <a:spcAft>
                <a:spcPts val="1600"/>
              </a:spcAft>
              <a:buNone/>
            </a:pPr>
            <a:r>
              <a:t/>
            </a:r>
            <a:endParaRPr/>
          </a:p>
        </p:txBody>
      </p:sp>
      <p:pic>
        <p:nvPicPr>
          <p:cNvPr id="91" name="Google Shape;91;p18"/>
          <p:cNvPicPr preferRelativeResize="0"/>
          <p:nvPr/>
        </p:nvPicPr>
        <p:blipFill rotWithShape="1">
          <a:blip r:embed="rId3">
            <a:alphaModFix/>
          </a:blip>
          <a:srcRect b="17668" l="17968" r="17788" t="16723"/>
          <a:stretch/>
        </p:blipFill>
        <p:spPr>
          <a:xfrm>
            <a:off x="5024050" y="1230863"/>
            <a:ext cx="4056382" cy="310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t>
            </a:r>
            <a:r>
              <a:rPr lang="it"/>
              <a:t>frustration</a:t>
            </a:r>
            <a:r>
              <a:rPr lang="it"/>
              <a:t> </a:t>
            </a:r>
            <a:endParaRPr/>
          </a:p>
        </p:txBody>
      </p:sp>
      <p:sp>
        <p:nvSpPr>
          <p:cNvPr id="97" name="Google Shape;97;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t>
            </a:r>
            <a:r>
              <a:rPr lang="it"/>
              <a:t>any people do experience difficulties in using devices and UI, but explain them away by blaming themselves. </a:t>
            </a:r>
            <a:endParaRPr/>
          </a:p>
          <a:p>
            <a:pPr indent="0" lvl="0" marL="0" rtl="0" algn="l">
              <a:spcBef>
                <a:spcPts val="1600"/>
              </a:spcBef>
              <a:spcAft>
                <a:spcPts val="0"/>
              </a:spcAft>
              <a:buNone/>
            </a:pPr>
            <a:r>
              <a:rPr lang="it"/>
              <a:t>In the case of things they believe they should be capable of using they simply think, “I’m being stupid.” </a:t>
            </a:r>
            <a:endParaRPr/>
          </a:p>
          <a:p>
            <a:pPr indent="0" lvl="0" marL="0" rtl="0" algn="l">
              <a:spcBef>
                <a:spcPts val="1600"/>
              </a:spcBef>
              <a:spcAft>
                <a:spcPts val="0"/>
              </a:spcAft>
              <a:buNone/>
            </a:pPr>
            <a:r>
              <a:rPr lang="it"/>
              <a:t>Alternatively, for complicated looking devices they simply give up, deciding that they are incapable of understanding them. </a:t>
            </a:r>
            <a:endParaRPr/>
          </a:p>
          <a:p>
            <a:pPr indent="0" lvl="0" marL="0" rtl="0" algn="l">
              <a:spcBef>
                <a:spcPts val="1600"/>
              </a:spcBef>
              <a:spcAft>
                <a:spcPts val="0"/>
              </a:spcAft>
              <a:buNone/>
            </a:pPr>
            <a:r>
              <a:rPr b="1" lang="it"/>
              <a:t>Both explanations are wrong</a:t>
            </a:r>
            <a:r>
              <a:rPr lang="it"/>
              <a:t>!</a:t>
            </a:r>
            <a:endParaRPr/>
          </a:p>
          <a:p>
            <a:pPr indent="0" lvl="0" marL="0" rtl="0" algn="l">
              <a:spcBef>
                <a:spcPts val="1600"/>
              </a:spcBef>
              <a:spcAft>
                <a:spcPts val="0"/>
              </a:spcAft>
              <a:buClr>
                <a:schemeClr val="dk1"/>
              </a:buClr>
              <a:buSzPts val="1100"/>
              <a:buFont typeface="Arial"/>
              <a:buNone/>
            </a:pPr>
            <a:r>
              <a:rPr lang="it" u="sng"/>
              <a:t>The difficulties reside in things design, not in the people attempting to use them.</a:t>
            </a:r>
            <a:endParaRPr u="sng"/>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Our Actions</a:t>
            </a:r>
            <a:endParaRPr/>
          </a:p>
        </p:txBody>
      </p:sp>
      <p:sp>
        <p:nvSpPr>
          <p:cNvPr id="103" name="Google Shape;103;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There are two parts to an action: </a:t>
            </a:r>
            <a:endParaRPr/>
          </a:p>
          <a:p>
            <a:pPr indent="-342900" lvl="0" marL="457200" rtl="0" algn="l">
              <a:spcBef>
                <a:spcPts val="1600"/>
              </a:spcBef>
              <a:spcAft>
                <a:spcPts val="0"/>
              </a:spcAft>
              <a:buSzPts val="1800"/>
              <a:buChar char="●"/>
            </a:pPr>
            <a:r>
              <a:rPr lang="it"/>
              <a:t>executing the action </a:t>
            </a:r>
            <a:endParaRPr/>
          </a:p>
          <a:p>
            <a:pPr indent="-342900" lvl="0" marL="457200" rtl="0" algn="l">
              <a:spcBef>
                <a:spcPts val="0"/>
              </a:spcBef>
              <a:spcAft>
                <a:spcPts val="0"/>
              </a:spcAft>
              <a:buSzPts val="1800"/>
              <a:buChar char="●"/>
            </a:pPr>
            <a:r>
              <a:rPr lang="it"/>
              <a:t>evaluating the results</a:t>
            </a:r>
            <a:endParaRPr/>
          </a:p>
          <a:p>
            <a:pPr indent="0" lvl="0" marL="457200" rtl="0" algn="l">
              <a:spcBef>
                <a:spcPts val="1600"/>
              </a:spcBef>
              <a:spcAft>
                <a:spcPts val="0"/>
              </a:spcAft>
              <a:buNone/>
            </a:pPr>
            <a:r>
              <a:rPr b="1" lang="it" u="sng"/>
              <a:t>doing and interpreting</a:t>
            </a:r>
            <a:endParaRPr b="1" u="sng"/>
          </a:p>
          <a:p>
            <a:pPr indent="0" lvl="0" marL="457200" rtl="0" algn="l">
              <a:spcBef>
                <a:spcPts val="1600"/>
              </a:spcBef>
              <a:spcAft>
                <a:spcPts val="0"/>
              </a:spcAft>
              <a:buNone/>
            </a:pPr>
            <a:r>
              <a:rPr lang="it"/>
              <a:t>Both execution and evaluation require understanding: how the item works and what results it produces. </a:t>
            </a:r>
            <a:endParaRPr/>
          </a:p>
          <a:p>
            <a:pPr indent="0" lvl="0" marL="0" rtl="0" algn="l">
              <a:spcBef>
                <a:spcPts val="1600"/>
              </a:spcBef>
              <a:spcAft>
                <a:spcPts val="0"/>
              </a:spcAft>
              <a:buClr>
                <a:schemeClr val="dk1"/>
              </a:buClr>
              <a:buSzPts val="1100"/>
              <a:buFont typeface="Arial"/>
              <a:buNone/>
            </a:pPr>
            <a:r>
              <a:rPr lang="it" u="sng"/>
              <a:t>Both execution and evaluation can affect our emotional state.</a:t>
            </a:r>
            <a:endParaRPr u="sng"/>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7 states of the action</a:t>
            </a:r>
            <a:endParaRPr/>
          </a:p>
        </p:txBody>
      </p:sp>
      <p:sp>
        <p:nvSpPr>
          <p:cNvPr id="109" name="Google Shape;109;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Firstly</a:t>
            </a:r>
            <a:r>
              <a:rPr lang="it"/>
              <a:t> </a:t>
            </a:r>
            <a:r>
              <a:rPr lang="it"/>
              <a:t>we (1) </a:t>
            </a:r>
            <a:r>
              <a:rPr b="1" lang="it"/>
              <a:t>specify our goals </a:t>
            </a:r>
            <a:r>
              <a:rPr lang="it"/>
              <a:t>then we move to the 3 stages of execution:  </a:t>
            </a:r>
            <a:endParaRPr/>
          </a:p>
          <a:p>
            <a:pPr indent="0" lvl="0" marL="0" rtl="0" algn="l">
              <a:spcBef>
                <a:spcPts val="1600"/>
              </a:spcBef>
              <a:spcAft>
                <a:spcPts val="0"/>
              </a:spcAft>
              <a:buNone/>
            </a:pPr>
            <a:r>
              <a:rPr lang="it"/>
              <a:t>2 plan</a:t>
            </a:r>
            <a:br>
              <a:rPr lang="it"/>
            </a:br>
            <a:r>
              <a:rPr lang="it"/>
              <a:t>3 specify</a:t>
            </a:r>
            <a:br>
              <a:rPr lang="it"/>
            </a:br>
            <a:r>
              <a:rPr lang="it"/>
              <a:t>4 perform </a:t>
            </a:r>
            <a:endParaRPr/>
          </a:p>
          <a:p>
            <a:pPr indent="0" lvl="0" marL="0" rtl="0" algn="l">
              <a:spcBef>
                <a:spcPts val="1600"/>
              </a:spcBef>
              <a:spcAft>
                <a:spcPts val="0"/>
              </a:spcAft>
              <a:buNone/>
            </a:pPr>
            <a:r>
              <a:rPr lang="it"/>
              <a:t>Evaluating also has 3 stages: </a:t>
            </a:r>
            <a:endParaRPr/>
          </a:p>
          <a:p>
            <a:pPr indent="0" lvl="0" marL="0" rtl="0" algn="l">
              <a:spcBef>
                <a:spcPts val="1600"/>
              </a:spcBef>
              <a:spcAft>
                <a:spcPts val="0"/>
              </a:spcAft>
              <a:buNone/>
            </a:pPr>
            <a:r>
              <a:rPr lang="it"/>
              <a:t>5 perceiving </a:t>
            </a:r>
            <a:br>
              <a:rPr lang="it"/>
            </a:br>
            <a:r>
              <a:rPr lang="it"/>
              <a:t>6 interpreting </a:t>
            </a:r>
            <a:br>
              <a:rPr lang="it"/>
            </a:br>
            <a:r>
              <a:rPr lang="it"/>
              <a:t>7 comparing</a:t>
            </a:r>
            <a:endParaRPr/>
          </a:p>
          <a:p>
            <a:pPr indent="0" lvl="0" marL="0" rtl="0" algn="l">
              <a:spcBef>
                <a:spcPts val="1600"/>
              </a:spcBef>
              <a:spcAft>
                <a:spcPts val="1600"/>
              </a:spcAft>
              <a:buNone/>
            </a:pPr>
            <a:r>
              <a:t/>
            </a:r>
            <a:endParaRPr/>
          </a:p>
        </p:txBody>
      </p:sp>
      <p:pic>
        <p:nvPicPr>
          <p:cNvPr id="110" name="Google Shape;110;p21"/>
          <p:cNvPicPr preferRelativeResize="0"/>
          <p:nvPr/>
        </p:nvPicPr>
        <p:blipFill>
          <a:blip r:embed="rId3">
            <a:alphaModFix/>
          </a:blip>
          <a:stretch>
            <a:fillRect/>
          </a:stretch>
        </p:blipFill>
        <p:spPr>
          <a:xfrm>
            <a:off x="4859574" y="1080525"/>
            <a:ext cx="4245675" cy="3922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None/>
            </a:pPr>
            <a:r>
              <a:t/>
            </a:r>
            <a:endParaRPr/>
          </a:p>
        </p:txBody>
      </p:sp>
      <p:sp>
        <p:nvSpPr>
          <p:cNvPr id="116" name="Google Shape;116;p22"/>
          <p:cNvSpPr txBox="1"/>
          <p:nvPr>
            <p:ph idx="1" type="body"/>
          </p:nvPr>
        </p:nvSpPr>
        <p:spPr>
          <a:xfrm>
            <a:off x="311700" y="1152475"/>
            <a:ext cx="4388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1. Goal (form the goal) </a:t>
            </a:r>
            <a:endParaRPr/>
          </a:p>
          <a:p>
            <a:pPr indent="0" lvl="0" marL="0" rtl="0" algn="l">
              <a:spcBef>
                <a:spcPts val="1600"/>
              </a:spcBef>
              <a:spcAft>
                <a:spcPts val="0"/>
              </a:spcAft>
              <a:buClr>
                <a:schemeClr val="dk1"/>
              </a:buClr>
              <a:buSzPts val="1100"/>
              <a:buFont typeface="Arial"/>
              <a:buNone/>
            </a:pPr>
            <a:r>
              <a:rPr lang="it"/>
              <a:t>2. Plan (the action) </a:t>
            </a:r>
            <a:endParaRPr/>
          </a:p>
          <a:p>
            <a:pPr indent="0" lvl="0" marL="0" rtl="0" algn="l">
              <a:spcBef>
                <a:spcPts val="1600"/>
              </a:spcBef>
              <a:spcAft>
                <a:spcPts val="0"/>
              </a:spcAft>
              <a:buNone/>
            </a:pPr>
            <a:r>
              <a:rPr lang="it"/>
              <a:t>3. Specify (an action sequence) </a:t>
            </a:r>
            <a:endParaRPr/>
          </a:p>
          <a:p>
            <a:pPr indent="0" lvl="0" marL="0" rtl="0" algn="l">
              <a:spcBef>
                <a:spcPts val="1600"/>
              </a:spcBef>
              <a:spcAft>
                <a:spcPts val="0"/>
              </a:spcAft>
              <a:buNone/>
            </a:pPr>
            <a:r>
              <a:rPr lang="it"/>
              <a:t>4. Perform (the action sequence)</a:t>
            </a:r>
            <a:endParaRPr/>
          </a:p>
          <a:p>
            <a:pPr indent="0" lvl="0" marL="0" rtl="0" algn="l">
              <a:spcBef>
                <a:spcPts val="1600"/>
              </a:spcBef>
              <a:spcAft>
                <a:spcPts val="0"/>
              </a:spcAft>
              <a:buNone/>
            </a:pPr>
            <a:r>
              <a:rPr lang="it"/>
              <a:t>5. Perceive (the state of the world)</a:t>
            </a:r>
            <a:endParaRPr/>
          </a:p>
          <a:p>
            <a:pPr indent="0" lvl="0" marL="0" rtl="0" algn="l">
              <a:spcBef>
                <a:spcPts val="1600"/>
              </a:spcBef>
              <a:spcAft>
                <a:spcPts val="0"/>
              </a:spcAft>
              <a:buClr>
                <a:schemeClr val="dk1"/>
              </a:buClr>
              <a:buSzPts val="1100"/>
              <a:buFont typeface="Arial"/>
              <a:buNone/>
            </a:pPr>
            <a:r>
              <a:rPr lang="it"/>
              <a:t>6. Interpret (the perception)</a:t>
            </a:r>
            <a:endParaRPr/>
          </a:p>
          <a:p>
            <a:pPr indent="0" lvl="0" marL="0" rtl="0" algn="l">
              <a:spcBef>
                <a:spcPts val="1600"/>
              </a:spcBef>
              <a:spcAft>
                <a:spcPts val="0"/>
              </a:spcAft>
              <a:buClr>
                <a:schemeClr val="dk1"/>
              </a:buClr>
              <a:buSzPts val="1100"/>
              <a:buFont typeface="Arial"/>
              <a:buNone/>
            </a:pPr>
            <a:r>
              <a:rPr lang="it"/>
              <a:t>7. Compare (the outcome with the goal)</a:t>
            </a:r>
            <a:endParaRPr/>
          </a:p>
          <a:p>
            <a:pPr indent="0" lvl="0" marL="0" rtl="0" algn="l">
              <a:spcBef>
                <a:spcPts val="1600"/>
              </a:spcBef>
              <a:spcAft>
                <a:spcPts val="1600"/>
              </a:spcAft>
              <a:buNone/>
            </a:pPr>
            <a:r>
              <a:t/>
            </a:r>
            <a:endParaRPr/>
          </a:p>
        </p:txBody>
      </p:sp>
      <p:pic>
        <p:nvPicPr>
          <p:cNvPr id="117" name="Google Shape;117;p22"/>
          <p:cNvPicPr preferRelativeResize="0"/>
          <p:nvPr/>
        </p:nvPicPr>
        <p:blipFill rotWithShape="1">
          <a:blip r:embed="rId3">
            <a:alphaModFix/>
          </a:blip>
          <a:srcRect b="8891" l="22112" r="19466" t="8858"/>
          <a:stretch/>
        </p:blipFill>
        <p:spPr>
          <a:xfrm>
            <a:off x="5565475" y="1152475"/>
            <a:ext cx="3527226" cy="372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3" name="Google Shape;123;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Most behavior does not require going through all stages in sequence</a:t>
            </a:r>
            <a:endParaRPr/>
          </a:p>
          <a:p>
            <a:pPr indent="0" lvl="0" marL="0" rtl="0" algn="l">
              <a:spcBef>
                <a:spcPts val="1600"/>
              </a:spcBef>
              <a:spcAft>
                <a:spcPts val="0"/>
              </a:spcAft>
              <a:buNone/>
            </a:pPr>
            <a:r>
              <a:rPr lang="it"/>
              <a:t>most activities will not be satisfied by single actions. There must be numerous sequences, and the whole activity may last hours or even days. </a:t>
            </a:r>
            <a:endParaRPr/>
          </a:p>
          <a:p>
            <a:pPr indent="0" lvl="0" marL="0" rtl="0" algn="l">
              <a:spcBef>
                <a:spcPts val="1600"/>
              </a:spcBef>
              <a:spcAft>
                <a:spcPts val="0"/>
              </a:spcAft>
              <a:buNone/>
            </a:pPr>
            <a:r>
              <a:rPr lang="it"/>
              <a:t>There are multiple feedback loops in which the results of one activity are used to direct further ones, in which goals lead to subgoals, and plans lead to subplans.</a:t>
            </a:r>
            <a:endParaRPr/>
          </a:p>
          <a:p>
            <a:pPr indent="0" lvl="0" marL="0" rtl="0" algn="l">
              <a:spcBef>
                <a:spcPts val="1600"/>
              </a:spcBef>
              <a:spcAft>
                <a:spcPts val="0"/>
              </a:spcAft>
              <a:buClr>
                <a:schemeClr val="dk1"/>
              </a:buClr>
              <a:buSzPts val="1100"/>
              <a:buFont typeface="Arial"/>
              <a:buNone/>
            </a:pPr>
            <a:r>
              <a:rPr lang="it"/>
              <a:t>There are activities in which goals are forgotten, discarded, or reformulated.</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9" name="Google Shape;129;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The seven stages provide a guideline for developing new products or services.</a:t>
            </a:r>
            <a:r>
              <a:rPr lang="it"/>
              <a:t> </a:t>
            </a:r>
            <a:endParaRPr/>
          </a:p>
          <a:p>
            <a:pPr indent="0" lvl="0" marL="0" rtl="0" algn="l">
              <a:spcBef>
                <a:spcPts val="1600"/>
              </a:spcBef>
              <a:spcAft>
                <a:spcPts val="0"/>
              </a:spcAft>
              <a:buNone/>
            </a:pPr>
            <a:r>
              <a:rPr lang="it"/>
              <a:t>The gulfs are obvious places to start, for either gulf, whether of execution or evaluation, is an opportunity for product enhancement. </a:t>
            </a:r>
            <a:endParaRPr/>
          </a:p>
          <a:p>
            <a:pPr indent="0" lvl="0" marL="0" rtl="0" algn="l">
              <a:spcBef>
                <a:spcPts val="1600"/>
              </a:spcBef>
              <a:spcAft>
                <a:spcPts val="0"/>
              </a:spcAft>
              <a:buNone/>
            </a:pPr>
            <a:r>
              <a:rPr lang="it"/>
              <a:t>The trick is to develop observational skills to detect them</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Seven Fundamental Design Principles</a:t>
            </a:r>
            <a:endParaRPr/>
          </a:p>
        </p:txBody>
      </p:sp>
      <p:sp>
        <p:nvSpPr>
          <p:cNvPr id="135" name="Google Shape;135;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seven-stage model of the action cycle can be a valuable design tool, for it provides a basic checklist of questions to ask. </a:t>
            </a:r>
            <a:endParaRPr/>
          </a:p>
          <a:p>
            <a:pPr indent="0" lvl="0" marL="0" rtl="0" algn="l">
              <a:spcBef>
                <a:spcPts val="1600"/>
              </a:spcBef>
              <a:spcAft>
                <a:spcPts val="0"/>
              </a:spcAft>
              <a:buNone/>
            </a:pPr>
            <a:r>
              <a:rPr lang="it"/>
              <a:t>In general, each stage of action requires its own special design strategies and, in turn, provides its own opportunity for disaster</a:t>
            </a:r>
            <a:endParaRPr/>
          </a:p>
          <a:p>
            <a:pPr indent="0" lvl="0" marL="0" rtl="0" algn="l">
              <a:spcBef>
                <a:spcPts val="1600"/>
              </a:spcBef>
              <a:spcAft>
                <a:spcPts val="0"/>
              </a:spcAft>
              <a:buNone/>
            </a:pPr>
            <a:r>
              <a:rPr lang="it" u="sng"/>
              <a:t>We can derive 7 questions that anyone using a product should always be able to answer</a:t>
            </a:r>
            <a:endParaRPr u="sng"/>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Seven Fundamental Design Principles</a:t>
            </a:r>
            <a:endParaRPr/>
          </a:p>
          <a:p>
            <a:pPr indent="0" lvl="0" marL="0" rtl="0" algn="l">
              <a:spcBef>
                <a:spcPts val="0"/>
              </a:spcBef>
              <a:spcAft>
                <a:spcPts val="0"/>
              </a:spcAft>
              <a:buNone/>
            </a:pPr>
            <a:r>
              <a:t/>
            </a:r>
            <a:endParaRPr/>
          </a:p>
        </p:txBody>
      </p:sp>
      <p:sp>
        <p:nvSpPr>
          <p:cNvPr id="141" name="Google Shape;141;p26"/>
          <p:cNvSpPr txBox="1"/>
          <p:nvPr>
            <p:ph idx="1" type="body"/>
          </p:nvPr>
        </p:nvSpPr>
        <p:spPr>
          <a:xfrm>
            <a:off x="220775" y="619075"/>
            <a:ext cx="4451700" cy="41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1. What do I want to accomplish?</a:t>
            </a:r>
            <a:endParaRPr/>
          </a:p>
          <a:p>
            <a:pPr indent="0" lvl="0" marL="0" rtl="0" algn="l">
              <a:spcBef>
                <a:spcPts val="1600"/>
              </a:spcBef>
              <a:spcAft>
                <a:spcPts val="0"/>
              </a:spcAft>
              <a:buClr>
                <a:schemeClr val="dk1"/>
              </a:buClr>
              <a:buSzPts val="1100"/>
              <a:buFont typeface="Arial"/>
              <a:buNone/>
            </a:pPr>
            <a:r>
              <a:rPr lang="it"/>
              <a:t>2. What are the alternative action sequences?</a:t>
            </a:r>
            <a:endParaRPr/>
          </a:p>
          <a:p>
            <a:pPr indent="0" lvl="0" marL="0" rtl="0" algn="l">
              <a:spcBef>
                <a:spcPts val="1600"/>
              </a:spcBef>
              <a:spcAft>
                <a:spcPts val="0"/>
              </a:spcAft>
              <a:buClr>
                <a:schemeClr val="dk1"/>
              </a:buClr>
              <a:buSzPts val="1100"/>
              <a:buFont typeface="Arial"/>
              <a:buNone/>
            </a:pPr>
            <a:r>
              <a:rPr lang="it"/>
              <a:t>3. What action can I do now?</a:t>
            </a:r>
            <a:endParaRPr/>
          </a:p>
          <a:p>
            <a:pPr indent="0" lvl="0" marL="0" rtl="0" algn="l">
              <a:spcBef>
                <a:spcPts val="1600"/>
              </a:spcBef>
              <a:spcAft>
                <a:spcPts val="0"/>
              </a:spcAft>
              <a:buClr>
                <a:schemeClr val="dk1"/>
              </a:buClr>
              <a:buSzPts val="1100"/>
              <a:buFont typeface="Arial"/>
              <a:buNone/>
            </a:pPr>
            <a:r>
              <a:rPr lang="it"/>
              <a:t>4. How do I do it?</a:t>
            </a:r>
            <a:endParaRPr/>
          </a:p>
          <a:p>
            <a:pPr indent="0" lvl="0" marL="0" rtl="0" algn="l">
              <a:spcBef>
                <a:spcPts val="1600"/>
              </a:spcBef>
              <a:spcAft>
                <a:spcPts val="0"/>
              </a:spcAft>
              <a:buClr>
                <a:schemeClr val="dk1"/>
              </a:buClr>
              <a:buSzPts val="1100"/>
              <a:buFont typeface="Arial"/>
              <a:buNone/>
            </a:pPr>
            <a:r>
              <a:rPr lang="it"/>
              <a:t>5. What happened?</a:t>
            </a:r>
            <a:endParaRPr/>
          </a:p>
          <a:p>
            <a:pPr indent="0" lvl="0" marL="0" rtl="0" algn="l">
              <a:spcBef>
                <a:spcPts val="1600"/>
              </a:spcBef>
              <a:spcAft>
                <a:spcPts val="0"/>
              </a:spcAft>
              <a:buClr>
                <a:schemeClr val="dk1"/>
              </a:buClr>
              <a:buSzPts val="1100"/>
              <a:buFont typeface="Arial"/>
              <a:buNone/>
            </a:pPr>
            <a:r>
              <a:rPr lang="it"/>
              <a:t>6. What does it mean?</a:t>
            </a:r>
            <a:endParaRPr/>
          </a:p>
          <a:p>
            <a:pPr indent="0" lvl="0" marL="0" rtl="0" algn="l">
              <a:spcBef>
                <a:spcPts val="1600"/>
              </a:spcBef>
              <a:spcAft>
                <a:spcPts val="0"/>
              </a:spcAft>
              <a:buClr>
                <a:schemeClr val="dk1"/>
              </a:buClr>
              <a:buSzPts val="1100"/>
              <a:buFont typeface="Arial"/>
              <a:buNone/>
            </a:pPr>
            <a:r>
              <a:rPr lang="it"/>
              <a:t>7. Is this okay? Have I accomplished my goal?</a:t>
            </a:r>
            <a:endParaRPr/>
          </a:p>
          <a:p>
            <a:pPr indent="0" lvl="0" marL="0" rtl="0" algn="l">
              <a:spcBef>
                <a:spcPts val="1600"/>
              </a:spcBef>
              <a:spcAft>
                <a:spcPts val="1600"/>
              </a:spcAft>
              <a:buNone/>
            </a:pPr>
            <a:r>
              <a:t/>
            </a:r>
            <a:endParaRPr/>
          </a:p>
        </p:txBody>
      </p:sp>
      <p:pic>
        <p:nvPicPr>
          <p:cNvPr id="142" name="Google Shape;142;p26"/>
          <p:cNvPicPr preferRelativeResize="0"/>
          <p:nvPr/>
        </p:nvPicPr>
        <p:blipFill>
          <a:blip r:embed="rId3">
            <a:alphaModFix/>
          </a:blip>
          <a:stretch>
            <a:fillRect/>
          </a:stretch>
        </p:blipFill>
        <p:spPr>
          <a:xfrm>
            <a:off x="4572000" y="560525"/>
            <a:ext cx="4360874" cy="4366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Feedforward and Feedback in interaction</a:t>
            </a:r>
            <a:endParaRPr/>
          </a:p>
        </p:txBody>
      </p:sp>
      <p:sp>
        <p:nvSpPr>
          <p:cNvPr id="148" name="Google Shape;148;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information that helps answer questions of execution (doing) is </a:t>
            </a:r>
            <a:r>
              <a:rPr b="1" lang="it"/>
              <a:t>feedforward</a:t>
            </a:r>
            <a:r>
              <a:rPr lang="it"/>
              <a:t>. </a:t>
            </a:r>
            <a:endParaRPr/>
          </a:p>
          <a:p>
            <a:pPr indent="0" lvl="0" marL="0" rtl="0" algn="l">
              <a:spcBef>
                <a:spcPts val="1600"/>
              </a:spcBef>
              <a:spcAft>
                <a:spcPts val="0"/>
              </a:spcAft>
              <a:buClr>
                <a:schemeClr val="dk1"/>
              </a:buClr>
              <a:buSzPts val="1100"/>
              <a:buFont typeface="Arial"/>
              <a:buNone/>
            </a:pPr>
            <a:r>
              <a:rPr lang="it"/>
              <a:t>The information that aids in understanding what has happened is </a:t>
            </a:r>
            <a:r>
              <a:rPr b="1" lang="it"/>
              <a:t>feedback</a:t>
            </a:r>
            <a:r>
              <a:rPr lang="it"/>
              <a:t>.</a:t>
            </a:r>
            <a:endParaRPr/>
          </a:p>
          <a:p>
            <a:pPr indent="0" lvl="0" marL="0" rtl="0" algn="l">
              <a:spcBef>
                <a:spcPts val="1600"/>
              </a:spcBef>
              <a:spcAft>
                <a:spcPts val="1600"/>
              </a:spcAft>
              <a:buNone/>
            </a:pPr>
            <a:r>
              <a:t/>
            </a:r>
            <a:endParaRPr/>
          </a:p>
        </p:txBody>
      </p:sp>
      <p:pic>
        <p:nvPicPr>
          <p:cNvPr id="149" name="Google Shape;149;p27"/>
          <p:cNvPicPr preferRelativeResize="0"/>
          <p:nvPr/>
        </p:nvPicPr>
        <p:blipFill>
          <a:blip r:embed="rId3">
            <a:alphaModFix/>
          </a:blip>
          <a:stretch>
            <a:fillRect/>
          </a:stretch>
        </p:blipFill>
        <p:spPr>
          <a:xfrm>
            <a:off x="1000125" y="2149800"/>
            <a:ext cx="7143750" cy="2381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Feedforward and Feedback in interaction</a:t>
            </a:r>
            <a:endParaRPr/>
          </a:p>
          <a:p>
            <a:pPr indent="0" lvl="0" marL="0" rtl="0" algn="l">
              <a:spcBef>
                <a:spcPts val="0"/>
              </a:spcBef>
              <a:spcAft>
                <a:spcPts val="0"/>
              </a:spcAft>
              <a:buNone/>
            </a:pPr>
            <a:r>
              <a:t/>
            </a:r>
            <a:endParaRPr/>
          </a:p>
        </p:txBody>
      </p:sp>
      <p:sp>
        <p:nvSpPr>
          <p:cNvPr id="155" name="Google Shape;155;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Feedforward is accomplished through </a:t>
            </a:r>
            <a:r>
              <a:rPr b="1" lang="it"/>
              <a:t>appropriate use of signifiers, constraints, and mappings.</a:t>
            </a:r>
            <a:r>
              <a:rPr lang="it"/>
              <a:t> The conceptual model plays an important role. </a:t>
            </a:r>
            <a:endParaRPr/>
          </a:p>
          <a:p>
            <a:pPr indent="0" lvl="0" marL="0" rtl="0" algn="l">
              <a:spcBef>
                <a:spcPts val="1600"/>
              </a:spcBef>
              <a:spcAft>
                <a:spcPts val="0"/>
              </a:spcAft>
              <a:buClr>
                <a:schemeClr val="dk1"/>
              </a:buClr>
              <a:buSzPts val="1100"/>
              <a:buFont typeface="Arial"/>
              <a:buNone/>
            </a:pPr>
            <a:r>
              <a:rPr lang="it"/>
              <a:t>Feedback is accomplished through explicit information about </a:t>
            </a:r>
            <a:r>
              <a:rPr b="1" lang="it"/>
              <a:t>the impact of the action</a:t>
            </a:r>
            <a:r>
              <a:rPr lang="it"/>
              <a:t>. Once again, the conceptual model plays an important role.</a:t>
            </a:r>
            <a:endParaRPr/>
          </a:p>
          <a:p>
            <a:pPr indent="0" lvl="0" marL="0" rtl="0" algn="l">
              <a:spcBef>
                <a:spcPts val="1600"/>
              </a:spcBef>
              <a:spcAft>
                <a:spcPts val="0"/>
              </a:spcAft>
              <a:buClr>
                <a:schemeClr val="dk1"/>
              </a:buClr>
              <a:buSzPts val="1100"/>
              <a:buFont typeface="Arial"/>
              <a:buNone/>
            </a:pPr>
            <a:r>
              <a:rPr lang="it"/>
              <a:t>Both feedback and feedforward need to be presented in a form that is readily interpreted by the people using the system.</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s</a:t>
            </a:r>
            <a:r>
              <a:rPr lang="it"/>
              <a:t>even fundamental principles of design</a:t>
            </a:r>
            <a:endParaRPr/>
          </a:p>
        </p:txBody>
      </p:sp>
      <p:sp>
        <p:nvSpPr>
          <p:cNvPr id="161" name="Google Shape;161;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insights from the seven stages of action lead us to seven fundamental principles of design:</a:t>
            </a:r>
            <a:endParaRPr/>
          </a:p>
          <a:p>
            <a:pPr indent="-342900" lvl="0" marL="457200" rtl="0" algn="l">
              <a:spcBef>
                <a:spcPts val="1600"/>
              </a:spcBef>
              <a:spcAft>
                <a:spcPts val="0"/>
              </a:spcAft>
              <a:buSzPts val="1800"/>
              <a:buAutoNum type="arabicPeriod"/>
            </a:pPr>
            <a:r>
              <a:rPr b="1" lang="it"/>
              <a:t>Discoverability.</a:t>
            </a:r>
            <a:r>
              <a:rPr lang="it"/>
              <a:t> It is possible to determine what actions are possible and the current state of the device.</a:t>
            </a:r>
            <a:endParaRPr/>
          </a:p>
          <a:p>
            <a:pPr indent="-342900" lvl="0" marL="457200" rtl="0" algn="l">
              <a:spcBef>
                <a:spcPts val="0"/>
              </a:spcBef>
              <a:spcAft>
                <a:spcPts val="0"/>
              </a:spcAft>
              <a:buSzPts val="1800"/>
              <a:buAutoNum type="arabicPeriod"/>
            </a:pPr>
            <a:r>
              <a:rPr b="1" lang="it"/>
              <a:t>Feedback.</a:t>
            </a:r>
            <a:r>
              <a:rPr lang="it"/>
              <a:t> There is full and continuous information about the results of actions and the current state of the product or service. After an action has been executed, it is easy to determine the new state.</a:t>
            </a:r>
            <a:endParaRPr/>
          </a:p>
          <a:p>
            <a:pPr indent="-342900" lvl="0" marL="457200" rtl="0" algn="l">
              <a:spcBef>
                <a:spcPts val="0"/>
              </a:spcBef>
              <a:spcAft>
                <a:spcPts val="0"/>
              </a:spcAft>
              <a:buSzPts val="1800"/>
              <a:buAutoNum type="arabicPeriod"/>
            </a:pPr>
            <a:r>
              <a:rPr b="1" lang="it"/>
              <a:t>Conceptual model.</a:t>
            </a:r>
            <a:r>
              <a:rPr lang="it"/>
              <a:t> The design projects all the information needed to create a good conceptual model of the system, leading to understanding and a feeling of control. The conceptual model enhances both discoverability and evaluation of results.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seven fundamental principles of design</a:t>
            </a:r>
            <a:endParaRPr/>
          </a:p>
          <a:p>
            <a:pPr indent="0" lvl="0" marL="0" rtl="0" algn="l">
              <a:spcBef>
                <a:spcPts val="0"/>
              </a:spcBef>
              <a:spcAft>
                <a:spcPts val="0"/>
              </a:spcAft>
              <a:buNone/>
            </a:pPr>
            <a:r>
              <a:t/>
            </a:r>
            <a:endParaRPr/>
          </a:p>
        </p:txBody>
      </p:sp>
      <p:sp>
        <p:nvSpPr>
          <p:cNvPr id="167" name="Google Shape;167;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4. </a:t>
            </a:r>
            <a:r>
              <a:rPr b="1" lang="it"/>
              <a:t>Affordances.</a:t>
            </a:r>
            <a:r>
              <a:rPr lang="it"/>
              <a:t> The proper affordances exist to make the desired actions possible.</a:t>
            </a:r>
            <a:endParaRPr/>
          </a:p>
          <a:p>
            <a:pPr indent="0" lvl="0" marL="0" rtl="0" algn="l">
              <a:spcBef>
                <a:spcPts val="1600"/>
              </a:spcBef>
              <a:spcAft>
                <a:spcPts val="0"/>
              </a:spcAft>
              <a:buClr>
                <a:schemeClr val="dk1"/>
              </a:buClr>
              <a:buSzPts val="1100"/>
              <a:buFont typeface="Arial"/>
              <a:buNone/>
            </a:pPr>
            <a:r>
              <a:rPr lang="it"/>
              <a:t>5. </a:t>
            </a:r>
            <a:r>
              <a:rPr b="1" lang="it"/>
              <a:t>Signifiers.</a:t>
            </a:r>
            <a:r>
              <a:rPr lang="it"/>
              <a:t> Effective use of signifiers ensures discoverability and that the feedback is well communicated and intelligible.</a:t>
            </a:r>
            <a:endParaRPr/>
          </a:p>
          <a:p>
            <a:pPr indent="0" lvl="0" marL="0" rtl="0" algn="l">
              <a:spcBef>
                <a:spcPts val="1600"/>
              </a:spcBef>
              <a:spcAft>
                <a:spcPts val="0"/>
              </a:spcAft>
              <a:buClr>
                <a:schemeClr val="dk1"/>
              </a:buClr>
              <a:buSzPts val="1100"/>
              <a:buFont typeface="Arial"/>
              <a:buNone/>
            </a:pPr>
            <a:r>
              <a:rPr lang="it"/>
              <a:t>6. </a:t>
            </a:r>
            <a:r>
              <a:rPr b="1" lang="it"/>
              <a:t>Mappings.</a:t>
            </a:r>
            <a:r>
              <a:rPr lang="it"/>
              <a:t> The relationship between controls and their actions follows the principles of good mapping, enhanced as much as possible through spatial layout and temporal contiguity.</a:t>
            </a:r>
            <a:endParaRPr/>
          </a:p>
          <a:p>
            <a:pPr indent="0" lvl="0" marL="0" rtl="0" algn="l">
              <a:spcBef>
                <a:spcPts val="1600"/>
              </a:spcBef>
              <a:spcAft>
                <a:spcPts val="0"/>
              </a:spcAft>
              <a:buClr>
                <a:schemeClr val="dk1"/>
              </a:buClr>
              <a:buSzPts val="1100"/>
              <a:buFont typeface="Arial"/>
              <a:buNone/>
            </a:pPr>
            <a:r>
              <a:rPr lang="it"/>
              <a:t>7. </a:t>
            </a:r>
            <a:r>
              <a:rPr b="1" lang="it"/>
              <a:t>Constraints.</a:t>
            </a:r>
            <a:r>
              <a:rPr lang="it"/>
              <a:t> Providing physical, logical, semantic, and cultural constraints guides actions and eases interpretation.</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Opportunistic actions</a:t>
            </a:r>
            <a:endParaRPr/>
          </a:p>
          <a:p>
            <a:pPr indent="0" lvl="0" marL="0" rtl="0" algn="l">
              <a:spcBef>
                <a:spcPts val="0"/>
              </a:spcBef>
              <a:spcAft>
                <a:spcPts val="0"/>
              </a:spcAft>
              <a:buNone/>
            </a:pPr>
            <a:r>
              <a:t/>
            </a:r>
            <a:endParaRPr/>
          </a:p>
        </p:txBody>
      </p:sp>
      <p:sp>
        <p:nvSpPr>
          <p:cNvPr id="173" name="Google Shape;173;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many everyday tasks, goals and intentions are not well specified: they are </a:t>
            </a:r>
            <a:r>
              <a:rPr lang="it" u="sng"/>
              <a:t>opportunistic rather than planned</a:t>
            </a:r>
            <a:r>
              <a:rPr lang="it"/>
              <a:t>. </a:t>
            </a:r>
            <a:endParaRPr/>
          </a:p>
          <a:p>
            <a:pPr indent="0" lvl="0" marL="0" rtl="0" algn="l">
              <a:spcBef>
                <a:spcPts val="1600"/>
              </a:spcBef>
              <a:spcAft>
                <a:spcPts val="0"/>
              </a:spcAft>
              <a:buClr>
                <a:schemeClr val="dk1"/>
              </a:buClr>
              <a:buSzPts val="1100"/>
              <a:buFont typeface="Arial"/>
              <a:buNone/>
            </a:pPr>
            <a:r>
              <a:rPr lang="it"/>
              <a:t>Opportunistic actions are those in which the behavior takes advantage of circumstances.</a:t>
            </a:r>
            <a:endParaRPr/>
          </a:p>
          <a:p>
            <a:pPr indent="0" lvl="0" marL="0" rtl="0" algn="l">
              <a:spcBef>
                <a:spcPts val="1600"/>
              </a:spcBef>
              <a:spcAft>
                <a:spcPts val="0"/>
              </a:spcAft>
              <a:buClr>
                <a:schemeClr val="dk1"/>
              </a:buClr>
              <a:buSzPts val="1100"/>
              <a:buFont typeface="Arial"/>
              <a:buNone/>
            </a:pPr>
            <a:r>
              <a:rPr lang="it"/>
              <a:t>Rather than engage in extensive planning and analysis, we go about the day’s activities and do things as opportunities arise.</a:t>
            </a:r>
            <a:endParaRPr/>
          </a:p>
          <a:p>
            <a:pPr indent="0" lvl="0" marL="0" rtl="0" algn="l">
              <a:spcBef>
                <a:spcPts val="1600"/>
              </a:spcBef>
              <a:spcAft>
                <a:spcPts val="0"/>
              </a:spcAft>
              <a:buClr>
                <a:schemeClr val="dk1"/>
              </a:buClr>
              <a:buSzPts val="1100"/>
              <a:buFont typeface="Arial"/>
              <a:buNone/>
            </a:pPr>
            <a:r>
              <a:rPr lang="it"/>
              <a:t>Thus, we may not have planned to try a new café or to ask a question of a friend.</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Opportunistic actions</a:t>
            </a:r>
            <a:endParaRPr/>
          </a:p>
        </p:txBody>
      </p:sp>
      <p:sp>
        <p:nvSpPr>
          <p:cNvPr id="179" name="Google Shape;179;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Opportunistic actions are less precise and certain than specified goals and intentions, but they result in less mental effort, less inconvenience, and perhaps more interest.</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Human Thought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Thought: Mostly Subconscious</a:t>
            </a:r>
            <a:endParaRPr/>
          </a:p>
        </p:txBody>
      </p:sp>
      <p:sp>
        <p:nvSpPr>
          <p:cNvPr id="190" name="Google Shape;190;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human mind is immensely complex. Despite many advances in our understanding, much still remains mysterious, yet to be learned. </a:t>
            </a:r>
            <a:endParaRPr/>
          </a:p>
          <a:p>
            <a:pPr indent="0" lvl="0" marL="0" rtl="0" algn="l">
              <a:spcBef>
                <a:spcPts val="1600"/>
              </a:spcBef>
              <a:spcAft>
                <a:spcPts val="0"/>
              </a:spcAft>
              <a:buNone/>
            </a:pPr>
            <a:r>
              <a:rPr lang="it"/>
              <a:t>One of the mysteries concerns the nature of and distinction between those activities that are conscious and those that are not. </a:t>
            </a:r>
            <a:endParaRPr/>
          </a:p>
          <a:p>
            <a:pPr indent="0" lvl="0" marL="0" rtl="0" algn="l">
              <a:spcBef>
                <a:spcPts val="1600"/>
              </a:spcBef>
              <a:spcAft>
                <a:spcPts val="0"/>
              </a:spcAft>
              <a:buNone/>
            </a:pPr>
            <a:r>
              <a:rPr lang="it"/>
              <a:t>Most of the brain’s operations are subconscious, hidden beneath our awareness. It is only the highest level, what I call reflective, that is conscious.</a:t>
            </a:r>
            <a:endParaRPr/>
          </a:p>
          <a:p>
            <a:pPr indent="0" lvl="0" marL="0" rtl="0" algn="l">
              <a:spcBef>
                <a:spcPts val="1600"/>
              </a:spcBef>
              <a:spcAft>
                <a:spcPts val="0"/>
              </a:spcAft>
              <a:buNone/>
            </a:pPr>
            <a:r>
              <a:rPr lang="it"/>
              <a:t>Conscious attention is necessary to learn most things, but after the initial learning, continued practice and study, sometimes for thousands of hours over a period of years, produces what psychologists call “overlearning,” Once skills have been overlearned, performance appears to be effortless, done automatically, with little or no awareness.</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Thought: Mostly Subconscious</a:t>
            </a:r>
            <a:endParaRPr/>
          </a:p>
          <a:p>
            <a:pPr indent="0" lvl="0" marL="0" rtl="0" algn="l">
              <a:spcBef>
                <a:spcPts val="0"/>
              </a:spcBef>
              <a:spcAft>
                <a:spcPts val="0"/>
              </a:spcAft>
              <a:buNone/>
            </a:pPr>
            <a:r>
              <a:t/>
            </a:r>
            <a:endParaRPr/>
          </a:p>
        </p:txBody>
      </p:sp>
      <p:sp>
        <p:nvSpPr>
          <p:cNvPr id="196" name="Google Shape;196;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it"/>
              <a:t>In the house you lived in three houses ago, as you entered the front door, was the doorknob on the left or right?</a:t>
            </a:r>
            <a:endParaRPr i="1"/>
          </a:p>
          <a:p>
            <a:pPr indent="0" lvl="0" marL="0" rtl="0" algn="l">
              <a:spcBef>
                <a:spcPts val="1600"/>
              </a:spcBef>
              <a:spcAft>
                <a:spcPts val="0"/>
              </a:spcAft>
              <a:buNone/>
            </a:pPr>
            <a:r>
              <a:rPr lang="it"/>
              <a:t>Now you have to engage in conscious, reflective problem solving, first to retrieve just which house is being talked about, and then what the correct answer is. </a:t>
            </a:r>
            <a:endParaRPr/>
          </a:p>
          <a:p>
            <a:pPr indent="0" lvl="0" marL="0" rtl="0" algn="l">
              <a:spcBef>
                <a:spcPts val="1600"/>
              </a:spcBef>
              <a:spcAft>
                <a:spcPts val="0"/>
              </a:spcAft>
              <a:buNone/>
            </a:pPr>
            <a:r>
              <a:rPr lang="it"/>
              <a:t>Most people can determine the house, but have difficulty answering the question because they can readily imagine the doorknob on both sides of the door. </a:t>
            </a:r>
            <a:endParaRPr/>
          </a:p>
          <a:p>
            <a:pPr indent="0" lvl="0" marL="0" rtl="0" algn="l">
              <a:spcBef>
                <a:spcPts val="1600"/>
              </a:spcBef>
              <a:spcAft>
                <a:spcPts val="0"/>
              </a:spcAft>
              <a:buNone/>
            </a:pPr>
            <a:r>
              <a:rPr lang="it"/>
              <a:t>The way to solve this problem is to imagine doing some activity, such as walking up to the front door while carrying heavy packages with both hands: how do you open the door? Alternatively, visualize yourself inside the house, rushing to the front door to open it for a visitor.</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Conscious vs Subconscious thought</a:t>
            </a:r>
            <a:endParaRPr/>
          </a:p>
        </p:txBody>
      </p:sp>
      <p:sp>
        <p:nvSpPr>
          <p:cNvPr id="202" name="Google Shape;202;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Subconscious thought matches patterns, finding the best possible match of one’s past experience to the current one. It proceeds rapidly and automatically, without effort. </a:t>
            </a:r>
            <a:endParaRPr/>
          </a:p>
          <a:p>
            <a:pPr indent="0" lvl="0" marL="0" rtl="0" algn="l">
              <a:spcBef>
                <a:spcPts val="1600"/>
              </a:spcBef>
              <a:spcAft>
                <a:spcPts val="0"/>
              </a:spcAft>
              <a:buNone/>
            </a:pPr>
            <a:r>
              <a:rPr lang="it"/>
              <a:t>Subconscious processing is one of our strengths. It is good at detecting general trends, at recognizing the relationship between what we now experience and what has happened in the past.</a:t>
            </a:r>
            <a:endParaRPr/>
          </a:p>
          <a:p>
            <a:pPr indent="0" lvl="0" marL="0" rtl="0" algn="l">
              <a:spcBef>
                <a:spcPts val="1600"/>
              </a:spcBef>
              <a:spcAft>
                <a:spcPts val="0"/>
              </a:spcAft>
              <a:buNone/>
            </a:pPr>
            <a:r>
              <a:rPr lang="it"/>
              <a:t>Conscious thought is quite different. It is slow and labored. Here is where we slowly ponder decisions, think through alternatives, compare different choices. Conscious thought considers first this approach, then that—comparing, rationalizing, finding explanations. Formal logic, mathematics, decision theory: these are the tools of conscious thought.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9" name="Google Shape;209;p37"/>
          <p:cNvPicPr preferRelativeResize="0"/>
          <p:nvPr/>
        </p:nvPicPr>
        <p:blipFill>
          <a:blip r:embed="rId3">
            <a:alphaModFix/>
          </a:blip>
          <a:stretch>
            <a:fillRect/>
          </a:stretch>
        </p:blipFill>
        <p:spPr>
          <a:xfrm>
            <a:off x="0" y="346507"/>
            <a:ext cx="9144001" cy="445048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Declarative Vs Procedural memory</a:t>
            </a:r>
            <a:endParaRPr/>
          </a:p>
        </p:txBody>
      </p:sp>
      <p:sp>
        <p:nvSpPr>
          <p:cNvPr id="215" name="Google Shape;215;p3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All these tasks involve long-term memory, but in very different ways. </a:t>
            </a:r>
            <a:endParaRPr/>
          </a:p>
          <a:p>
            <a:pPr indent="0" lvl="0" marL="0" rtl="0" algn="l">
              <a:spcBef>
                <a:spcPts val="1600"/>
              </a:spcBef>
              <a:spcAft>
                <a:spcPts val="0"/>
              </a:spcAft>
              <a:buNone/>
            </a:pPr>
            <a:r>
              <a:rPr lang="it"/>
              <a:t>Questions like </a:t>
            </a:r>
            <a:r>
              <a:rPr i="1" lang="it"/>
              <a:t>“What is the capital of Brazil?”</a:t>
            </a:r>
            <a:r>
              <a:rPr lang="it"/>
              <a:t> require retrieving factual information, what is called </a:t>
            </a:r>
            <a:r>
              <a:rPr b="1" lang="it"/>
              <a:t>declarative memory.</a:t>
            </a:r>
            <a:endParaRPr b="1"/>
          </a:p>
          <a:p>
            <a:pPr indent="0" lvl="0" marL="0" rtl="0" algn="l">
              <a:spcBef>
                <a:spcPts val="1600"/>
              </a:spcBef>
              <a:spcAft>
                <a:spcPts val="0"/>
              </a:spcAft>
              <a:buNone/>
            </a:pPr>
            <a:r>
              <a:rPr lang="it"/>
              <a:t>The door knob position question could have been answered factually, but is usually most easily answered by recalling the activities performed to open the door. This is called </a:t>
            </a:r>
            <a:r>
              <a:rPr b="1" lang="it"/>
              <a:t>procedural memory.</a:t>
            </a:r>
            <a:endParaRPr b="1"/>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Emotions and cognition</a:t>
            </a:r>
            <a:endParaRPr/>
          </a:p>
        </p:txBody>
      </p:sp>
      <p:sp>
        <p:nvSpPr>
          <p:cNvPr id="221" name="Google Shape;221;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Emotion interacts with cognition biochemically with hormones modifying the behavior of brain cells. Hormones exert powerful biases on brain operation. </a:t>
            </a:r>
            <a:endParaRPr sz="1700"/>
          </a:p>
          <a:p>
            <a:pPr indent="0" lvl="0" marL="0" rtl="0" algn="l">
              <a:spcBef>
                <a:spcPts val="1600"/>
              </a:spcBef>
              <a:spcAft>
                <a:spcPts val="0"/>
              </a:spcAft>
              <a:buNone/>
            </a:pPr>
            <a:r>
              <a:rPr lang="it" sz="1700"/>
              <a:t>Thus, in tense, threatening situations, the emotional system triggers the release of hormones that bias the brain to focus upon relevant parts of the environment. </a:t>
            </a:r>
            <a:endParaRPr sz="1700"/>
          </a:p>
          <a:p>
            <a:pPr indent="0" lvl="0" marL="0" rtl="0" algn="l">
              <a:spcBef>
                <a:spcPts val="1600"/>
              </a:spcBef>
              <a:spcAft>
                <a:spcPts val="0"/>
              </a:spcAft>
              <a:buNone/>
            </a:pPr>
            <a:r>
              <a:rPr lang="it" sz="1700"/>
              <a:t>In calm, </a:t>
            </a:r>
            <a:r>
              <a:rPr lang="it" sz="1700"/>
              <a:t>non-threatening</a:t>
            </a:r>
            <a:r>
              <a:rPr lang="it" sz="1700"/>
              <a:t> situations, the emotional system triggers the release of hormones that relax the muscles and bias the brain toward exploration and creativity. </a:t>
            </a:r>
            <a:endParaRPr sz="1700"/>
          </a:p>
          <a:p>
            <a:pPr indent="0" lvl="0" marL="0" rtl="0" algn="l">
              <a:spcBef>
                <a:spcPts val="1600"/>
              </a:spcBef>
              <a:spcAft>
                <a:spcPts val="0"/>
              </a:spcAft>
              <a:buNone/>
            </a:pPr>
            <a:r>
              <a:rPr lang="it" sz="1700"/>
              <a:t>Now the brain is more apt to notice changes in the environment, to be distracted by events, and to piece together events and knowledge that might have seemed unrelated earlier.</a:t>
            </a:r>
            <a:endParaRPr sz="1700"/>
          </a:p>
          <a:p>
            <a:pPr indent="0" lvl="0" marL="0" rtl="0" algn="l">
              <a:spcBef>
                <a:spcPts val="1600"/>
              </a:spcBef>
              <a:spcAft>
                <a:spcPts val="0"/>
              </a:spcAft>
              <a:buNone/>
            </a:pPr>
            <a:r>
              <a:rPr lang="it" sz="1700"/>
              <a:t>A positive emotional state is ideal for creative thought, but it is not very well suited for getting things done.</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27" name="Google Shape;227;p40"/>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A gross oversimplification of the brain processing is based on the splitting of the brain in 3 procedural levels: Visceral, behavioral and reflective.</a:t>
            </a:r>
            <a:endParaRPr sz="1700"/>
          </a:p>
          <a:p>
            <a:pPr indent="0" lvl="0" marL="0" rtl="0" algn="l">
              <a:spcBef>
                <a:spcPts val="1600"/>
              </a:spcBef>
              <a:spcAft>
                <a:spcPts val="0"/>
              </a:spcAft>
              <a:buNone/>
            </a:pPr>
            <a:r>
              <a:rPr b="1" lang="it" sz="1700"/>
              <a:t>visceral level</a:t>
            </a:r>
            <a:r>
              <a:rPr lang="it" sz="1700"/>
              <a:t> (the lizard brain) These is part of the basic protective mechanisms of the human affective system, making quick judgments about the environment: good or bad, safe or dangerous. </a:t>
            </a:r>
            <a:endParaRPr sz="1700"/>
          </a:p>
          <a:p>
            <a:pPr indent="0" lvl="0" marL="0" rtl="0" algn="l">
              <a:spcBef>
                <a:spcPts val="1600"/>
              </a:spcBef>
              <a:spcAft>
                <a:spcPts val="0"/>
              </a:spcAft>
              <a:buNone/>
            </a:pPr>
            <a:r>
              <a:rPr lang="it" sz="1700"/>
              <a:t>The visceral system allows us to respond quickly and subconsciously, without conscious awareness or control.</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b="1" sz="1700"/>
          </a:p>
        </p:txBody>
      </p:sp>
      <p:pic>
        <p:nvPicPr>
          <p:cNvPr id="228" name="Google Shape;228;p40"/>
          <p:cNvPicPr preferRelativeResize="0"/>
          <p:nvPr/>
        </p:nvPicPr>
        <p:blipFill>
          <a:blip r:embed="rId3">
            <a:alphaModFix/>
          </a:blip>
          <a:stretch>
            <a:fillRect/>
          </a:stretch>
        </p:blipFill>
        <p:spPr>
          <a:xfrm>
            <a:off x="6130700" y="756425"/>
            <a:ext cx="2893600" cy="2821651"/>
          </a:xfrm>
          <a:prstGeom prst="rect">
            <a:avLst/>
          </a:prstGeom>
          <a:noFill/>
          <a:ln>
            <a:noFill/>
          </a:ln>
        </p:spPr>
      </p:pic>
      <p:sp>
        <p:nvSpPr>
          <p:cNvPr id="229" name="Google Shape;229;p40"/>
          <p:cNvSpPr txBox="1"/>
          <p:nvPr/>
        </p:nvSpPr>
        <p:spPr>
          <a:xfrm>
            <a:off x="311700" y="4007225"/>
            <a:ext cx="8438700" cy="72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700">
                <a:solidFill>
                  <a:schemeClr val="dk2"/>
                </a:solidFill>
              </a:rPr>
              <a:t>The basic biology of the visceral system minimizes its ability to learn. Visceral learning takes place primarily by sensitization or desensitization. Visceral responses are fast and automatic.</a:t>
            </a:r>
            <a:endParaRPr sz="1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Visceral level</a:t>
            </a:r>
            <a:endParaRPr/>
          </a:p>
        </p:txBody>
      </p:sp>
      <p:sp>
        <p:nvSpPr>
          <p:cNvPr id="235" name="Google Shape;235;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designers, the visceral response is about immediate perception: the pleasantness of a mellow, harmonious sound or the jarring, irritating scratch of fingernails on a rough surface. </a:t>
            </a:r>
            <a:endParaRPr/>
          </a:p>
          <a:p>
            <a:pPr indent="0" lvl="0" marL="0" rtl="0" algn="l">
              <a:spcBef>
                <a:spcPts val="1600"/>
              </a:spcBef>
              <a:spcAft>
                <a:spcPts val="0"/>
              </a:spcAft>
              <a:buNone/>
            </a:pPr>
            <a:r>
              <a:rPr lang="it"/>
              <a:t>Here is where the style matters: appearances, whether sound or sight, touch or smell, drive the visceral response. This has nothing to do with how usable, effective, or understandable the product is. It is all about attraction or repulsion. Great designers use their aesthetic sensibilities to drive these visceral responses.</a:t>
            </a:r>
            <a:endParaRPr/>
          </a:p>
          <a:p>
            <a:pPr indent="0" lvl="0" marL="0" rtl="0" algn="l">
              <a:spcBef>
                <a:spcPts val="1600"/>
              </a:spcBef>
              <a:spcAft>
                <a:spcPts val="0"/>
              </a:spcAft>
              <a:buNone/>
            </a:pPr>
            <a:r>
              <a:rPr lang="it"/>
              <a:t>Engineers and other logical people tend to dismiss the visceral response as irrelevant. Engineers are proud of the inherent quality of their work and dismayed when inferior products sell better “just because they look better.” But all of us make these kinds of judgments, even those very logical engineers.</a:t>
            </a:r>
            <a:endParaRPr/>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41" name="Google Shape;241;p42"/>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a:t>
            </a:r>
            <a:r>
              <a:rPr b="1" lang="it"/>
              <a:t>behavioral level</a:t>
            </a:r>
            <a:r>
              <a:rPr lang="it"/>
              <a:t> is the home of learned skills, triggered by situations that match the appropriate patterns. </a:t>
            </a:r>
            <a:endParaRPr/>
          </a:p>
          <a:p>
            <a:pPr indent="0" lvl="0" marL="0" rtl="0" algn="l">
              <a:spcBef>
                <a:spcPts val="1600"/>
              </a:spcBef>
              <a:spcAft>
                <a:spcPts val="0"/>
              </a:spcAft>
              <a:buNone/>
            </a:pPr>
            <a:r>
              <a:rPr lang="it"/>
              <a:t>Actions and analyses at this level are largely subconscious. Even though we are usually aware of our actions, we are often unaware of the details. </a:t>
            </a:r>
            <a:endParaRPr/>
          </a:p>
          <a:p>
            <a:pPr indent="0" lvl="0" marL="0" rtl="0" algn="l">
              <a:spcBef>
                <a:spcPts val="1600"/>
              </a:spcBef>
              <a:spcAft>
                <a:spcPts val="0"/>
              </a:spcAft>
              <a:buNone/>
            </a:pPr>
            <a:r>
              <a:rPr lang="it"/>
              <a:t>When we speak, we often do not know what we are about to say until our conscious mind (the reflective part of the mind) hears ourselves uttering the words.</a:t>
            </a:r>
            <a:endParaRPr/>
          </a:p>
          <a:p>
            <a:pPr indent="0" lvl="0" marL="0" rtl="0" algn="l">
              <a:spcBef>
                <a:spcPts val="1600"/>
              </a:spcBef>
              <a:spcAft>
                <a:spcPts val="1600"/>
              </a:spcAft>
              <a:buNone/>
            </a:pPr>
            <a:r>
              <a:t/>
            </a:r>
            <a:endParaRPr/>
          </a:p>
        </p:txBody>
      </p:sp>
      <p:pic>
        <p:nvPicPr>
          <p:cNvPr id="242" name="Google Shape;242;p42"/>
          <p:cNvPicPr preferRelativeResize="0"/>
          <p:nvPr/>
        </p:nvPicPr>
        <p:blipFill>
          <a:blip r:embed="rId3">
            <a:alphaModFix/>
          </a:blip>
          <a:stretch>
            <a:fillRect/>
          </a:stretch>
        </p:blipFill>
        <p:spPr>
          <a:xfrm>
            <a:off x="6130700" y="756425"/>
            <a:ext cx="2893600" cy="28216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Behavioral level</a:t>
            </a:r>
            <a:endParaRPr/>
          </a:p>
        </p:txBody>
      </p:sp>
      <p:sp>
        <p:nvSpPr>
          <p:cNvPr id="248" name="Google Shape;248;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For designers, the most critical aspect of the behavioral level is that every action is associated with an expectation. Expect a positive outcome and the result is a positive affective response (a “positive valence,” in the scientific literature). </a:t>
            </a:r>
            <a:endParaRPr sz="1700"/>
          </a:p>
          <a:p>
            <a:pPr indent="0" lvl="0" marL="0" rtl="0" algn="l">
              <a:spcBef>
                <a:spcPts val="1600"/>
              </a:spcBef>
              <a:spcAft>
                <a:spcPts val="0"/>
              </a:spcAft>
              <a:buNone/>
            </a:pPr>
            <a:r>
              <a:rPr lang="it" sz="1700"/>
              <a:t>Expect a negative outcome and the result is a negative affective response (a negative valence): dread and hope, anxiety and anticipation. </a:t>
            </a:r>
            <a:endParaRPr sz="1700"/>
          </a:p>
          <a:p>
            <a:pPr indent="0" lvl="0" marL="0" rtl="0" algn="l">
              <a:spcBef>
                <a:spcPts val="1600"/>
              </a:spcBef>
              <a:spcAft>
                <a:spcPts val="0"/>
              </a:spcAft>
              <a:buNone/>
            </a:pPr>
            <a:r>
              <a:rPr lang="it" sz="1700"/>
              <a:t>The information in the feedback loop of evaluation confirms or disconfirms the expectations, resulting in satisfaction or relief, disappointment or frustration.</a:t>
            </a:r>
            <a:endParaRPr sz="1700"/>
          </a:p>
          <a:p>
            <a:pPr indent="0" lvl="0" marL="0" rtl="0" algn="l">
              <a:spcBef>
                <a:spcPts val="1600"/>
              </a:spcBef>
              <a:spcAft>
                <a:spcPts val="0"/>
              </a:spcAft>
              <a:buNone/>
            </a:pPr>
            <a:r>
              <a:rPr lang="it" sz="1700"/>
              <a:t>Behavioral states are learned. They give rise to a feeling of control when there is good understanding and knowledge of results, and frustration and anger when things do not go as planned</a:t>
            </a:r>
            <a:endParaRPr sz="1700"/>
          </a:p>
          <a:p>
            <a:pPr indent="0" lvl="0" marL="0" rtl="0" algn="l">
              <a:spcBef>
                <a:spcPts val="1600"/>
              </a:spcBef>
              <a:spcAft>
                <a:spcPts val="0"/>
              </a:spcAft>
              <a:buNone/>
            </a:pPr>
            <a:r>
              <a:rPr b="1" lang="it" sz="1700"/>
              <a:t>Feedback is critical to managing expectations</a:t>
            </a:r>
            <a:endParaRPr b="1" sz="1700"/>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54" name="Google Shape;254;p44"/>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700"/>
              <a:t>The </a:t>
            </a:r>
            <a:r>
              <a:rPr b="1" lang="it" sz="1700"/>
              <a:t>reflective level </a:t>
            </a:r>
            <a:r>
              <a:rPr lang="it" sz="1700"/>
              <a:t>is the home of conscious cognition. As a consequence, this is where deep understanding develops, where reasoning and conscious decision-making take place. </a:t>
            </a:r>
            <a:endParaRPr sz="1700"/>
          </a:p>
          <a:p>
            <a:pPr indent="0" lvl="0" marL="0" rtl="0" algn="l">
              <a:spcBef>
                <a:spcPts val="1600"/>
              </a:spcBef>
              <a:spcAft>
                <a:spcPts val="0"/>
              </a:spcAft>
              <a:buClr>
                <a:schemeClr val="dk1"/>
              </a:buClr>
              <a:buSzPts val="1100"/>
              <a:buFont typeface="Arial"/>
              <a:buNone/>
            </a:pPr>
            <a:r>
              <a:rPr lang="it" sz="1700"/>
              <a:t>The visceral and behavioral levels are subconscious and, as a result, they respond rapidly, but without much analysis. Reflection is cognitive, deep, and slow. </a:t>
            </a:r>
            <a:endParaRPr sz="1700"/>
          </a:p>
          <a:p>
            <a:pPr indent="0" lvl="0" marL="0" rtl="0" algn="l">
              <a:spcBef>
                <a:spcPts val="1600"/>
              </a:spcBef>
              <a:spcAft>
                <a:spcPts val="0"/>
              </a:spcAft>
              <a:buClr>
                <a:schemeClr val="dk1"/>
              </a:buClr>
              <a:buSzPts val="1100"/>
              <a:buFont typeface="Arial"/>
              <a:buNone/>
            </a:pPr>
            <a:r>
              <a:rPr lang="it" sz="1700"/>
              <a:t>It often occurs after the events have happened.</a:t>
            </a:r>
            <a:endParaRPr sz="1700"/>
          </a:p>
          <a:p>
            <a:pPr indent="0" lvl="0" marL="0" rtl="0" algn="l">
              <a:spcBef>
                <a:spcPts val="1600"/>
              </a:spcBef>
              <a:spcAft>
                <a:spcPts val="0"/>
              </a:spcAft>
              <a:buClr>
                <a:schemeClr val="dk1"/>
              </a:buClr>
              <a:buSzPts val="1100"/>
              <a:buFont typeface="Arial"/>
              <a:buNone/>
            </a:pPr>
            <a:r>
              <a:t/>
            </a:r>
            <a:endParaRPr sz="1700"/>
          </a:p>
          <a:p>
            <a:pPr indent="0" lvl="0" marL="0" rtl="0" algn="l">
              <a:spcBef>
                <a:spcPts val="1600"/>
              </a:spcBef>
              <a:spcAft>
                <a:spcPts val="1600"/>
              </a:spcAft>
              <a:buNone/>
            </a:pPr>
            <a:r>
              <a:t/>
            </a:r>
            <a:endParaRPr sz="1700"/>
          </a:p>
        </p:txBody>
      </p:sp>
      <p:pic>
        <p:nvPicPr>
          <p:cNvPr id="255" name="Google Shape;255;p44"/>
          <p:cNvPicPr preferRelativeResize="0"/>
          <p:nvPr/>
        </p:nvPicPr>
        <p:blipFill>
          <a:blip r:embed="rId3">
            <a:alphaModFix/>
          </a:blip>
          <a:stretch>
            <a:fillRect/>
          </a:stretch>
        </p:blipFill>
        <p:spPr>
          <a:xfrm>
            <a:off x="6130700" y="756425"/>
            <a:ext cx="2893600" cy="2821651"/>
          </a:xfrm>
          <a:prstGeom prst="rect">
            <a:avLst/>
          </a:prstGeom>
          <a:noFill/>
          <a:ln>
            <a:noFill/>
          </a:ln>
        </p:spPr>
      </p:pic>
      <p:sp>
        <p:nvSpPr>
          <p:cNvPr id="256" name="Google Shape;256;p44"/>
          <p:cNvSpPr txBox="1"/>
          <p:nvPr/>
        </p:nvSpPr>
        <p:spPr>
          <a:xfrm>
            <a:off x="310525" y="3986700"/>
            <a:ext cx="8766300" cy="11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it" sz="1700">
                <a:solidFill>
                  <a:schemeClr val="dk2"/>
                </a:solidFill>
              </a:rPr>
              <a:t>The highest levels of emotions come from the reflective level, for it is here that causes are assigned and where predictions of the future take place. Adding causal elements to experienced events leads to such emotional states as guilt and pride (when we assume ourselves to be the cause) and blame and praise (when others are thought to be the cause).</a:t>
            </a:r>
            <a:endParaRPr sz="1700">
              <a:solidFill>
                <a:schemeClr val="dk2"/>
              </a:solidFill>
            </a:endParaRPr>
          </a:p>
          <a:p>
            <a:pPr indent="0" lvl="0" marL="0" marR="0" rtl="0" algn="l">
              <a:lnSpc>
                <a:spcPct val="115000"/>
              </a:lnSpc>
              <a:spcBef>
                <a:spcPts val="0"/>
              </a:spcBef>
              <a:spcAft>
                <a:spcPts val="1600"/>
              </a:spcAft>
              <a:buNone/>
            </a:pPr>
            <a:r>
              <a:t/>
            </a:r>
            <a:endParaRPr sz="17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Reflective level</a:t>
            </a:r>
            <a:endParaRPr/>
          </a:p>
        </p:txBody>
      </p:sp>
      <p:sp>
        <p:nvSpPr>
          <p:cNvPr id="262" name="Google Shape;262;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the designer, reflection is perhaps the most important of the levels of processing. </a:t>
            </a:r>
            <a:endParaRPr/>
          </a:p>
          <a:p>
            <a:pPr indent="0" lvl="0" marL="0" rtl="0" algn="l">
              <a:spcBef>
                <a:spcPts val="1600"/>
              </a:spcBef>
              <a:spcAft>
                <a:spcPts val="0"/>
              </a:spcAft>
              <a:buNone/>
            </a:pPr>
            <a:r>
              <a:rPr lang="it"/>
              <a:t>Reflection is conscious, and the emotions produced at this level are the most protracted: those that assign agency and cause, such as guilt and blame or praise and pride. </a:t>
            </a:r>
            <a:endParaRPr/>
          </a:p>
          <a:p>
            <a:pPr indent="0" lvl="0" marL="0" rtl="0" algn="l">
              <a:spcBef>
                <a:spcPts val="1600"/>
              </a:spcBef>
              <a:spcAft>
                <a:spcPts val="0"/>
              </a:spcAft>
              <a:buNone/>
            </a:pPr>
            <a:r>
              <a:rPr lang="it"/>
              <a:t>Reflective responses are part of our memory of events. Memories last far longer than the immediate experience or the period of usage, which are the domains of the visceral and behavioral levels. </a:t>
            </a:r>
            <a:endParaRPr/>
          </a:p>
          <a:p>
            <a:pPr indent="0" lvl="0" marL="0" rtl="0" algn="l">
              <a:spcBef>
                <a:spcPts val="1600"/>
              </a:spcBef>
              <a:spcAft>
                <a:spcPts val="0"/>
              </a:spcAft>
              <a:buNone/>
            </a:pPr>
            <a:r>
              <a:rPr lang="it"/>
              <a:t>It is reflection that drives us to recommend a product, to recommend that others use it—or perhaps to avoid it.</a:t>
            </a:r>
            <a:endParaRPr/>
          </a:p>
          <a:p>
            <a:pPr indent="0" lvl="0" marL="0" rtl="0" algn="l">
              <a:spcBef>
                <a:spcPts val="1600"/>
              </a:spcBef>
              <a:spcAft>
                <a:spcPts val="0"/>
              </a:spcAft>
              <a:buNone/>
            </a:pPr>
            <a:r>
              <a:rPr lang="it"/>
              <a:t>Reflective memories are often more important than reality.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