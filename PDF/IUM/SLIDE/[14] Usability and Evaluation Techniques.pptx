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5143500" cx="9144000"/>
  <p:notesSz cx="6858000" cy="9144000"/>
  <p:embeddedFontLst>
    <p:embeddedFont>
      <p:font typeface="Amatic SC"/>
      <p:regular r:id="rId58"/>
      <p:bold r:id="rId59"/>
    </p:embeddedFont>
    <p:embeddedFont>
      <p:font typeface="Source Code Pro"/>
      <p:regular r:id="rId60"/>
      <p:bold r:id="rId61"/>
      <p:italic r:id="rId62"/>
      <p:boldItalic r:id="rId63"/>
    </p:embeddedFont>
    <p:embeddedFont>
      <p:font typeface="Overpass"/>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3EADC26-A2C6-4162-8977-C5E930B41219}">
  <a:tblStyle styleId="{23EADC26-A2C6-4162-8977-C5E930B4121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SourceCodePro-italic.fntdata"/><Relationship Id="rId61" Type="http://schemas.openxmlformats.org/officeDocument/2006/relationships/font" Target="fonts/SourceCodePro-bold.fntdata"/><Relationship Id="rId20" Type="http://schemas.openxmlformats.org/officeDocument/2006/relationships/slide" Target="slides/slide14.xml"/><Relationship Id="rId64" Type="http://schemas.openxmlformats.org/officeDocument/2006/relationships/font" Target="fonts/Overpass-regular.fntdata"/><Relationship Id="rId63" Type="http://schemas.openxmlformats.org/officeDocument/2006/relationships/font" Target="fonts/SourceCodePro-boldItalic.fntdata"/><Relationship Id="rId22" Type="http://schemas.openxmlformats.org/officeDocument/2006/relationships/slide" Target="slides/slide16.xml"/><Relationship Id="rId66" Type="http://schemas.openxmlformats.org/officeDocument/2006/relationships/font" Target="fonts/Overpass-italic.fntdata"/><Relationship Id="rId21" Type="http://schemas.openxmlformats.org/officeDocument/2006/relationships/slide" Target="slides/slide15.xml"/><Relationship Id="rId65" Type="http://schemas.openxmlformats.org/officeDocument/2006/relationships/font" Target="fonts/Overpass-bold.fntdata"/><Relationship Id="rId24" Type="http://schemas.openxmlformats.org/officeDocument/2006/relationships/slide" Target="slides/slide18.xml"/><Relationship Id="rId23" Type="http://schemas.openxmlformats.org/officeDocument/2006/relationships/slide" Target="slides/slide17.xml"/><Relationship Id="rId67" Type="http://schemas.openxmlformats.org/officeDocument/2006/relationships/font" Target="fonts/Overpass-boldItalic.fntdata"/><Relationship Id="rId60" Type="http://schemas.openxmlformats.org/officeDocument/2006/relationships/font" Target="fonts/SourceCodePro-regular.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AmaticSC-bold.fntdata"/><Relationship Id="rId14" Type="http://schemas.openxmlformats.org/officeDocument/2006/relationships/slide" Target="slides/slide8.xml"/><Relationship Id="rId58" Type="http://schemas.openxmlformats.org/officeDocument/2006/relationships/font" Target="fonts/AmaticSC-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10619238f58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10619238f58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1f9f8db943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1f9f8db943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2ccd50eb0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2ccd50eb0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2ccd50eb0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2ccd50eb0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2ccd50eb0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2ccd50eb0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2ccd50eb0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2ccd50eb0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2ccd50eb0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2ccd50eb0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22051626e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22051626e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2ccd50eb0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2ccd50eb0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e11ed7f5f3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1e11ed7f5f3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e11ed7f5f3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e11ed7f5f3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14b808ddc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14b808dd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e11ed7f5f3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e11ed7f5f3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e11ed7f5f3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e11ed7f5f3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e11ed7f5f3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e11ed7f5f3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e11ed7f5f3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e11ed7f5f3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14b808ddc4_0_2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14b808ddc4_0_2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14b808ddc4_0_36:notes"/>
          <p:cNvSpPr txBox="1"/>
          <p:nvPr>
            <p:ph idx="1" type="body"/>
          </p:nvPr>
        </p:nvSpPr>
        <p:spPr>
          <a:xfrm>
            <a:off x="914400" y="4343400"/>
            <a:ext cx="5029200" cy="4114800"/>
          </a:xfrm>
          <a:prstGeom prst="rect">
            <a:avLst/>
          </a:prstGeom>
          <a:noFill/>
          <a:ln>
            <a:noFill/>
          </a:ln>
        </p:spPr>
        <p:txBody>
          <a:bodyPr anchorCtr="0" anchor="t" bIns="44450" lIns="90475" spcFirstLastPara="1" rIns="90475" wrap="square" tIns="44450">
            <a:noAutofit/>
          </a:bodyPr>
          <a:lstStyle/>
          <a:p>
            <a:pPr indent="0" lvl="0" marL="0" rtl="0" algn="l">
              <a:lnSpc>
                <a:spcPct val="100000"/>
              </a:lnSpc>
              <a:spcBef>
                <a:spcPts val="0"/>
              </a:spcBef>
              <a:spcAft>
                <a:spcPts val="0"/>
              </a:spcAft>
              <a:buSzPts val="1400"/>
              <a:buNone/>
            </a:pPr>
            <a:r>
              <a:t/>
            </a:r>
            <a:endParaRPr/>
          </a:p>
        </p:txBody>
      </p:sp>
      <p:sp>
        <p:nvSpPr>
          <p:cNvPr id="196" name="Google Shape;196;g314b808ddc4_0_36:notes"/>
          <p:cNvSpPr/>
          <p:nvPr>
            <p:ph idx="2" type="sldImg"/>
          </p:nvPr>
        </p:nvSpPr>
        <p:spPr>
          <a:xfrm>
            <a:off x="389202" y="692150"/>
            <a:ext cx="6081300" cy="341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14b808ddc4_0_42:notes"/>
          <p:cNvSpPr txBox="1"/>
          <p:nvPr>
            <p:ph idx="1" type="body"/>
          </p:nvPr>
        </p:nvSpPr>
        <p:spPr>
          <a:xfrm>
            <a:off x="914400" y="4343400"/>
            <a:ext cx="5029200" cy="4114800"/>
          </a:xfrm>
          <a:prstGeom prst="rect">
            <a:avLst/>
          </a:prstGeom>
          <a:noFill/>
          <a:ln>
            <a:noFill/>
          </a:ln>
        </p:spPr>
        <p:txBody>
          <a:bodyPr anchorCtr="0" anchor="t" bIns="44450" lIns="90475" spcFirstLastPara="1" rIns="90475" wrap="square" tIns="44450">
            <a:noAutofit/>
          </a:bodyPr>
          <a:lstStyle/>
          <a:p>
            <a:pPr indent="0" lvl="0" marL="0" rtl="0" algn="l">
              <a:lnSpc>
                <a:spcPct val="100000"/>
              </a:lnSpc>
              <a:spcBef>
                <a:spcPts val="0"/>
              </a:spcBef>
              <a:spcAft>
                <a:spcPts val="0"/>
              </a:spcAft>
              <a:buSzPts val="1400"/>
              <a:buNone/>
            </a:pPr>
            <a:r>
              <a:t/>
            </a:r>
            <a:endParaRPr/>
          </a:p>
        </p:txBody>
      </p:sp>
      <p:sp>
        <p:nvSpPr>
          <p:cNvPr id="203" name="Google Shape;203;g314b808ddc4_0_42:notes"/>
          <p:cNvSpPr/>
          <p:nvPr>
            <p:ph idx="2" type="sldImg"/>
          </p:nvPr>
        </p:nvSpPr>
        <p:spPr>
          <a:xfrm>
            <a:off x="389202" y="692150"/>
            <a:ext cx="6081300" cy="341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14b808ddc4_0_47:notes"/>
          <p:cNvSpPr txBox="1"/>
          <p:nvPr>
            <p:ph idx="1" type="body"/>
          </p:nvPr>
        </p:nvSpPr>
        <p:spPr>
          <a:xfrm>
            <a:off x="914400" y="4343400"/>
            <a:ext cx="5029200" cy="4114800"/>
          </a:xfrm>
          <a:prstGeom prst="rect">
            <a:avLst/>
          </a:prstGeom>
          <a:noFill/>
          <a:ln>
            <a:noFill/>
          </a:ln>
        </p:spPr>
        <p:txBody>
          <a:bodyPr anchorCtr="0" anchor="t" bIns="44450" lIns="90475" spcFirstLastPara="1" rIns="90475" wrap="square" tIns="44450">
            <a:noAutofit/>
          </a:bodyPr>
          <a:lstStyle/>
          <a:p>
            <a:pPr indent="0" lvl="0" marL="0" rtl="0" algn="l">
              <a:lnSpc>
                <a:spcPct val="100000"/>
              </a:lnSpc>
              <a:spcBef>
                <a:spcPts val="0"/>
              </a:spcBef>
              <a:spcAft>
                <a:spcPts val="0"/>
              </a:spcAft>
              <a:buSzPts val="1400"/>
              <a:buNone/>
            </a:pPr>
            <a:r>
              <a:t/>
            </a:r>
            <a:endParaRPr/>
          </a:p>
        </p:txBody>
      </p:sp>
      <p:sp>
        <p:nvSpPr>
          <p:cNvPr id="209" name="Google Shape;209;g314b808ddc4_0_47:notes"/>
          <p:cNvSpPr/>
          <p:nvPr>
            <p:ph idx="2" type="sldImg"/>
          </p:nvPr>
        </p:nvSpPr>
        <p:spPr>
          <a:xfrm>
            <a:off x="389202" y="692150"/>
            <a:ext cx="6081300" cy="341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14b808ddc4_0_52:notes"/>
          <p:cNvSpPr txBox="1"/>
          <p:nvPr>
            <p:ph idx="1" type="body"/>
          </p:nvPr>
        </p:nvSpPr>
        <p:spPr>
          <a:xfrm>
            <a:off x="914400" y="4343400"/>
            <a:ext cx="5029200" cy="4114800"/>
          </a:xfrm>
          <a:prstGeom prst="rect">
            <a:avLst/>
          </a:prstGeom>
          <a:noFill/>
          <a:ln>
            <a:noFill/>
          </a:ln>
        </p:spPr>
        <p:txBody>
          <a:bodyPr anchorCtr="0" anchor="t" bIns="44450" lIns="90475" spcFirstLastPara="1" rIns="90475" wrap="square" tIns="44450">
            <a:noAutofit/>
          </a:bodyPr>
          <a:lstStyle/>
          <a:p>
            <a:pPr indent="0" lvl="0" marL="0" rtl="0" algn="l">
              <a:lnSpc>
                <a:spcPct val="100000"/>
              </a:lnSpc>
              <a:spcBef>
                <a:spcPts val="0"/>
              </a:spcBef>
              <a:spcAft>
                <a:spcPts val="0"/>
              </a:spcAft>
              <a:buSzPts val="1400"/>
              <a:buNone/>
            </a:pPr>
            <a:r>
              <a:t/>
            </a:r>
            <a:endParaRPr/>
          </a:p>
        </p:txBody>
      </p:sp>
      <p:sp>
        <p:nvSpPr>
          <p:cNvPr id="215" name="Google Shape;215;g314b808ddc4_0_52:notes"/>
          <p:cNvSpPr/>
          <p:nvPr>
            <p:ph idx="2" type="sldImg"/>
          </p:nvPr>
        </p:nvSpPr>
        <p:spPr>
          <a:xfrm>
            <a:off x="389202" y="692150"/>
            <a:ext cx="6081300" cy="341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14b808ddc4_0_1186:notes"/>
          <p:cNvSpPr txBox="1"/>
          <p:nvPr>
            <p:ph idx="1" type="body"/>
          </p:nvPr>
        </p:nvSpPr>
        <p:spPr>
          <a:xfrm>
            <a:off x="914400" y="4343400"/>
            <a:ext cx="5029200" cy="4114800"/>
          </a:xfrm>
          <a:prstGeom prst="rect">
            <a:avLst/>
          </a:prstGeom>
          <a:noFill/>
          <a:ln>
            <a:noFill/>
          </a:ln>
        </p:spPr>
        <p:txBody>
          <a:bodyPr anchorCtr="0" anchor="t" bIns="44450" lIns="90475" spcFirstLastPara="1" rIns="90475" wrap="square" tIns="44450">
            <a:noAutofit/>
          </a:bodyPr>
          <a:lstStyle/>
          <a:p>
            <a:pPr indent="0" lvl="0" marL="0" rtl="0" algn="l">
              <a:lnSpc>
                <a:spcPct val="100000"/>
              </a:lnSpc>
              <a:spcBef>
                <a:spcPts val="0"/>
              </a:spcBef>
              <a:spcAft>
                <a:spcPts val="0"/>
              </a:spcAft>
              <a:buSzPts val="1400"/>
              <a:buNone/>
            </a:pPr>
            <a:r>
              <a:t/>
            </a:r>
            <a:endParaRPr/>
          </a:p>
        </p:txBody>
      </p:sp>
      <p:sp>
        <p:nvSpPr>
          <p:cNvPr id="221" name="Google Shape;221;g314b808ddc4_0_1186:notes"/>
          <p:cNvSpPr/>
          <p:nvPr>
            <p:ph idx="2" type="sldImg"/>
          </p:nvPr>
        </p:nvSpPr>
        <p:spPr>
          <a:xfrm>
            <a:off x="389202" y="692150"/>
            <a:ext cx="6081300" cy="341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2ccd50eb0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2ccd50eb0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2ccd50eb02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2ccd50eb02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2ccd50eb02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2ccd50eb02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2ccd50eb02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2ccd50eb02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2ccd50eb0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2ccd50eb0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2ccd50eb02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2ccd50eb02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2ccd50eb02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2ccd50eb02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0619238f5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0619238f5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0619238f5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10619238f5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2ccd50eb02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2ccd50eb02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2ccd50eb02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2ccd50eb02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2ccd50eb02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2ccd50eb02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2ccd50eb02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22ccd50eb02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1df2d36424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1df2d36424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e11ed7f5f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e11ed7f5f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e11ed7f5f3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e11ed7f5f3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2ccd50eb02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2ccd50eb02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e11ed7f5f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1e11ed7f5f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e11ed7f5f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e11ed7f5f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e11ed7f5f3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e11ed7f5f3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e11ed7f5f3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e11ed7f5f3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e11ed7f5f3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1e11ed7f5f3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e11ed7f5f3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e11ed7f5f3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e11ed7f5f3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e11ed7f5f3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e11ed7f5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e11ed7f5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e11ed7f5f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1e11ed7f5f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e11ed7f5f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e11ed7f5f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e11ed7f5f3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1e11ed7f5f3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0" name="Shape 10"/>
        <p:cNvGrpSpPr/>
        <p:nvPr/>
      </p:nvGrpSpPr>
      <p:grpSpPr>
        <a:xfrm>
          <a:off x="0" y="0"/>
          <a:ext cx="0" cy="0"/>
          <a:chOff x="0" y="0"/>
          <a:chExt cx="0" cy="0"/>
        </a:xfrm>
      </p:grpSpPr>
      <p:sp>
        <p:nvSpPr>
          <p:cNvPr id="11" name="Google Shape;11;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3" name="Google Shape;13;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0" name="Google Shape;20;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4" name="Google Shape;24;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40" name="Google Shape;40;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1" name="Google Shape;41;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3" name="Google Shape;4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6" name="Google Shape;46;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9" name="Google Shape;49;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50" name="Google Shape;50;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1" name="Shape 51"/>
        <p:cNvGrpSpPr/>
        <p:nvPr/>
      </p:nvGrpSpPr>
      <p:grpSpPr>
        <a:xfrm>
          <a:off x="0" y="0"/>
          <a:ext cx="0" cy="0"/>
          <a:chOff x="0" y="0"/>
          <a:chExt cx="0" cy="0"/>
        </a:xfrm>
      </p:grpSpPr>
      <p:sp>
        <p:nvSpPr>
          <p:cNvPr id="52" name="Google Shape;52;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1887450" y="4804800"/>
            <a:ext cx="5369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000">
                <a:latin typeface="Source Code Pro"/>
                <a:ea typeface="Source Code Pro"/>
                <a:cs typeface="Source Code Pro"/>
                <a:sym typeface="Source Code Pro"/>
              </a:rPr>
              <a:t>DANIELE MAZZEI, ROBERTO FIGLIE’ - IUM 24-25 (all rights reserved)</a:t>
            </a:r>
            <a:endParaRPr sz="1000">
              <a:latin typeface="Source Code Pro"/>
              <a:ea typeface="Source Code Pro"/>
              <a:cs typeface="Source Code Pro"/>
              <a:sym typeface="Source Code Pro"/>
            </a:endParaRPr>
          </a:p>
          <a:p>
            <a:pPr indent="0" lvl="0" marL="0" rtl="0" algn="ctr">
              <a:spcBef>
                <a:spcPts val="0"/>
              </a:spcBef>
              <a:spcAft>
                <a:spcPts val="0"/>
              </a:spcAft>
              <a:buNone/>
            </a:pPr>
            <a:r>
              <a:t/>
            </a:r>
            <a:endParaRPr sz="1000">
              <a:latin typeface="Source Code Pro"/>
              <a:ea typeface="Source Code Pro"/>
              <a:cs typeface="Source Code Pro"/>
              <a:sym typeface="Source Code Pro"/>
            </a:endParaRPr>
          </a:p>
          <a:p>
            <a:pPr indent="0" lvl="0" marL="0" rtl="0" algn="ctr">
              <a:spcBef>
                <a:spcPts val="0"/>
              </a:spcBef>
              <a:spcAft>
                <a:spcPts val="0"/>
              </a:spcAft>
              <a:buNone/>
            </a:pPr>
            <a:r>
              <a:t/>
            </a:r>
            <a:endParaRPr sz="1000">
              <a:latin typeface="Source Code Pro"/>
              <a:ea typeface="Source Code Pro"/>
              <a:cs typeface="Source Code Pro"/>
              <a:sym typeface="Source Code Pro"/>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nngroup.com/articles/usability-testing-10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nngroup.com/articles/usability-101-introduction-to-usabilit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youtube.com/watch?v=v8JJrDvQDF4"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hyperlink" Target="https://www.nngroup.com/articles/qual-usability-testing-study-guide/" TargetMode="External"/><Relationship Id="rId4" Type="http://schemas.openxmlformats.org/officeDocument/2006/relationships/hyperlink" Target="https://www.nngroup.com/articles/quantitative-research-study-guid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Usability and Evaluation Techniques</a:t>
            </a:r>
            <a:endParaRPr/>
          </a:p>
        </p:txBody>
      </p:sp>
      <p:sp>
        <p:nvSpPr>
          <p:cNvPr id="58" name="Google Shape;58;p13"/>
          <p:cNvSpPr txBox="1"/>
          <p:nvPr>
            <p:ph idx="1" type="subTitle"/>
          </p:nvPr>
        </p:nvSpPr>
        <p:spPr>
          <a:xfrm>
            <a:off x="311700" y="4338225"/>
            <a:ext cx="8520600" cy="7062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it"/>
              <a:t>roberto.figlie@phd.unipi.it</a:t>
            </a:r>
            <a:endParaRPr/>
          </a:p>
        </p:txBody>
      </p:sp>
      <p:pic>
        <p:nvPicPr>
          <p:cNvPr id="59" name="Google Shape;59;p13"/>
          <p:cNvPicPr preferRelativeResize="0"/>
          <p:nvPr/>
        </p:nvPicPr>
        <p:blipFill>
          <a:blip r:embed="rId3">
            <a:alphaModFix/>
          </a:blip>
          <a:stretch>
            <a:fillRect/>
          </a:stretch>
        </p:blipFill>
        <p:spPr>
          <a:xfrm>
            <a:off x="3874027" y="4510127"/>
            <a:ext cx="362375" cy="3623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a:t>Lesson outline</a:t>
            </a:r>
            <a:endParaRPr/>
          </a:p>
        </p:txBody>
      </p:sp>
      <p:sp>
        <p:nvSpPr>
          <p:cNvPr id="65" name="Google Shape;65;p14"/>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it"/>
              <a:t>What does it mean and why?</a:t>
            </a:r>
            <a:endParaRPr/>
          </a:p>
          <a:p>
            <a:pPr indent="-342900" lvl="0" marL="457200" rtl="0" algn="l">
              <a:spcBef>
                <a:spcPts val="0"/>
              </a:spcBef>
              <a:spcAft>
                <a:spcPts val="0"/>
              </a:spcAft>
              <a:buSzPts val="1800"/>
              <a:buChar char="●"/>
            </a:pPr>
            <a:r>
              <a:rPr lang="it"/>
              <a:t>Heuristics</a:t>
            </a:r>
            <a:r>
              <a:rPr lang="it"/>
              <a:t> evaluation</a:t>
            </a:r>
            <a:endParaRPr/>
          </a:p>
          <a:p>
            <a:pPr indent="-342900" lvl="0" marL="457200" rtl="0" algn="l">
              <a:spcBef>
                <a:spcPts val="0"/>
              </a:spcBef>
              <a:spcAft>
                <a:spcPts val="0"/>
              </a:spcAft>
              <a:buSzPts val="1800"/>
              <a:buChar char="●"/>
            </a:pPr>
            <a:r>
              <a:rPr lang="it"/>
              <a:t>Cognitive Walkthrough</a:t>
            </a:r>
            <a:endParaRPr/>
          </a:p>
          <a:p>
            <a:pPr indent="-342900" lvl="0" marL="457200" rtl="0" algn="l">
              <a:spcBef>
                <a:spcPts val="0"/>
              </a:spcBef>
              <a:spcAft>
                <a:spcPts val="0"/>
              </a:spcAft>
              <a:buSzPts val="1800"/>
              <a:buChar char="●"/>
            </a:pPr>
            <a:r>
              <a:rPr lang="it"/>
              <a:t>Types of testing</a:t>
            </a:r>
            <a:endParaRPr/>
          </a:p>
          <a:p>
            <a:pPr indent="-342900" lvl="0" marL="457200" rtl="0" algn="l">
              <a:spcBef>
                <a:spcPts val="0"/>
              </a:spcBef>
              <a:spcAft>
                <a:spcPts val="0"/>
              </a:spcAft>
              <a:buSzPts val="1800"/>
              <a:buChar char="●"/>
            </a:pPr>
            <a:r>
              <a:rPr lang="it"/>
              <a:t>How to plan tests?</a:t>
            </a:r>
            <a:endParaRPr/>
          </a:p>
          <a:p>
            <a:pPr indent="-342900" lvl="0" marL="457200" rtl="0" algn="l">
              <a:spcBef>
                <a:spcPts val="0"/>
              </a:spcBef>
              <a:spcAft>
                <a:spcPts val="0"/>
              </a:spcAft>
              <a:buSzPts val="1800"/>
              <a:buChar char="●"/>
            </a:pPr>
            <a:r>
              <a:rPr lang="it"/>
              <a:t>How to conduct tests?</a:t>
            </a:r>
            <a:endParaRPr/>
          </a:p>
          <a:p>
            <a:pPr indent="-342900" lvl="0" marL="457200" rtl="0" algn="l">
              <a:spcBef>
                <a:spcPts val="0"/>
              </a:spcBef>
              <a:spcAft>
                <a:spcPts val="0"/>
              </a:spcAft>
              <a:buSzPts val="1800"/>
              <a:buChar char="●"/>
            </a:pPr>
            <a:r>
              <a:rPr lang="it"/>
              <a:t>Best practices</a:t>
            </a:r>
            <a:endParaRPr/>
          </a:p>
          <a:p>
            <a:pPr indent="-342900" lvl="0" marL="457200" rtl="0" algn="l">
              <a:spcBef>
                <a:spcPts val="0"/>
              </a:spcBef>
              <a:spcAft>
                <a:spcPts val="0"/>
              </a:spcAft>
              <a:buSzPts val="1800"/>
              <a:buChar char="●"/>
            </a:pPr>
            <a:r>
              <a:rPr lang="it"/>
              <a:t>Testing Tools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What does it mean to test and </a:t>
            </a:r>
            <a:r>
              <a:rPr lang="it"/>
              <a:t>why we should do it?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highlight>
                  <a:schemeClr val="accent6"/>
                </a:highlight>
              </a:rPr>
              <a:t>What </a:t>
            </a:r>
            <a:r>
              <a:rPr lang="it" sz="4800"/>
              <a:t>does it mean to </a:t>
            </a:r>
            <a:r>
              <a:rPr lang="it" sz="4800">
                <a:highlight>
                  <a:schemeClr val="accent6"/>
                </a:highlight>
              </a:rPr>
              <a:t>test </a:t>
            </a:r>
            <a:r>
              <a:rPr lang="it" sz="4800"/>
              <a:t>and </a:t>
            </a:r>
            <a:r>
              <a:rPr lang="it" sz="4800">
                <a:highlight>
                  <a:schemeClr val="accent6"/>
                </a:highlight>
              </a:rPr>
              <a:t>why</a:t>
            </a:r>
            <a:r>
              <a:rPr lang="it" sz="4800"/>
              <a:t> we should do it?</a:t>
            </a:r>
            <a:endParaRPr/>
          </a:p>
        </p:txBody>
      </p:sp>
      <p:sp>
        <p:nvSpPr>
          <p:cNvPr id="76" name="Google Shape;76;p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When you have some sort of a prototype what you should want to do is </a:t>
            </a:r>
            <a:r>
              <a:rPr b="1" lang="it"/>
              <a:t>testing with the users</a:t>
            </a:r>
            <a:r>
              <a:rPr lang="it"/>
              <a:t>.</a:t>
            </a:r>
            <a:endParaRPr/>
          </a:p>
          <a:p>
            <a:pPr indent="0" lvl="0" marL="0" rtl="0" algn="l">
              <a:spcBef>
                <a:spcPts val="1200"/>
              </a:spcBef>
              <a:spcAft>
                <a:spcPts val="1200"/>
              </a:spcAft>
              <a:buNone/>
            </a:pPr>
            <a:r>
              <a:rPr lang="it"/>
              <a:t>This</a:t>
            </a:r>
            <a:r>
              <a:rPr lang="it"/>
              <a:t> is the process where you can evaluate a product or service by testing it directly with its intended users.</a:t>
            </a:r>
            <a:endParaRPr/>
          </a:p>
        </p:txBody>
      </p:sp>
      <p:sp>
        <p:nvSpPr>
          <p:cNvPr id="77" name="Google Shape;77;p16"/>
          <p:cNvSpPr txBox="1"/>
          <p:nvPr/>
        </p:nvSpPr>
        <p:spPr>
          <a:xfrm>
            <a:off x="311700" y="3952325"/>
            <a:ext cx="7342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u="sng">
                <a:solidFill>
                  <a:schemeClr val="hlink"/>
                </a:solidFill>
                <a:latin typeface="Source Code Pro"/>
                <a:ea typeface="Source Code Pro"/>
                <a:cs typeface="Source Code Pro"/>
                <a:sym typeface="Source Code Pro"/>
                <a:hlinkClick r:id="rId3"/>
              </a:rPr>
              <a:t>https://www.nngroup.com/articles/usability-testing-101/</a:t>
            </a:r>
            <a:r>
              <a:rPr lang="it" sz="1000">
                <a:latin typeface="Source Code Pro"/>
                <a:ea typeface="Source Code Pro"/>
                <a:cs typeface="Source Code Pro"/>
                <a:sym typeface="Source Code Pro"/>
              </a:rPr>
              <a:t> </a:t>
            </a:r>
            <a:endParaRPr sz="1000">
              <a:latin typeface="Source Code Pro"/>
              <a:ea typeface="Source Code Pro"/>
              <a:cs typeface="Source Code Pro"/>
              <a:sym typeface="Source Code Pr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highlight>
                  <a:schemeClr val="accent6"/>
                </a:highlight>
              </a:rPr>
              <a:t>What </a:t>
            </a:r>
            <a:r>
              <a:rPr lang="it" sz="4800"/>
              <a:t>does it mean to </a:t>
            </a:r>
            <a:r>
              <a:rPr lang="it" sz="4800">
                <a:highlight>
                  <a:schemeClr val="accent6"/>
                </a:highlight>
              </a:rPr>
              <a:t>test </a:t>
            </a:r>
            <a:r>
              <a:rPr lang="it" sz="4800"/>
              <a:t>and </a:t>
            </a:r>
            <a:r>
              <a:rPr lang="it" sz="4800">
                <a:highlight>
                  <a:schemeClr val="accent6"/>
                </a:highlight>
              </a:rPr>
              <a:t>why</a:t>
            </a:r>
            <a:r>
              <a:rPr lang="it" sz="4800"/>
              <a:t> we should do it?</a:t>
            </a:r>
            <a:endParaRPr/>
          </a:p>
        </p:txBody>
      </p:sp>
      <p:sp>
        <p:nvSpPr>
          <p:cNvPr id="83" name="Google Shape;83;p17"/>
          <p:cNvSpPr txBox="1"/>
          <p:nvPr>
            <p:ph idx="1" type="body"/>
          </p:nvPr>
        </p:nvSpPr>
        <p:spPr>
          <a:xfrm>
            <a:off x="311700" y="1228675"/>
            <a:ext cx="35007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In this way you can identify many (but not all) </a:t>
            </a:r>
            <a:r>
              <a:rPr lang="it" u="sng"/>
              <a:t>usability issues, opportunities for improvement, and how your users behave what they prefer</a:t>
            </a:r>
            <a:r>
              <a:rPr lang="it"/>
              <a:t>.</a:t>
            </a:r>
            <a:endParaRPr/>
          </a:p>
        </p:txBody>
      </p:sp>
      <p:pic>
        <p:nvPicPr>
          <p:cNvPr id="84" name="Google Shape;84;p17"/>
          <p:cNvPicPr preferRelativeResize="0"/>
          <p:nvPr/>
        </p:nvPicPr>
        <p:blipFill>
          <a:blip r:embed="rId3">
            <a:alphaModFix/>
          </a:blip>
          <a:stretch>
            <a:fillRect/>
          </a:stretch>
        </p:blipFill>
        <p:spPr>
          <a:xfrm>
            <a:off x="3812400" y="1093850"/>
            <a:ext cx="5331575" cy="3237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t>But what is </a:t>
            </a:r>
            <a:r>
              <a:rPr lang="it" sz="4800">
                <a:highlight>
                  <a:schemeClr val="accent6"/>
                </a:highlight>
              </a:rPr>
              <a:t>usability?</a:t>
            </a:r>
            <a:endParaRPr/>
          </a:p>
        </p:txBody>
      </p:sp>
      <p:sp>
        <p:nvSpPr>
          <p:cNvPr id="90" name="Google Shape;90;p1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it"/>
              <a:t>Usability is a quality attribute that assesses </a:t>
            </a:r>
            <a:r>
              <a:rPr lang="it" u="sng"/>
              <a:t>how easy user interfaces are to use.</a:t>
            </a:r>
            <a:r>
              <a:rPr lang="it"/>
              <a:t> </a:t>
            </a:r>
            <a:endParaRPr/>
          </a:p>
          <a:p>
            <a:pPr indent="0" lvl="0" marL="0" rtl="0" algn="l">
              <a:spcBef>
                <a:spcPts val="1200"/>
              </a:spcBef>
              <a:spcAft>
                <a:spcPts val="0"/>
              </a:spcAft>
              <a:buNone/>
            </a:pPr>
            <a:r>
              <a:rPr lang="it"/>
              <a:t>Usability is defined by 5 quality components:</a:t>
            </a:r>
            <a:endParaRPr/>
          </a:p>
          <a:p>
            <a:pPr indent="-325755" lvl="0" marL="457200" rtl="0" algn="l">
              <a:spcBef>
                <a:spcPts val="1200"/>
              </a:spcBef>
              <a:spcAft>
                <a:spcPts val="0"/>
              </a:spcAft>
              <a:buSzPct val="100000"/>
              <a:buChar char="●"/>
            </a:pPr>
            <a:r>
              <a:rPr b="1" lang="it"/>
              <a:t>Learnability</a:t>
            </a:r>
            <a:r>
              <a:rPr lang="it"/>
              <a:t>: How easy is it for users to accomplish basic tasks the first time they encounter the design?</a:t>
            </a:r>
            <a:endParaRPr/>
          </a:p>
          <a:p>
            <a:pPr indent="-325755" lvl="0" marL="457200" rtl="0" algn="l">
              <a:spcBef>
                <a:spcPts val="0"/>
              </a:spcBef>
              <a:spcAft>
                <a:spcPts val="0"/>
              </a:spcAft>
              <a:buSzPct val="100000"/>
              <a:buChar char="●"/>
            </a:pPr>
            <a:r>
              <a:rPr b="1" lang="it"/>
              <a:t>Efficiency</a:t>
            </a:r>
            <a:r>
              <a:rPr lang="it"/>
              <a:t>: Once users have learned the design, how quickly can they perform tasks?</a:t>
            </a:r>
            <a:endParaRPr/>
          </a:p>
          <a:p>
            <a:pPr indent="-325755" lvl="0" marL="457200" rtl="0" algn="l">
              <a:spcBef>
                <a:spcPts val="0"/>
              </a:spcBef>
              <a:spcAft>
                <a:spcPts val="0"/>
              </a:spcAft>
              <a:buSzPct val="100000"/>
              <a:buChar char="●"/>
            </a:pPr>
            <a:r>
              <a:rPr b="1" lang="it"/>
              <a:t>Memorability</a:t>
            </a:r>
            <a:r>
              <a:rPr lang="it"/>
              <a:t>: When users return to the design after a period of not using it, how easily can they reestablish proficiency?</a:t>
            </a:r>
            <a:endParaRPr/>
          </a:p>
          <a:p>
            <a:pPr indent="-325755" lvl="0" marL="457200" rtl="0" algn="l">
              <a:spcBef>
                <a:spcPts val="0"/>
              </a:spcBef>
              <a:spcAft>
                <a:spcPts val="0"/>
              </a:spcAft>
              <a:buSzPct val="100000"/>
              <a:buChar char="●"/>
            </a:pPr>
            <a:r>
              <a:rPr b="1" lang="it"/>
              <a:t>Errors</a:t>
            </a:r>
            <a:r>
              <a:rPr lang="it"/>
              <a:t>: How many errors do users make, how severe are these errors, and how easily can they recover from the errors?</a:t>
            </a:r>
            <a:endParaRPr/>
          </a:p>
          <a:p>
            <a:pPr indent="-325755" lvl="0" marL="457200" rtl="0" algn="l">
              <a:spcBef>
                <a:spcPts val="0"/>
              </a:spcBef>
              <a:spcAft>
                <a:spcPts val="0"/>
              </a:spcAft>
              <a:buSzPct val="100000"/>
              <a:buChar char="●"/>
            </a:pPr>
            <a:r>
              <a:rPr b="1" lang="it"/>
              <a:t>Satisfaction</a:t>
            </a:r>
            <a:r>
              <a:rPr lang="it"/>
              <a:t>: How pleasant is it to use the design?</a:t>
            </a:r>
            <a:endParaRPr/>
          </a:p>
        </p:txBody>
      </p:sp>
      <p:sp>
        <p:nvSpPr>
          <p:cNvPr id="91" name="Google Shape;91;p18"/>
          <p:cNvSpPr txBox="1"/>
          <p:nvPr/>
        </p:nvSpPr>
        <p:spPr>
          <a:xfrm>
            <a:off x="397150" y="4461950"/>
            <a:ext cx="8435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sz="1000" u="sng">
                <a:solidFill>
                  <a:schemeClr val="hlink"/>
                </a:solidFill>
                <a:latin typeface="Source Code Pro"/>
                <a:ea typeface="Source Code Pro"/>
                <a:cs typeface="Source Code Pro"/>
                <a:sym typeface="Source Code Pro"/>
                <a:hlinkClick r:id="rId3"/>
              </a:rPr>
              <a:t>https://www.nngroup.com/articles/usability-101-introduction-to-usability/</a:t>
            </a:r>
            <a:r>
              <a:rPr lang="it" sz="1000">
                <a:latin typeface="Source Code Pro"/>
                <a:ea typeface="Source Code Pro"/>
                <a:cs typeface="Source Code Pro"/>
                <a:sym typeface="Source Code Pro"/>
              </a:rPr>
              <a:t> </a:t>
            </a:r>
            <a:endParaRPr sz="1000">
              <a:latin typeface="Source Code Pro"/>
              <a:ea typeface="Source Code Pro"/>
              <a:cs typeface="Source Code Pro"/>
              <a:sym typeface="Source Code Pr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highlight>
                  <a:schemeClr val="accent6"/>
                </a:highlight>
              </a:rPr>
              <a:t>Usability</a:t>
            </a:r>
            <a:r>
              <a:rPr lang="it" sz="4800"/>
              <a:t> and </a:t>
            </a:r>
            <a:r>
              <a:rPr lang="it" sz="4800">
                <a:highlight>
                  <a:schemeClr val="accent6"/>
                </a:highlight>
              </a:rPr>
              <a:t>Utility</a:t>
            </a:r>
            <a:endParaRPr>
              <a:highlight>
                <a:schemeClr val="accent6"/>
              </a:highlight>
            </a:endParaRPr>
          </a:p>
        </p:txBody>
      </p:sp>
      <p:sp>
        <p:nvSpPr>
          <p:cNvPr id="97" name="Google Shape;97;p1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it"/>
              <a:t>Other than usability another key concept in UX design is</a:t>
            </a:r>
            <a:r>
              <a:rPr lang="it"/>
              <a:t> utility, which refers to the design's </a:t>
            </a:r>
            <a:r>
              <a:rPr b="1" lang="it"/>
              <a:t>functionality</a:t>
            </a:r>
            <a:r>
              <a:rPr lang="it"/>
              <a:t>: </a:t>
            </a:r>
            <a:r>
              <a:rPr lang="it" u="sng"/>
              <a:t>Does it do what users need</a:t>
            </a:r>
            <a:r>
              <a:rPr lang="it"/>
              <a:t>?</a:t>
            </a:r>
            <a:endParaRPr/>
          </a:p>
          <a:p>
            <a:pPr indent="0" lvl="0" marL="0" rtl="0" algn="l">
              <a:spcBef>
                <a:spcPts val="1200"/>
              </a:spcBef>
              <a:spcAft>
                <a:spcPts val="0"/>
              </a:spcAft>
              <a:buNone/>
            </a:pPr>
            <a:r>
              <a:rPr lang="it"/>
              <a:t>Usability and utility are equally important and together determine whether something is useful: </a:t>
            </a:r>
            <a:endParaRPr/>
          </a:p>
          <a:p>
            <a:pPr indent="-325755" lvl="0" marL="457200" rtl="0" algn="l">
              <a:spcBef>
                <a:spcPts val="1200"/>
              </a:spcBef>
              <a:spcAft>
                <a:spcPts val="0"/>
              </a:spcAft>
              <a:buSzPct val="100000"/>
              <a:buChar char="➔"/>
            </a:pPr>
            <a:r>
              <a:rPr lang="it"/>
              <a:t>It matters little that something is easy if it's not what you want. </a:t>
            </a:r>
            <a:endParaRPr/>
          </a:p>
          <a:p>
            <a:pPr indent="-325755" lvl="0" marL="457200" rtl="0" algn="l">
              <a:spcBef>
                <a:spcPts val="0"/>
              </a:spcBef>
              <a:spcAft>
                <a:spcPts val="0"/>
              </a:spcAft>
              <a:buSzPct val="100000"/>
              <a:buChar char="➔"/>
            </a:pPr>
            <a:r>
              <a:rPr lang="it"/>
              <a:t>It's also no good if the system can hypothetically do what you want, but you can't make it happen because the user interface is too difficult. </a:t>
            </a:r>
            <a:endParaRPr/>
          </a:p>
          <a:p>
            <a:pPr indent="0" lvl="0" marL="0" rtl="0" algn="l">
              <a:spcBef>
                <a:spcPts val="1200"/>
              </a:spcBef>
              <a:spcAft>
                <a:spcPts val="1200"/>
              </a:spcAft>
              <a:buNone/>
            </a:pPr>
            <a:r>
              <a:rPr lang="it"/>
              <a:t>To study a design's utility, you can use the same user research methods that improve usability.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highlight>
                  <a:schemeClr val="accent6"/>
                </a:highlight>
              </a:rPr>
              <a:t>Usability</a:t>
            </a:r>
            <a:r>
              <a:rPr lang="it" sz="4800"/>
              <a:t> + </a:t>
            </a:r>
            <a:r>
              <a:rPr lang="it" sz="4800">
                <a:highlight>
                  <a:schemeClr val="accent6"/>
                </a:highlight>
              </a:rPr>
              <a:t>Utility</a:t>
            </a:r>
            <a:endParaRPr>
              <a:highlight>
                <a:schemeClr val="accent6"/>
              </a:highlight>
            </a:endParaRPr>
          </a:p>
        </p:txBody>
      </p:sp>
      <p:sp>
        <p:nvSpPr>
          <p:cNvPr id="103" name="Google Shape;103;p2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a:t>Utility </a:t>
            </a:r>
            <a:r>
              <a:rPr lang="it"/>
              <a:t>= whether it provides the features you need.</a:t>
            </a:r>
            <a:endParaRPr/>
          </a:p>
          <a:p>
            <a:pPr indent="0" lvl="0" marL="0" rtl="0" algn="l">
              <a:spcBef>
                <a:spcPts val="1200"/>
              </a:spcBef>
              <a:spcAft>
                <a:spcPts val="0"/>
              </a:spcAft>
              <a:buNone/>
            </a:pPr>
            <a:r>
              <a:rPr b="1" lang="it"/>
              <a:t>Usability </a:t>
            </a:r>
            <a:r>
              <a:rPr lang="it"/>
              <a:t>= how easy &amp; pleasant these features are to use.</a:t>
            </a:r>
            <a:endParaRPr/>
          </a:p>
          <a:p>
            <a:pPr indent="0" lvl="0" marL="0" rtl="0" algn="l">
              <a:spcBef>
                <a:spcPts val="1200"/>
              </a:spcBef>
              <a:spcAft>
                <a:spcPts val="0"/>
              </a:spcAft>
              <a:buNone/>
            </a:pPr>
            <a:r>
              <a:rPr b="1" lang="it"/>
              <a:t>Useful </a:t>
            </a:r>
            <a:r>
              <a:rPr lang="it"/>
              <a:t>= usability + utility.</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it"/>
              <a:t>Note that usually </a:t>
            </a:r>
            <a:r>
              <a:rPr lang="it"/>
              <a:t>you will find mention to usability only: it is not conceptually right but it makes it easier to refer to the type of testing.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t>User and Usability testing</a:t>
            </a:r>
            <a:endParaRPr sz="4800"/>
          </a:p>
        </p:txBody>
      </p:sp>
      <p:sp>
        <p:nvSpPr>
          <p:cNvPr id="109" name="Google Shape;109;p2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So, t</a:t>
            </a:r>
            <a:r>
              <a:rPr lang="it"/>
              <a:t>esting is essential in creating products that meet user needs and expectations following the </a:t>
            </a:r>
            <a:r>
              <a:rPr b="1" lang="it"/>
              <a:t>principles of Human-Centered </a:t>
            </a:r>
            <a:r>
              <a:rPr b="1" lang="it"/>
              <a:t>Design</a:t>
            </a:r>
            <a:r>
              <a:rPr lang="it"/>
              <a:t>.</a:t>
            </a:r>
            <a:endParaRPr/>
          </a:p>
          <a:p>
            <a:pPr indent="0" lvl="0" marL="0" rtl="0" algn="l">
              <a:spcBef>
                <a:spcPts val="1200"/>
              </a:spcBef>
              <a:spcAft>
                <a:spcPts val="1200"/>
              </a:spcAft>
              <a:buNone/>
            </a:pPr>
            <a:r>
              <a:rPr lang="it"/>
              <a:t>Only discovering usability issues and testing with real users you can create an improved user experience that leads you to higher user satisfaction, </a:t>
            </a:r>
            <a:r>
              <a:rPr lang="it"/>
              <a:t>and ultimately drive business success.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t>User and Usability testing</a:t>
            </a:r>
            <a:endParaRPr sz="4800"/>
          </a:p>
        </p:txBody>
      </p:sp>
      <p:sp>
        <p:nvSpPr>
          <p:cNvPr id="115" name="Google Shape;115;p2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As a user research methodology we define a </a:t>
            </a:r>
            <a:r>
              <a:rPr lang="it"/>
              <a:t>a usability-testing session when a </a:t>
            </a:r>
            <a:r>
              <a:rPr b="1" lang="it"/>
              <a:t>researcher </a:t>
            </a:r>
            <a:r>
              <a:rPr lang="it"/>
              <a:t>(called a “facilitator” or a “moderator”) </a:t>
            </a:r>
            <a:r>
              <a:rPr b="1" lang="it"/>
              <a:t>asks a participant to perform tasks</a:t>
            </a:r>
            <a:r>
              <a:rPr lang="it"/>
              <a:t>, usually using one or more specific user interfaces. </a:t>
            </a:r>
            <a:endParaRPr/>
          </a:p>
          <a:p>
            <a:pPr indent="0" lvl="0" marL="0" rtl="0" algn="l">
              <a:spcBef>
                <a:spcPts val="1200"/>
              </a:spcBef>
              <a:spcAft>
                <a:spcPts val="1200"/>
              </a:spcAft>
              <a:buNone/>
            </a:pPr>
            <a:r>
              <a:rPr lang="it" u="sng"/>
              <a:t>While the participant completes each task, the researcher observes the participant’s behavior and listens for feedback.</a:t>
            </a:r>
            <a:endParaRPr u="sng"/>
          </a:p>
        </p:txBody>
      </p:sp>
      <p:sp>
        <p:nvSpPr>
          <p:cNvPr id="116" name="Google Shape;116;p22"/>
          <p:cNvSpPr txBox="1"/>
          <p:nvPr/>
        </p:nvSpPr>
        <p:spPr>
          <a:xfrm>
            <a:off x="311700" y="4312225"/>
            <a:ext cx="668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 u="sng">
                <a:solidFill>
                  <a:schemeClr val="hlink"/>
                </a:solidFill>
                <a:latin typeface="Source Code Pro"/>
                <a:ea typeface="Source Code Pro"/>
                <a:cs typeface="Source Code Pro"/>
                <a:sym typeface="Source Code Pro"/>
                <a:hlinkClick r:id="rId3"/>
              </a:rPr>
              <a:t>https://www.youtube.com/watch?v=v8JJrDvQDF4</a:t>
            </a:r>
            <a:r>
              <a:rPr lang="it">
                <a:latin typeface="Source Code Pro"/>
                <a:ea typeface="Source Code Pro"/>
                <a:cs typeface="Source Code Pro"/>
                <a:sym typeface="Source Code Pro"/>
              </a:rPr>
              <a:t> </a:t>
            </a:r>
            <a:endParaRPr>
              <a:latin typeface="Source Code Pro"/>
              <a:ea typeface="Source Code Pro"/>
              <a:cs typeface="Source Code Pro"/>
              <a:sym typeface="Source Code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3"/>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Heuristics evaluation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Heuristic evaluation</a:t>
            </a:r>
            <a:endParaRPr/>
          </a:p>
        </p:txBody>
      </p:sp>
      <p:sp>
        <p:nvSpPr>
          <p:cNvPr id="127" name="Google Shape;127;p2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it"/>
              <a:t>Before testing with real users, something else can be done to discover usability issues. </a:t>
            </a:r>
            <a:endParaRPr/>
          </a:p>
          <a:p>
            <a:pPr indent="0" lvl="0" marL="0" rtl="0" algn="l">
              <a:spcBef>
                <a:spcPts val="1200"/>
              </a:spcBef>
              <a:spcAft>
                <a:spcPts val="0"/>
              </a:spcAft>
              <a:buNone/>
            </a:pPr>
            <a:r>
              <a:rPr lang="it"/>
              <a:t>Heuristic evaluation is a method used to evaluate user interfaces based on established usability principles or "heuristics". </a:t>
            </a:r>
            <a:r>
              <a:rPr lang="it" u="sng"/>
              <a:t>This evaluation typically involves a small team of evaluators, as the process can be challenging for a single individual to complete.</a:t>
            </a:r>
            <a:r>
              <a:rPr lang="it"/>
              <a:t> Also, involving multiple evaluators </a:t>
            </a:r>
            <a:r>
              <a:rPr lang="it" u="sng"/>
              <a:t>(3-5 are enough) </a:t>
            </a:r>
            <a:r>
              <a:rPr lang="it"/>
              <a:t>can improve the accuracy of the evaluation. </a:t>
            </a:r>
            <a:endParaRPr/>
          </a:p>
          <a:p>
            <a:pPr indent="0" lvl="0" marL="0" rtl="0" algn="l">
              <a:spcBef>
                <a:spcPts val="1200"/>
              </a:spcBef>
              <a:spcAft>
                <a:spcPts val="1200"/>
              </a:spcAft>
              <a:buNone/>
            </a:pPr>
            <a:r>
              <a:rPr lang="it"/>
              <a:t>Although heuristic evaluation does not provide a systematic approach to fixing usability problems or assessing redesigns, </a:t>
            </a:r>
            <a:r>
              <a:rPr lang="it" u="sng"/>
              <a:t>it can guide the creation of revised designs based on the violated principles of good interactive systems in a cost-effective way</a:t>
            </a:r>
            <a:r>
              <a:rPr lang="it"/>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Heuristic evaluation, Nielsen (1992)</a:t>
            </a:r>
            <a:endParaRPr/>
          </a:p>
        </p:txBody>
      </p:sp>
      <p:cxnSp>
        <p:nvCxnSpPr>
          <p:cNvPr id="133" name="Google Shape;133;p25"/>
          <p:cNvCxnSpPr/>
          <p:nvPr/>
        </p:nvCxnSpPr>
        <p:spPr>
          <a:xfrm>
            <a:off x="1930400" y="3929063"/>
            <a:ext cx="5645100" cy="0"/>
          </a:xfrm>
          <a:prstGeom prst="straightConnector1">
            <a:avLst/>
          </a:prstGeom>
          <a:noFill/>
          <a:ln cap="flat" cmpd="sng" w="50800">
            <a:solidFill>
              <a:schemeClr val="accent4"/>
            </a:solidFill>
            <a:prstDash val="solid"/>
            <a:miter lim="800000"/>
            <a:headEnd len="sm" w="sm" type="none"/>
            <a:tailEnd len="sm" w="sm" type="none"/>
          </a:ln>
        </p:spPr>
      </p:cxnSp>
      <p:cxnSp>
        <p:nvCxnSpPr>
          <p:cNvPr id="134" name="Google Shape;134;p25"/>
          <p:cNvCxnSpPr/>
          <p:nvPr/>
        </p:nvCxnSpPr>
        <p:spPr>
          <a:xfrm>
            <a:off x="3810000" y="3805238"/>
            <a:ext cx="0" cy="119100"/>
          </a:xfrm>
          <a:prstGeom prst="straightConnector1">
            <a:avLst/>
          </a:prstGeom>
          <a:noFill/>
          <a:ln cap="flat" cmpd="sng" w="12700">
            <a:solidFill>
              <a:srgbClr val="000000"/>
            </a:solidFill>
            <a:prstDash val="solid"/>
            <a:miter lim="800000"/>
            <a:headEnd len="sm" w="sm" type="none"/>
            <a:tailEnd len="sm" w="sm" type="none"/>
          </a:ln>
        </p:spPr>
      </p:cxnSp>
      <p:cxnSp>
        <p:nvCxnSpPr>
          <p:cNvPr id="135" name="Google Shape;135;p25"/>
          <p:cNvCxnSpPr/>
          <p:nvPr/>
        </p:nvCxnSpPr>
        <p:spPr>
          <a:xfrm>
            <a:off x="5715000" y="3805238"/>
            <a:ext cx="0" cy="119100"/>
          </a:xfrm>
          <a:prstGeom prst="straightConnector1">
            <a:avLst/>
          </a:prstGeom>
          <a:noFill/>
          <a:ln cap="flat" cmpd="sng" w="12700">
            <a:solidFill>
              <a:srgbClr val="000000"/>
            </a:solidFill>
            <a:prstDash val="solid"/>
            <a:miter lim="800000"/>
            <a:headEnd len="sm" w="sm" type="none"/>
            <a:tailEnd len="sm" w="sm" type="none"/>
          </a:ln>
        </p:spPr>
      </p:cxnSp>
      <p:cxnSp>
        <p:nvCxnSpPr>
          <p:cNvPr id="136" name="Google Shape;136;p25"/>
          <p:cNvCxnSpPr/>
          <p:nvPr/>
        </p:nvCxnSpPr>
        <p:spPr>
          <a:xfrm>
            <a:off x="7620000" y="3805238"/>
            <a:ext cx="0" cy="119100"/>
          </a:xfrm>
          <a:prstGeom prst="straightConnector1">
            <a:avLst/>
          </a:prstGeom>
          <a:noFill/>
          <a:ln cap="flat" cmpd="sng" w="12700">
            <a:solidFill>
              <a:srgbClr val="000000"/>
            </a:solidFill>
            <a:prstDash val="solid"/>
            <a:miter lim="800000"/>
            <a:headEnd len="sm" w="sm" type="none"/>
            <a:tailEnd len="sm" w="sm" type="none"/>
          </a:ln>
        </p:spPr>
      </p:cxnSp>
      <p:cxnSp>
        <p:nvCxnSpPr>
          <p:cNvPr id="137" name="Google Shape;137;p25"/>
          <p:cNvCxnSpPr/>
          <p:nvPr/>
        </p:nvCxnSpPr>
        <p:spPr>
          <a:xfrm>
            <a:off x="1885950" y="3805238"/>
            <a:ext cx="0" cy="119100"/>
          </a:xfrm>
          <a:prstGeom prst="straightConnector1">
            <a:avLst/>
          </a:prstGeom>
          <a:noFill/>
          <a:ln cap="flat" cmpd="sng" w="12700">
            <a:solidFill>
              <a:srgbClr val="000000"/>
            </a:solidFill>
            <a:prstDash val="solid"/>
            <a:miter lim="800000"/>
            <a:headEnd len="sm" w="sm" type="none"/>
            <a:tailEnd len="sm" w="sm" type="none"/>
          </a:ln>
        </p:spPr>
      </p:cxnSp>
      <p:cxnSp>
        <p:nvCxnSpPr>
          <p:cNvPr id="138" name="Google Shape;138;p25"/>
          <p:cNvCxnSpPr/>
          <p:nvPr/>
        </p:nvCxnSpPr>
        <p:spPr>
          <a:xfrm rot="10800000">
            <a:off x="1885950" y="1633463"/>
            <a:ext cx="0" cy="2295600"/>
          </a:xfrm>
          <a:prstGeom prst="straightConnector1">
            <a:avLst/>
          </a:prstGeom>
          <a:noFill/>
          <a:ln cap="flat" cmpd="sng" w="50800">
            <a:solidFill>
              <a:schemeClr val="accent4"/>
            </a:solidFill>
            <a:prstDash val="solid"/>
            <a:miter lim="800000"/>
            <a:headEnd len="sm" w="sm" type="none"/>
            <a:tailEnd len="sm" w="sm" type="none"/>
          </a:ln>
        </p:spPr>
      </p:cxnSp>
      <p:cxnSp>
        <p:nvCxnSpPr>
          <p:cNvPr id="139" name="Google Shape;139;p25"/>
          <p:cNvCxnSpPr/>
          <p:nvPr/>
        </p:nvCxnSpPr>
        <p:spPr>
          <a:xfrm>
            <a:off x="1758950" y="3357563"/>
            <a:ext cx="139800" cy="0"/>
          </a:xfrm>
          <a:prstGeom prst="straightConnector1">
            <a:avLst/>
          </a:prstGeom>
          <a:noFill/>
          <a:ln cap="flat" cmpd="sng" w="12700">
            <a:solidFill>
              <a:srgbClr val="000000"/>
            </a:solidFill>
            <a:prstDash val="solid"/>
            <a:miter lim="800000"/>
            <a:headEnd len="sm" w="sm" type="none"/>
            <a:tailEnd len="sm" w="sm" type="none"/>
          </a:ln>
        </p:spPr>
      </p:cxnSp>
      <p:cxnSp>
        <p:nvCxnSpPr>
          <p:cNvPr id="140" name="Google Shape;140;p25"/>
          <p:cNvCxnSpPr/>
          <p:nvPr/>
        </p:nvCxnSpPr>
        <p:spPr>
          <a:xfrm>
            <a:off x="1758950" y="2786063"/>
            <a:ext cx="139800" cy="0"/>
          </a:xfrm>
          <a:prstGeom prst="straightConnector1">
            <a:avLst/>
          </a:prstGeom>
          <a:noFill/>
          <a:ln cap="flat" cmpd="sng" w="12700">
            <a:solidFill>
              <a:srgbClr val="000000"/>
            </a:solidFill>
            <a:prstDash val="solid"/>
            <a:miter lim="800000"/>
            <a:headEnd len="sm" w="sm" type="none"/>
            <a:tailEnd len="sm" w="sm" type="none"/>
          </a:ln>
        </p:spPr>
      </p:cxnSp>
      <p:cxnSp>
        <p:nvCxnSpPr>
          <p:cNvPr id="141" name="Google Shape;141;p25"/>
          <p:cNvCxnSpPr/>
          <p:nvPr/>
        </p:nvCxnSpPr>
        <p:spPr>
          <a:xfrm>
            <a:off x="1758950" y="2214563"/>
            <a:ext cx="139800" cy="0"/>
          </a:xfrm>
          <a:prstGeom prst="straightConnector1">
            <a:avLst/>
          </a:prstGeom>
          <a:noFill/>
          <a:ln cap="flat" cmpd="sng" w="12700">
            <a:solidFill>
              <a:srgbClr val="000000"/>
            </a:solidFill>
            <a:prstDash val="solid"/>
            <a:miter lim="800000"/>
            <a:headEnd len="sm" w="sm" type="none"/>
            <a:tailEnd len="sm" w="sm" type="none"/>
          </a:ln>
        </p:spPr>
      </p:cxnSp>
      <p:cxnSp>
        <p:nvCxnSpPr>
          <p:cNvPr id="142" name="Google Shape;142;p25"/>
          <p:cNvCxnSpPr/>
          <p:nvPr/>
        </p:nvCxnSpPr>
        <p:spPr>
          <a:xfrm>
            <a:off x="1758950" y="1643063"/>
            <a:ext cx="139800" cy="0"/>
          </a:xfrm>
          <a:prstGeom prst="straightConnector1">
            <a:avLst/>
          </a:prstGeom>
          <a:noFill/>
          <a:ln cap="flat" cmpd="sng" w="12700">
            <a:solidFill>
              <a:srgbClr val="000000"/>
            </a:solidFill>
            <a:prstDash val="solid"/>
            <a:miter lim="800000"/>
            <a:headEnd len="sm" w="sm" type="none"/>
            <a:tailEnd len="sm" w="sm" type="none"/>
          </a:ln>
        </p:spPr>
      </p:cxnSp>
      <p:sp>
        <p:nvSpPr>
          <p:cNvPr id="143" name="Google Shape;143;p25"/>
          <p:cNvSpPr txBox="1"/>
          <p:nvPr/>
        </p:nvSpPr>
        <p:spPr>
          <a:xfrm>
            <a:off x="1700212" y="3961209"/>
            <a:ext cx="3507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0</a:t>
            </a:r>
            <a:endParaRPr i="0" sz="1000" u="none" cap="none" strike="noStrike">
              <a:solidFill>
                <a:schemeClr val="dk2"/>
              </a:solidFill>
              <a:latin typeface="Amatic SC"/>
              <a:ea typeface="Amatic SC"/>
              <a:cs typeface="Amatic SC"/>
              <a:sym typeface="Amatic SC"/>
            </a:endParaRPr>
          </a:p>
        </p:txBody>
      </p:sp>
      <p:sp>
        <p:nvSpPr>
          <p:cNvPr id="144" name="Google Shape;144;p25"/>
          <p:cNvSpPr txBox="1"/>
          <p:nvPr/>
        </p:nvSpPr>
        <p:spPr>
          <a:xfrm>
            <a:off x="3662362" y="3989784"/>
            <a:ext cx="3507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5</a:t>
            </a:r>
            <a:endParaRPr i="0" sz="1000" u="none" cap="none" strike="noStrike">
              <a:solidFill>
                <a:schemeClr val="dk2"/>
              </a:solidFill>
              <a:latin typeface="Amatic SC"/>
              <a:ea typeface="Amatic SC"/>
              <a:cs typeface="Amatic SC"/>
              <a:sym typeface="Amatic SC"/>
            </a:endParaRPr>
          </a:p>
        </p:txBody>
      </p:sp>
      <p:sp>
        <p:nvSpPr>
          <p:cNvPr id="145" name="Google Shape;145;p25"/>
          <p:cNvSpPr txBox="1"/>
          <p:nvPr/>
        </p:nvSpPr>
        <p:spPr>
          <a:xfrm>
            <a:off x="5510212" y="3975497"/>
            <a:ext cx="5208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10</a:t>
            </a:r>
            <a:endParaRPr i="0" sz="1000" u="none" cap="none" strike="noStrike">
              <a:solidFill>
                <a:schemeClr val="dk2"/>
              </a:solidFill>
              <a:latin typeface="Amatic SC"/>
              <a:ea typeface="Amatic SC"/>
              <a:cs typeface="Amatic SC"/>
              <a:sym typeface="Amatic SC"/>
            </a:endParaRPr>
          </a:p>
        </p:txBody>
      </p:sp>
      <p:sp>
        <p:nvSpPr>
          <p:cNvPr id="146" name="Google Shape;146;p25"/>
          <p:cNvSpPr txBox="1"/>
          <p:nvPr/>
        </p:nvSpPr>
        <p:spPr>
          <a:xfrm>
            <a:off x="7396162" y="3946922"/>
            <a:ext cx="5208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15</a:t>
            </a:r>
            <a:endParaRPr i="0" sz="1000" u="none" cap="none" strike="noStrike">
              <a:solidFill>
                <a:schemeClr val="dk2"/>
              </a:solidFill>
              <a:latin typeface="Amatic SC"/>
              <a:ea typeface="Amatic SC"/>
              <a:cs typeface="Amatic SC"/>
              <a:sym typeface="Amatic SC"/>
            </a:endParaRPr>
          </a:p>
        </p:txBody>
      </p:sp>
      <p:sp>
        <p:nvSpPr>
          <p:cNvPr id="147" name="Google Shape;147;p25"/>
          <p:cNvSpPr txBox="1"/>
          <p:nvPr/>
        </p:nvSpPr>
        <p:spPr>
          <a:xfrm>
            <a:off x="1147762" y="3718321"/>
            <a:ext cx="7065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0 %</a:t>
            </a:r>
            <a:endParaRPr i="0" sz="1000" u="none" cap="none" strike="noStrike">
              <a:solidFill>
                <a:schemeClr val="dk2"/>
              </a:solidFill>
              <a:latin typeface="Amatic SC"/>
              <a:ea typeface="Amatic SC"/>
              <a:cs typeface="Amatic SC"/>
              <a:sym typeface="Amatic SC"/>
            </a:endParaRPr>
          </a:p>
        </p:txBody>
      </p:sp>
      <p:sp>
        <p:nvSpPr>
          <p:cNvPr id="148" name="Google Shape;148;p25"/>
          <p:cNvSpPr txBox="1"/>
          <p:nvPr/>
        </p:nvSpPr>
        <p:spPr>
          <a:xfrm>
            <a:off x="1033462" y="3161109"/>
            <a:ext cx="8763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25 %</a:t>
            </a:r>
            <a:endParaRPr i="0" sz="1000" u="none" cap="none" strike="noStrike">
              <a:solidFill>
                <a:schemeClr val="dk2"/>
              </a:solidFill>
              <a:latin typeface="Amatic SC"/>
              <a:ea typeface="Amatic SC"/>
              <a:cs typeface="Amatic SC"/>
              <a:sym typeface="Amatic SC"/>
            </a:endParaRPr>
          </a:p>
        </p:txBody>
      </p:sp>
      <p:sp>
        <p:nvSpPr>
          <p:cNvPr id="149" name="Google Shape;149;p25"/>
          <p:cNvSpPr txBox="1"/>
          <p:nvPr/>
        </p:nvSpPr>
        <p:spPr>
          <a:xfrm>
            <a:off x="1014412" y="2632472"/>
            <a:ext cx="8763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50 %</a:t>
            </a:r>
            <a:endParaRPr i="0" sz="1000" u="none" cap="none" strike="noStrike">
              <a:solidFill>
                <a:schemeClr val="dk2"/>
              </a:solidFill>
              <a:latin typeface="Amatic SC"/>
              <a:ea typeface="Amatic SC"/>
              <a:cs typeface="Amatic SC"/>
              <a:sym typeface="Amatic SC"/>
            </a:endParaRPr>
          </a:p>
        </p:txBody>
      </p:sp>
      <p:sp>
        <p:nvSpPr>
          <p:cNvPr id="150" name="Google Shape;150;p25"/>
          <p:cNvSpPr txBox="1"/>
          <p:nvPr/>
        </p:nvSpPr>
        <p:spPr>
          <a:xfrm>
            <a:off x="1014412" y="2089547"/>
            <a:ext cx="8763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75 %</a:t>
            </a:r>
            <a:endParaRPr i="0" sz="1000" u="none" cap="none" strike="noStrike">
              <a:solidFill>
                <a:schemeClr val="dk2"/>
              </a:solidFill>
              <a:latin typeface="Amatic SC"/>
              <a:ea typeface="Amatic SC"/>
              <a:cs typeface="Amatic SC"/>
              <a:sym typeface="Amatic SC"/>
            </a:endParaRPr>
          </a:p>
        </p:txBody>
      </p:sp>
      <p:sp>
        <p:nvSpPr>
          <p:cNvPr id="151" name="Google Shape;151;p25"/>
          <p:cNvSpPr txBox="1"/>
          <p:nvPr/>
        </p:nvSpPr>
        <p:spPr>
          <a:xfrm>
            <a:off x="881062" y="1546622"/>
            <a:ext cx="1044600" cy="3975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2000" u="none" cap="none" strike="noStrike">
                <a:solidFill>
                  <a:schemeClr val="dk2"/>
                </a:solidFill>
                <a:latin typeface="Amatic SC"/>
                <a:ea typeface="Amatic SC"/>
                <a:cs typeface="Amatic SC"/>
                <a:sym typeface="Amatic SC"/>
              </a:rPr>
              <a:t>100 %</a:t>
            </a:r>
            <a:endParaRPr i="0" sz="1000" u="none" cap="none" strike="noStrike">
              <a:solidFill>
                <a:schemeClr val="dk2"/>
              </a:solidFill>
              <a:latin typeface="Amatic SC"/>
              <a:ea typeface="Amatic SC"/>
              <a:cs typeface="Amatic SC"/>
              <a:sym typeface="Amatic SC"/>
            </a:endParaRPr>
          </a:p>
        </p:txBody>
      </p:sp>
      <p:sp>
        <p:nvSpPr>
          <p:cNvPr id="152" name="Google Shape;152;p25"/>
          <p:cNvSpPr txBox="1"/>
          <p:nvPr/>
        </p:nvSpPr>
        <p:spPr>
          <a:xfrm>
            <a:off x="3259068" y="4362275"/>
            <a:ext cx="4788600" cy="3669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1800" u="none" cap="none" strike="noStrike">
                <a:solidFill>
                  <a:schemeClr val="dk2"/>
                </a:solidFill>
                <a:latin typeface="Amatic SC"/>
                <a:ea typeface="Amatic SC"/>
                <a:cs typeface="Amatic SC"/>
                <a:sym typeface="Amatic SC"/>
              </a:rPr>
              <a:t>number of evaluators</a:t>
            </a:r>
            <a:endParaRPr i="0" sz="1800" u="none" cap="none" strike="noStrike">
              <a:solidFill>
                <a:schemeClr val="dk2"/>
              </a:solidFill>
              <a:latin typeface="Amatic SC"/>
              <a:ea typeface="Amatic SC"/>
              <a:cs typeface="Amatic SC"/>
              <a:sym typeface="Amatic SC"/>
            </a:endParaRPr>
          </a:p>
        </p:txBody>
      </p:sp>
      <p:sp>
        <p:nvSpPr>
          <p:cNvPr id="153" name="Google Shape;153;p25"/>
          <p:cNvSpPr txBox="1"/>
          <p:nvPr/>
        </p:nvSpPr>
        <p:spPr>
          <a:xfrm>
            <a:off x="-1" y="1164413"/>
            <a:ext cx="5482200" cy="366900"/>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F3F3F3"/>
              </a:buClr>
              <a:buSzPts val="2400"/>
              <a:buFont typeface="Arial"/>
              <a:buNone/>
            </a:pPr>
            <a:r>
              <a:rPr i="0" lang="it" sz="1800" u="none" cap="none" strike="noStrike">
                <a:solidFill>
                  <a:schemeClr val="dk2"/>
                </a:solidFill>
                <a:latin typeface="Amatic SC"/>
                <a:ea typeface="Amatic SC"/>
                <a:cs typeface="Amatic SC"/>
                <a:sym typeface="Amatic SC"/>
              </a:rPr>
              <a:t>proportion of usability problems found</a:t>
            </a:r>
            <a:endParaRPr i="0" sz="1800" u="none" cap="none" strike="noStrike">
              <a:solidFill>
                <a:schemeClr val="dk2"/>
              </a:solidFill>
              <a:latin typeface="Amatic SC"/>
              <a:ea typeface="Amatic SC"/>
              <a:cs typeface="Amatic SC"/>
              <a:sym typeface="Amatic SC"/>
            </a:endParaRPr>
          </a:p>
        </p:txBody>
      </p:sp>
      <p:cxnSp>
        <p:nvCxnSpPr>
          <p:cNvPr id="154" name="Google Shape;154;p25"/>
          <p:cNvCxnSpPr/>
          <p:nvPr/>
        </p:nvCxnSpPr>
        <p:spPr>
          <a:xfrm>
            <a:off x="1911350" y="1643063"/>
            <a:ext cx="5683200" cy="0"/>
          </a:xfrm>
          <a:prstGeom prst="straightConnector1">
            <a:avLst/>
          </a:prstGeom>
          <a:noFill/>
          <a:ln cap="flat" cmpd="sng" w="12700">
            <a:solidFill>
              <a:schemeClr val="accent4"/>
            </a:solidFill>
            <a:prstDash val="solid"/>
            <a:miter lim="800000"/>
            <a:headEnd len="sm" w="sm" type="none"/>
            <a:tailEnd len="sm" w="sm" type="none"/>
          </a:ln>
        </p:spPr>
      </p:cxnSp>
      <p:cxnSp>
        <p:nvCxnSpPr>
          <p:cNvPr id="155" name="Google Shape;155;p25"/>
          <p:cNvCxnSpPr/>
          <p:nvPr/>
        </p:nvCxnSpPr>
        <p:spPr>
          <a:xfrm>
            <a:off x="1905000" y="2209800"/>
            <a:ext cx="5696100" cy="0"/>
          </a:xfrm>
          <a:prstGeom prst="straightConnector1">
            <a:avLst/>
          </a:prstGeom>
          <a:noFill/>
          <a:ln cap="flat" cmpd="sng" w="12700">
            <a:solidFill>
              <a:schemeClr val="accent4"/>
            </a:solidFill>
            <a:prstDash val="solid"/>
            <a:miter lim="800000"/>
            <a:headEnd len="sm" w="sm" type="none"/>
            <a:tailEnd len="sm" w="sm" type="none"/>
          </a:ln>
        </p:spPr>
      </p:cxnSp>
      <p:cxnSp>
        <p:nvCxnSpPr>
          <p:cNvPr id="156" name="Google Shape;156;p25"/>
          <p:cNvCxnSpPr/>
          <p:nvPr/>
        </p:nvCxnSpPr>
        <p:spPr>
          <a:xfrm>
            <a:off x="1905000" y="2790825"/>
            <a:ext cx="5664300" cy="0"/>
          </a:xfrm>
          <a:prstGeom prst="straightConnector1">
            <a:avLst/>
          </a:prstGeom>
          <a:noFill/>
          <a:ln cap="flat" cmpd="sng" w="12700">
            <a:solidFill>
              <a:schemeClr val="accent4"/>
            </a:solidFill>
            <a:prstDash val="solid"/>
            <a:miter lim="800000"/>
            <a:headEnd len="sm" w="sm" type="none"/>
            <a:tailEnd len="sm" w="sm" type="none"/>
          </a:ln>
        </p:spPr>
      </p:cxnSp>
      <p:cxnSp>
        <p:nvCxnSpPr>
          <p:cNvPr id="157" name="Google Shape;157;p25"/>
          <p:cNvCxnSpPr/>
          <p:nvPr/>
        </p:nvCxnSpPr>
        <p:spPr>
          <a:xfrm>
            <a:off x="1911350" y="3357563"/>
            <a:ext cx="5664300" cy="0"/>
          </a:xfrm>
          <a:prstGeom prst="straightConnector1">
            <a:avLst/>
          </a:prstGeom>
          <a:noFill/>
          <a:ln cap="flat" cmpd="sng" w="12700">
            <a:solidFill>
              <a:schemeClr val="accent4"/>
            </a:solidFill>
            <a:prstDash val="solid"/>
            <a:miter lim="800000"/>
            <a:headEnd len="sm" w="sm" type="none"/>
            <a:tailEnd len="sm" w="sm" type="none"/>
          </a:ln>
        </p:spPr>
      </p:cxnSp>
      <p:sp>
        <p:nvSpPr>
          <p:cNvPr id="158" name="Google Shape;158;p25"/>
          <p:cNvSpPr/>
          <p:nvPr/>
        </p:nvSpPr>
        <p:spPr>
          <a:xfrm>
            <a:off x="2358100" y="1888075"/>
            <a:ext cx="5023325" cy="1249825"/>
          </a:xfrm>
          <a:custGeom>
            <a:rect b="b" l="l" r="r" t="t"/>
            <a:pathLst>
              <a:path extrusionOk="0" h="49993" w="200933">
                <a:moveTo>
                  <a:pt x="0" y="49993"/>
                </a:moveTo>
                <a:cubicBezTo>
                  <a:pt x="1442" y="47429"/>
                  <a:pt x="-854" y="40700"/>
                  <a:pt x="8653" y="34611"/>
                </a:cubicBezTo>
                <a:cubicBezTo>
                  <a:pt x="18160" y="28522"/>
                  <a:pt x="35732" y="18908"/>
                  <a:pt x="57043" y="13460"/>
                </a:cubicBezTo>
                <a:cubicBezTo>
                  <a:pt x="78354" y="8012"/>
                  <a:pt x="112537" y="4166"/>
                  <a:pt x="136519" y="1923"/>
                </a:cubicBezTo>
                <a:cubicBezTo>
                  <a:pt x="160501" y="-320"/>
                  <a:pt x="190197" y="321"/>
                  <a:pt x="200933" y="0"/>
                </a:cubicBezTo>
              </a:path>
            </a:pathLst>
          </a:custGeom>
          <a:noFill/>
          <a:ln cap="flat" cmpd="sng" w="28575">
            <a:solidFill>
              <a:schemeClr val="accent5"/>
            </a:solidFill>
            <a:prstDash val="solid"/>
            <a:round/>
            <a:headEnd len="med" w="med" type="none"/>
            <a:tailEnd len="med" w="med" type="none"/>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Nielsen’s 10 Usability Heuristics</a:t>
            </a:r>
            <a:endParaRPr/>
          </a:p>
        </p:txBody>
      </p:sp>
      <p:pic>
        <p:nvPicPr>
          <p:cNvPr id="164" name="Google Shape;164;p26"/>
          <p:cNvPicPr preferRelativeResize="0"/>
          <p:nvPr/>
        </p:nvPicPr>
        <p:blipFill>
          <a:blip r:embed="rId3">
            <a:alphaModFix/>
          </a:blip>
          <a:stretch>
            <a:fillRect/>
          </a:stretch>
        </p:blipFill>
        <p:spPr>
          <a:xfrm>
            <a:off x="209825" y="1404375"/>
            <a:ext cx="2889931" cy="2939075"/>
          </a:xfrm>
          <a:prstGeom prst="rect">
            <a:avLst/>
          </a:prstGeom>
          <a:noFill/>
          <a:ln>
            <a:noFill/>
          </a:ln>
        </p:spPr>
      </p:pic>
      <p:pic>
        <p:nvPicPr>
          <p:cNvPr id="165" name="Google Shape;165;p26"/>
          <p:cNvPicPr preferRelativeResize="0"/>
          <p:nvPr/>
        </p:nvPicPr>
        <p:blipFill>
          <a:blip r:embed="rId4">
            <a:alphaModFix/>
          </a:blip>
          <a:stretch>
            <a:fillRect/>
          </a:stretch>
        </p:blipFill>
        <p:spPr>
          <a:xfrm>
            <a:off x="3236277" y="1404375"/>
            <a:ext cx="2719047" cy="2939074"/>
          </a:xfrm>
          <a:prstGeom prst="rect">
            <a:avLst/>
          </a:prstGeom>
          <a:noFill/>
          <a:ln>
            <a:noFill/>
          </a:ln>
        </p:spPr>
      </p:pic>
      <p:pic>
        <p:nvPicPr>
          <p:cNvPr id="166" name="Google Shape;166;p26"/>
          <p:cNvPicPr preferRelativeResize="0"/>
          <p:nvPr/>
        </p:nvPicPr>
        <p:blipFill>
          <a:blip r:embed="rId5">
            <a:alphaModFix/>
          </a:blip>
          <a:stretch>
            <a:fillRect/>
          </a:stretch>
        </p:blipFill>
        <p:spPr>
          <a:xfrm>
            <a:off x="6186674" y="1379913"/>
            <a:ext cx="2883876" cy="298800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Nielsen’s 10 Usability Heuristics</a:t>
            </a:r>
            <a:endParaRPr/>
          </a:p>
        </p:txBody>
      </p:sp>
      <p:pic>
        <p:nvPicPr>
          <p:cNvPr id="172" name="Google Shape;172;p27"/>
          <p:cNvPicPr preferRelativeResize="0"/>
          <p:nvPr/>
        </p:nvPicPr>
        <p:blipFill>
          <a:blip r:embed="rId3">
            <a:alphaModFix/>
          </a:blip>
          <a:stretch>
            <a:fillRect/>
          </a:stretch>
        </p:blipFill>
        <p:spPr>
          <a:xfrm>
            <a:off x="152400" y="1489863"/>
            <a:ext cx="2931477" cy="2768127"/>
          </a:xfrm>
          <a:prstGeom prst="rect">
            <a:avLst/>
          </a:prstGeom>
          <a:noFill/>
          <a:ln>
            <a:noFill/>
          </a:ln>
        </p:spPr>
      </p:pic>
      <p:pic>
        <p:nvPicPr>
          <p:cNvPr id="173" name="Google Shape;173;p27"/>
          <p:cNvPicPr preferRelativeResize="0"/>
          <p:nvPr/>
        </p:nvPicPr>
        <p:blipFill>
          <a:blip r:embed="rId4">
            <a:alphaModFix/>
          </a:blip>
          <a:stretch>
            <a:fillRect/>
          </a:stretch>
        </p:blipFill>
        <p:spPr>
          <a:xfrm>
            <a:off x="3236277" y="1485563"/>
            <a:ext cx="2797997" cy="2776736"/>
          </a:xfrm>
          <a:prstGeom prst="rect">
            <a:avLst/>
          </a:prstGeom>
          <a:noFill/>
          <a:ln>
            <a:noFill/>
          </a:ln>
        </p:spPr>
      </p:pic>
      <p:pic>
        <p:nvPicPr>
          <p:cNvPr id="174" name="Google Shape;174;p27"/>
          <p:cNvPicPr preferRelativeResize="0"/>
          <p:nvPr/>
        </p:nvPicPr>
        <p:blipFill>
          <a:blip r:embed="rId5">
            <a:alphaModFix/>
          </a:blip>
          <a:stretch>
            <a:fillRect/>
          </a:stretch>
        </p:blipFill>
        <p:spPr>
          <a:xfrm>
            <a:off x="6186674" y="1419925"/>
            <a:ext cx="2804927" cy="290801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Nielsen’s 10 Usability Heuristics</a:t>
            </a:r>
            <a:endParaRPr/>
          </a:p>
        </p:txBody>
      </p:sp>
      <p:pic>
        <p:nvPicPr>
          <p:cNvPr id="180" name="Google Shape;180;p28"/>
          <p:cNvPicPr preferRelativeResize="0"/>
          <p:nvPr/>
        </p:nvPicPr>
        <p:blipFill>
          <a:blip r:embed="rId3">
            <a:alphaModFix/>
          </a:blip>
          <a:stretch>
            <a:fillRect/>
          </a:stretch>
        </p:blipFill>
        <p:spPr>
          <a:xfrm>
            <a:off x="152400" y="1474425"/>
            <a:ext cx="2931477" cy="2799031"/>
          </a:xfrm>
          <a:prstGeom prst="rect">
            <a:avLst/>
          </a:prstGeom>
          <a:noFill/>
          <a:ln>
            <a:noFill/>
          </a:ln>
        </p:spPr>
      </p:pic>
      <p:pic>
        <p:nvPicPr>
          <p:cNvPr id="181" name="Google Shape;181;p28"/>
          <p:cNvPicPr preferRelativeResize="0"/>
          <p:nvPr/>
        </p:nvPicPr>
        <p:blipFill>
          <a:blip r:embed="rId4">
            <a:alphaModFix/>
          </a:blip>
          <a:stretch>
            <a:fillRect/>
          </a:stretch>
        </p:blipFill>
        <p:spPr>
          <a:xfrm>
            <a:off x="3236277" y="1431738"/>
            <a:ext cx="2797998" cy="2884406"/>
          </a:xfrm>
          <a:prstGeom prst="rect">
            <a:avLst/>
          </a:prstGeom>
          <a:noFill/>
          <a:ln>
            <a:noFill/>
          </a:ln>
        </p:spPr>
      </p:pic>
      <p:pic>
        <p:nvPicPr>
          <p:cNvPr id="182" name="Google Shape;182;p28"/>
          <p:cNvPicPr preferRelativeResize="0"/>
          <p:nvPr/>
        </p:nvPicPr>
        <p:blipFill>
          <a:blip r:embed="rId5">
            <a:alphaModFix/>
          </a:blip>
          <a:stretch>
            <a:fillRect/>
          </a:stretch>
        </p:blipFill>
        <p:spPr>
          <a:xfrm>
            <a:off x="6186675" y="1431738"/>
            <a:ext cx="2804926" cy="336678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Nielsen’s 10 Usability Heuristics</a:t>
            </a:r>
            <a:endParaRPr/>
          </a:p>
        </p:txBody>
      </p:sp>
      <p:pic>
        <p:nvPicPr>
          <p:cNvPr id="188" name="Google Shape;188;p29"/>
          <p:cNvPicPr preferRelativeResize="0"/>
          <p:nvPr/>
        </p:nvPicPr>
        <p:blipFill>
          <a:blip r:embed="rId3">
            <a:alphaModFix/>
          </a:blip>
          <a:stretch>
            <a:fillRect/>
          </a:stretch>
        </p:blipFill>
        <p:spPr>
          <a:xfrm>
            <a:off x="3106263" y="1246250"/>
            <a:ext cx="2931477" cy="311181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0"/>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Cognitive</a:t>
            </a:r>
            <a:endParaRPr/>
          </a:p>
          <a:p>
            <a:pPr indent="0" lvl="0" marL="0" rtl="0" algn="ctr">
              <a:spcBef>
                <a:spcPts val="0"/>
              </a:spcBef>
              <a:spcAft>
                <a:spcPts val="0"/>
              </a:spcAft>
              <a:buNone/>
            </a:pPr>
            <a:r>
              <a:rPr lang="it"/>
              <a:t>Walkthrough</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1"/>
          <p:cNvSpPr txBox="1"/>
          <p:nvPr>
            <p:ph type="title"/>
          </p:nvPr>
        </p:nvSpPr>
        <p:spPr>
          <a:xfrm>
            <a:off x="311700" y="292850"/>
            <a:ext cx="8520600" cy="801000"/>
          </a:xfrm>
          <a:prstGeom prst="rect">
            <a:avLst/>
          </a:prstGeom>
          <a:noFill/>
          <a:ln>
            <a:noFill/>
          </a:ln>
        </p:spPr>
        <p:txBody>
          <a:bodyPr anchorCtr="0" anchor="b" bIns="44450" lIns="90475" spcFirstLastPara="1" rIns="90475" wrap="square" tIns="44450">
            <a:noAutofit/>
          </a:bodyPr>
          <a:lstStyle/>
          <a:p>
            <a:pPr indent="0" lvl="0" marL="0" rtl="0" algn="l">
              <a:lnSpc>
                <a:spcPct val="90000"/>
              </a:lnSpc>
              <a:spcBef>
                <a:spcPts val="0"/>
              </a:spcBef>
              <a:spcAft>
                <a:spcPts val="0"/>
              </a:spcAft>
              <a:buClr>
                <a:schemeClr val="lt1"/>
              </a:buClr>
              <a:buSzPts val="3600"/>
              <a:buFont typeface="Times New Roman"/>
              <a:buNone/>
            </a:pPr>
            <a:r>
              <a:rPr i="0" lang="it" sz="3600" u="none"/>
              <a:t>Cognitive Walkthrough</a:t>
            </a:r>
            <a:endParaRPr/>
          </a:p>
        </p:txBody>
      </p:sp>
      <p:sp>
        <p:nvSpPr>
          <p:cNvPr id="199" name="Google Shape;199;p31"/>
          <p:cNvSpPr txBox="1"/>
          <p:nvPr>
            <p:ph idx="1" type="body"/>
          </p:nvPr>
        </p:nvSpPr>
        <p:spPr>
          <a:xfrm>
            <a:off x="311700" y="1228675"/>
            <a:ext cx="8520600" cy="3340200"/>
          </a:xfrm>
          <a:prstGeom prst="rect">
            <a:avLst/>
          </a:prstGeom>
          <a:noFill/>
          <a:ln>
            <a:noFill/>
          </a:ln>
        </p:spPr>
        <p:txBody>
          <a:bodyPr anchorCtr="0" anchor="t" bIns="44450" lIns="90475" spcFirstLastPara="1" rIns="90475" wrap="square" tIns="44450">
            <a:noAutofit/>
          </a:bodyPr>
          <a:lstStyle/>
          <a:p>
            <a:pPr indent="-387350" lvl="0" marL="387350" rtl="0" algn="l">
              <a:lnSpc>
                <a:spcPct val="90000"/>
              </a:lnSpc>
              <a:spcBef>
                <a:spcPts val="0"/>
              </a:spcBef>
              <a:spcAft>
                <a:spcPts val="0"/>
              </a:spcAft>
              <a:buSzPts val="1800"/>
              <a:buChar char="➔"/>
            </a:pPr>
            <a:r>
              <a:rPr b="1" i="0" lang="it" sz="2400" u="none"/>
              <a:t>Evaluation method</a:t>
            </a:r>
            <a:r>
              <a:rPr i="0" lang="it" sz="2400" u="none"/>
              <a:t> based on the idea that… </a:t>
            </a:r>
            <a:endParaRPr/>
          </a:p>
          <a:p>
            <a:pPr indent="-228600" lvl="1" marL="895350" rtl="0" algn="l">
              <a:lnSpc>
                <a:spcPct val="90000"/>
              </a:lnSpc>
              <a:spcBef>
                <a:spcPts val="600"/>
              </a:spcBef>
              <a:spcAft>
                <a:spcPts val="0"/>
              </a:spcAft>
              <a:buSzPts val="1500"/>
              <a:buChar char="◆"/>
            </a:pPr>
            <a:r>
              <a:rPr i="0" lang="it" sz="2000" u="none"/>
              <a:t>the user learns about the interface in an exploratory way,</a:t>
            </a:r>
            <a:endParaRPr/>
          </a:p>
          <a:p>
            <a:pPr indent="-228600" lvl="1" marL="895350" rtl="0" algn="l">
              <a:lnSpc>
                <a:spcPct val="90000"/>
              </a:lnSpc>
              <a:spcBef>
                <a:spcPts val="600"/>
              </a:spcBef>
              <a:spcAft>
                <a:spcPts val="0"/>
              </a:spcAft>
              <a:buSzPts val="1500"/>
              <a:buChar char="◆"/>
            </a:pPr>
            <a:r>
              <a:rPr i="0" lang="it" sz="2000" u="none"/>
              <a:t>the user has goals,</a:t>
            </a:r>
            <a:endParaRPr/>
          </a:p>
          <a:p>
            <a:pPr indent="-228600" lvl="1" marL="895350" rtl="0" algn="l">
              <a:lnSpc>
                <a:spcPct val="90000"/>
              </a:lnSpc>
              <a:spcBef>
                <a:spcPts val="600"/>
              </a:spcBef>
              <a:spcAft>
                <a:spcPts val="0"/>
              </a:spcAft>
              <a:buSzPts val="1500"/>
              <a:buChar char="◆"/>
            </a:pPr>
            <a:r>
              <a:rPr i="0" lang="it" sz="2000" u="none"/>
              <a:t>the user is applying simple means-ends reasoning.</a:t>
            </a:r>
            <a:endParaRPr i="0" sz="2000" u="none"/>
          </a:p>
        </p:txBody>
      </p:sp>
      <p:sp>
        <p:nvSpPr>
          <p:cNvPr id="200" name="Google Shape;200;p31"/>
          <p:cNvSpPr txBox="1"/>
          <p:nvPr/>
        </p:nvSpPr>
        <p:spPr>
          <a:xfrm>
            <a:off x="838200" y="4229100"/>
            <a:ext cx="127143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Times New Roman"/>
              <a:buNone/>
            </a:pPr>
            <a:r>
              <a:rPr b="1" i="0" lang="it" sz="1400" u="none" cap="none" strike="noStrike">
                <a:solidFill>
                  <a:schemeClr val="dk1"/>
                </a:solidFill>
                <a:latin typeface="Overpass"/>
                <a:ea typeface="Overpass"/>
                <a:cs typeface="Overpass"/>
                <a:sym typeface="Overpass"/>
              </a:rPr>
              <a:t>Source: Dr Elke Duncker, School of Computing Science, </a:t>
            </a:r>
            <a:endParaRPr b="0" i="0" sz="1400" u="none" cap="none" strike="noStrike">
              <a:solidFill>
                <a:srgbClr val="000000"/>
              </a:solidFill>
              <a:latin typeface="Overpass"/>
              <a:ea typeface="Overpass"/>
              <a:cs typeface="Overpass"/>
              <a:sym typeface="Overpass"/>
            </a:endParaRPr>
          </a:p>
          <a:p>
            <a:pPr indent="0" lvl="0" marL="0" marR="0" rtl="0" algn="l">
              <a:lnSpc>
                <a:spcPct val="100000"/>
              </a:lnSpc>
              <a:spcBef>
                <a:spcPts val="0"/>
              </a:spcBef>
              <a:spcAft>
                <a:spcPts val="0"/>
              </a:spcAft>
              <a:buClr>
                <a:schemeClr val="dk1"/>
              </a:buClr>
              <a:buSzPts val="1400"/>
              <a:buFont typeface="Times New Roman"/>
              <a:buNone/>
            </a:pPr>
            <a:r>
              <a:rPr b="1" i="0" lang="it" sz="1400" u="none" cap="none" strike="noStrike">
                <a:solidFill>
                  <a:schemeClr val="dk1"/>
                </a:solidFill>
                <a:latin typeface="Overpass"/>
                <a:ea typeface="Overpass"/>
                <a:cs typeface="Overpass"/>
                <a:sym typeface="Overpass"/>
              </a:rPr>
              <a:t>University of Middlesex. Designing Interactive Systems' (CMT4240)</a:t>
            </a:r>
            <a:endParaRPr b="0" i="0" sz="1400" u="none" cap="none" strike="noStrike">
              <a:solidFill>
                <a:srgbClr val="000000"/>
              </a:solidFill>
              <a:latin typeface="Overpass"/>
              <a:ea typeface="Overpass"/>
              <a:cs typeface="Overpass"/>
              <a:sym typeface="Overpass"/>
            </a:endParaRPr>
          </a:p>
        </p:txBody>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2"/>
          <p:cNvSpPr txBox="1"/>
          <p:nvPr>
            <p:ph type="title"/>
          </p:nvPr>
        </p:nvSpPr>
        <p:spPr>
          <a:xfrm>
            <a:off x="311700" y="292850"/>
            <a:ext cx="8520600" cy="801000"/>
          </a:xfrm>
          <a:prstGeom prst="rect">
            <a:avLst/>
          </a:prstGeom>
          <a:noFill/>
          <a:ln>
            <a:noFill/>
          </a:ln>
        </p:spPr>
        <p:txBody>
          <a:bodyPr anchorCtr="0" anchor="b" bIns="44450" lIns="90475" spcFirstLastPara="1" rIns="90475" wrap="square" tIns="44450">
            <a:noAutofit/>
          </a:bodyPr>
          <a:lstStyle/>
          <a:p>
            <a:pPr indent="0" lvl="0" marL="0" rtl="0" algn="l">
              <a:lnSpc>
                <a:spcPct val="90000"/>
              </a:lnSpc>
              <a:spcBef>
                <a:spcPts val="0"/>
              </a:spcBef>
              <a:spcAft>
                <a:spcPts val="0"/>
              </a:spcAft>
              <a:buClr>
                <a:schemeClr val="lt1"/>
              </a:buClr>
              <a:buSzPts val="3600"/>
              <a:buFont typeface="Times New Roman"/>
              <a:buNone/>
            </a:pPr>
            <a:r>
              <a:rPr i="0" lang="it" sz="3600" u="none"/>
              <a:t>Cognitive Walkthrough</a:t>
            </a:r>
            <a:endParaRPr/>
          </a:p>
        </p:txBody>
      </p:sp>
      <p:sp>
        <p:nvSpPr>
          <p:cNvPr id="206" name="Google Shape;206;p32"/>
          <p:cNvSpPr txBox="1"/>
          <p:nvPr>
            <p:ph idx="1" type="body"/>
          </p:nvPr>
        </p:nvSpPr>
        <p:spPr>
          <a:xfrm>
            <a:off x="311700" y="1228675"/>
            <a:ext cx="8520600" cy="3340200"/>
          </a:xfrm>
          <a:prstGeom prst="rect">
            <a:avLst/>
          </a:prstGeom>
          <a:noFill/>
          <a:ln>
            <a:noFill/>
          </a:ln>
        </p:spPr>
        <p:txBody>
          <a:bodyPr anchorCtr="0" anchor="t" bIns="44450" lIns="90475" spcFirstLastPara="1" rIns="90475" wrap="square" tIns="44450">
            <a:noAutofit/>
          </a:bodyPr>
          <a:lstStyle/>
          <a:p>
            <a:pPr indent="-387350" lvl="0" marL="387350" rtl="0" algn="l">
              <a:lnSpc>
                <a:spcPct val="90000"/>
              </a:lnSpc>
              <a:spcBef>
                <a:spcPts val="0"/>
              </a:spcBef>
              <a:spcAft>
                <a:spcPts val="0"/>
              </a:spcAft>
              <a:buSzPts val="1800"/>
              <a:buChar char="➔"/>
            </a:pPr>
            <a:r>
              <a:rPr i="0" lang="it" sz="2400" u="none"/>
              <a:t>Evaluation </a:t>
            </a:r>
            <a:r>
              <a:rPr b="1" i="0" lang="it" sz="2400" u="none"/>
              <a:t>by an expert</a:t>
            </a:r>
            <a:r>
              <a:rPr i="0" lang="it" sz="2400" u="none"/>
              <a:t>, who goes through a set of </a:t>
            </a:r>
            <a:r>
              <a:rPr i="0" lang="it" sz="2400" u="sng"/>
              <a:t>tasks while imitating user performance</a:t>
            </a:r>
            <a:r>
              <a:rPr lang="it" sz="2400"/>
              <a:t>.</a:t>
            </a:r>
            <a:endParaRPr i="0" sz="2400" u="none"/>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311700" y="292850"/>
            <a:ext cx="8520600" cy="801000"/>
          </a:xfrm>
          <a:prstGeom prst="rect">
            <a:avLst/>
          </a:prstGeom>
          <a:noFill/>
          <a:ln>
            <a:noFill/>
          </a:ln>
        </p:spPr>
        <p:txBody>
          <a:bodyPr anchorCtr="0" anchor="b" bIns="44450" lIns="90475" spcFirstLastPara="1" rIns="90475" wrap="square" tIns="44450">
            <a:noAutofit/>
          </a:bodyPr>
          <a:lstStyle/>
          <a:p>
            <a:pPr indent="0" lvl="0" marL="0" rtl="0" algn="l">
              <a:lnSpc>
                <a:spcPct val="90000"/>
              </a:lnSpc>
              <a:spcBef>
                <a:spcPts val="0"/>
              </a:spcBef>
              <a:spcAft>
                <a:spcPts val="0"/>
              </a:spcAft>
              <a:buClr>
                <a:schemeClr val="lt1"/>
              </a:buClr>
              <a:buSzPts val="3600"/>
              <a:buFont typeface="Times New Roman"/>
              <a:buNone/>
            </a:pPr>
            <a:r>
              <a:rPr i="0" lang="it" sz="3600" u="none"/>
              <a:t>Preparation: We need four things</a:t>
            </a:r>
            <a:endParaRPr/>
          </a:p>
        </p:txBody>
      </p:sp>
      <p:sp>
        <p:nvSpPr>
          <p:cNvPr id="212" name="Google Shape;212;p33"/>
          <p:cNvSpPr txBox="1"/>
          <p:nvPr>
            <p:ph idx="1" type="body"/>
          </p:nvPr>
        </p:nvSpPr>
        <p:spPr>
          <a:xfrm>
            <a:off x="311700" y="1228675"/>
            <a:ext cx="8520600" cy="3340200"/>
          </a:xfrm>
          <a:prstGeom prst="rect">
            <a:avLst/>
          </a:prstGeom>
          <a:noFill/>
          <a:ln>
            <a:noFill/>
          </a:ln>
        </p:spPr>
        <p:txBody>
          <a:bodyPr anchorCtr="0" anchor="t" bIns="44450" lIns="90475" spcFirstLastPara="1" rIns="90475" wrap="square" tIns="44450">
            <a:normAutofit fontScale="70000" lnSpcReduction="10000"/>
          </a:bodyPr>
          <a:lstStyle/>
          <a:p>
            <a:pPr indent="-493394" lvl="0" marL="533400" rtl="0" algn="l">
              <a:lnSpc>
                <a:spcPct val="100000"/>
              </a:lnSpc>
              <a:spcBef>
                <a:spcPts val="0"/>
              </a:spcBef>
              <a:spcAft>
                <a:spcPts val="0"/>
              </a:spcAft>
              <a:buSzPct val="75000"/>
              <a:buAutoNum type="arabicPeriod"/>
            </a:pPr>
            <a:r>
              <a:rPr i="0" lang="it" sz="2800" u="sng"/>
              <a:t>User description</a:t>
            </a:r>
            <a:r>
              <a:rPr i="0" lang="it" sz="2800" u="none"/>
              <a:t> including level of experience with computers and any assumptions made by the designer</a:t>
            </a:r>
            <a:endParaRPr/>
          </a:p>
          <a:p>
            <a:pPr indent="-493394" lvl="0" marL="533400" rtl="0" algn="l">
              <a:lnSpc>
                <a:spcPct val="100000"/>
              </a:lnSpc>
              <a:spcBef>
                <a:spcPts val="840"/>
              </a:spcBef>
              <a:spcAft>
                <a:spcPts val="0"/>
              </a:spcAft>
              <a:buSzPct val="75000"/>
              <a:buAutoNum type="arabicPeriod"/>
            </a:pPr>
            <a:r>
              <a:rPr i="0" lang="it" sz="2800" u="sng"/>
              <a:t>System description</a:t>
            </a:r>
            <a:r>
              <a:rPr i="0" lang="it" sz="2800" u="none"/>
              <a:t> including operations and performance (e.g. paper design)</a:t>
            </a:r>
            <a:endParaRPr/>
          </a:p>
          <a:p>
            <a:pPr indent="-493394" lvl="0" marL="533400" rtl="0" algn="l">
              <a:lnSpc>
                <a:spcPct val="100000"/>
              </a:lnSpc>
              <a:spcBef>
                <a:spcPts val="840"/>
              </a:spcBef>
              <a:spcAft>
                <a:spcPts val="0"/>
              </a:spcAft>
              <a:buSzPct val="75000"/>
              <a:buAutoNum type="arabicPeriod"/>
            </a:pPr>
            <a:r>
              <a:rPr i="0" lang="it" sz="2800" u="sng"/>
              <a:t>Task description</a:t>
            </a:r>
            <a:r>
              <a:rPr i="0" lang="it" sz="2800" u="none"/>
              <a:t> specifying the task that the expert has to carry out from users point of view</a:t>
            </a:r>
            <a:endParaRPr/>
          </a:p>
          <a:p>
            <a:pPr indent="-493394" lvl="0" marL="533400" rtl="0" algn="l">
              <a:lnSpc>
                <a:spcPct val="100000"/>
              </a:lnSpc>
              <a:spcBef>
                <a:spcPts val="840"/>
              </a:spcBef>
              <a:spcAft>
                <a:spcPts val="0"/>
              </a:spcAft>
              <a:buSzPct val="75000"/>
              <a:buAutoNum type="arabicPeriod"/>
            </a:pPr>
            <a:r>
              <a:rPr i="0" lang="it" sz="2800" u="sng"/>
              <a:t>Action sequence</a:t>
            </a:r>
            <a:r>
              <a:rPr i="0" lang="it" sz="2800" u="none"/>
              <a:t> describing the system display and the user actions needed to complete the given task. One system display and one user action together are one step.</a:t>
            </a:r>
            <a:endParaRPr i="0" sz="2400" u="none"/>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720000" y="325700"/>
            <a:ext cx="7704000" cy="757200"/>
          </a:xfrm>
          <a:prstGeom prst="rect">
            <a:avLst/>
          </a:prstGeom>
          <a:noFill/>
          <a:ln>
            <a:noFill/>
          </a:ln>
        </p:spPr>
        <p:txBody>
          <a:bodyPr anchorCtr="0" anchor="b" bIns="44450" lIns="90475" spcFirstLastPara="1" rIns="90475" wrap="square" tIns="44450">
            <a:noAutofit/>
          </a:bodyPr>
          <a:lstStyle/>
          <a:p>
            <a:pPr indent="0" lvl="0" marL="0" rtl="0" algn="l">
              <a:lnSpc>
                <a:spcPct val="90000"/>
              </a:lnSpc>
              <a:spcBef>
                <a:spcPts val="0"/>
              </a:spcBef>
              <a:spcAft>
                <a:spcPts val="0"/>
              </a:spcAft>
              <a:buClr>
                <a:schemeClr val="lt1"/>
              </a:buClr>
              <a:buSzPts val="3600"/>
              <a:buFont typeface="Times New Roman"/>
              <a:buNone/>
            </a:pPr>
            <a:r>
              <a:rPr i="0" lang="it" sz="3600" u="none"/>
              <a:t>Process of carrying out a Cognitive Walkthrough</a:t>
            </a:r>
            <a:endParaRPr/>
          </a:p>
        </p:txBody>
      </p:sp>
      <p:sp>
        <p:nvSpPr>
          <p:cNvPr id="218" name="Google Shape;218;p34"/>
          <p:cNvSpPr txBox="1"/>
          <p:nvPr>
            <p:ph idx="1" type="body"/>
          </p:nvPr>
        </p:nvSpPr>
        <p:spPr>
          <a:xfrm>
            <a:off x="311700" y="1228675"/>
            <a:ext cx="8520600" cy="3340200"/>
          </a:xfrm>
          <a:prstGeom prst="rect">
            <a:avLst/>
          </a:prstGeom>
          <a:noFill/>
          <a:ln>
            <a:noFill/>
          </a:ln>
        </p:spPr>
        <p:txBody>
          <a:bodyPr anchorCtr="0" anchor="t" bIns="44450" lIns="90475" spcFirstLastPara="1" rIns="90475" wrap="square" tIns="44450">
            <a:normAutofit fontScale="92500" lnSpcReduction="20000"/>
          </a:bodyPr>
          <a:lstStyle/>
          <a:p>
            <a:pPr indent="-377347" lvl="0" marL="387350" rtl="0" algn="l">
              <a:lnSpc>
                <a:spcPct val="100000"/>
              </a:lnSpc>
              <a:spcBef>
                <a:spcPts val="0"/>
              </a:spcBef>
              <a:spcAft>
                <a:spcPts val="0"/>
              </a:spcAft>
              <a:buSzPct val="75000"/>
              <a:buChar char="➔"/>
            </a:pPr>
            <a:r>
              <a:rPr i="0" lang="it" sz="2800" u="none"/>
              <a:t>Prototype, user description, system description, task description and action list has to be </a:t>
            </a:r>
            <a:r>
              <a:rPr i="0" lang="it" sz="2800" u="sng"/>
              <a:t>prepared by the designer/developer</a:t>
            </a:r>
            <a:endParaRPr u="sng"/>
          </a:p>
          <a:p>
            <a:pPr indent="-377347" lvl="0" marL="387350" rtl="0" algn="l">
              <a:lnSpc>
                <a:spcPct val="100000"/>
              </a:lnSpc>
              <a:spcBef>
                <a:spcPts val="840"/>
              </a:spcBef>
              <a:spcAft>
                <a:spcPts val="0"/>
              </a:spcAft>
              <a:buSzPct val="75000"/>
              <a:buChar char="➔"/>
            </a:pPr>
            <a:r>
              <a:rPr i="0" lang="it" sz="2800" u="none"/>
              <a:t>Designer gives these </a:t>
            </a:r>
            <a:r>
              <a:rPr i="0" lang="it" sz="2800" u="sng"/>
              <a:t>documents to an expert</a:t>
            </a:r>
            <a:r>
              <a:rPr i="0" lang="it" sz="2800" u="none"/>
              <a:t>.</a:t>
            </a:r>
            <a:endParaRPr/>
          </a:p>
          <a:p>
            <a:pPr indent="-377347" lvl="0" marL="387350" rtl="0" algn="l">
              <a:lnSpc>
                <a:spcPct val="100000"/>
              </a:lnSpc>
              <a:spcBef>
                <a:spcPts val="840"/>
              </a:spcBef>
              <a:spcAft>
                <a:spcPts val="0"/>
              </a:spcAft>
              <a:buSzPct val="75000"/>
              <a:buChar char="➔"/>
            </a:pPr>
            <a:r>
              <a:rPr i="0" lang="it" sz="2800" u="none"/>
              <a:t>The expert reads the descriptions.</a:t>
            </a:r>
            <a:endParaRPr/>
          </a:p>
          <a:p>
            <a:pPr indent="-377347" lvl="0" marL="387350" rtl="0" algn="l">
              <a:lnSpc>
                <a:spcPct val="100000"/>
              </a:lnSpc>
              <a:spcBef>
                <a:spcPts val="840"/>
              </a:spcBef>
              <a:spcAft>
                <a:spcPts val="0"/>
              </a:spcAft>
              <a:buSzPct val="75000"/>
              <a:buChar char="➔"/>
            </a:pPr>
            <a:r>
              <a:rPr i="0" lang="it" sz="2800" u="none"/>
              <a:t>The expert carries out the task by following the action list.</a:t>
            </a:r>
            <a:endParaRPr/>
          </a:p>
        </p:txBody>
      </p:sp>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type="title"/>
          </p:nvPr>
        </p:nvSpPr>
        <p:spPr>
          <a:xfrm>
            <a:off x="311700" y="292850"/>
            <a:ext cx="8520600" cy="801000"/>
          </a:xfrm>
          <a:prstGeom prst="rect">
            <a:avLst/>
          </a:prstGeom>
          <a:noFill/>
          <a:ln>
            <a:noFill/>
          </a:ln>
        </p:spPr>
        <p:txBody>
          <a:bodyPr anchorCtr="0" anchor="b" bIns="44450" lIns="90475" spcFirstLastPara="1" rIns="90475" wrap="square" tIns="44450">
            <a:noAutofit/>
          </a:bodyPr>
          <a:lstStyle/>
          <a:p>
            <a:pPr indent="0" lvl="0" marL="0" rtl="0" algn="l">
              <a:lnSpc>
                <a:spcPct val="90000"/>
              </a:lnSpc>
              <a:spcBef>
                <a:spcPts val="0"/>
              </a:spcBef>
              <a:spcAft>
                <a:spcPts val="0"/>
              </a:spcAft>
              <a:buClr>
                <a:schemeClr val="lt1"/>
              </a:buClr>
              <a:buSzPts val="3600"/>
              <a:buFont typeface="Times New Roman"/>
              <a:buNone/>
            </a:pPr>
            <a:r>
              <a:rPr i="0" lang="it" sz="3600" u="none"/>
              <a:t>Questions Cognitive Walkthrough</a:t>
            </a:r>
            <a:endParaRPr/>
          </a:p>
        </p:txBody>
      </p:sp>
      <p:sp>
        <p:nvSpPr>
          <p:cNvPr id="224" name="Google Shape;224;p35"/>
          <p:cNvSpPr txBox="1"/>
          <p:nvPr>
            <p:ph idx="1" type="body"/>
          </p:nvPr>
        </p:nvSpPr>
        <p:spPr>
          <a:xfrm>
            <a:off x="311700" y="1228675"/>
            <a:ext cx="8520600" cy="3340200"/>
          </a:xfrm>
          <a:prstGeom prst="rect">
            <a:avLst/>
          </a:prstGeom>
          <a:noFill/>
          <a:ln>
            <a:noFill/>
          </a:ln>
        </p:spPr>
        <p:txBody>
          <a:bodyPr anchorCtr="0" anchor="t" bIns="44450" lIns="90475" spcFirstLastPara="1" rIns="90475" wrap="square" tIns="44450">
            <a:noAutofit/>
          </a:bodyPr>
          <a:lstStyle/>
          <a:p>
            <a:pPr indent="0" lvl="0" marL="0" rtl="0" algn="l">
              <a:lnSpc>
                <a:spcPct val="90000"/>
              </a:lnSpc>
              <a:spcBef>
                <a:spcPts val="0"/>
              </a:spcBef>
              <a:spcAft>
                <a:spcPts val="0"/>
              </a:spcAft>
              <a:buNone/>
            </a:pPr>
            <a:r>
              <a:rPr lang="it" sz="2400"/>
              <a:t>The </a:t>
            </a:r>
            <a:r>
              <a:rPr b="1" lang="it" sz="2400"/>
              <a:t>expert asks</a:t>
            </a:r>
            <a:r>
              <a:rPr lang="it" sz="2400"/>
              <a:t> the following questions with </a:t>
            </a:r>
            <a:r>
              <a:rPr lang="it" sz="2400" u="sng"/>
              <a:t>EACH step of the action list</a:t>
            </a:r>
            <a:r>
              <a:rPr lang="it" sz="2400"/>
              <a:t>:</a:t>
            </a:r>
            <a:endParaRPr sz="2400"/>
          </a:p>
          <a:p>
            <a:pPr indent="-609600" lvl="0" marL="609600" rtl="0" algn="l">
              <a:lnSpc>
                <a:spcPct val="90000"/>
              </a:lnSpc>
              <a:spcBef>
                <a:spcPts val="0"/>
              </a:spcBef>
              <a:spcAft>
                <a:spcPts val="0"/>
              </a:spcAft>
              <a:buSzPts val="1800"/>
              <a:buAutoNum type="arabicPeriod"/>
            </a:pPr>
            <a:r>
              <a:rPr i="0" lang="it" sz="2400" u="none"/>
              <a:t>Is the next goal clear at this stage?</a:t>
            </a:r>
            <a:endParaRPr/>
          </a:p>
          <a:p>
            <a:pPr indent="-609600" lvl="0" marL="609600" rtl="0" algn="l">
              <a:lnSpc>
                <a:spcPct val="90000"/>
              </a:lnSpc>
              <a:spcBef>
                <a:spcPts val="720"/>
              </a:spcBef>
              <a:spcAft>
                <a:spcPts val="0"/>
              </a:spcAft>
              <a:buSzPts val="1800"/>
              <a:buAutoNum type="arabicPeriod"/>
            </a:pPr>
            <a:r>
              <a:rPr i="0" lang="it" sz="2400" u="none"/>
              <a:t>Is the appropriate action obvious?</a:t>
            </a:r>
            <a:endParaRPr/>
          </a:p>
          <a:p>
            <a:pPr indent="-609600" lvl="0" marL="609600" rtl="0" algn="l">
              <a:lnSpc>
                <a:spcPct val="90000"/>
              </a:lnSpc>
              <a:spcBef>
                <a:spcPts val="720"/>
              </a:spcBef>
              <a:spcAft>
                <a:spcPts val="0"/>
              </a:spcAft>
              <a:buSzPts val="1800"/>
              <a:buAutoNum type="arabicPeriod"/>
            </a:pPr>
            <a:r>
              <a:rPr i="0" lang="it" sz="2400" u="none"/>
              <a:t>Is it clear that this action leads to the goal?</a:t>
            </a:r>
            <a:endParaRPr/>
          </a:p>
          <a:p>
            <a:pPr indent="-609600" lvl="0" marL="609600" rtl="0" algn="l">
              <a:lnSpc>
                <a:spcPct val="90000"/>
              </a:lnSpc>
              <a:spcBef>
                <a:spcPts val="720"/>
              </a:spcBef>
              <a:spcAft>
                <a:spcPts val="0"/>
              </a:spcAft>
              <a:buSzPts val="1800"/>
              <a:buAutoNum type="arabicPeriod"/>
            </a:pPr>
            <a:r>
              <a:rPr i="0" lang="it" sz="2400" u="none"/>
              <a:t>What problems are there in performing the action?</a:t>
            </a:r>
            <a:endParaRPr/>
          </a:p>
        </p:txBody>
      </p:sp>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Elements of Usability Testing</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7"/>
          <p:cNvSpPr txBox="1"/>
          <p:nvPr>
            <p:ph type="title"/>
          </p:nvPr>
        </p:nvSpPr>
        <p:spPr>
          <a:xfrm>
            <a:off x="311700" y="292850"/>
            <a:ext cx="57054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t>Elements of Usability Testing</a:t>
            </a:r>
            <a:endParaRPr sz="4800"/>
          </a:p>
        </p:txBody>
      </p:sp>
      <p:pic>
        <p:nvPicPr>
          <p:cNvPr id="235" name="Google Shape;235;p37"/>
          <p:cNvPicPr preferRelativeResize="0"/>
          <p:nvPr/>
        </p:nvPicPr>
        <p:blipFill rotWithShape="1">
          <a:blip r:embed="rId3">
            <a:alphaModFix/>
          </a:blip>
          <a:srcRect b="18878" l="0" r="0" t="24583"/>
          <a:stretch/>
        </p:blipFill>
        <p:spPr>
          <a:xfrm>
            <a:off x="71874" y="1440250"/>
            <a:ext cx="9000250" cy="28278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The </a:t>
            </a:r>
            <a:r>
              <a:rPr lang="it">
                <a:highlight>
                  <a:schemeClr val="accent5"/>
                </a:highlight>
              </a:rPr>
              <a:t>Facilitator</a:t>
            </a:r>
            <a:endParaRPr>
              <a:highlight>
                <a:schemeClr val="accent5"/>
              </a:highlight>
            </a:endParaRPr>
          </a:p>
        </p:txBody>
      </p:sp>
      <p:sp>
        <p:nvSpPr>
          <p:cNvPr id="241" name="Google Shape;241;p3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it"/>
              <a:t>The facilitator </a:t>
            </a:r>
            <a:r>
              <a:rPr b="1" lang="it"/>
              <a:t>guides the participant</a:t>
            </a:r>
            <a:r>
              <a:rPr lang="it"/>
              <a:t> through the test process. </a:t>
            </a:r>
            <a:br>
              <a:rPr lang="it"/>
            </a:br>
            <a:r>
              <a:rPr lang="it"/>
              <a:t>The facilitator: </a:t>
            </a:r>
            <a:endParaRPr/>
          </a:p>
          <a:p>
            <a:pPr indent="-334327" lvl="0" marL="457200" rtl="0" algn="l">
              <a:spcBef>
                <a:spcPts val="1200"/>
              </a:spcBef>
              <a:spcAft>
                <a:spcPts val="0"/>
              </a:spcAft>
              <a:buSzPct val="100000"/>
              <a:buChar char="●"/>
            </a:pPr>
            <a:r>
              <a:rPr lang="it"/>
              <a:t>gives instructions, </a:t>
            </a:r>
            <a:endParaRPr/>
          </a:p>
          <a:p>
            <a:pPr indent="-334327" lvl="0" marL="457200" rtl="0" algn="l">
              <a:spcBef>
                <a:spcPts val="0"/>
              </a:spcBef>
              <a:spcAft>
                <a:spcPts val="0"/>
              </a:spcAft>
              <a:buSzPct val="100000"/>
              <a:buChar char="●"/>
            </a:pPr>
            <a:r>
              <a:rPr lang="it"/>
              <a:t>answers the participant’s questions, </a:t>
            </a:r>
            <a:endParaRPr/>
          </a:p>
          <a:p>
            <a:pPr indent="-334327" lvl="0" marL="457200" rtl="0" algn="l">
              <a:spcBef>
                <a:spcPts val="0"/>
              </a:spcBef>
              <a:spcAft>
                <a:spcPts val="0"/>
              </a:spcAft>
              <a:buSzPct val="100000"/>
              <a:buChar char="●"/>
            </a:pPr>
            <a:r>
              <a:rPr lang="it"/>
              <a:t>and asks follow up questions.</a:t>
            </a:r>
            <a:endParaRPr/>
          </a:p>
          <a:p>
            <a:pPr indent="0" lvl="0" marL="0" rtl="0" algn="l">
              <a:spcBef>
                <a:spcPts val="1200"/>
              </a:spcBef>
              <a:spcAft>
                <a:spcPts val="0"/>
              </a:spcAft>
              <a:buNone/>
            </a:pPr>
            <a:r>
              <a:rPr lang="it"/>
              <a:t>The facilitator works to </a:t>
            </a:r>
            <a:r>
              <a:rPr b="1" lang="it"/>
              <a:t>ensure </a:t>
            </a:r>
            <a:r>
              <a:rPr lang="it"/>
              <a:t>that the test results in </a:t>
            </a:r>
            <a:r>
              <a:rPr lang="it" u="sng"/>
              <a:t>high-quality, valid data, without accidentally influencing the participant’s behavior</a:t>
            </a:r>
            <a:r>
              <a:rPr lang="it"/>
              <a:t>. Achieving this balance is difficult and requires training.</a:t>
            </a:r>
            <a:endParaRPr/>
          </a:p>
          <a:p>
            <a:pPr indent="0" lvl="0" marL="0" rtl="0" algn="l">
              <a:spcBef>
                <a:spcPts val="1200"/>
              </a:spcBef>
              <a:spcAft>
                <a:spcPts val="12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The </a:t>
            </a:r>
            <a:r>
              <a:rPr lang="it">
                <a:highlight>
                  <a:schemeClr val="accent6"/>
                </a:highlight>
              </a:rPr>
              <a:t>tasks</a:t>
            </a:r>
            <a:endParaRPr>
              <a:highlight>
                <a:schemeClr val="accent6"/>
              </a:highlight>
            </a:endParaRPr>
          </a:p>
        </p:txBody>
      </p:sp>
      <p:sp>
        <p:nvSpPr>
          <p:cNvPr id="247" name="Google Shape;247;p3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it"/>
              <a:t>The tasks in a usability test are realistic activities that the participant might perform in real life. They can be very specific or very open-ended, depending on the research questions and the type of usability testing.</a:t>
            </a:r>
            <a:endParaRPr/>
          </a:p>
          <a:p>
            <a:pPr indent="0" lvl="0" marL="0" rtl="0" algn="l">
              <a:spcBef>
                <a:spcPts val="1200"/>
              </a:spcBef>
              <a:spcAft>
                <a:spcPts val="0"/>
              </a:spcAft>
              <a:buNone/>
            </a:pPr>
            <a:r>
              <a:rPr lang="it"/>
              <a:t>A few examples of tasks: </a:t>
            </a:r>
            <a:endParaRPr/>
          </a:p>
          <a:p>
            <a:pPr indent="-325755" lvl="0" marL="457200" rtl="0" algn="l">
              <a:spcBef>
                <a:spcPts val="1200"/>
              </a:spcBef>
              <a:spcAft>
                <a:spcPts val="0"/>
              </a:spcAft>
              <a:buSzPct val="100000"/>
              <a:buChar char="●"/>
            </a:pPr>
            <a:r>
              <a:rPr lang="it"/>
              <a:t>Your printer is showing “Error 5200”. How can you get rid of the error message?</a:t>
            </a:r>
            <a:endParaRPr/>
          </a:p>
          <a:p>
            <a:pPr indent="-325755" lvl="0" marL="457200" rtl="0" algn="l">
              <a:spcBef>
                <a:spcPts val="0"/>
              </a:spcBef>
              <a:spcAft>
                <a:spcPts val="0"/>
              </a:spcAft>
              <a:buSzPct val="100000"/>
              <a:buChar char="●"/>
            </a:pPr>
            <a:r>
              <a:rPr lang="it"/>
              <a:t>Find out articles that uses Cloud technologies to solve a warehouse management problem. Can you find them? How?</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The </a:t>
            </a:r>
            <a:r>
              <a:rPr lang="it">
                <a:highlight>
                  <a:schemeClr val="accent6"/>
                </a:highlight>
              </a:rPr>
              <a:t>tasks</a:t>
            </a:r>
            <a:endParaRPr>
              <a:highlight>
                <a:schemeClr val="accent6"/>
              </a:highlight>
            </a:endParaRPr>
          </a:p>
        </p:txBody>
      </p:sp>
      <p:sp>
        <p:nvSpPr>
          <p:cNvPr id="253" name="Google Shape;253;p4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it"/>
              <a:t>Task wording is very important</a:t>
            </a:r>
            <a:r>
              <a:rPr lang="it"/>
              <a:t> in usability testing. Small errors in the phrasing of a task can cause the participant to misunderstand what they’re asked to do or can influence how participants perform the task (a psychological phenomenon called priming).</a:t>
            </a:r>
            <a:endParaRPr/>
          </a:p>
          <a:p>
            <a:pPr indent="0" lvl="0" marL="0" rtl="0" algn="l">
              <a:spcBef>
                <a:spcPts val="1200"/>
              </a:spcBef>
              <a:spcAft>
                <a:spcPts val="0"/>
              </a:spcAft>
              <a:buNone/>
            </a:pPr>
            <a:r>
              <a:rPr lang="it"/>
              <a:t>Task instructions </a:t>
            </a:r>
            <a:r>
              <a:rPr b="1" lang="it"/>
              <a:t>can be delivered</a:t>
            </a:r>
            <a:r>
              <a:rPr lang="it"/>
              <a:t> to the participant </a:t>
            </a:r>
            <a:r>
              <a:rPr b="1" lang="it"/>
              <a:t>verbally </a:t>
            </a:r>
            <a:r>
              <a:rPr lang="it"/>
              <a:t>(the facilitator might read them) or can be handed to a participant </a:t>
            </a:r>
            <a:r>
              <a:rPr b="1" lang="it"/>
              <a:t>written </a:t>
            </a:r>
            <a:r>
              <a:rPr lang="it"/>
              <a:t>on task sheets. </a:t>
            </a:r>
            <a:endParaRPr/>
          </a:p>
          <a:p>
            <a:pPr indent="0" lvl="0" marL="0" rtl="0" algn="l">
              <a:spcBef>
                <a:spcPts val="1200"/>
              </a:spcBef>
              <a:spcAft>
                <a:spcPts val="1200"/>
              </a:spcAft>
              <a:buNone/>
            </a:pPr>
            <a:r>
              <a:rPr lang="it"/>
              <a:t>If you give them written tasks ask participants to read the task instructions out loud. This helps ensure that the participant reads the instructions completely, and helps the researchers with their notetaking, because they always know which task the user is performing.</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The </a:t>
            </a:r>
            <a:r>
              <a:rPr lang="it">
                <a:highlight>
                  <a:schemeClr val="accent4"/>
                </a:highlight>
              </a:rPr>
              <a:t>Participant</a:t>
            </a:r>
            <a:endParaRPr>
              <a:highlight>
                <a:schemeClr val="accent4"/>
              </a:highlight>
            </a:endParaRPr>
          </a:p>
        </p:txBody>
      </p:sp>
      <p:sp>
        <p:nvSpPr>
          <p:cNvPr id="259" name="Google Shape;259;p4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it"/>
              <a:t>The participant should be a realistic user of the product or service being studied. That might mean that the user is already using the product or service in real life. Alternatively, in some cases, the participant might just have a similar background to the target user group, or might have the same needs, even if he isn’t already a user of the product.</a:t>
            </a:r>
            <a:endParaRPr/>
          </a:p>
          <a:p>
            <a:pPr indent="0" lvl="0" marL="0" rtl="0" algn="l">
              <a:spcBef>
                <a:spcPts val="1200"/>
              </a:spcBef>
              <a:spcAft>
                <a:spcPts val="0"/>
              </a:spcAft>
              <a:buNone/>
            </a:pPr>
            <a:r>
              <a:rPr b="1" lang="it"/>
              <a:t>Ideally you should select them starting from the personas you made.</a:t>
            </a:r>
            <a:endParaRPr/>
          </a:p>
          <a:p>
            <a:pPr indent="0" lvl="0" marL="0" rtl="0" algn="l">
              <a:spcBef>
                <a:spcPts val="1200"/>
              </a:spcBef>
              <a:spcAft>
                <a:spcPts val="0"/>
              </a:spcAft>
              <a:buNone/>
            </a:pPr>
            <a:r>
              <a:rPr lang="it"/>
              <a:t>Participants are often asked to think out loud during usability testing (called the “</a:t>
            </a:r>
            <a:r>
              <a:rPr b="1" lang="it"/>
              <a:t>think-aloud method</a:t>
            </a:r>
            <a:r>
              <a:rPr lang="it"/>
              <a:t>”). The facilitator might ask the participants to narrate their actions and thoughts as they perform tasks. </a:t>
            </a:r>
            <a:r>
              <a:rPr lang="it" u="sng"/>
              <a:t>The goal of this approach is to understand participants’ behaviors, goals, thoughts, and motivations.</a:t>
            </a:r>
            <a:endParaRPr u="sng"/>
          </a:p>
          <a:p>
            <a:pPr indent="0" lvl="0" marL="0" rtl="0" algn="l">
              <a:spcBef>
                <a:spcPts val="120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2"/>
          <p:cNvSpPr txBox="1"/>
          <p:nvPr>
            <p:ph type="title"/>
          </p:nvPr>
        </p:nvSpPr>
        <p:spPr>
          <a:xfrm>
            <a:off x="311700" y="292850"/>
            <a:ext cx="57054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sz="4800"/>
              <a:t>Elements of Usability Testing</a:t>
            </a:r>
            <a:endParaRPr sz="4800"/>
          </a:p>
        </p:txBody>
      </p:sp>
      <p:pic>
        <p:nvPicPr>
          <p:cNvPr id="265" name="Google Shape;265;p42"/>
          <p:cNvPicPr preferRelativeResize="0"/>
          <p:nvPr/>
        </p:nvPicPr>
        <p:blipFill rotWithShape="1">
          <a:blip r:embed="rId3">
            <a:alphaModFix/>
          </a:blip>
          <a:srcRect b="7949" l="0" r="0" t="23814"/>
          <a:stretch/>
        </p:blipFill>
        <p:spPr>
          <a:xfrm>
            <a:off x="2031100" y="937850"/>
            <a:ext cx="5081801" cy="414137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3"/>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Types of usability testing</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Qualitative vs Quantitative</a:t>
            </a:r>
            <a:endParaRPr/>
          </a:p>
        </p:txBody>
      </p:sp>
      <p:sp>
        <p:nvSpPr>
          <p:cNvPr id="276" name="Google Shape;276;p4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There are 2 types of usability testing depending on the data you can collect:</a:t>
            </a:r>
            <a:endParaRPr/>
          </a:p>
          <a:p>
            <a:pPr indent="0" lvl="0" marL="0" rtl="0" algn="l">
              <a:spcBef>
                <a:spcPts val="1200"/>
              </a:spcBef>
              <a:spcAft>
                <a:spcPts val="0"/>
              </a:spcAft>
              <a:buNone/>
            </a:pPr>
            <a:r>
              <a:rPr b="1" lang="it"/>
              <a:t>Qualitative (qual) </a:t>
            </a:r>
            <a:r>
              <a:rPr lang="it"/>
              <a:t>data, consisting of observational findings that identify design features easy or hard to use.</a:t>
            </a:r>
            <a:endParaRPr/>
          </a:p>
          <a:p>
            <a:pPr indent="0" lvl="0" marL="0" rtl="0" algn="l">
              <a:spcBef>
                <a:spcPts val="1200"/>
              </a:spcBef>
              <a:spcAft>
                <a:spcPts val="0"/>
              </a:spcAft>
              <a:buNone/>
            </a:pPr>
            <a:r>
              <a:rPr b="1" lang="it"/>
              <a:t>Quantitative (quant) </a:t>
            </a:r>
            <a:r>
              <a:rPr lang="it"/>
              <a:t>data, in form of one or more metrics (such as task completion rates or task times) that reflect whether the tasks were easy to perform.</a:t>
            </a:r>
            <a:endParaRPr/>
          </a:p>
          <a:p>
            <a:pPr indent="0" lvl="0" marL="0" rtl="0" algn="l">
              <a:spcBef>
                <a:spcPts val="120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highlight>
                  <a:schemeClr val="accent6"/>
                </a:highlight>
              </a:rPr>
              <a:t>Qualitative</a:t>
            </a:r>
            <a:r>
              <a:rPr lang="it"/>
              <a:t> vs Quantitative</a:t>
            </a:r>
            <a:endParaRPr/>
          </a:p>
        </p:txBody>
      </p:sp>
      <p:sp>
        <p:nvSpPr>
          <p:cNvPr id="282" name="Google Shape;282;p4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Qualitative testing typically involves gathering data through open-ended questions, observations, and user interviews to gain insight into how users interact with a product and what their feelings and opinions are about it.</a:t>
            </a:r>
            <a:endParaRPr/>
          </a:p>
          <a:p>
            <a:pPr indent="0" lvl="0" marL="0" rtl="0" algn="l">
              <a:spcBef>
                <a:spcPts val="1200"/>
              </a:spcBef>
              <a:spcAft>
                <a:spcPts val="1200"/>
              </a:spcAft>
              <a:buNone/>
            </a:pPr>
            <a:r>
              <a:rPr lang="it"/>
              <a:t>It</a:t>
            </a:r>
            <a:r>
              <a:rPr lang="it"/>
              <a:t> is often conducted in the early stages of the design process to help designers understand user needs, goals, and pain points. But it can also be used to validate design decisions and test prototypes before launching a product or service.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Qualitative vs </a:t>
            </a:r>
            <a:r>
              <a:rPr lang="it">
                <a:highlight>
                  <a:schemeClr val="accent6"/>
                </a:highlight>
              </a:rPr>
              <a:t>Quantitative</a:t>
            </a:r>
            <a:endParaRPr>
              <a:highlight>
                <a:schemeClr val="accent6"/>
              </a:highlight>
            </a:endParaRPr>
          </a:p>
        </p:txBody>
      </p:sp>
      <p:sp>
        <p:nvSpPr>
          <p:cNvPr id="288" name="Google Shape;288;p4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it"/>
              <a:t>Q</a:t>
            </a:r>
            <a:r>
              <a:rPr lang="it"/>
              <a:t>uantitative testing is a research method that involves </a:t>
            </a:r>
            <a:r>
              <a:rPr b="1" lang="it"/>
              <a:t>collecting and analyzing numerical data (metrics) to measure user behavior and attitudes</a:t>
            </a:r>
            <a:r>
              <a:rPr lang="it"/>
              <a:t> towards a product or service. It typically involves gathering data through surveys, analytics, A/B testing, and other quantitative research methods.</a:t>
            </a:r>
            <a:endParaRPr/>
          </a:p>
          <a:p>
            <a:pPr indent="0" lvl="0" marL="0" rtl="0" algn="l">
              <a:spcBef>
                <a:spcPts val="1200"/>
              </a:spcBef>
              <a:spcAft>
                <a:spcPts val="0"/>
              </a:spcAft>
              <a:buNone/>
            </a:pPr>
            <a:r>
              <a:rPr lang="it"/>
              <a:t>The goal of quantitative testing is to provide designers with statistically significant data that can be used to make informed design decisions. By collecting quantitative data, designers can measure user behavior and preferences in a more objective and systematic way, making it easier to identify patterns and trends.</a:t>
            </a:r>
            <a:endParaRPr/>
          </a:p>
          <a:p>
            <a:pPr indent="0" lvl="0" marL="0" rtl="0" algn="l">
              <a:spcBef>
                <a:spcPts val="1200"/>
              </a:spcBef>
              <a:spcAft>
                <a:spcPts val="1200"/>
              </a:spcAft>
              <a:buNone/>
            </a:pPr>
            <a:r>
              <a:rPr lang="it"/>
              <a:t>Quantitative testing can be used throughout the design process, from the early stages of research and discovery to testing and validating design decisions. It can be especially useful for measuring the effectiveness of design changes and improvements over time.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Qualitative vs Quantitative</a:t>
            </a:r>
            <a:endParaRPr/>
          </a:p>
        </p:txBody>
      </p:sp>
      <p:sp>
        <p:nvSpPr>
          <p:cNvPr id="294" name="Google Shape;294;p4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t>Both qualitative and quantitative testing are important methods in UX design, and they complement each other well. </a:t>
            </a:r>
            <a:r>
              <a:rPr lang="it" u="sng"/>
              <a:t>Qualitative tests can help designers understand the "why" behind user behavior, while quantitative tests can provide a more comprehensive understanding of user behavior and preferences.</a:t>
            </a:r>
            <a:r>
              <a:rPr lang="it"/>
              <a: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graphicFrame>
        <p:nvGraphicFramePr>
          <p:cNvPr id="299" name="Google Shape;299;p48"/>
          <p:cNvGraphicFramePr/>
          <p:nvPr/>
        </p:nvGraphicFramePr>
        <p:xfrm>
          <a:off x="185400" y="217425"/>
          <a:ext cx="3000000" cy="3000000"/>
        </p:xfrm>
        <a:graphic>
          <a:graphicData uri="http://schemas.openxmlformats.org/drawingml/2006/table">
            <a:tbl>
              <a:tblPr>
                <a:solidFill>
                  <a:srgbClr val="FFFFFF"/>
                </a:solidFill>
                <a:tableStyleId>{23EADC26-A2C6-4162-8977-C5E930B41219}</a:tableStyleId>
              </a:tblPr>
              <a:tblGrid>
                <a:gridCol w="1489625"/>
                <a:gridCol w="3673775"/>
                <a:gridCol w="3609800"/>
              </a:tblGrid>
              <a:tr h="345375">
                <a:tc>
                  <a:txBody>
                    <a:bodyPr/>
                    <a:lstStyle/>
                    <a:p>
                      <a:pPr indent="0" lvl="0" marL="0" rtl="0" algn="ctr">
                        <a:lnSpc>
                          <a:spcPct val="100000"/>
                        </a:lnSpc>
                        <a:spcBef>
                          <a:spcPts val="0"/>
                        </a:spcBef>
                        <a:spcAft>
                          <a:spcPts val="0"/>
                        </a:spcAft>
                        <a:buNone/>
                      </a:pPr>
                      <a:r>
                        <a:rPr lang="it" sz="1200">
                          <a:solidFill>
                            <a:srgbClr val="FFFFFF"/>
                          </a:solidFill>
                          <a:highlight>
                            <a:srgbClr val="FFFFFF"/>
                          </a:highlight>
                          <a:latin typeface="Source Code Pro"/>
                          <a:ea typeface="Source Code Pro"/>
                          <a:cs typeface="Source Code Pro"/>
                          <a:sym typeface="Source Code Pro"/>
                        </a:rPr>
                        <a:t> </a:t>
                      </a:r>
                      <a:endParaRPr sz="1200">
                        <a:solidFill>
                          <a:srgbClr val="FFFFFF"/>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solidFill>
                      <a:schemeClr val="accent3"/>
                    </a:solidFill>
                  </a:tcPr>
                </a:tc>
                <a:tc>
                  <a:txBody>
                    <a:bodyPr/>
                    <a:lstStyle/>
                    <a:p>
                      <a:pPr indent="0" lvl="0" marL="0" rtl="0" algn="ctr">
                        <a:lnSpc>
                          <a:spcPct val="100000"/>
                        </a:lnSpc>
                        <a:spcBef>
                          <a:spcPts val="0"/>
                        </a:spcBef>
                        <a:spcAft>
                          <a:spcPts val="0"/>
                        </a:spcAft>
                        <a:buNone/>
                      </a:pPr>
                      <a:r>
                        <a:rPr b="1" lang="it" sz="1200">
                          <a:solidFill>
                            <a:srgbClr val="FFFFFF"/>
                          </a:solidFill>
                          <a:latin typeface="Source Code Pro"/>
                          <a:ea typeface="Source Code Pro"/>
                          <a:cs typeface="Source Code Pro"/>
                          <a:sym typeface="Source Code Pro"/>
                        </a:rPr>
                        <a:t>Qualitative Research</a:t>
                      </a:r>
                      <a:endParaRPr b="1" sz="1200">
                        <a:solidFill>
                          <a:srgbClr val="FFFFFF"/>
                        </a:solidFill>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solidFill>
                      <a:schemeClr val="accent3"/>
                    </a:solidFill>
                  </a:tcPr>
                </a:tc>
                <a:tc>
                  <a:txBody>
                    <a:bodyPr/>
                    <a:lstStyle/>
                    <a:p>
                      <a:pPr indent="0" lvl="0" marL="0" rtl="0" algn="ctr">
                        <a:lnSpc>
                          <a:spcPct val="100000"/>
                        </a:lnSpc>
                        <a:spcBef>
                          <a:spcPts val="0"/>
                        </a:spcBef>
                        <a:spcAft>
                          <a:spcPts val="0"/>
                        </a:spcAft>
                        <a:buNone/>
                      </a:pPr>
                      <a:r>
                        <a:rPr b="1" lang="it" sz="1200">
                          <a:solidFill>
                            <a:srgbClr val="FFFFFF"/>
                          </a:solidFill>
                          <a:latin typeface="Source Code Pro"/>
                          <a:ea typeface="Source Code Pro"/>
                          <a:cs typeface="Source Code Pro"/>
                          <a:sym typeface="Source Code Pro"/>
                        </a:rPr>
                        <a:t>Quantitative Research</a:t>
                      </a:r>
                      <a:endParaRPr b="1" sz="1200">
                        <a:solidFill>
                          <a:srgbClr val="FFFFFF"/>
                        </a:solidFill>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solidFill>
                      <a:schemeClr val="accent3"/>
                    </a:solidFill>
                  </a:tcPr>
                </a:tc>
              </a:tr>
              <a:tr h="445350">
                <a:tc>
                  <a:txBody>
                    <a:bodyPr/>
                    <a:lstStyle/>
                    <a:p>
                      <a:pPr indent="0" lvl="0" marL="0" rtl="0" algn="l">
                        <a:lnSpc>
                          <a:spcPct val="100000"/>
                        </a:lnSpc>
                        <a:spcBef>
                          <a:spcPts val="0"/>
                        </a:spcBef>
                        <a:spcAft>
                          <a:spcPts val="0"/>
                        </a:spcAft>
                        <a:buNone/>
                      </a:pPr>
                      <a:r>
                        <a:rPr b="1" lang="it" sz="950">
                          <a:solidFill>
                            <a:srgbClr val="333333"/>
                          </a:solidFill>
                          <a:highlight>
                            <a:srgbClr val="FFFFFF"/>
                          </a:highlight>
                          <a:latin typeface="Source Code Pro"/>
                          <a:ea typeface="Source Code Pro"/>
                          <a:cs typeface="Source Code Pro"/>
                          <a:sym typeface="Source Code Pro"/>
                        </a:rPr>
                        <a:t>Questions answered</a:t>
                      </a:r>
                      <a:endParaRPr b="1"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950">
                          <a:solidFill>
                            <a:srgbClr val="333333"/>
                          </a:solidFill>
                          <a:highlight>
                            <a:srgbClr val="FFFFFF"/>
                          </a:highlight>
                          <a:latin typeface="Source Code Pro"/>
                          <a:ea typeface="Source Code Pro"/>
                          <a:cs typeface="Source Code Pro"/>
                          <a:sym typeface="Source Code Pro"/>
                        </a:rPr>
                        <a:t>Why?</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950">
                          <a:solidFill>
                            <a:srgbClr val="333333"/>
                          </a:solidFill>
                          <a:highlight>
                            <a:srgbClr val="FFFFFF"/>
                          </a:highlight>
                          <a:latin typeface="Source Code Pro"/>
                          <a:ea typeface="Source Code Pro"/>
                          <a:cs typeface="Source Code Pro"/>
                          <a:sym typeface="Source Code Pro"/>
                        </a:rPr>
                        <a:t>How many and how much?</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r>
              <a:tr h="1511800">
                <a:tc>
                  <a:txBody>
                    <a:bodyPr/>
                    <a:lstStyle/>
                    <a:p>
                      <a:pPr indent="0" lvl="0" marL="0" rtl="0" algn="l">
                        <a:lnSpc>
                          <a:spcPct val="100000"/>
                        </a:lnSpc>
                        <a:spcBef>
                          <a:spcPts val="0"/>
                        </a:spcBef>
                        <a:spcAft>
                          <a:spcPts val="0"/>
                        </a:spcAft>
                        <a:buNone/>
                      </a:pPr>
                      <a:r>
                        <a:rPr b="1" lang="it" sz="950">
                          <a:solidFill>
                            <a:srgbClr val="333333"/>
                          </a:solidFill>
                          <a:highlight>
                            <a:srgbClr val="FFFFFF"/>
                          </a:highlight>
                          <a:latin typeface="Source Code Pro"/>
                          <a:ea typeface="Source Code Pro"/>
                          <a:cs typeface="Source Code Pro"/>
                          <a:sym typeface="Source Code Pro"/>
                        </a:rPr>
                        <a:t>Goals</a:t>
                      </a:r>
                      <a:endParaRPr b="1"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950">
                          <a:solidFill>
                            <a:srgbClr val="333333"/>
                          </a:solidFill>
                          <a:highlight>
                            <a:srgbClr val="FFFFFF"/>
                          </a:highlight>
                          <a:latin typeface="Source Code Pro"/>
                          <a:ea typeface="Source Code Pro"/>
                          <a:cs typeface="Source Code Pro"/>
                          <a:sym typeface="Source Code Pro"/>
                        </a:rPr>
                        <a:t>Both formative and summative:</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140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inform design decisions</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identify usability issues and find solutions for them</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950">
                          <a:solidFill>
                            <a:srgbClr val="333333"/>
                          </a:solidFill>
                          <a:highlight>
                            <a:srgbClr val="FFFFFF"/>
                          </a:highlight>
                          <a:latin typeface="Source Code Pro"/>
                          <a:ea typeface="Source Code Pro"/>
                          <a:cs typeface="Source Code Pro"/>
                          <a:sym typeface="Source Code Pro"/>
                        </a:rPr>
                        <a:t>Mostly summative:</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140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evaluate the usability of an existing site</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track usability over time</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compare site with competitors</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compute ROI</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r>
              <a:tr h="533400">
                <a:tc>
                  <a:txBody>
                    <a:bodyPr/>
                    <a:lstStyle/>
                    <a:p>
                      <a:pPr indent="0" lvl="0" marL="0" rtl="0" algn="l">
                        <a:lnSpc>
                          <a:spcPct val="100000"/>
                        </a:lnSpc>
                        <a:spcBef>
                          <a:spcPts val="0"/>
                        </a:spcBef>
                        <a:spcAft>
                          <a:spcPts val="0"/>
                        </a:spcAft>
                        <a:buNone/>
                      </a:pPr>
                      <a:r>
                        <a:rPr b="1" lang="it" sz="950">
                          <a:solidFill>
                            <a:srgbClr val="333333"/>
                          </a:solidFill>
                          <a:highlight>
                            <a:srgbClr val="FFFFFF"/>
                          </a:highlight>
                          <a:latin typeface="Source Code Pro"/>
                          <a:ea typeface="Source Code Pro"/>
                          <a:cs typeface="Source Code Pro"/>
                          <a:sym typeface="Source Code Pro"/>
                        </a:rPr>
                        <a:t>When it is used</a:t>
                      </a:r>
                      <a:endParaRPr b="1"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950">
                          <a:solidFill>
                            <a:srgbClr val="333333"/>
                          </a:solidFill>
                          <a:highlight>
                            <a:srgbClr val="FFFFFF"/>
                          </a:highlight>
                          <a:latin typeface="Source Code Pro"/>
                          <a:ea typeface="Source Code Pro"/>
                          <a:cs typeface="Source Code Pro"/>
                          <a:sym typeface="Source Code Pro"/>
                        </a:rPr>
                        <a:t>Anytime: during redesign, or when you have a final working product</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950">
                          <a:solidFill>
                            <a:srgbClr val="333333"/>
                          </a:solidFill>
                          <a:highlight>
                            <a:srgbClr val="FFFFFF"/>
                          </a:highlight>
                          <a:latin typeface="Source Code Pro"/>
                          <a:ea typeface="Source Code Pro"/>
                          <a:cs typeface="Source Code Pro"/>
                          <a:sym typeface="Source Code Pro"/>
                        </a:rPr>
                        <a:t>When you have a working product (either at the beginning or end of a design cycle)</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r>
              <a:tr h="533400">
                <a:tc>
                  <a:txBody>
                    <a:bodyPr/>
                    <a:lstStyle/>
                    <a:p>
                      <a:pPr indent="0" lvl="0" marL="0" rtl="0" algn="l">
                        <a:lnSpc>
                          <a:spcPct val="100000"/>
                        </a:lnSpc>
                        <a:spcBef>
                          <a:spcPts val="0"/>
                        </a:spcBef>
                        <a:spcAft>
                          <a:spcPts val="0"/>
                        </a:spcAft>
                        <a:buNone/>
                      </a:pPr>
                      <a:r>
                        <a:rPr b="1" lang="it" sz="950">
                          <a:solidFill>
                            <a:srgbClr val="333333"/>
                          </a:solidFill>
                          <a:highlight>
                            <a:srgbClr val="FFFFFF"/>
                          </a:highlight>
                          <a:latin typeface="Source Code Pro"/>
                          <a:ea typeface="Source Code Pro"/>
                          <a:cs typeface="Source Code Pro"/>
                          <a:sym typeface="Source Code Pro"/>
                        </a:rPr>
                        <a:t>Outcome</a:t>
                      </a:r>
                      <a:endParaRPr b="1"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950">
                          <a:solidFill>
                            <a:srgbClr val="333333"/>
                          </a:solidFill>
                          <a:highlight>
                            <a:srgbClr val="FFFFFF"/>
                          </a:highlight>
                          <a:latin typeface="Source Code Pro"/>
                          <a:ea typeface="Source Code Pro"/>
                          <a:cs typeface="Source Code Pro"/>
                          <a:sym typeface="Source Code Pro"/>
                        </a:rPr>
                        <a:t>Findings based on the researcher’s impressions, interpretations, and prior knowledge</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950">
                          <a:solidFill>
                            <a:srgbClr val="333333"/>
                          </a:solidFill>
                          <a:highlight>
                            <a:srgbClr val="FFFFFF"/>
                          </a:highlight>
                          <a:latin typeface="Source Code Pro"/>
                          <a:ea typeface="Source Code Pro"/>
                          <a:cs typeface="Source Code Pro"/>
                          <a:sym typeface="Source Code Pro"/>
                        </a:rPr>
                        <a:t>Statistically meaningful results that are likely to be replicated in a different study</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r>
              <a:tr h="1177250">
                <a:tc>
                  <a:txBody>
                    <a:bodyPr/>
                    <a:lstStyle/>
                    <a:p>
                      <a:pPr indent="0" lvl="0" marL="0" rtl="0" algn="l">
                        <a:lnSpc>
                          <a:spcPct val="100000"/>
                        </a:lnSpc>
                        <a:spcBef>
                          <a:spcPts val="0"/>
                        </a:spcBef>
                        <a:spcAft>
                          <a:spcPts val="0"/>
                        </a:spcAft>
                        <a:buNone/>
                      </a:pPr>
                      <a:r>
                        <a:rPr b="1" lang="it" sz="950">
                          <a:solidFill>
                            <a:srgbClr val="333333"/>
                          </a:solidFill>
                          <a:highlight>
                            <a:srgbClr val="FFFFFF"/>
                          </a:highlight>
                          <a:latin typeface="Source Code Pro"/>
                          <a:ea typeface="Source Code Pro"/>
                          <a:cs typeface="Source Code Pro"/>
                          <a:sym typeface="Source Code Pro"/>
                        </a:rPr>
                        <a:t>Methodology</a:t>
                      </a:r>
                      <a:endParaRPr b="1"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Few participants</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Flexible study conditions that can be adjusted according to the team’s needs</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Think-aloud protocol</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c>
                  <a:txBody>
                    <a:bodyPr/>
                    <a:lstStyle/>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Many participants</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Well-defined, strictly controlled study conditions</a:t>
                      </a:r>
                      <a:endParaRPr sz="950">
                        <a:solidFill>
                          <a:srgbClr val="333333"/>
                        </a:solidFill>
                        <a:highlight>
                          <a:srgbClr val="FFFFFF"/>
                        </a:highlight>
                        <a:latin typeface="Source Code Pro"/>
                        <a:ea typeface="Source Code Pro"/>
                        <a:cs typeface="Source Code Pro"/>
                        <a:sym typeface="Source Code Pro"/>
                      </a:endParaRPr>
                    </a:p>
                    <a:p>
                      <a:pPr indent="-288925" lvl="0" marL="457200" rtl="0" algn="l">
                        <a:lnSpc>
                          <a:spcPct val="100000"/>
                        </a:lnSpc>
                        <a:spcBef>
                          <a:spcPts val="0"/>
                        </a:spcBef>
                        <a:spcAft>
                          <a:spcPts val="0"/>
                        </a:spcAft>
                        <a:buClr>
                          <a:srgbClr val="333333"/>
                        </a:buClr>
                        <a:buSzPts val="950"/>
                        <a:buFont typeface="Source Code Pro"/>
                        <a:buChar char="●"/>
                      </a:pPr>
                      <a:r>
                        <a:rPr lang="it" sz="950">
                          <a:solidFill>
                            <a:srgbClr val="333333"/>
                          </a:solidFill>
                          <a:highlight>
                            <a:srgbClr val="FFFFFF"/>
                          </a:highlight>
                          <a:latin typeface="Source Code Pro"/>
                          <a:ea typeface="Source Code Pro"/>
                          <a:cs typeface="Source Code Pro"/>
                          <a:sym typeface="Source Code Pro"/>
                        </a:rPr>
                        <a:t>Usually no think-aloud</a:t>
                      </a:r>
                      <a:endParaRPr sz="950">
                        <a:solidFill>
                          <a:srgbClr val="333333"/>
                        </a:solidFill>
                        <a:highlight>
                          <a:srgbClr val="FFFFFF"/>
                        </a:highlight>
                        <a:latin typeface="Source Code Pro"/>
                        <a:ea typeface="Source Code Pro"/>
                        <a:cs typeface="Source Code Pro"/>
                        <a:sym typeface="Source Code Pro"/>
                      </a:endParaRPr>
                    </a:p>
                  </a:txBody>
                  <a:tcPr marT="91425" marB="91425" marR="91425" marL="91425">
                    <a:lnL cap="flat" cmpd="sng" w="6350">
                      <a:solidFill>
                        <a:schemeClr val="accent2"/>
                      </a:solidFill>
                      <a:prstDash val="solid"/>
                      <a:round/>
                      <a:headEnd len="sm" w="sm" type="none"/>
                      <a:tailEnd len="sm" w="sm" type="none"/>
                    </a:lnL>
                    <a:lnR cap="flat" cmpd="sng" w="6350">
                      <a:solidFill>
                        <a:schemeClr val="accent2"/>
                      </a:solidFill>
                      <a:prstDash val="solid"/>
                      <a:round/>
                      <a:headEnd len="sm" w="sm" type="none"/>
                      <a:tailEnd len="sm" w="sm" type="none"/>
                    </a:lnR>
                    <a:lnT cap="flat" cmpd="sng" w="6350">
                      <a:solidFill>
                        <a:schemeClr val="accent2"/>
                      </a:solidFill>
                      <a:prstDash val="solid"/>
                      <a:round/>
                      <a:headEnd len="sm" w="sm" type="none"/>
                      <a:tailEnd len="sm" w="sm" type="none"/>
                    </a:lnT>
                    <a:lnB cap="flat" cmpd="sng" w="6350">
                      <a:solidFill>
                        <a:schemeClr val="accent2"/>
                      </a:solidFill>
                      <a:prstDash val="solid"/>
                      <a:round/>
                      <a:headEnd len="sm" w="sm" type="none"/>
                      <a:tailEnd len="sm" w="sm" type="none"/>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9"/>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How to plan and conduct usability tests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The goal</a:t>
            </a:r>
            <a:endParaRPr>
              <a:highlight>
                <a:schemeClr val="accent6"/>
              </a:highlight>
            </a:endParaRPr>
          </a:p>
        </p:txBody>
      </p:sp>
      <p:sp>
        <p:nvSpPr>
          <p:cNvPr id="310" name="Google Shape;310;p5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First of all you have to </a:t>
            </a:r>
            <a:r>
              <a:rPr b="1" lang="it"/>
              <a:t>define the purpose of your research</a:t>
            </a:r>
            <a:r>
              <a:rPr lang="it"/>
              <a:t>. What do you want to test? What is the end goal in conducting tests?</a:t>
            </a:r>
            <a:endParaRPr/>
          </a:p>
          <a:p>
            <a:pPr indent="0" lvl="0" marL="0" rtl="0" algn="l">
              <a:spcBef>
                <a:spcPts val="1200"/>
              </a:spcBef>
              <a:spcAft>
                <a:spcPts val="1200"/>
              </a:spcAft>
              <a:buNone/>
            </a:pPr>
            <a:r>
              <a:rPr lang="it"/>
              <a:t>This will first lead you to understand if you need qualitative or quantitative research.</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The format</a:t>
            </a:r>
            <a:endParaRPr>
              <a:highlight>
                <a:schemeClr val="accent6"/>
              </a:highlight>
            </a:endParaRPr>
          </a:p>
        </p:txBody>
      </p:sp>
      <p:sp>
        <p:nvSpPr>
          <p:cNvPr id="316" name="Google Shape;316;p5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b="1" lang="it"/>
              <a:t>In lab or in field</a:t>
            </a:r>
            <a:r>
              <a:rPr lang="it"/>
              <a:t>: consider the location: should it be in-house or at the participant's location?</a:t>
            </a:r>
            <a:endParaRPr/>
          </a:p>
          <a:p>
            <a:pPr indent="0" lvl="0" marL="0" rtl="0" algn="l">
              <a:spcBef>
                <a:spcPts val="1200"/>
              </a:spcBef>
              <a:spcAft>
                <a:spcPts val="0"/>
              </a:spcAft>
              <a:buNone/>
            </a:pPr>
            <a:r>
              <a:rPr b="1" lang="it"/>
              <a:t>Moderated or unmoderated</a:t>
            </a:r>
            <a:r>
              <a:rPr lang="it"/>
              <a:t>: </a:t>
            </a:r>
            <a:r>
              <a:rPr lang="it"/>
              <a:t>Moderated studies provide richer insights and better access to open-ended comments but cost more and difficult to organize. Unmoderated studies can be cheaper, quicker and may provide better access to hard-to-recruit participants.</a:t>
            </a:r>
            <a:endParaRPr/>
          </a:p>
          <a:p>
            <a:pPr indent="0" lvl="0" marL="0" rtl="0" algn="l">
              <a:spcBef>
                <a:spcPts val="1200"/>
              </a:spcBef>
              <a:spcAft>
                <a:spcPts val="1200"/>
              </a:spcAft>
              <a:buNone/>
            </a:pPr>
            <a:r>
              <a:rPr b="1" lang="it"/>
              <a:t>In-person or remote</a:t>
            </a:r>
            <a:r>
              <a:rPr lang="it"/>
              <a:t>: In-person studies are recommended whenever possible as they allow for more personable interaction and the ability to detect subtle cues, but remote studies can be more accessible and sometimes necessary due to budget or logistical constraints.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number of participants</a:t>
            </a:r>
            <a:endParaRPr>
              <a:highlight>
                <a:schemeClr val="accent6"/>
              </a:highlight>
            </a:endParaRPr>
          </a:p>
        </p:txBody>
      </p:sp>
      <p:pic>
        <p:nvPicPr>
          <p:cNvPr id="322" name="Google Shape;322;p52"/>
          <p:cNvPicPr preferRelativeResize="0"/>
          <p:nvPr/>
        </p:nvPicPr>
        <p:blipFill>
          <a:blip r:embed="rId3">
            <a:alphaModFix/>
          </a:blip>
          <a:stretch>
            <a:fillRect/>
          </a:stretch>
        </p:blipFill>
        <p:spPr>
          <a:xfrm>
            <a:off x="3583200" y="1093850"/>
            <a:ext cx="5441735" cy="3744850"/>
          </a:xfrm>
          <a:prstGeom prst="rect">
            <a:avLst/>
          </a:prstGeom>
          <a:noFill/>
          <a:ln>
            <a:noFill/>
          </a:ln>
        </p:spPr>
      </p:pic>
      <p:sp>
        <p:nvSpPr>
          <p:cNvPr id="323" name="Google Shape;323;p52"/>
          <p:cNvSpPr txBox="1"/>
          <p:nvPr>
            <p:ph idx="1" type="body"/>
          </p:nvPr>
        </p:nvSpPr>
        <p:spPr>
          <a:xfrm>
            <a:off x="311700" y="1228675"/>
            <a:ext cx="3041700" cy="33402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it"/>
              <a:t>How many testers?</a:t>
            </a:r>
            <a:endParaRPr/>
          </a:p>
          <a:p>
            <a:pPr indent="0" lvl="0" marL="0" rtl="0" algn="l">
              <a:spcBef>
                <a:spcPts val="1200"/>
              </a:spcBef>
              <a:spcAft>
                <a:spcPts val="0"/>
              </a:spcAft>
              <a:buNone/>
            </a:pPr>
            <a:r>
              <a:rPr lang="it"/>
              <a:t>Jakob Nielsen highlighted that </a:t>
            </a:r>
            <a:r>
              <a:rPr b="1" lang="it"/>
              <a:t>5</a:t>
            </a:r>
            <a:r>
              <a:rPr lang="it"/>
              <a:t> people is a good number </a:t>
            </a:r>
            <a:r>
              <a:rPr b="1" lang="it"/>
              <a:t>for qualitative studies</a:t>
            </a:r>
            <a:r>
              <a:rPr lang="it"/>
              <a:t> as more will not guarantee you many other insights. </a:t>
            </a:r>
            <a:endParaRPr/>
          </a:p>
          <a:p>
            <a:pPr indent="0" lvl="0" marL="0" rtl="0" algn="l">
              <a:spcBef>
                <a:spcPts val="1200"/>
              </a:spcBef>
              <a:spcAft>
                <a:spcPts val="1200"/>
              </a:spcAft>
              <a:buNone/>
            </a:pPr>
            <a:r>
              <a:rPr lang="it"/>
              <a:t>However, this will not apply to </a:t>
            </a:r>
            <a:r>
              <a:rPr b="1" lang="it"/>
              <a:t>quantitative studies</a:t>
            </a:r>
            <a:r>
              <a:rPr lang="it"/>
              <a:t>! Here the recommended number is at least </a:t>
            </a:r>
            <a:r>
              <a:rPr b="1" lang="it"/>
              <a:t>20</a:t>
            </a:r>
            <a:r>
              <a:rPr lang="it"/>
              <a: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Recruit the Right Participants </a:t>
            </a:r>
            <a:endParaRPr>
              <a:highlight>
                <a:schemeClr val="accent6"/>
              </a:highlight>
            </a:endParaRPr>
          </a:p>
        </p:txBody>
      </p:sp>
      <p:sp>
        <p:nvSpPr>
          <p:cNvPr id="329" name="Google Shape;329;p5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To get the most valuable insights from user testing, it's important to use representative participants </a:t>
            </a:r>
            <a:r>
              <a:rPr lang="it" u="sng"/>
              <a:t>who match the demographics and behaviors of your target users</a:t>
            </a:r>
            <a:r>
              <a:rPr lang="it"/>
              <a:t>. </a:t>
            </a:r>
            <a:endParaRPr/>
          </a:p>
          <a:p>
            <a:pPr indent="0" lvl="0" marL="0" rtl="0" algn="l">
              <a:spcBef>
                <a:spcPts val="1200"/>
              </a:spcBef>
              <a:spcAft>
                <a:spcPts val="1200"/>
              </a:spcAft>
              <a:buNone/>
            </a:pPr>
            <a:r>
              <a:rPr lang="it"/>
              <a:t>Avoid asking proxy users to pretend or imagine scenarios, as this can lead to invalid results. This is especially important for specialized websites and content-rich or B2B sites, where finding exact matches for your target users is crucial.</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Write the right tasks</a:t>
            </a:r>
            <a:endParaRPr>
              <a:highlight>
                <a:schemeClr val="accent6"/>
              </a:highlight>
            </a:endParaRPr>
          </a:p>
        </p:txBody>
      </p:sp>
      <p:sp>
        <p:nvSpPr>
          <p:cNvPr id="335" name="Google Shape;335;p5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it"/>
              <a:t>In usability testing, tasks are written as scenarios and should match the study goals. Tasks can be </a:t>
            </a:r>
            <a:r>
              <a:rPr b="1" lang="it"/>
              <a:t>exploratory</a:t>
            </a:r>
            <a:r>
              <a:rPr lang="it"/>
              <a:t> or </a:t>
            </a:r>
            <a:r>
              <a:rPr b="1" lang="it"/>
              <a:t>specific</a:t>
            </a:r>
            <a:r>
              <a:rPr lang="it"/>
              <a:t>:</a:t>
            </a:r>
            <a:endParaRPr/>
          </a:p>
          <a:p>
            <a:pPr indent="-334327" lvl="0" marL="457200" rtl="0" algn="l">
              <a:spcBef>
                <a:spcPts val="1200"/>
              </a:spcBef>
              <a:spcAft>
                <a:spcPts val="0"/>
              </a:spcAft>
              <a:buSzPct val="100000"/>
              <a:buChar char="●"/>
            </a:pPr>
            <a:r>
              <a:rPr lang="it"/>
              <a:t>exploratory tasks are open-ended and used for learning how people explore information (not suited for quantitative research), </a:t>
            </a:r>
            <a:endParaRPr/>
          </a:p>
          <a:p>
            <a:pPr indent="-334327" lvl="0" marL="457200" rtl="0" algn="l">
              <a:spcBef>
                <a:spcPts val="0"/>
              </a:spcBef>
              <a:spcAft>
                <a:spcPts val="0"/>
              </a:spcAft>
              <a:buSzPct val="100000"/>
              <a:buChar char="●"/>
            </a:pPr>
            <a:r>
              <a:rPr lang="it"/>
              <a:t>specific tasks are focused and have a correct answer or end point, and can be used for both qualitative and quantitative testing.</a:t>
            </a:r>
            <a:endParaRPr/>
          </a:p>
          <a:p>
            <a:pPr indent="0" lvl="0" marL="0" rtl="0" algn="l">
              <a:spcBef>
                <a:spcPts val="1200"/>
              </a:spcBef>
              <a:spcAft>
                <a:spcPts val="1200"/>
              </a:spcAft>
              <a:buNone/>
            </a:pPr>
            <a:r>
              <a:rPr lang="it"/>
              <a:t>Also, pay attention to the wording of the task! (More on this later)</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Rehearse</a:t>
            </a:r>
            <a:r>
              <a:rPr lang="it">
                <a:highlight>
                  <a:schemeClr val="accent6"/>
                </a:highlight>
              </a:rPr>
              <a:t> it fist</a:t>
            </a:r>
            <a:r>
              <a:rPr lang="it"/>
              <a:t> </a:t>
            </a:r>
            <a:endParaRPr/>
          </a:p>
        </p:txBody>
      </p:sp>
      <p:sp>
        <p:nvSpPr>
          <p:cNvPr id="341" name="Google Shape;341;p5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Before conducting usability testing, </a:t>
            </a:r>
            <a:r>
              <a:rPr b="1" lang="it"/>
              <a:t>run a pilot study</a:t>
            </a:r>
            <a:r>
              <a:rPr lang="it"/>
              <a:t> </a:t>
            </a:r>
            <a:r>
              <a:rPr lang="it" u="sng"/>
              <a:t>to refine task wording, determine task order and quantity, and ensure you are recruiting the right participants. </a:t>
            </a:r>
            <a:endParaRPr u="sng"/>
          </a:p>
          <a:p>
            <a:pPr indent="0" lvl="0" marL="0" rtl="0" algn="l">
              <a:spcBef>
                <a:spcPts val="1200"/>
              </a:spcBef>
              <a:spcAft>
                <a:spcPts val="0"/>
              </a:spcAft>
              <a:buNone/>
            </a:pPr>
            <a:r>
              <a:rPr lang="it"/>
              <a:t>This is especially important for online unmoderated studies where there is no opportunity for clarification or correction during the session. </a:t>
            </a:r>
            <a:endParaRPr/>
          </a:p>
          <a:p>
            <a:pPr indent="0" lvl="0" marL="0" rtl="0" algn="l">
              <a:spcBef>
                <a:spcPts val="1200"/>
              </a:spcBef>
              <a:spcAft>
                <a:spcPts val="1200"/>
              </a:spcAft>
              <a:buNone/>
            </a:pPr>
            <a:r>
              <a:rPr lang="it"/>
              <a:t>Catching problems early can prevent issues during the actual testing session.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Decide the metrics</a:t>
            </a:r>
            <a:r>
              <a:rPr lang="it"/>
              <a:t> (if any)</a:t>
            </a:r>
            <a:endParaRPr/>
          </a:p>
        </p:txBody>
      </p:sp>
      <p:sp>
        <p:nvSpPr>
          <p:cNvPr id="347" name="Google Shape;347;p5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it"/>
              <a:t>Qualitative usability</a:t>
            </a:r>
            <a:r>
              <a:rPr lang="it"/>
              <a:t> studies prioritize gaining design insights over measuring usability, as metrics are unlikely to be representative for the whole user population with few users. So here you would decide the </a:t>
            </a:r>
            <a:r>
              <a:rPr b="1" lang="it"/>
              <a:t>questions to be made</a:t>
            </a:r>
            <a:r>
              <a:rPr lang="it"/>
              <a:t> if you are thinking to a structured (or semi-) </a:t>
            </a:r>
            <a:r>
              <a:rPr b="1" lang="it"/>
              <a:t>interview</a:t>
            </a:r>
            <a:r>
              <a:rPr lang="it"/>
              <a:t>. </a:t>
            </a:r>
            <a:endParaRPr/>
          </a:p>
          <a:p>
            <a:pPr indent="0" lvl="0" marL="0" rtl="0" algn="l">
              <a:spcBef>
                <a:spcPts val="1200"/>
              </a:spcBef>
              <a:spcAft>
                <a:spcPts val="0"/>
              </a:spcAft>
              <a:buNone/>
            </a:pPr>
            <a:r>
              <a:rPr lang="it"/>
              <a:t>However, in </a:t>
            </a:r>
            <a:r>
              <a:rPr b="1" lang="it"/>
              <a:t>quantitative studies</a:t>
            </a:r>
            <a:r>
              <a:rPr lang="it"/>
              <a:t> with well-defined tasks and a large number of users, measuring usability is important and common metrics include </a:t>
            </a:r>
            <a:r>
              <a:rPr b="1" lang="it"/>
              <a:t>time on task, satisfaction ratings, success rate, and error rate</a:t>
            </a:r>
            <a:r>
              <a:rPr lang="it"/>
              <a:t>. </a:t>
            </a:r>
            <a:endParaRPr/>
          </a:p>
          <a:p>
            <a:pPr indent="0" lvl="0" marL="0" rtl="0" algn="l">
              <a:spcBef>
                <a:spcPts val="1200"/>
              </a:spcBef>
              <a:spcAft>
                <a:spcPts val="1200"/>
              </a:spcAft>
              <a:buNone/>
            </a:pPr>
            <a:r>
              <a:rPr lang="it"/>
              <a:t>If collecting subjective measurements, decide when to give questionnaires: after each task, at the end of the session, or both.</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Write down the plan</a:t>
            </a:r>
            <a:endParaRPr>
              <a:highlight>
                <a:schemeClr val="accent6"/>
              </a:highlight>
            </a:endParaRPr>
          </a:p>
        </p:txBody>
      </p:sp>
      <p:sp>
        <p:nvSpPr>
          <p:cNvPr id="353" name="Google Shape;353;p5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it"/>
              <a:t>Once you’ve figured out how you’re going to conduct the research, document your approach in a test plan and share it. This document serves as a communication tool among team members and a record for  future studies. The document doesn’t need to be lengthy, but should contain key information such as:</a:t>
            </a:r>
            <a:endParaRPr/>
          </a:p>
          <a:p>
            <a:pPr indent="-317182" lvl="0" marL="457200" rtl="0" algn="l">
              <a:spcBef>
                <a:spcPts val="1200"/>
              </a:spcBef>
              <a:spcAft>
                <a:spcPts val="0"/>
              </a:spcAft>
              <a:buSzPct val="100000"/>
              <a:buChar char="●"/>
            </a:pPr>
            <a:r>
              <a:rPr lang="it"/>
              <a:t>Name of the product or site being testing</a:t>
            </a:r>
            <a:endParaRPr/>
          </a:p>
          <a:p>
            <a:pPr indent="-317182" lvl="0" marL="457200" rtl="0" algn="l">
              <a:spcBef>
                <a:spcPts val="0"/>
              </a:spcBef>
              <a:spcAft>
                <a:spcPts val="0"/>
              </a:spcAft>
              <a:buSzPct val="100000"/>
              <a:buChar char="●"/>
            </a:pPr>
            <a:r>
              <a:rPr lang="it"/>
              <a:t>Study goals</a:t>
            </a:r>
            <a:endParaRPr/>
          </a:p>
          <a:p>
            <a:pPr indent="-317182" lvl="0" marL="457200" rtl="0" algn="l">
              <a:spcBef>
                <a:spcPts val="0"/>
              </a:spcBef>
              <a:spcAft>
                <a:spcPts val="0"/>
              </a:spcAft>
              <a:buSzPct val="100000"/>
              <a:buChar char="●"/>
            </a:pPr>
            <a:r>
              <a:rPr lang="it"/>
              <a:t>Logistics: time, dates, location, and format of study</a:t>
            </a:r>
            <a:endParaRPr/>
          </a:p>
          <a:p>
            <a:pPr indent="-317182" lvl="0" marL="457200" rtl="0" algn="l">
              <a:spcBef>
                <a:spcPts val="0"/>
              </a:spcBef>
              <a:spcAft>
                <a:spcPts val="0"/>
              </a:spcAft>
              <a:buSzPct val="100000"/>
              <a:buChar char="●"/>
            </a:pPr>
            <a:r>
              <a:rPr lang="it"/>
              <a:t>Participant profiles</a:t>
            </a:r>
            <a:endParaRPr/>
          </a:p>
          <a:p>
            <a:pPr indent="-317182" lvl="0" marL="457200" rtl="0" algn="l">
              <a:spcBef>
                <a:spcPts val="0"/>
              </a:spcBef>
              <a:spcAft>
                <a:spcPts val="0"/>
              </a:spcAft>
              <a:buSzPct val="100000"/>
              <a:buChar char="●"/>
            </a:pPr>
            <a:r>
              <a:rPr lang="it"/>
              <a:t>Tasks</a:t>
            </a:r>
            <a:endParaRPr/>
          </a:p>
          <a:p>
            <a:pPr indent="-317182" lvl="0" marL="457200" rtl="0" algn="l">
              <a:spcBef>
                <a:spcPts val="0"/>
              </a:spcBef>
              <a:spcAft>
                <a:spcPts val="0"/>
              </a:spcAft>
              <a:buSzPct val="100000"/>
              <a:buChar char="●"/>
            </a:pPr>
            <a:r>
              <a:rPr lang="it"/>
              <a:t>Metrics, questionnaires</a:t>
            </a:r>
            <a:endParaRPr/>
          </a:p>
          <a:p>
            <a:pPr indent="-317182" lvl="0" marL="457200" rtl="0" algn="l">
              <a:spcBef>
                <a:spcPts val="0"/>
              </a:spcBef>
              <a:spcAft>
                <a:spcPts val="0"/>
              </a:spcAft>
              <a:buSzPct val="100000"/>
              <a:buChar char="●"/>
            </a:pPr>
            <a:r>
              <a:rPr lang="it"/>
              <a:t>Description of the system (e.g., mobile, desktop, computer settings)</a:t>
            </a:r>
            <a:endParaRPr/>
          </a:p>
          <a:p>
            <a:pPr indent="0" lvl="0" marL="0" rtl="0" algn="l">
              <a:spcBef>
                <a:spcPts val="1200"/>
              </a:spcBef>
              <a:spcAft>
                <a:spcPts val="120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Planning a test - </a:t>
            </a:r>
            <a:r>
              <a:rPr lang="it">
                <a:highlight>
                  <a:schemeClr val="accent6"/>
                </a:highlight>
              </a:rPr>
              <a:t>Don’t do it alone</a:t>
            </a:r>
            <a:endParaRPr>
              <a:highlight>
                <a:schemeClr val="accent6"/>
              </a:highlight>
            </a:endParaRPr>
          </a:p>
        </p:txBody>
      </p:sp>
      <p:sp>
        <p:nvSpPr>
          <p:cNvPr id="359" name="Google Shape;359;p5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a:t>You won’t catch all the details, or take all the notes. </a:t>
            </a:r>
            <a:endParaRPr/>
          </a:p>
          <a:p>
            <a:pPr indent="0" lvl="0" marL="0" rtl="0" algn="l">
              <a:spcBef>
                <a:spcPts val="1200"/>
              </a:spcBef>
              <a:spcAft>
                <a:spcPts val="1200"/>
              </a:spcAft>
              <a:buNone/>
            </a:pPr>
            <a:r>
              <a:rPr lang="it"/>
              <a:t>You will always lose something along the way, so it is way better to have other testers with you, especially if you are conducting a qualitative study.</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9"/>
          <p:cNvSpPr txBox="1"/>
          <p:nvPr>
            <p:ph type="title"/>
          </p:nvPr>
        </p:nvSpPr>
        <p:spPr>
          <a:xfrm>
            <a:off x="2802750" y="802500"/>
            <a:ext cx="3538500" cy="3538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t"/>
              <a:t>10 things to avoid when testing</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6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10 things to avoid when testing</a:t>
            </a:r>
            <a:endParaRPr/>
          </a:p>
        </p:txBody>
      </p:sp>
      <p:sp>
        <p:nvSpPr>
          <p:cNvPr id="370" name="Google Shape;370;p6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it"/>
              <a:t>1. </a:t>
            </a:r>
            <a:r>
              <a:rPr b="1" lang="it"/>
              <a:t>Telling Users Where to Go</a:t>
            </a:r>
            <a:r>
              <a:rPr lang="it"/>
              <a:t>. To avoid priming, remove any words that appear in your interface, so you give yourself a fair chance to see if users can find their way around the site.</a:t>
            </a:r>
            <a:endParaRPr/>
          </a:p>
          <a:p>
            <a:pPr indent="0" lvl="0" marL="0" rtl="0" algn="l">
              <a:spcBef>
                <a:spcPts val="1200"/>
              </a:spcBef>
              <a:spcAft>
                <a:spcPts val="0"/>
              </a:spcAft>
              <a:buNone/>
            </a:pPr>
            <a:r>
              <a:rPr lang="it"/>
              <a:t>2. </a:t>
            </a:r>
            <a:r>
              <a:rPr b="1" lang="it"/>
              <a:t>Telling Users What to Do.</a:t>
            </a:r>
            <a:r>
              <a:rPr lang="it"/>
              <a:t>  Don't warn participants about the steps they need to take, such as registering or downloading, to gather valuable feedback about their experience and potential issues that may arise.</a:t>
            </a:r>
            <a:endParaRPr/>
          </a:p>
          <a:p>
            <a:pPr indent="0" lvl="0" marL="0" rtl="0" algn="l">
              <a:spcBef>
                <a:spcPts val="1200"/>
              </a:spcBef>
              <a:spcAft>
                <a:spcPts val="0"/>
              </a:spcAft>
              <a:buNone/>
            </a:pPr>
            <a:r>
              <a:rPr lang="it"/>
              <a:t>3. </a:t>
            </a:r>
            <a:r>
              <a:rPr b="1" lang="it"/>
              <a:t>Creating Out-of-Date Tasks.</a:t>
            </a:r>
            <a:r>
              <a:rPr lang="it"/>
              <a:t> If the task is to find a flight leaving February 20, don’t run that test on February 22. A task about the latest news on a site should be updated the day before or the day of testing to include current content.</a:t>
            </a:r>
            <a:endParaRPr/>
          </a:p>
          <a:p>
            <a:pPr indent="0" lvl="0" marL="0" rtl="0" algn="l">
              <a:spcBef>
                <a:spcPts val="1200"/>
              </a:spcBef>
              <a:spcAft>
                <a:spcPts val="1200"/>
              </a:spcAft>
              <a:buNone/>
            </a:pPr>
            <a:r>
              <a:rPr lang="it"/>
              <a:t>4. </a:t>
            </a:r>
            <a:r>
              <a:rPr b="1" lang="it"/>
              <a:t>Making Tasks Too Simple.</a:t>
            </a:r>
            <a:r>
              <a:rPr lang="it"/>
              <a:t> Your goal isn’t to make tasks too simplistic or unnecessarily complex, but to give users a realistic task that requires processing, rather than just locating information.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6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10 things to avoid when testing</a:t>
            </a:r>
            <a:endParaRPr/>
          </a:p>
        </p:txBody>
      </p:sp>
      <p:sp>
        <p:nvSpPr>
          <p:cNvPr id="376" name="Google Shape;376;p6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it"/>
              <a:t>5. </a:t>
            </a:r>
            <a:r>
              <a:rPr b="1" lang="it"/>
              <a:t>Creating an Elaborate Scenario. </a:t>
            </a:r>
            <a:r>
              <a:rPr lang="it"/>
              <a:t>Using scenarios in user testing tasks can provide context and help participants understand the purpose of the task, but should be used with caution as they may add unnecessary complexity and increase the cognitive load for users. Scenarios should be kept simple and not used to justify unusual or unrealistic activities.</a:t>
            </a:r>
            <a:endParaRPr/>
          </a:p>
          <a:p>
            <a:pPr indent="0" lvl="0" marL="0" rtl="0" algn="l">
              <a:spcBef>
                <a:spcPts val="1200"/>
              </a:spcBef>
              <a:spcAft>
                <a:spcPts val="0"/>
              </a:spcAft>
              <a:buNone/>
            </a:pPr>
            <a:r>
              <a:rPr lang="it"/>
              <a:t>6. </a:t>
            </a:r>
            <a:r>
              <a:rPr b="1" lang="it"/>
              <a:t>Writing an Ad, not a Task. </a:t>
            </a:r>
            <a:r>
              <a:rPr lang="it"/>
              <a:t>Make sure your tasks don’t include marketing phrases like “exciting new feature,” business phrases like “thinking outside the box,” or mysterious corporate acronyms. </a:t>
            </a:r>
            <a:r>
              <a:rPr lang="it"/>
              <a:t>Use user-centric language, not maker-centric language.</a:t>
            </a:r>
            <a:endParaRPr/>
          </a:p>
          <a:p>
            <a:pPr indent="0" lvl="0" marL="0" rtl="0" algn="l">
              <a:spcBef>
                <a:spcPts val="1200"/>
              </a:spcBef>
              <a:spcAft>
                <a:spcPts val="1200"/>
              </a:spcAft>
              <a:buNone/>
            </a:pPr>
            <a:r>
              <a:rPr lang="it"/>
              <a:t>7. </a:t>
            </a:r>
            <a:r>
              <a:rPr b="1" lang="it"/>
              <a:t>Risking an Emotional Reaction. </a:t>
            </a:r>
            <a:r>
              <a:rPr lang="it"/>
              <a:t>Part of the responsibility of running a usability test is to ensure the well-being of your participants. Stick to harmless and vague relationships instead – friend, colleague, a friend’s child.</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6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10 things to avoid when testing</a:t>
            </a:r>
            <a:endParaRPr/>
          </a:p>
        </p:txBody>
      </p:sp>
      <p:sp>
        <p:nvSpPr>
          <p:cNvPr id="382" name="Google Shape;382;p6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it"/>
              <a:t>8. </a:t>
            </a:r>
            <a:r>
              <a:rPr b="1" lang="it"/>
              <a:t>Trying to Be Funny. </a:t>
            </a:r>
            <a:r>
              <a:rPr lang="it"/>
              <a:t>Don’t joke, use famous names in tasks, or otherwise try to lighten the mood. Doing so can backfire and make some participants feel awkward or, even worse, as though you are making fun of them.</a:t>
            </a:r>
            <a:endParaRPr/>
          </a:p>
          <a:p>
            <a:pPr indent="0" lvl="0" marL="0" rtl="0" algn="l">
              <a:spcBef>
                <a:spcPts val="1200"/>
              </a:spcBef>
              <a:spcAft>
                <a:spcPts val="0"/>
              </a:spcAft>
              <a:buNone/>
            </a:pPr>
            <a:r>
              <a:rPr lang="it"/>
              <a:t>9. </a:t>
            </a:r>
            <a:r>
              <a:rPr b="1" lang="it"/>
              <a:t>Offending the Participant. </a:t>
            </a:r>
            <a:r>
              <a:rPr lang="it"/>
              <a:t>Avoid potentially offensive details in tasks. Societal issues, politics, health, religion, age, and money all have the possibility of offending a participant.</a:t>
            </a:r>
            <a:endParaRPr/>
          </a:p>
          <a:p>
            <a:pPr indent="0" lvl="0" marL="0" rtl="0" algn="l">
              <a:spcBef>
                <a:spcPts val="1200"/>
              </a:spcBef>
              <a:spcAft>
                <a:spcPts val="1200"/>
              </a:spcAft>
              <a:buNone/>
            </a:pPr>
            <a:r>
              <a:rPr lang="it"/>
              <a:t>10. </a:t>
            </a:r>
            <a:r>
              <a:rPr b="1" lang="it"/>
              <a:t>Asking Rather than Telling. </a:t>
            </a:r>
            <a:r>
              <a:rPr lang="it"/>
              <a:t>Don’t ask participants “how would you” complete a task — unless you want them to talk you through what they theoretically would do on a site, rather than doing it. The point of usability testing is to see what users do, not to hear what they would do.</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63"/>
          <p:cNvSpPr txBox="1"/>
          <p:nvPr>
            <p:ph type="title"/>
          </p:nvPr>
        </p:nvSpPr>
        <p:spPr>
          <a:xfrm>
            <a:off x="490250" y="526350"/>
            <a:ext cx="81609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it" sz="3200"/>
              <a:t>For more information and details on usability testing:</a:t>
            </a:r>
            <a:endParaRPr sz="3200"/>
          </a:p>
          <a:p>
            <a:pPr indent="0" lvl="0" marL="0" rtl="0" algn="l">
              <a:spcBef>
                <a:spcPts val="0"/>
              </a:spcBef>
              <a:spcAft>
                <a:spcPts val="0"/>
              </a:spcAft>
              <a:buSzPts val="990"/>
              <a:buNone/>
            </a:pPr>
            <a:r>
              <a:t/>
            </a:r>
            <a:endParaRPr sz="3200"/>
          </a:p>
          <a:p>
            <a:pPr indent="0" lvl="0" marL="0" rtl="0" algn="l">
              <a:spcBef>
                <a:spcPts val="0"/>
              </a:spcBef>
              <a:spcAft>
                <a:spcPts val="0"/>
              </a:spcAft>
              <a:buSzPts val="990"/>
              <a:buNone/>
            </a:pPr>
            <a:r>
              <a:rPr lang="it" sz="2800" u="sng">
                <a:solidFill>
                  <a:schemeClr val="hlink"/>
                </a:solidFill>
                <a:highlight>
                  <a:schemeClr val="lt1"/>
                </a:highlight>
                <a:hlinkClick r:id="rId3"/>
              </a:rPr>
              <a:t>https://www.nngroup.com/articles/qual-usability-testing-study-guide/</a:t>
            </a:r>
            <a:r>
              <a:rPr lang="it" sz="2800">
                <a:highlight>
                  <a:schemeClr val="lt1"/>
                </a:highlight>
              </a:rPr>
              <a:t> </a:t>
            </a:r>
            <a:endParaRPr sz="2800">
              <a:highlight>
                <a:schemeClr val="lt1"/>
              </a:highlight>
            </a:endParaRPr>
          </a:p>
          <a:p>
            <a:pPr indent="0" lvl="0" marL="0" rtl="0" algn="l">
              <a:spcBef>
                <a:spcPts val="0"/>
              </a:spcBef>
              <a:spcAft>
                <a:spcPts val="0"/>
              </a:spcAft>
              <a:buSzPts val="990"/>
              <a:buNone/>
            </a:pPr>
            <a:r>
              <a:t/>
            </a:r>
            <a:endParaRPr sz="2800">
              <a:highlight>
                <a:schemeClr val="lt1"/>
              </a:highlight>
            </a:endParaRPr>
          </a:p>
          <a:p>
            <a:pPr indent="0" lvl="0" marL="0" rtl="0" algn="l">
              <a:spcBef>
                <a:spcPts val="0"/>
              </a:spcBef>
              <a:spcAft>
                <a:spcPts val="0"/>
              </a:spcAft>
              <a:buSzPts val="990"/>
              <a:buNone/>
            </a:pPr>
            <a:r>
              <a:rPr lang="it" sz="2800" u="sng">
                <a:solidFill>
                  <a:schemeClr val="hlink"/>
                </a:solidFill>
                <a:highlight>
                  <a:schemeClr val="lt1"/>
                </a:highlight>
                <a:hlinkClick r:id="rId4"/>
              </a:rPr>
              <a:t>https://www.nngroup.com/articles/quantitative-research-study-guide/</a:t>
            </a:r>
            <a:r>
              <a:rPr lang="it" sz="2800">
                <a:highlight>
                  <a:schemeClr val="lt1"/>
                </a:highlight>
              </a:rPr>
              <a:t> </a:t>
            </a:r>
            <a:endParaRPr sz="2800">
              <a:highlight>
                <a:schemeClr val="lt1"/>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