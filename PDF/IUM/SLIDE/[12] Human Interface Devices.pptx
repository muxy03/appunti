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7.xml"/>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76.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68.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8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77.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73.xml"/>
  <Override ContentType="application/vnd.openxmlformats-officedocument.presentationml.notesSlide+xml" PartName="/ppt/notesSlides/notesSlide56.xml"/>
  <Override ContentType="application/vnd.openxmlformats-officedocument.presentationml.notesSlide+xml" PartName="/ppt/notesSlides/notesSlide81.xml"/>
  <Override ContentType="application/vnd.openxmlformats-officedocument.presentationml.notesSlide+xml" PartName="/ppt/notesSlides/notesSlide30.xml"/>
  <Override ContentType="application/vnd.openxmlformats-officedocument.presentationml.notesSlide+xml" PartName="/ppt/notesSlides/notesSlide69.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80.xml"/>
  <Override ContentType="application/vnd.openxmlformats-officedocument.presentationml.notesSlide+xml" PartName="/ppt/notesSlides/notesSlide61.xml"/>
  <Override ContentType="application/vnd.openxmlformats-officedocument.presentationml.notesSlide+xml" PartName="/ppt/notesSlides/notesSlide74.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58.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75.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62.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45.xml"/>
  <Override ContentType="application/vnd.openxmlformats-officedocument.presentationml.notesSlide+xml" PartName="/ppt/notesSlides/notesSlide70.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63.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72.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60.xml"/>
  <Override ContentType="application/vnd.openxmlformats-officedocument.presentationml.notesSlide+xml" PartName="/ppt/notesSlides/notesSlide38.xml"/>
  <Override ContentType="application/vnd.openxmlformats-officedocument.presentationml.notesSlide+xml" PartName="/ppt/notesSlides/notesSlide64.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65.xml"/>
  <Override ContentType="application/vnd.openxmlformats-officedocument.presentationml.notesSlide+xml" PartName="/ppt/notesSlides/notesSlide78.xml"/>
  <Override ContentType="application/vnd.openxmlformats-officedocument.presentationml.notesSlide+xml" PartName="/ppt/notesSlides/notesSlide79.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71.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66.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78.xml"/>
  <Override ContentType="application/vnd.openxmlformats-officedocument.presentationml.slide+xml" PartName="/ppt/slides/slide35.xml"/>
  <Override ContentType="application/vnd.openxmlformats-officedocument.presentationml.slide+xml" PartName="/ppt/slides/slide60.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69.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77.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6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71.xml"/>
  <Override ContentType="application/vnd.openxmlformats-officedocument.presentationml.slide+xml" PartName="/ppt/slides/slide41.xml"/>
  <Override ContentType="application/vnd.openxmlformats-officedocument.presentationml.slide+xml" PartName="/ppt/slides/slide67.xml"/>
  <Override ContentType="application/vnd.openxmlformats-officedocument.presentationml.slide+xml" PartName="/ppt/slides/slide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66.xml"/>
  <Override ContentType="application/vnd.openxmlformats-officedocument.presentationml.slide+xml" PartName="/ppt/slides/slide79.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7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73.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82.xml"/>
  <Override ContentType="application/vnd.openxmlformats-officedocument.presentationml.slide+xml" PartName="/ppt/slides/slide39.xml"/>
  <Override ContentType="application/vnd.openxmlformats-officedocument.presentationml.slide+xml" PartName="/ppt/slides/slide65.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72.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64.xml"/>
  <Override ContentType="application/vnd.openxmlformats-officedocument.presentationml.slide+xml" PartName="/ppt/slides/slide81.xml"/>
  <Override ContentType="application/vnd.openxmlformats-officedocument.presentationml.slide+xml" PartName="/ppt/slides/slide8.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59.xml"/>
  <Override ContentType="application/vnd.openxmlformats-officedocument.presentationml.slide+xml" PartName="/ppt/slides/slide32.xml"/>
  <Override ContentType="application/vnd.openxmlformats-officedocument.presentationml.slide+xml" PartName="/ppt/slides/slide62.xml"/>
  <Override ContentType="application/vnd.openxmlformats-officedocument.presentationml.slide+xml" PartName="/ppt/slides/slide75.xml"/>
  <Override ContentType="application/vnd.openxmlformats-officedocument.presentationml.slide+xml" PartName="/ppt/slides/slide76.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63.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80.xml"/>
  <Override ContentType="application/vnd.openxmlformats-officedocument.presentationml.slide+xml" PartName="/ppt/slides/slide15.xml"/>
  <Override ContentType="application/vnd.openxmlformats-officedocument.presentationml.slide+xml" PartName="/ppt/slides/slide61.xml"/>
  <Override ContentType="application/vnd.openxmlformats-officedocument.presentationml.slide+xml" PartName="/ppt/slides/slide31.xml"/>
  <Override ContentType="application/vnd.openxmlformats-officedocument.presentationml.slide+xml" PartName="/ppt/slides/slide74.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54"/>
    <p:sldId id="305" r:id="rId55"/>
    <p:sldId id="306" r:id="rId56"/>
    <p:sldId id="307" r:id="rId57"/>
    <p:sldId id="308" r:id="rId58"/>
    <p:sldId id="309" r:id="rId59"/>
    <p:sldId id="310" r:id="rId60"/>
    <p:sldId id="311" r:id="rId61"/>
    <p:sldId id="312" r:id="rId62"/>
    <p:sldId id="313" r:id="rId63"/>
    <p:sldId id="314" r:id="rId64"/>
    <p:sldId id="315" r:id="rId65"/>
    <p:sldId id="316" r:id="rId66"/>
    <p:sldId id="317" r:id="rId67"/>
    <p:sldId id="318" r:id="rId68"/>
    <p:sldId id="319" r:id="rId69"/>
    <p:sldId id="320" r:id="rId70"/>
    <p:sldId id="321" r:id="rId71"/>
    <p:sldId id="322" r:id="rId72"/>
    <p:sldId id="323" r:id="rId73"/>
    <p:sldId id="324" r:id="rId74"/>
    <p:sldId id="325" r:id="rId75"/>
    <p:sldId id="326" r:id="rId76"/>
    <p:sldId id="327" r:id="rId77"/>
    <p:sldId id="328" r:id="rId78"/>
    <p:sldId id="329" r:id="rId79"/>
    <p:sldId id="330" r:id="rId80"/>
    <p:sldId id="331" r:id="rId81"/>
    <p:sldId id="332" r:id="rId82"/>
    <p:sldId id="333" r:id="rId83"/>
    <p:sldId id="334" r:id="rId84"/>
    <p:sldId id="335" r:id="rId85"/>
    <p:sldId id="336" r:id="rId86"/>
    <p:sldId id="337" r:id="rId87"/>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84" Type="http://schemas.openxmlformats.org/officeDocument/2006/relationships/slide" Target="slides/slide79.xml"/><Relationship Id="rId83" Type="http://schemas.openxmlformats.org/officeDocument/2006/relationships/slide" Target="slides/slide78.xml"/><Relationship Id="rId42" Type="http://schemas.openxmlformats.org/officeDocument/2006/relationships/slide" Target="slides/slide37.xml"/><Relationship Id="rId86" Type="http://schemas.openxmlformats.org/officeDocument/2006/relationships/slide" Target="slides/slide81.xml"/><Relationship Id="rId41" Type="http://schemas.openxmlformats.org/officeDocument/2006/relationships/slide" Target="slides/slide36.xml"/><Relationship Id="rId85" Type="http://schemas.openxmlformats.org/officeDocument/2006/relationships/slide" Target="slides/slide80.xml"/><Relationship Id="rId44" Type="http://schemas.openxmlformats.org/officeDocument/2006/relationships/slide" Target="slides/slide39.xml"/><Relationship Id="rId43" Type="http://schemas.openxmlformats.org/officeDocument/2006/relationships/slide" Target="slides/slide38.xml"/><Relationship Id="rId87" Type="http://schemas.openxmlformats.org/officeDocument/2006/relationships/slide" Target="slides/slide82.xml"/><Relationship Id="rId46" Type="http://schemas.openxmlformats.org/officeDocument/2006/relationships/slide" Target="slides/slide41.xml"/><Relationship Id="rId45" Type="http://schemas.openxmlformats.org/officeDocument/2006/relationships/slide" Target="slides/slide40.xml"/><Relationship Id="rId80" Type="http://schemas.openxmlformats.org/officeDocument/2006/relationships/slide" Target="slides/slide75.xml"/><Relationship Id="rId82" Type="http://schemas.openxmlformats.org/officeDocument/2006/relationships/slide" Target="slides/slide77.xml"/><Relationship Id="rId81" Type="http://schemas.openxmlformats.org/officeDocument/2006/relationships/slide" Target="slides/slide76.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slide" Target="slides/slide43.xml"/><Relationship Id="rId47" Type="http://schemas.openxmlformats.org/officeDocument/2006/relationships/slide" Target="slides/slide42.xml"/><Relationship Id="rId49" Type="http://schemas.openxmlformats.org/officeDocument/2006/relationships/slide" Target="slides/slide4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73" Type="http://schemas.openxmlformats.org/officeDocument/2006/relationships/slide" Target="slides/slide68.xml"/><Relationship Id="rId72" Type="http://schemas.openxmlformats.org/officeDocument/2006/relationships/slide" Target="slides/slide67.xml"/><Relationship Id="rId31" Type="http://schemas.openxmlformats.org/officeDocument/2006/relationships/slide" Target="slides/slide26.xml"/><Relationship Id="rId75" Type="http://schemas.openxmlformats.org/officeDocument/2006/relationships/slide" Target="slides/slide70.xml"/><Relationship Id="rId30" Type="http://schemas.openxmlformats.org/officeDocument/2006/relationships/slide" Target="slides/slide25.xml"/><Relationship Id="rId74" Type="http://schemas.openxmlformats.org/officeDocument/2006/relationships/slide" Target="slides/slide69.xml"/><Relationship Id="rId33" Type="http://schemas.openxmlformats.org/officeDocument/2006/relationships/slide" Target="slides/slide28.xml"/><Relationship Id="rId77" Type="http://schemas.openxmlformats.org/officeDocument/2006/relationships/slide" Target="slides/slide72.xml"/><Relationship Id="rId32" Type="http://schemas.openxmlformats.org/officeDocument/2006/relationships/slide" Target="slides/slide27.xml"/><Relationship Id="rId76" Type="http://schemas.openxmlformats.org/officeDocument/2006/relationships/slide" Target="slides/slide71.xml"/><Relationship Id="rId35" Type="http://schemas.openxmlformats.org/officeDocument/2006/relationships/slide" Target="slides/slide30.xml"/><Relationship Id="rId79" Type="http://schemas.openxmlformats.org/officeDocument/2006/relationships/slide" Target="slides/slide74.xml"/><Relationship Id="rId34" Type="http://schemas.openxmlformats.org/officeDocument/2006/relationships/slide" Target="slides/slide29.xml"/><Relationship Id="rId78" Type="http://schemas.openxmlformats.org/officeDocument/2006/relationships/slide" Target="slides/slide73.xml"/><Relationship Id="rId71" Type="http://schemas.openxmlformats.org/officeDocument/2006/relationships/slide" Target="slides/slide66.xml"/><Relationship Id="rId70" Type="http://schemas.openxmlformats.org/officeDocument/2006/relationships/slide" Target="slides/slide65.xml"/><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62" Type="http://schemas.openxmlformats.org/officeDocument/2006/relationships/slide" Target="slides/slide57.xml"/><Relationship Id="rId61" Type="http://schemas.openxmlformats.org/officeDocument/2006/relationships/slide" Target="slides/slide56.xml"/><Relationship Id="rId20" Type="http://schemas.openxmlformats.org/officeDocument/2006/relationships/slide" Target="slides/slide15.xml"/><Relationship Id="rId64" Type="http://schemas.openxmlformats.org/officeDocument/2006/relationships/slide" Target="slides/slide59.xml"/><Relationship Id="rId63" Type="http://schemas.openxmlformats.org/officeDocument/2006/relationships/slide" Target="slides/slide58.xml"/><Relationship Id="rId22" Type="http://schemas.openxmlformats.org/officeDocument/2006/relationships/slide" Target="slides/slide17.xml"/><Relationship Id="rId66" Type="http://schemas.openxmlformats.org/officeDocument/2006/relationships/slide" Target="slides/slide61.xml"/><Relationship Id="rId21" Type="http://schemas.openxmlformats.org/officeDocument/2006/relationships/slide" Target="slides/slide16.xml"/><Relationship Id="rId65" Type="http://schemas.openxmlformats.org/officeDocument/2006/relationships/slide" Target="slides/slide60.xml"/><Relationship Id="rId24" Type="http://schemas.openxmlformats.org/officeDocument/2006/relationships/slide" Target="slides/slide19.xml"/><Relationship Id="rId68" Type="http://schemas.openxmlformats.org/officeDocument/2006/relationships/slide" Target="slides/slide63.xml"/><Relationship Id="rId23" Type="http://schemas.openxmlformats.org/officeDocument/2006/relationships/slide" Target="slides/slide18.xml"/><Relationship Id="rId67" Type="http://schemas.openxmlformats.org/officeDocument/2006/relationships/slide" Target="slides/slide62.xml"/><Relationship Id="rId60" Type="http://schemas.openxmlformats.org/officeDocument/2006/relationships/slide" Target="slides/slide55.xml"/><Relationship Id="rId26" Type="http://schemas.openxmlformats.org/officeDocument/2006/relationships/slide" Target="slides/slide21.xml"/><Relationship Id="rId25" Type="http://schemas.openxmlformats.org/officeDocument/2006/relationships/slide" Target="slides/slide20.xml"/><Relationship Id="rId69" Type="http://schemas.openxmlformats.org/officeDocument/2006/relationships/slide" Target="slides/slide64.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51" Type="http://schemas.openxmlformats.org/officeDocument/2006/relationships/slide" Target="slides/slide46.xml"/><Relationship Id="rId50" Type="http://schemas.openxmlformats.org/officeDocument/2006/relationships/slide" Target="slides/slide45.xml"/><Relationship Id="rId53" Type="http://schemas.openxmlformats.org/officeDocument/2006/relationships/slide" Target="slides/slide48.xml"/><Relationship Id="rId52" Type="http://schemas.openxmlformats.org/officeDocument/2006/relationships/slide" Target="slides/slide47.xml"/><Relationship Id="rId11" Type="http://schemas.openxmlformats.org/officeDocument/2006/relationships/slide" Target="slides/slide6.xml"/><Relationship Id="rId55" Type="http://schemas.openxmlformats.org/officeDocument/2006/relationships/slide" Target="slides/slide50.xml"/><Relationship Id="rId10" Type="http://schemas.openxmlformats.org/officeDocument/2006/relationships/slide" Target="slides/slide5.xml"/><Relationship Id="rId54" Type="http://schemas.openxmlformats.org/officeDocument/2006/relationships/slide" Target="slides/slide49.xml"/><Relationship Id="rId13" Type="http://schemas.openxmlformats.org/officeDocument/2006/relationships/slide" Target="slides/slide8.xml"/><Relationship Id="rId57" Type="http://schemas.openxmlformats.org/officeDocument/2006/relationships/slide" Target="slides/slide52.xml"/><Relationship Id="rId12" Type="http://schemas.openxmlformats.org/officeDocument/2006/relationships/slide" Target="slides/slide7.xml"/><Relationship Id="rId56" Type="http://schemas.openxmlformats.org/officeDocument/2006/relationships/slide" Target="slides/slide51.xml"/><Relationship Id="rId15" Type="http://schemas.openxmlformats.org/officeDocument/2006/relationships/slide" Target="slides/slide10.xml"/><Relationship Id="rId59" Type="http://schemas.openxmlformats.org/officeDocument/2006/relationships/slide" Target="slides/slide54.xml"/><Relationship Id="rId14" Type="http://schemas.openxmlformats.org/officeDocument/2006/relationships/slide" Target="slides/slide9.xml"/><Relationship Id="rId58" Type="http://schemas.openxmlformats.org/officeDocument/2006/relationships/slide" Target="slides/slide53.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 name="Shape 51"/>
        <p:cNvGrpSpPr/>
        <p:nvPr/>
      </p:nvGrpSpPr>
      <p:grpSpPr>
        <a:xfrm>
          <a:off x="0" y="0"/>
          <a:ext cx="0" cy="0"/>
          <a:chOff x="0" y="0"/>
          <a:chExt cx="0" cy="0"/>
        </a:xfrm>
      </p:grpSpPr>
      <p:sp>
        <p:nvSpPr>
          <p:cNvPr id="52" name="Google Shape;52;ga72c212627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3" name="Google Shape;53;ga72c212627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 name="Shape 57"/>
        <p:cNvGrpSpPr/>
        <p:nvPr/>
      </p:nvGrpSpPr>
      <p:grpSpPr>
        <a:xfrm>
          <a:off x="0" y="0"/>
          <a:ext cx="0" cy="0"/>
          <a:chOff x="0" y="0"/>
          <a:chExt cx="0" cy="0"/>
        </a:xfrm>
      </p:grpSpPr>
      <p:sp>
        <p:nvSpPr>
          <p:cNvPr id="58" name="Google Shape;58;ga72c212627_1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9" name="Google Shape;59;ga72c212627_1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 name="Shape 63"/>
        <p:cNvGrpSpPr/>
        <p:nvPr/>
      </p:nvGrpSpPr>
      <p:grpSpPr>
        <a:xfrm>
          <a:off x="0" y="0"/>
          <a:ext cx="0" cy="0"/>
          <a:chOff x="0" y="0"/>
          <a:chExt cx="0" cy="0"/>
        </a:xfrm>
      </p:grpSpPr>
      <p:sp>
        <p:nvSpPr>
          <p:cNvPr id="64" name="Google Shape;64;ga72c212627_1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5" name="Google Shape;65;ga72c212627_1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 name="Shape 68"/>
        <p:cNvGrpSpPr/>
        <p:nvPr/>
      </p:nvGrpSpPr>
      <p:grpSpPr>
        <a:xfrm>
          <a:off x="0" y="0"/>
          <a:ext cx="0" cy="0"/>
          <a:chOff x="0" y="0"/>
          <a:chExt cx="0" cy="0"/>
        </a:xfrm>
      </p:grpSpPr>
      <p:sp>
        <p:nvSpPr>
          <p:cNvPr id="69" name="Google Shape;69;ga72c212627_1_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0" name="Google Shape;70;ga72c212627_1_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 name="Shape 74"/>
        <p:cNvGrpSpPr/>
        <p:nvPr/>
      </p:nvGrpSpPr>
      <p:grpSpPr>
        <a:xfrm>
          <a:off x="0" y="0"/>
          <a:ext cx="0" cy="0"/>
          <a:chOff x="0" y="0"/>
          <a:chExt cx="0" cy="0"/>
        </a:xfrm>
      </p:grpSpPr>
      <p:sp>
        <p:nvSpPr>
          <p:cNvPr id="75" name="Google Shape;75;ga72c212627_1_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6" name="Google Shape;76;ga72c212627_1_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ga72c212627_1_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2" name="Google Shape;82;ga72c212627_1_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 name="Shape 86"/>
        <p:cNvGrpSpPr/>
        <p:nvPr/>
      </p:nvGrpSpPr>
      <p:grpSpPr>
        <a:xfrm>
          <a:off x="0" y="0"/>
          <a:ext cx="0" cy="0"/>
          <a:chOff x="0" y="0"/>
          <a:chExt cx="0" cy="0"/>
        </a:xfrm>
      </p:grpSpPr>
      <p:sp>
        <p:nvSpPr>
          <p:cNvPr id="87" name="Google Shape;87;ga72c212627_1_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8" name="Google Shape;88;ga72c212627_1_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ga72c212627_1_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4" name="Google Shape;94;ga72c212627_1_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 name="Shape 98"/>
        <p:cNvGrpSpPr/>
        <p:nvPr/>
      </p:nvGrpSpPr>
      <p:grpSpPr>
        <a:xfrm>
          <a:off x="0" y="0"/>
          <a:ext cx="0" cy="0"/>
          <a:chOff x="0" y="0"/>
          <a:chExt cx="0" cy="0"/>
        </a:xfrm>
      </p:grpSpPr>
      <p:sp>
        <p:nvSpPr>
          <p:cNvPr id="99" name="Google Shape;99;ga72c212627_1_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0" name="Google Shape;100;ga72c212627_1_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ga72c212627_1_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6" name="Google Shape;106;ga72c212627_1_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 name="Shape 110"/>
        <p:cNvGrpSpPr/>
        <p:nvPr/>
      </p:nvGrpSpPr>
      <p:grpSpPr>
        <a:xfrm>
          <a:off x="0" y="0"/>
          <a:ext cx="0" cy="0"/>
          <a:chOff x="0" y="0"/>
          <a:chExt cx="0" cy="0"/>
        </a:xfrm>
      </p:grpSpPr>
      <p:sp>
        <p:nvSpPr>
          <p:cNvPr id="111" name="Google Shape;111;ga72c212627_1_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2" name="Google Shape;112;ga72c212627_1_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 name="Shape 115"/>
        <p:cNvGrpSpPr/>
        <p:nvPr/>
      </p:nvGrpSpPr>
      <p:grpSpPr>
        <a:xfrm>
          <a:off x="0" y="0"/>
          <a:ext cx="0" cy="0"/>
          <a:chOff x="0" y="0"/>
          <a:chExt cx="0" cy="0"/>
        </a:xfrm>
      </p:grpSpPr>
      <p:sp>
        <p:nvSpPr>
          <p:cNvPr id="116" name="Google Shape;116;ga72c212627_1_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7" name="Google Shape;117;ga72c212627_1_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 name="Shape 121"/>
        <p:cNvGrpSpPr/>
        <p:nvPr/>
      </p:nvGrpSpPr>
      <p:grpSpPr>
        <a:xfrm>
          <a:off x="0" y="0"/>
          <a:ext cx="0" cy="0"/>
          <a:chOff x="0" y="0"/>
          <a:chExt cx="0" cy="0"/>
        </a:xfrm>
      </p:grpSpPr>
      <p:sp>
        <p:nvSpPr>
          <p:cNvPr id="122" name="Google Shape;122;ga72c212627_1_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3" name="Google Shape;123;ga72c212627_1_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 name="Shape 127"/>
        <p:cNvGrpSpPr/>
        <p:nvPr/>
      </p:nvGrpSpPr>
      <p:grpSpPr>
        <a:xfrm>
          <a:off x="0" y="0"/>
          <a:ext cx="0" cy="0"/>
          <a:chOff x="0" y="0"/>
          <a:chExt cx="0" cy="0"/>
        </a:xfrm>
      </p:grpSpPr>
      <p:sp>
        <p:nvSpPr>
          <p:cNvPr id="128" name="Google Shape;128;ga72c212627_1_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9" name="Google Shape;129;ga72c212627_1_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 name="Shape 132"/>
        <p:cNvGrpSpPr/>
        <p:nvPr/>
      </p:nvGrpSpPr>
      <p:grpSpPr>
        <a:xfrm>
          <a:off x="0" y="0"/>
          <a:ext cx="0" cy="0"/>
          <a:chOff x="0" y="0"/>
          <a:chExt cx="0" cy="0"/>
        </a:xfrm>
      </p:grpSpPr>
      <p:sp>
        <p:nvSpPr>
          <p:cNvPr id="133" name="Google Shape;133;ga72c212627_1_6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4" name="Google Shape;134;ga72c212627_1_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 name="Shape 138"/>
        <p:cNvGrpSpPr/>
        <p:nvPr/>
      </p:nvGrpSpPr>
      <p:grpSpPr>
        <a:xfrm>
          <a:off x="0" y="0"/>
          <a:ext cx="0" cy="0"/>
          <a:chOff x="0" y="0"/>
          <a:chExt cx="0" cy="0"/>
        </a:xfrm>
      </p:grpSpPr>
      <p:sp>
        <p:nvSpPr>
          <p:cNvPr id="139" name="Google Shape;139;ga72c212627_1_7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0" name="Google Shape;140;ga72c212627_1_7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ga72c212627_1_7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6" name="Google Shape;146;ga72c212627_1_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 name="Shape 151"/>
        <p:cNvGrpSpPr/>
        <p:nvPr/>
      </p:nvGrpSpPr>
      <p:grpSpPr>
        <a:xfrm>
          <a:off x="0" y="0"/>
          <a:ext cx="0" cy="0"/>
          <a:chOff x="0" y="0"/>
          <a:chExt cx="0" cy="0"/>
        </a:xfrm>
      </p:grpSpPr>
      <p:sp>
        <p:nvSpPr>
          <p:cNvPr id="152" name="Google Shape;152;ga72c212627_1_8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3" name="Google Shape;153;ga72c212627_1_8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 name="Shape 157"/>
        <p:cNvGrpSpPr/>
        <p:nvPr/>
      </p:nvGrpSpPr>
      <p:grpSpPr>
        <a:xfrm>
          <a:off x="0" y="0"/>
          <a:ext cx="0" cy="0"/>
          <a:chOff x="0" y="0"/>
          <a:chExt cx="0" cy="0"/>
        </a:xfrm>
      </p:grpSpPr>
      <p:sp>
        <p:nvSpPr>
          <p:cNvPr id="158" name="Google Shape;158;ga72c212627_1_8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9" name="Google Shape;159;ga72c212627_1_8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 name="Shape 164"/>
        <p:cNvGrpSpPr/>
        <p:nvPr/>
      </p:nvGrpSpPr>
      <p:grpSpPr>
        <a:xfrm>
          <a:off x="0" y="0"/>
          <a:ext cx="0" cy="0"/>
          <a:chOff x="0" y="0"/>
          <a:chExt cx="0" cy="0"/>
        </a:xfrm>
      </p:grpSpPr>
      <p:sp>
        <p:nvSpPr>
          <p:cNvPr id="165" name="Google Shape;165;ga72c212627_1_9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6" name="Google Shape;166;ga72c212627_1_9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 name="Shape 170"/>
        <p:cNvGrpSpPr/>
        <p:nvPr/>
      </p:nvGrpSpPr>
      <p:grpSpPr>
        <a:xfrm>
          <a:off x="0" y="0"/>
          <a:ext cx="0" cy="0"/>
          <a:chOff x="0" y="0"/>
          <a:chExt cx="0" cy="0"/>
        </a:xfrm>
      </p:grpSpPr>
      <p:sp>
        <p:nvSpPr>
          <p:cNvPr id="171" name="Google Shape;171;ga72c212627_1_9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2" name="Google Shape;172;ga72c212627_1_9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6" name="Shape 176"/>
        <p:cNvGrpSpPr/>
        <p:nvPr/>
      </p:nvGrpSpPr>
      <p:grpSpPr>
        <a:xfrm>
          <a:off x="0" y="0"/>
          <a:ext cx="0" cy="0"/>
          <a:chOff x="0" y="0"/>
          <a:chExt cx="0" cy="0"/>
        </a:xfrm>
      </p:grpSpPr>
      <p:sp>
        <p:nvSpPr>
          <p:cNvPr id="177" name="Google Shape;177;ga72c212627_1_10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8" name="Google Shape;178;ga72c212627_1_10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2" name="Shape 182"/>
        <p:cNvGrpSpPr/>
        <p:nvPr/>
      </p:nvGrpSpPr>
      <p:grpSpPr>
        <a:xfrm>
          <a:off x="0" y="0"/>
          <a:ext cx="0" cy="0"/>
          <a:chOff x="0" y="0"/>
          <a:chExt cx="0" cy="0"/>
        </a:xfrm>
      </p:grpSpPr>
      <p:sp>
        <p:nvSpPr>
          <p:cNvPr id="183" name="Google Shape;183;ga72c212627_1_10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4" name="Google Shape;184;ga72c212627_1_10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8" name="Shape 188"/>
        <p:cNvGrpSpPr/>
        <p:nvPr/>
      </p:nvGrpSpPr>
      <p:grpSpPr>
        <a:xfrm>
          <a:off x="0" y="0"/>
          <a:ext cx="0" cy="0"/>
          <a:chOff x="0" y="0"/>
          <a:chExt cx="0" cy="0"/>
        </a:xfrm>
      </p:grpSpPr>
      <p:sp>
        <p:nvSpPr>
          <p:cNvPr id="189" name="Google Shape;189;ga72c212627_1_1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0" name="Google Shape;190;ga72c212627_1_1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4" name="Shape 194"/>
        <p:cNvGrpSpPr/>
        <p:nvPr/>
      </p:nvGrpSpPr>
      <p:grpSpPr>
        <a:xfrm>
          <a:off x="0" y="0"/>
          <a:ext cx="0" cy="0"/>
          <a:chOff x="0" y="0"/>
          <a:chExt cx="0" cy="0"/>
        </a:xfrm>
      </p:grpSpPr>
      <p:sp>
        <p:nvSpPr>
          <p:cNvPr id="195" name="Google Shape;195;ga72c212627_1_1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6" name="Google Shape;196;ga72c212627_1_1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0" name="Shape 200"/>
        <p:cNvGrpSpPr/>
        <p:nvPr/>
      </p:nvGrpSpPr>
      <p:grpSpPr>
        <a:xfrm>
          <a:off x="0" y="0"/>
          <a:ext cx="0" cy="0"/>
          <a:chOff x="0" y="0"/>
          <a:chExt cx="0" cy="0"/>
        </a:xfrm>
      </p:grpSpPr>
      <p:sp>
        <p:nvSpPr>
          <p:cNvPr id="201" name="Google Shape;201;ga72c212627_1_1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2" name="Google Shape;202;ga72c212627_1_1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6" name="Shape 206"/>
        <p:cNvGrpSpPr/>
        <p:nvPr/>
      </p:nvGrpSpPr>
      <p:grpSpPr>
        <a:xfrm>
          <a:off x="0" y="0"/>
          <a:ext cx="0" cy="0"/>
          <a:chOff x="0" y="0"/>
          <a:chExt cx="0" cy="0"/>
        </a:xfrm>
      </p:grpSpPr>
      <p:sp>
        <p:nvSpPr>
          <p:cNvPr id="207" name="Google Shape;207;ga72c212627_1_1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8" name="Google Shape;208;ga72c212627_1_1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2" name="Shape 212"/>
        <p:cNvGrpSpPr/>
        <p:nvPr/>
      </p:nvGrpSpPr>
      <p:grpSpPr>
        <a:xfrm>
          <a:off x="0" y="0"/>
          <a:ext cx="0" cy="0"/>
          <a:chOff x="0" y="0"/>
          <a:chExt cx="0" cy="0"/>
        </a:xfrm>
      </p:grpSpPr>
      <p:sp>
        <p:nvSpPr>
          <p:cNvPr id="213" name="Google Shape;213;ga72c212627_1_1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4" name="Google Shape;214;ga72c212627_1_1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9" name="Shape 219"/>
        <p:cNvGrpSpPr/>
        <p:nvPr/>
      </p:nvGrpSpPr>
      <p:grpSpPr>
        <a:xfrm>
          <a:off x="0" y="0"/>
          <a:ext cx="0" cy="0"/>
          <a:chOff x="0" y="0"/>
          <a:chExt cx="0" cy="0"/>
        </a:xfrm>
      </p:grpSpPr>
      <p:sp>
        <p:nvSpPr>
          <p:cNvPr id="220" name="Google Shape;220;ga72c212627_1_1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1" name="Google Shape;221;ga72c212627_1_1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6" name="Shape 226"/>
        <p:cNvGrpSpPr/>
        <p:nvPr/>
      </p:nvGrpSpPr>
      <p:grpSpPr>
        <a:xfrm>
          <a:off x="0" y="0"/>
          <a:ext cx="0" cy="0"/>
          <a:chOff x="0" y="0"/>
          <a:chExt cx="0" cy="0"/>
        </a:xfrm>
      </p:grpSpPr>
      <p:sp>
        <p:nvSpPr>
          <p:cNvPr id="227" name="Google Shape;227;ga72c212627_1_1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8" name="Google Shape;228;ga72c212627_1_1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2" name="Shape 232"/>
        <p:cNvGrpSpPr/>
        <p:nvPr/>
      </p:nvGrpSpPr>
      <p:grpSpPr>
        <a:xfrm>
          <a:off x="0" y="0"/>
          <a:ext cx="0" cy="0"/>
          <a:chOff x="0" y="0"/>
          <a:chExt cx="0" cy="0"/>
        </a:xfrm>
      </p:grpSpPr>
      <p:sp>
        <p:nvSpPr>
          <p:cNvPr id="233" name="Google Shape;233;ga72c212627_1_1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4" name="Google Shape;234;ga72c212627_1_1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0" name="Shape 240"/>
        <p:cNvGrpSpPr/>
        <p:nvPr/>
      </p:nvGrpSpPr>
      <p:grpSpPr>
        <a:xfrm>
          <a:off x="0" y="0"/>
          <a:ext cx="0" cy="0"/>
          <a:chOff x="0" y="0"/>
          <a:chExt cx="0" cy="0"/>
        </a:xfrm>
      </p:grpSpPr>
      <p:sp>
        <p:nvSpPr>
          <p:cNvPr id="241" name="Google Shape;241;ga72c212627_1_1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2" name="Google Shape;242;ga72c212627_1_1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6" name="Shape 246"/>
        <p:cNvGrpSpPr/>
        <p:nvPr/>
      </p:nvGrpSpPr>
      <p:grpSpPr>
        <a:xfrm>
          <a:off x="0" y="0"/>
          <a:ext cx="0" cy="0"/>
          <a:chOff x="0" y="0"/>
          <a:chExt cx="0" cy="0"/>
        </a:xfrm>
      </p:grpSpPr>
      <p:sp>
        <p:nvSpPr>
          <p:cNvPr id="247" name="Google Shape;247;ga72c212627_1_1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8" name="Google Shape;248;ga72c212627_1_1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5" name="Shape 255"/>
        <p:cNvGrpSpPr/>
        <p:nvPr/>
      </p:nvGrpSpPr>
      <p:grpSpPr>
        <a:xfrm>
          <a:off x="0" y="0"/>
          <a:ext cx="0" cy="0"/>
          <a:chOff x="0" y="0"/>
          <a:chExt cx="0" cy="0"/>
        </a:xfrm>
      </p:grpSpPr>
      <p:sp>
        <p:nvSpPr>
          <p:cNvPr id="256" name="Google Shape;256;ga72c212627_1_17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7" name="Google Shape;257;ga72c212627_1_17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4" name="Shape 264"/>
        <p:cNvGrpSpPr/>
        <p:nvPr/>
      </p:nvGrpSpPr>
      <p:grpSpPr>
        <a:xfrm>
          <a:off x="0" y="0"/>
          <a:ext cx="0" cy="0"/>
          <a:chOff x="0" y="0"/>
          <a:chExt cx="0" cy="0"/>
        </a:xfrm>
      </p:grpSpPr>
      <p:sp>
        <p:nvSpPr>
          <p:cNvPr id="265" name="Google Shape;265;ga72c212627_1_17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6" name="Google Shape;266;ga72c212627_1_17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0" name="Shape 270"/>
        <p:cNvGrpSpPr/>
        <p:nvPr/>
      </p:nvGrpSpPr>
      <p:grpSpPr>
        <a:xfrm>
          <a:off x="0" y="0"/>
          <a:ext cx="0" cy="0"/>
          <a:chOff x="0" y="0"/>
          <a:chExt cx="0" cy="0"/>
        </a:xfrm>
      </p:grpSpPr>
      <p:sp>
        <p:nvSpPr>
          <p:cNvPr id="271" name="Google Shape;271;ga72c212627_1_18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2" name="Google Shape;272;ga72c212627_1_18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7" name="Shape 277"/>
        <p:cNvGrpSpPr/>
        <p:nvPr/>
      </p:nvGrpSpPr>
      <p:grpSpPr>
        <a:xfrm>
          <a:off x="0" y="0"/>
          <a:ext cx="0" cy="0"/>
          <a:chOff x="0" y="0"/>
          <a:chExt cx="0" cy="0"/>
        </a:xfrm>
      </p:grpSpPr>
      <p:sp>
        <p:nvSpPr>
          <p:cNvPr id="278" name="Google Shape;278;ga72c212627_1_19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9" name="Google Shape;279;ga72c212627_1_19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4" name="Shape 284"/>
        <p:cNvGrpSpPr/>
        <p:nvPr/>
      </p:nvGrpSpPr>
      <p:grpSpPr>
        <a:xfrm>
          <a:off x="0" y="0"/>
          <a:ext cx="0" cy="0"/>
          <a:chOff x="0" y="0"/>
          <a:chExt cx="0" cy="0"/>
        </a:xfrm>
      </p:grpSpPr>
      <p:sp>
        <p:nvSpPr>
          <p:cNvPr id="285" name="Google Shape;285;ga72c212627_1_19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6" name="Google Shape;286;ga72c212627_1_19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9" name="Shape 289"/>
        <p:cNvGrpSpPr/>
        <p:nvPr/>
      </p:nvGrpSpPr>
      <p:grpSpPr>
        <a:xfrm>
          <a:off x="0" y="0"/>
          <a:ext cx="0" cy="0"/>
          <a:chOff x="0" y="0"/>
          <a:chExt cx="0" cy="0"/>
        </a:xfrm>
      </p:grpSpPr>
      <p:sp>
        <p:nvSpPr>
          <p:cNvPr id="290" name="Google Shape;290;ga72c212627_1_20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1" name="Google Shape;291;ga72c212627_1_20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5" name="Shape 295"/>
        <p:cNvGrpSpPr/>
        <p:nvPr/>
      </p:nvGrpSpPr>
      <p:grpSpPr>
        <a:xfrm>
          <a:off x="0" y="0"/>
          <a:ext cx="0" cy="0"/>
          <a:chOff x="0" y="0"/>
          <a:chExt cx="0" cy="0"/>
        </a:xfrm>
      </p:grpSpPr>
      <p:sp>
        <p:nvSpPr>
          <p:cNvPr id="296" name="Google Shape;296;ga72c212627_1_20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7" name="Google Shape;297;ga72c212627_1_20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3" name="Shape 303"/>
        <p:cNvGrpSpPr/>
        <p:nvPr/>
      </p:nvGrpSpPr>
      <p:grpSpPr>
        <a:xfrm>
          <a:off x="0" y="0"/>
          <a:ext cx="0" cy="0"/>
          <a:chOff x="0" y="0"/>
          <a:chExt cx="0" cy="0"/>
        </a:xfrm>
      </p:grpSpPr>
      <p:sp>
        <p:nvSpPr>
          <p:cNvPr id="304" name="Google Shape;304;ga8d4d32ad4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5" name="Google Shape;305;ga8d4d32ad4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2" name="Shape 312"/>
        <p:cNvGrpSpPr/>
        <p:nvPr/>
      </p:nvGrpSpPr>
      <p:grpSpPr>
        <a:xfrm>
          <a:off x="0" y="0"/>
          <a:ext cx="0" cy="0"/>
          <a:chOff x="0" y="0"/>
          <a:chExt cx="0" cy="0"/>
        </a:xfrm>
      </p:grpSpPr>
      <p:sp>
        <p:nvSpPr>
          <p:cNvPr id="313" name="Google Shape;313;ga8d4d32ad4_0_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4" name="Google Shape;314;ga8d4d32ad4_0_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8" name="Shape 318"/>
        <p:cNvGrpSpPr/>
        <p:nvPr/>
      </p:nvGrpSpPr>
      <p:grpSpPr>
        <a:xfrm>
          <a:off x="0" y="0"/>
          <a:ext cx="0" cy="0"/>
          <a:chOff x="0" y="0"/>
          <a:chExt cx="0" cy="0"/>
        </a:xfrm>
      </p:grpSpPr>
      <p:sp>
        <p:nvSpPr>
          <p:cNvPr id="319" name="Google Shape;319;ga8d4d32ad4_0_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0" name="Google Shape;320;ga8d4d32ad4_0_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4" name="Shape 324"/>
        <p:cNvGrpSpPr/>
        <p:nvPr/>
      </p:nvGrpSpPr>
      <p:grpSpPr>
        <a:xfrm>
          <a:off x="0" y="0"/>
          <a:ext cx="0" cy="0"/>
          <a:chOff x="0" y="0"/>
          <a:chExt cx="0" cy="0"/>
        </a:xfrm>
      </p:grpSpPr>
      <p:sp>
        <p:nvSpPr>
          <p:cNvPr id="325" name="Google Shape;325;ga72c212627_1_2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6" name="Google Shape;326;ga72c212627_1_2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0" name="Shape 330"/>
        <p:cNvGrpSpPr/>
        <p:nvPr/>
      </p:nvGrpSpPr>
      <p:grpSpPr>
        <a:xfrm>
          <a:off x="0" y="0"/>
          <a:ext cx="0" cy="0"/>
          <a:chOff x="0" y="0"/>
          <a:chExt cx="0" cy="0"/>
        </a:xfrm>
      </p:grpSpPr>
      <p:sp>
        <p:nvSpPr>
          <p:cNvPr id="331" name="Google Shape;331;ga72c212627_1_2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2" name="Google Shape;332;ga72c212627_1_2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7" name="Shape 337"/>
        <p:cNvGrpSpPr/>
        <p:nvPr/>
      </p:nvGrpSpPr>
      <p:grpSpPr>
        <a:xfrm>
          <a:off x="0" y="0"/>
          <a:ext cx="0" cy="0"/>
          <a:chOff x="0" y="0"/>
          <a:chExt cx="0" cy="0"/>
        </a:xfrm>
      </p:grpSpPr>
      <p:sp>
        <p:nvSpPr>
          <p:cNvPr id="338" name="Google Shape;338;ga72c212627_1_2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9" name="Google Shape;339;ga72c212627_1_2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3" name="Shape 343"/>
        <p:cNvGrpSpPr/>
        <p:nvPr/>
      </p:nvGrpSpPr>
      <p:grpSpPr>
        <a:xfrm>
          <a:off x="0" y="0"/>
          <a:ext cx="0" cy="0"/>
          <a:chOff x="0" y="0"/>
          <a:chExt cx="0" cy="0"/>
        </a:xfrm>
      </p:grpSpPr>
      <p:sp>
        <p:nvSpPr>
          <p:cNvPr id="344" name="Google Shape;344;ga72c212627_1_2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5" name="Google Shape;345;ga72c212627_1_2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0" name="Shape 350"/>
        <p:cNvGrpSpPr/>
        <p:nvPr/>
      </p:nvGrpSpPr>
      <p:grpSpPr>
        <a:xfrm>
          <a:off x="0" y="0"/>
          <a:ext cx="0" cy="0"/>
          <a:chOff x="0" y="0"/>
          <a:chExt cx="0" cy="0"/>
        </a:xfrm>
      </p:grpSpPr>
      <p:sp>
        <p:nvSpPr>
          <p:cNvPr id="351" name="Google Shape;351;ga72c212627_1_2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2" name="Google Shape;352;ga72c212627_1_2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8" name="Shape 358"/>
        <p:cNvGrpSpPr/>
        <p:nvPr/>
      </p:nvGrpSpPr>
      <p:grpSpPr>
        <a:xfrm>
          <a:off x="0" y="0"/>
          <a:ext cx="0" cy="0"/>
          <a:chOff x="0" y="0"/>
          <a:chExt cx="0" cy="0"/>
        </a:xfrm>
      </p:grpSpPr>
      <p:sp>
        <p:nvSpPr>
          <p:cNvPr id="359" name="Google Shape;359;ga72c212627_1_2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0" name="Google Shape;360;ga72c212627_1_2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3" name="Shape 363"/>
        <p:cNvGrpSpPr/>
        <p:nvPr/>
      </p:nvGrpSpPr>
      <p:grpSpPr>
        <a:xfrm>
          <a:off x="0" y="0"/>
          <a:ext cx="0" cy="0"/>
          <a:chOff x="0" y="0"/>
          <a:chExt cx="0" cy="0"/>
        </a:xfrm>
      </p:grpSpPr>
      <p:sp>
        <p:nvSpPr>
          <p:cNvPr id="364" name="Google Shape;364;ga72c212627_1_2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5" name="Google Shape;365;ga72c212627_1_2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9" name="Shape 369"/>
        <p:cNvGrpSpPr/>
        <p:nvPr/>
      </p:nvGrpSpPr>
      <p:grpSpPr>
        <a:xfrm>
          <a:off x="0" y="0"/>
          <a:ext cx="0" cy="0"/>
          <a:chOff x="0" y="0"/>
          <a:chExt cx="0" cy="0"/>
        </a:xfrm>
      </p:grpSpPr>
      <p:sp>
        <p:nvSpPr>
          <p:cNvPr id="370" name="Google Shape;370;ga72c212627_1_2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1" name="Google Shape;371;ga72c212627_1_2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5" name="Shape 375"/>
        <p:cNvGrpSpPr/>
        <p:nvPr/>
      </p:nvGrpSpPr>
      <p:grpSpPr>
        <a:xfrm>
          <a:off x="0" y="0"/>
          <a:ext cx="0" cy="0"/>
          <a:chOff x="0" y="0"/>
          <a:chExt cx="0" cy="0"/>
        </a:xfrm>
      </p:grpSpPr>
      <p:sp>
        <p:nvSpPr>
          <p:cNvPr id="376" name="Google Shape;376;ga72c212627_1_2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7" name="Google Shape;377;ga72c212627_1_2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2" name="Shape 382"/>
        <p:cNvGrpSpPr/>
        <p:nvPr/>
      </p:nvGrpSpPr>
      <p:grpSpPr>
        <a:xfrm>
          <a:off x="0" y="0"/>
          <a:ext cx="0" cy="0"/>
          <a:chOff x="0" y="0"/>
          <a:chExt cx="0" cy="0"/>
        </a:xfrm>
      </p:grpSpPr>
      <p:sp>
        <p:nvSpPr>
          <p:cNvPr id="383" name="Google Shape;383;ga72c212627_1_2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4" name="Google Shape;384;ga72c212627_1_2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8" name="Shape 388"/>
        <p:cNvGrpSpPr/>
        <p:nvPr/>
      </p:nvGrpSpPr>
      <p:grpSpPr>
        <a:xfrm>
          <a:off x="0" y="0"/>
          <a:ext cx="0" cy="0"/>
          <a:chOff x="0" y="0"/>
          <a:chExt cx="0" cy="0"/>
        </a:xfrm>
      </p:grpSpPr>
      <p:sp>
        <p:nvSpPr>
          <p:cNvPr id="389" name="Google Shape;389;ga72c212627_1_26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0" name="Google Shape;390;ga72c212627_1_2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2" name="Shape 402"/>
        <p:cNvGrpSpPr/>
        <p:nvPr/>
      </p:nvGrpSpPr>
      <p:grpSpPr>
        <a:xfrm>
          <a:off x="0" y="0"/>
          <a:ext cx="0" cy="0"/>
          <a:chOff x="0" y="0"/>
          <a:chExt cx="0" cy="0"/>
        </a:xfrm>
      </p:grpSpPr>
      <p:sp>
        <p:nvSpPr>
          <p:cNvPr id="403" name="Google Shape;403;ga72c212627_1_27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4" name="Google Shape;404;ga72c212627_1_27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8" name="Shape 408"/>
        <p:cNvGrpSpPr/>
        <p:nvPr/>
      </p:nvGrpSpPr>
      <p:grpSpPr>
        <a:xfrm>
          <a:off x="0" y="0"/>
          <a:ext cx="0" cy="0"/>
          <a:chOff x="0" y="0"/>
          <a:chExt cx="0" cy="0"/>
        </a:xfrm>
      </p:grpSpPr>
      <p:sp>
        <p:nvSpPr>
          <p:cNvPr id="409" name="Google Shape;409;ga72c212627_1_28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0" name="Google Shape;410;ga72c212627_1_28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4" name="Shape 414"/>
        <p:cNvGrpSpPr/>
        <p:nvPr/>
      </p:nvGrpSpPr>
      <p:grpSpPr>
        <a:xfrm>
          <a:off x="0" y="0"/>
          <a:ext cx="0" cy="0"/>
          <a:chOff x="0" y="0"/>
          <a:chExt cx="0" cy="0"/>
        </a:xfrm>
      </p:grpSpPr>
      <p:sp>
        <p:nvSpPr>
          <p:cNvPr id="415" name="Google Shape;415;ga72c212627_1_28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6" name="Google Shape;416;ga72c212627_1_28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0" name="Shape 420"/>
        <p:cNvGrpSpPr/>
        <p:nvPr/>
      </p:nvGrpSpPr>
      <p:grpSpPr>
        <a:xfrm>
          <a:off x="0" y="0"/>
          <a:ext cx="0" cy="0"/>
          <a:chOff x="0" y="0"/>
          <a:chExt cx="0" cy="0"/>
        </a:xfrm>
      </p:grpSpPr>
      <p:sp>
        <p:nvSpPr>
          <p:cNvPr id="421" name="Google Shape;421;ga72c212627_1_29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2" name="Google Shape;422;ga72c212627_1_29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5" name="Shape 425"/>
        <p:cNvGrpSpPr/>
        <p:nvPr/>
      </p:nvGrpSpPr>
      <p:grpSpPr>
        <a:xfrm>
          <a:off x="0" y="0"/>
          <a:ext cx="0" cy="0"/>
          <a:chOff x="0" y="0"/>
          <a:chExt cx="0" cy="0"/>
        </a:xfrm>
      </p:grpSpPr>
      <p:sp>
        <p:nvSpPr>
          <p:cNvPr id="426" name="Google Shape;426;ga72c212627_1_29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7" name="Google Shape;427;ga72c212627_1_29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1" name="Shape 431"/>
        <p:cNvGrpSpPr/>
        <p:nvPr/>
      </p:nvGrpSpPr>
      <p:grpSpPr>
        <a:xfrm>
          <a:off x="0" y="0"/>
          <a:ext cx="0" cy="0"/>
          <a:chOff x="0" y="0"/>
          <a:chExt cx="0" cy="0"/>
        </a:xfrm>
      </p:grpSpPr>
      <p:sp>
        <p:nvSpPr>
          <p:cNvPr id="432" name="Google Shape;432;ga72c212627_1_30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3" name="Google Shape;433;ga72c212627_1_30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8" name="Shape 438"/>
        <p:cNvGrpSpPr/>
        <p:nvPr/>
      </p:nvGrpSpPr>
      <p:grpSpPr>
        <a:xfrm>
          <a:off x="0" y="0"/>
          <a:ext cx="0" cy="0"/>
          <a:chOff x="0" y="0"/>
          <a:chExt cx="0" cy="0"/>
        </a:xfrm>
      </p:grpSpPr>
      <p:sp>
        <p:nvSpPr>
          <p:cNvPr id="439" name="Google Shape;439;ga72c212627_1_30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40" name="Google Shape;440;ga72c212627_1_30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4" name="Shape 444"/>
        <p:cNvGrpSpPr/>
        <p:nvPr/>
      </p:nvGrpSpPr>
      <p:grpSpPr>
        <a:xfrm>
          <a:off x="0" y="0"/>
          <a:ext cx="0" cy="0"/>
          <a:chOff x="0" y="0"/>
          <a:chExt cx="0" cy="0"/>
        </a:xfrm>
      </p:grpSpPr>
      <p:sp>
        <p:nvSpPr>
          <p:cNvPr id="445" name="Google Shape;445;ga72c212627_1_3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46" name="Google Shape;446;ga72c212627_1_3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0" name="Shape 450"/>
        <p:cNvGrpSpPr/>
        <p:nvPr/>
      </p:nvGrpSpPr>
      <p:grpSpPr>
        <a:xfrm>
          <a:off x="0" y="0"/>
          <a:ext cx="0" cy="0"/>
          <a:chOff x="0" y="0"/>
          <a:chExt cx="0" cy="0"/>
        </a:xfrm>
      </p:grpSpPr>
      <p:sp>
        <p:nvSpPr>
          <p:cNvPr id="451" name="Google Shape;451;ga72c212627_1_3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52" name="Google Shape;452;ga72c212627_1_3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6" name="Shape 456"/>
        <p:cNvGrpSpPr/>
        <p:nvPr/>
      </p:nvGrpSpPr>
      <p:grpSpPr>
        <a:xfrm>
          <a:off x="0" y="0"/>
          <a:ext cx="0" cy="0"/>
          <a:chOff x="0" y="0"/>
          <a:chExt cx="0" cy="0"/>
        </a:xfrm>
      </p:grpSpPr>
      <p:sp>
        <p:nvSpPr>
          <p:cNvPr id="457" name="Google Shape;457;ga72c212627_1_3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58" name="Google Shape;458;ga72c212627_1_3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3" name="Shape 463"/>
        <p:cNvGrpSpPr/>
        <p:nvPr/>
      </p:nvGrpSpPr>
      <p:grpSpPr>
        <a:xfrm>
          <a:off x="0" y="0"/>
          <a:ext cx="0" cy="0"/>
          <a:chOff x="0" y="0"/>
          <a:chExt cx="0" cy="0"/>
        </a:xfrm>
      </p:grpSpPr>
      <p:sp>
        <p:nvSpPr>
          <p:cNvPr id="464" name="Google Shape;464;ga72c212627_1_3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65" name="Google Shape;465;ga72c212627_1_3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0" name="Shape 470"/>
        <p:cNvGrpSpPr/>
        <p:nvPr/>
      </p:nvGrpSpPr>
      <p:grpSpPr>
        <a:xfrm>
          <a:off x="0" y="0"/>
          <a:ext cx="0" cy="0"/>
          <a:chOff x="0" y="0"/>
          <a:chExt cx="0" cy="0"/>
        </a:xfrm>
      </p:grpSpPr>
      <p:sp>
        <p:nvSpPr>
          <p:cNvPr id="471" name="Google Shape;471;ga72c212627_1_3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72" name="Google Shape;472;ga72c212627_1_3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7" name="Shape 477"/>
        <p:cNvGrpSpPr/>
        <p:nvPr/>
      </p:nvGrpSpPr>
      <p:grpSpPr>
        <a:xfrm>
          <a:off x="0" y="0"/>
          <a:ext cx="0" cy="0"/>
          <a:chOff x="0" y="0"/>
          <a:chExt cx="0" cy="0"/>
        </a:xfrm>
      </p:grpSpPr>
      <p:sp>
        <p:nvSpPr>
          <p:cNvPr id="478" name="Google Shape;478;ga72c212627_1_3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79" name="Google Shape;479;ga72c212627_1_3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3" name="Shape 483"/>
        <p:cNvGrpSpPr/>
        <p:nvPr/>
      </p:nvGrpSpPr>
      <p:grpSpPr>
        <a:xfrm>
          <a:off x="0" y="0"/>
          <a:ext cx="0" cy="0"/>
          <a:chOff x="0" y="0"/>
          <a:chExt cx="0" cy="0"/>
        </a:xfrm>
      </p:grpSpPr>
      <p:sp>
        <p:nvSpPr>
          <p:cNvPr id="484" name="Google Shape;484;ga72c212627_1_3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85" name="Google Shape;485;ga72c212627_1_3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0" name="Shape 490"/>
        <p:cNvGrpSpPr/>
        <p:nvPr/>
      </p:nvGrpSpPr>
      <p:grpSpPr>
        <a:xfrm>
          <a:off x="0" y="0"/>
          <a:ext cx="0" cy="0"/>
          <a:chOff x="0" y="0"/>
          <a:chExt cx="0" cy="0"/>
        </a:xfrm>
      </p:grpSpPr>
      <p:sp>
        <p:nvSpPr>
          <p:cNvPr id="491" name="Google Shape;491;ga72c212627_1_3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92" name="Google Shape;492;ga72c212627_1_3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7" name="Shape 497"/>
        <p:cNvGrpSpPr/>
        <p:nvPr/>
      </p:nvGrpSpPr>
      <p:grpSpPr>
        <a:xfrm>
          <a:off x="0" y="0"/>
          <a:ext cx="0" cy="0"/>
          <a:chOff x="0" y="0"/>
          <a:chExt cx="0" cy="0"/>
        </a:xfrm>
      </p:grpSpPr>
      <p:sp>
        <p:nvSpPr>
          <p:cNvPr id="498" name="Google Shape;498;ga72c212627_1_3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99" name="Google Shape;499;ga72c212627_1_3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4" name="Shape 504"/>
        <p:cNvGrpSpPr/>
        <p:nvPr/>
      </p:nvGrpSpPr>
      <p:grpSpPr>
        <a:xfrm>
          <a:off x="0" y="0"/>
          <a:ext cx="0" cy="0"/>
          <a:chOff x="0" y="0"/>
          <a:chExt cx="0" cy="0"/>
        </a:xfrm>
      </p:grpSpPr>
      <p:sp>
        <p:nvSpPr>
          <p:cNvPr id="505" name="Google Shape;505;gfa6272db02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06" name="Google Shape;506;gfa6272db02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1" name="Shape 511"/>
        <p:cNvGrpSpPr/>
        <p:nvPr/>
      </p:nvGrpSpPr>
      <p:grpSpPr>
        <a:xfrm>
          <a:off x="0" y="0"/>
          <a:ext cx="0" cy="0"/>
          <a:chOff x="0" y="0"/>
          <a:chExt cx="0" cy="0"/>
        </a:xfrm>
      </p:grpSpPr>
      <p:sp>
        <p:nvSpPr>
          <p:cNvPr id="512" name="Google Shape;512;ga72c212627_1_37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13" name="Google Shape;513;ga72c212627_1_3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8" name="Shape 518"/>
        <p:cNvGrpSpPr/>
        <p:nvPr/>
      </p:nvGrpSpPr>
      <p:grpSpPr>
        <a:xfrm>
          <a:off x="0" y="0"/>
          <a:ext cx="0" cy="0"/>
          <a:chOff x="0" y="0"/>
          <a:chExt cx="0" cy="0"/>
        </a:xfrm>
      </p:grpSpPr>
      <p:sp>
        <p:nvSpPr>
          <p:cNvPr id="519" name="Google Shape;519;ga72c212627_1_37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0" name="Google Shape;520;ga72c212627_1_3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5" name="Shape 525"/>
        <p:cNvGrpSpPr/>
        <p:nvPr/>
      </p:nvGrpSpPr>
      <p:grpSpPr>
        <a:xfrm>
          <a:off x="0" y="0"/>
          <a:ext cx="0" cy="0"/>
          <a:chOff x="0" y="0"/>
          <a:chExt cx="0" cy="0"/>
        </a:xfrm>
      </p:grpSpPr>
      <p:sp>
        <p:nvSpPr>
          <p:cNvPr id="526" name="Google Shape;526;ga72c212627_1_38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7" name="Google Shape;527;ga72c212627_1_3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0" name="Shape 530"/>
        <p:cNvGrpSpPr/>
        <p:nvPr/>
      </p:nvGrpSpPr>
      <p:grpSpPr>
        <a:xfrm>
          <a:off x="0" y="0"/>
          <a:ext cx="0" cy="0"/>
          <a:chOff x="0" y="0"/>
          <a:chExt cx="0" cy="0"/>
        </a:xfrm>
      </p:grpSpPr>
      <p:sp>
        <p:nvSpPr>
          <p:cNvPr id="531" name="Google Shape;531;ga72c212627_1_38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32" name="Google Shape;532;ga72c212627_1_38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9" name="Shape 539"/>
        <p:cNvGrpSpPr/>
        <p:nvPr/>
      </p:nvGrpSpPr>
      <p:grpSpPr>
        <a:xfrm>
          <a:off x="0" y="0"/>
          <a:ext cx="0" cy="0"/>
          <a:chOff x="0" y="0"/>
          <a:chExt cx="0" cy="0"/>
        </a:xfrm>
      </p:grpSpPr>
      <p:sp>
        <p:nvSpPr>
          <p:cNvPr id="540" name="Google Shape;540;ga72c212627_1_39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41" name="Google Shape;541;ga72c212627_1_39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6" name="Shape 546"/>
        <p:cNvGrpSpPr/>
        <p:nvPr/>
      </p:nvGrpSpPr>
      <p:grpSpPr>
        <a:xfrm>
          <a:off x="0" y="0"/>
          <a:ext cx="0" cy="0"/>
          <a:chOff x="0" y="0"/>
          <a:chExt cx="0" cy="0"/>
        </a:xfrm>
      </p:grpSpPr>
      <p:sp>
        <p:nvSpPr>
          <p:cNvPr id="547" name="Google Shape;547;ga72c212627_1_40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48" name="Google Shape;548;ga72c212627_1_40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2" name="Shape 552"/>
        <p:cNvGrpSpPr/>
        <p:nvPr/>
      </p:nvGrpSpPr>
      <p:grpSpPr>
        <a:xfrm>
          <a:off x="0" y="0"/>
          <a:ext cx="0" cy="0"/>
          <a:chOff x="0" y="0"/>
          <a:chExt cx="0" cy="0"/>
        </a:xfrm>
      </p:grpSpPr>
      <p:sp>
        <p:nvSpPr>
          <p:cNvPr id="553" name="Google Shape;553;ga72c212627_1_40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54" name="Google Shape;554;ga72c212627_1_40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8" name="Shape 558"/>
        <p:cNvGrpSpPr/>
        <p:nvPr/>
      </p:nvGrpSpPr>
      <p:grpSpPr>
        <a:xfrm>
          <a:off x="0" y="0"/>
          <a:ext cx="0" cy="0"/>
          <a:chOff x="0" y="0"/>
          <a:chExt cx="0" cy="0"/>
        </a:xfrm>
      </p:grpSpPr>
      <p:sp>
        <p:nvSpPr>
          <p:cNvPr id="559" name="Google Shape;559;ga72c212627_1_4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60" name="Google Shape;560;ga72c212627_1_4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4" name="Shape 564"/>
        <p:cNvGrpSpPr/>
        <p:nvPr/>
      </p:nvGrpSpPr>
      <p:grpSpPr>
        <a:xfrm>
          <a:off x="0" y="0"/>
          <a:ext cx="0" cy="0"/>
          <a:chOff x="0" y="0"/>
          <a:chExt cx="0" cy="0"/>
        </a:xfrm>
      </p:grpSpPr>
      <p:sp>
        <p:nvSpPr>
          <p:cNvPr id="565" name="Google Shape;565;ga72c212627_1_4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66" name="Google Shape;566;ga72c212627_1_4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0" name="Shape 570"/>
        <p:cNvGrpSpPr/>
        <p:nvPr/>
      </p:nvGrpSpPr>
      <p:grpSpPr>
        <a:xfrm>
          <a:off x="0" y="0"/>
          <a:ext cx="0" cy="0"/>
          <a:chOff x="0" y="0"/>
          <a:chExt cx="0" cy="0"/>
        </a:xfrm>
      </p:grpSpPr>
      <p:sp>
        <p:nvSpPr>
          <p:cNvPr id="571" name="Google Shape;571;gfa6272db02_0_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72" name="Google Shape;572;gfa6272db02_0_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9" name="Shape 579"/>
        <p:cNvGrpSpPr/>
        <p:nvPr/>
      </p:nvGrpSpPr>
      <p:grpSpPr>
        <a:xfrm>
          <a:off x="0" y="0"/>
          <a:ext cx="0" cy="0"/>
          <a:chOff x="0" y="0"/>
          <a:chExt cx="0" cy="0"/>
        </a:xfrm>
      </p:grpSpPr>
      <p:sp>
        <p:nvSpPr>
          <p:cNvPr id="580" name="Google Shape;580;ga72c212627_1_4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1" name="Google Shape;581;ga72c212627_1_4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0" name="Shape 10"/>
        <p:cNvGrpSpPr/>
        <p:nvPr/>
      </p:nvGrpSpPr>
      <p:grpSpPr>
        <a:xfrm>
          <a:off x="0" y="0"/>
          <a:ext cx="0" cy="0"/>
          <a:chOff x="0" y="0"/>
          <a:chExt cx="0" cy="0"/>
        </a:xfrm>
      </p:grpSpPr>
      <p:sp>
        <p:nvSpPr>
          <p:cNvPr id="11" name="Google Shape;11;p2"/>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2" name="Google Shape;12;p2"/>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3" name="Google Shape;13;p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4" name="Shape 14"/>
        <p:cNvGrpSpPr/>
        <p:nvPr/>
      </p:nvGrpSpPr>
      <p:grpSpPr>
        <a:xfrm>
          <a:off x="0" y="0"/>
          <a:ext cx="0" cy="0"/>
          <a:chOff x="0" y="0"/>
          <a:chExt cx="0" cy="0"/>
        </a:xfrm>
      </p:grpSpPr>
      <p:sp>
        <p:nvSpPr>
          <p:cNvPr id="15" name="Google Shape;15;p3"/>
          <p:cNvSpPr txBox="1"/>
          <p:nvPr>
            <p:ph type="title"/>
          </p:nvPr>
        </p:nvSpPr>
        <p:spPr>
          <a:xfrm>
            <a:off x="311700" y="2150850"/>
            <a:ext cx="8520600" cy="841800"/>
          </a:xfrm>
          <a:prstGeom prst="rect">
            <a:avLst/>
          </a:prstGeom>
        </p:spPr>
        <p:txBody>
          <a:bodyPr anchorCtr="0" anchor="ctr" bIns="91425" lIns="91425" spcFirstLastPara="1" rIns="91425" wrap="square" tIns="91425">
            <a:no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6" name="Google Shape;16;p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7" name="Shape 17"/>
        <p:cNvGrpSpPr/>
        <p:nvPr/>
      </p:nvGrpSpPr>
      <p:grpSpPr>
        <a:xfrm>
          <a:off x="0" y="0"/>
          <a:ext cx="0" cy="0"/>
          <a:chOff x="0" y="0"/>
          <a:chExt cx="0" cy="0"/>
        </a:xfrm>
      </p:grpSpPr>
      <p:sp>
        <p:nvSpPr>
          <p:cNvPr id="18" name="Google Shape;18;p4"/>
          <p:cNvSpPr txBox="1"/>
          <p:nvPr>
            <p:ph type="title"/>
          </p:nvPr>
        </p:nvSpPr>
        <p:spPr>
          <a:xfrm>
            <a:off x="311700" y="64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9" name="Google Shape;19;p4"/>
          <p:cNvSpPr txBox="1"/>
          <p:nvPr>
            <p:ph idx="1" type="body"/>
          </p:nvPr>
        </p:nvSpPr>
        <p:spPr>
          <a:xfrm>
            <a:off x="311700" y="619075"/>
            <a:ext cx="8520600" cy="34164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SzPts val="1800"/>
              <a:buChar char="●"/>
              <a:defRPr/>
            </a:lvl1pPr>
            <a:lvl2pPr indent="-317500" lvl="1" marL="914400">
              <a:spcBef>
                <a:spcPts val="1600"/>
              </a:spcBef>
              <a:spcAft>
                <a:spcPts val="0"/>
              </a:spcAft>
              <a:buSzPts val="1400"/>
              <a:buChar char="○"/>
              <a:defRPr/>
            </a:lvl2pPr>
            <a:lvl3pPr indent="-317500" lvl="2" marL="1371600">
              <a:spcBef>
                <a:spcPts val="1600"/>
              </a:spcBef>
              <a:spcAft>
                <a:spcPts val="0"/>
              </a:spcAft>
              <a:buSzPts val="1400"/>
              <a:buChar char="■"/>
              <a:defRPr/>
            </a:lvl3pPr>
            <a:lvl4pPr indent="-317500" lvl="3" marL="1828800">
              <a:spcBef>
                <a:spcPts val="1600"/>
              </a:spcBef>
              <a:spcAft>
                <a:spcPts val="0"/>
              </a:spcAft>
              <a:buSzPts val="1400"/>
              <a:buChar char="●"/>
              <a:defRPr/>
            </a:lvl4pPr>
            <a:lvl5pPr indent="-317500" lvl="4" marL="2286000">
              <a:spcBef>
                <a:spcPts val="1600"/>
              </a:spcBef>
              <a:spcAft>
                <a:spcPts val="0"/>
              </a:spcAft>
              <a:buSzPts val="1400"/>
              <a:buChar char="○"/>
              <a:defRPr/>
            </a:lvl5pPr>
            <a:lvl6pPr indent="-317500" lvl="5" marL="2743200">
              <a:spcBef>
                <a:spcPts val="1600"/>
              </a:spcBef>
              <a:spcAft>
                <a:spcPts val="0"/>
              </a:spcAft>
              <a:buSzPts val="1400"/>
              <a:buChar char="■"/>
              <a:defRPr/>
            </a:lvl6pPr>
            <a:lvl7pPr indent="-317500" lvl="6" marL="3200400">
              <a:spcBef>
                <a:spcPts val="1600"/>
              </a:spcBef>
              <a:spcAft>
                <a:spcPts val="0"/>
              </a:spcAft>
              <a:buSzPts val="1400"/>
              <a:buChar char="●"/>
              <a:defRPr/>
            </a:lvl7pPr>
            <a:lvl8pPr indent="-317500" lvl="7" marL="3657600">
              <a:spcBef>
                <a:spcPts val="1600"/>
              </a:spcBef>
              <a:spcAft>
                <a:spcPts val="0"/>
              </a:spcAft>
              <a:buSzPts val="1400"/>
              <a:buChar char="○"/>
              <a:defRPr/>
            </a:lvl8pPr>
            <a:lvl9pPr indent="-317500" lvl="8" marL="4114800">
              <a:spcBef>
                <a:spcPts val="1600"/>
              </a:spcBef>
              <a:spcAft>
                <a:spcPts val="1600"/>
              </a:spcAft>
              <a:buSzPts val="1400"/>
              <a:buChar char="■"/>
              <a:defRPr/>
            </a:lvl9pPr>
          </a:lstStyle>
          <a:p/>
        </p:txBody>
      </p:sp>
      <p:sp>
        <p:nvSpPr>
          <p:cNvPr id="20" name="Google Shape;20;p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1" name="Shape 21"/>
        <p:cNvGrpSpPr/>
        <p:nvPr/>
      </p:nvGrpSpPr>
      <p:grpSpPr>
        <a:xfrm>
          <a:off x="0" y="0"/>
          <a:ext cx="0" cy="0"/>
          <a:chOff x="0" y="0"/>
          <a:chExt cx="0" cy="0"/>
        </a:xfrm>
      </p:grpSpPr>
      <p:sp>
        <p:nvSpPr>
          <p:cNvPr id="22" name="Google Shape;22;p5"/>
          <p:cNvSpPr txBox="1"/>
          <p:nvPr>
            <p:ph type="title"/>
          </p:nvPr>
        </p:nvSpPr>
        <p:spPr>
          <a:xfrm>
            <a:off x="311700" y="64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3" name="Google Shape;23;p5"/>
          <p:cNvSpPr txBox="1"/>
          <p:nvPr>
            <p:ph idx="1" type="body"/>
          </p:nvPr>
        </p:nvSpPr>
        <p:spPr>
          <a:xfrm>
            <a:off x="311700" y="1152475"/>
            <a:ext cx="3999900" cy="3416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24" name="Google Shape;24;p5"/>
          <p:cNvSpPr txBox="1"/>
          <p:nvPr>
            <p:ph idx="2" type="body"/>
          </p:nvPr>
        </p:nvSpPr>
        <p:spPr>
          <a:xfrm>
            <a:off x="4832400" y="1152475"/>
            <a:ext cx="3999900" cy="3416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25" name="Google Shape;25;p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6" name="Shape 26"/>
        <p:cNvGrpSpPr/>
        <p:nvPr/>
      </p:nvGrpSpPr>
      <p:grpSpPr>
        <a:xfrm>
          <a:off x="0" y="0"/>
          <a:ext cx="0" cy="0"/>
          <a:chOff x="0" y="0"/>
          <a:chExt cx="0" cy="0"/>
        </a:xfrm>
      </p:grpSpPr>
      <p:sp>
        <p:nvSpPr>
          <p:cNvPr id="27" name="Google Shape;27;p6"/>
          <p:cNvSpPr txBox="1"/>
          <p:nvPr>
            <p:ph type="title"/>
          </p:nvPr>
        </p:nvSpPr>
        <p:spPr>
          <a:xfrm>
            <a:off x="311700" y="64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8" name="Google Shape;28;p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9" name="Shape 29"/>
        <p:cNvGrpSpPr/>
        <p:nvPr/>
      </p:nvGrpSpPr>
      <p:grpSpPr>
        <a:xfrm>
          <a:off x="0" y="0"/>
          <a:ext cx="0" cy="0"/>
          <a:chOff x="0" y="0"/>
          <a:chExt cx="0" cy="0"/>
        </a:xfrm>
      </p:grpSpPr>
      <p:sp>
        <p:nvSpPr>
          <p:cNvPr id="30" name="Google Shape;30;p7"/>
          <p:cNvSpPr txBox="1"/>
          <p:nvPr>
            <p:ph type="title"/>
          </p:nvPr>
        </p:nvSpPr>
        <p:spPr>
          <a:xfrm>
            <a:off x="311700" y="555600"/>
            <a:ext cx="2808000" cy="755700"/>
          </a:xfrm>
          <a:prstGeom prst="rect">
            <a:avLst/>
          </a:prstGeom>
        </p:spPr>
        <p:txBody>
          <a:bodyPr anchorCtr="0" anchor="b" bIns="91425" lIns="91425" spcFirstLastPara="1" rIns="91425" wrap="square" tIns="91425">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1" name="Google Shape;31;p7"/>
          <p:cNvSpPr txBox="1"/>
          <p:nvPr>
            <p:ph idx="1" type="body"/>
          </p:nvPr>
        </p:nvSpPr>
        <p:spPr>
          <a:xfrm>
            <a:off x="311700" y="1389600"/>
            <a:ext cx="2808000" cy="3179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32" name="Google Shape;32;p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3" name="Shape 33"/>
        <p:cNvGrpSpPr/>
        <p:nvPr/>
      </p:nvGrpSpPr>
      <p:grpSpPr>
        <a:xfrm>
          <a:off x="0" y="0"/>
          <a:ext cx="0" cy="0"/>
          <a:chOff x="0" y="0"/>
          <a:chExt cx="0" cy="0"/>
        </a:xfrm>
      </p:grpSpPr>
      <p:sp>
        <p:nvSpPr>
          <p:cNvPr id="34" name="Google Shape;34;p8"/>
          <p:cNvSpPr txBox="1"/>
          <p:nvPr>
            <p:ph type="title"/>
          </p:nvPr>
        </p:nvSpPr>
        <p:spPr>
          <a:xfrm>
            <a:off x="490250" y="450150"/>
            <a:ext cx="6367800" cy="4090800"/>
          </a:xfrm>
          <a:prstGeom prst="rect">
            <a:avLst/>
          </a:prstGeom>
        </p:spPr>
        <p:txBody>
          <a:bodyPr anchorCtr="0" anchor="ctr" bIns="91425" lIns="91425" spcFirstLastPara="1" rIns="91425" wrap="square" tIns="91425">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5" name="Google Shape;35;p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6" name="Shape 36"/>
        <p:cNvGrpSpPr/>
        <p:nvPr/>
      </p:nvGrpSpPr>
      <p:grpSpPr>
        <a:xfrm>
          <a:off x="0" y="0"/>
          <a:ext cx="0" cy="0"/>
          <a:chOff x="0" y="0"/>
          <a:chExt cx="0" cy="0"/>
        </a:xfrm>
      </p:grpSpPr>
      <p:sp>
        <p:nvSpPr>
          <p:cNvPr id="37" name="Google Shape;37;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 name="Google Shape;38;p9"/>
          <p:cNvSpPr txBox="1"/>
          <p:nvPr>
            <p:ph type="title"/>
          </p:nvPr>
        </p:nvSpPr>
        <p:spPr>
          <a:xfrm>
            <a:off x="265500" y="1233175"/>
            <a:ext cx="4045200" cy="1482300"/>
          </a:xfrm>
          <a:prstGeom prst="rect">
            <a:avLst/>
          </a:prstGeom>
        </p:spPr>
        <p:txBody>
          <a:bodyPr anchorCtr="0" anchor="b" bIns="91425" lIns="91425" spcFirstLastPara="1" rIns="91425" wrap="square" tIns="91425">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9" name="Google Shape;39;p9"/>
          <p:cNvSpPr txBox="1"/>
          <p:nvPr>
            <p:ph idx="1" type="subTitle"/>
          </p:nvPr>
        </p:nvSpPr>
        <p:spPr>
          <a:xfrm>
            <a:off x="265500" y="2803075"/>
            <a:ext cx="4045200" cy="12351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40" name="Google Shape;40;p9"/>
          <p:cNvSpPr txBox="1"/>
          <p:nvPr>
            <p:ph idx="2" type="body"/>
          </p:nvPr>
        </p:nvSpPr>
        <p:spPr>
          <a:xfrm>
            <a:off x="4939500" y="724075"/>
            <a:ext cx="3837000" cy="3695100"/>
          </a:xfrm>
          <a:prstGeom prst="rect">
            <a:avLst/>
          </a:prstGeom>
        </p:spPr>
        <p:txBody>
          <a:bodyPr anchorCtr="0" anchor="ctr" bIns="91425" lIns="91425" spcFirstLastPara="1" rIns="91425" wrap="square" tIns="91425">
            <a:noAutofit/>
          </a:bodyPr>
          <a:lstStyle>
            <a:lvl1pPr indent="-342900" lvl="0" marL="457200">
              <a:spcBef>
                <a:spcPts val="0"/>
              </a:spcBef>
              <a:spcAft>
                <a:spcPts val="0"/>
              </a:spcAft>
              <a:buSzPts val="1800"/>
              <a:buChar char="●"/>
              <a:defRPr/>
            </a:lvl1pPr>
            <a:lvl2pPr indent="-317500" lvl="1" marL="914400">
              <a:spcBef>
                <a:spcPts val="1600"/>
              </a:spcBef>
              <a:spcAft>
                <a:spcPts val="0"/>
              </a:spcAft>
              <a:buSzPts val="1400"/>
              <a:buChar char="○"/>
              <a:defRPr/>
            </a:lvl2pPr>
            <a:lvl3pPr indent="-317500" lvl="2" marL="1371600">
              <a:spcBef>
                <a:spcPts val="1600"/>
              </a:spcBef>
              <a:spcAft>
                <a:spcPts val="0"/>
              </a:spcAft>
              <a:buSzPts val="1400"/>
              <a:buChar char="■"/>
              <a:defRPr/>
            </a:lvl3pPr>
            <a:lvl4pPr indent="-317500" lvl="3" marL="1828800">
              <a:spcBef>
                <a:spcPts val="1600"/>
              </a:spcBef>
              <a:spcAft>
                <a:spcPts val="0"/>
              </a:spcAft>
              <a:buSzPts val="1400"/>
              <a:buChar char="●"/>
              <a:defRPr/>
            </a:lvl4pPr>
            <a:lvl5pPr indent="-317500" lvl="4" marL="2286000">
              <a:spcBef>
                <a:spcPts val="1600"/>
              </a:spcBef>
              <a:spcAft>
                <a:spcPts val="0"/>
              </a:spcAft>
              <a:buSzPts val="1400"/>
              <a:buChar char="○"/>
              <a:defRPr/>
            </a:lvl5pPr>
            <a:lvl6pPr indent="-317500" lvl="5" marL="2743200">
              <a:spcBef>
                <a:spcPts val="1600"/>
              </a:spcBef>
              <a:spcAft>
                <a:spcPts val="0"/>
              </a:spcAft>
              <a:buSzPts val="1400"/>
              <a:buChar char="■"/>
              <a:defRPr/>
            </a:lvl6pPr>
            <a:lvl7pPr indent="-317500" lvl="6" marL="3200400">
              <a:spcBef>
                <a:spcPts val="1600"/>
              </a:spcBef>
              <a:spcAft>
                <a:spcPts val="0"/>
              </a:spcAft>
              <a:buSzPts val="1400"/>
              <a:buChar char="●"/>
              <a:defRPr/>
            </a:lvl7pPr>
            <a:lvl8pPr indent="-317500" lvl="7" marL="3657600">
              <a:spcBef>
                <a:spcPts val="1600"/>
              </a:spcBef>
              <a:spcAft>
                <a:spcPts val="0"/>
              </a:spcAft>
              <a:buSzPts val="1400"/>
              <a:buChar char="○"/>
              <a:defRPr/>
            </a:lvl8pPr>
            <a:lvl9pPr indent="-317500" lvl="8" marL="4114800">
              <a:spcBef>
                <a:spcPts val="1600"/>
              </a:spcBef>
              <a:spcAft>
                <a:spcPts val="1600"/>
              </a:spcAft>
              <a:buSzPts val="1400"/>
              <a:buChar char="■"/>
              <a:defRPr/>
            </a:lvl9pPr>
          </a:lstStyle>
          <a:p/>
        </p:txBody>
      </p:sp>
      <p:sp>
        <p:nvSpPr>
          <p:cNvPr id="41" name="Google Shape;41;p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2" name="Shape 42"/>
        <p:cNvGrpSpPr/>
        <p:nvPr/>
      </p:nvGrpSpPr>
      <p:grpSpPr>
        <a:xfrm>
          <a:off x="0" y="0"/>
          <a:ext cx="0" cy="0"/>
          <a:chOff x="0" y="0"/>
          <a:chExt cx="0" cy="0"/>
        </a:xfrm>
      </p:grpSpPr>
      <p:sp>
        <p:nvSpPr>
          <p:cNvPr id="43" name="Google Shape;43;p10"/>
          <p:cNvSpPr txBox="1"/>
          <p:nvPr>
            <p:ph idx="1" type="body"/>
          </p:nvPr>
        </p:nvSpPr>
        <p:spPr>
          <a:xfrm>
            <a:off x="311700" y="4230575"/>
            <a:ext cx="5998800" cy="605100"/>
          </a:xfrm>
          <a:prstGeom prst="rect">
            <a:avLst/>
          </a:prstGeom>
        </p:spPr>
        <p:txBody>
          <a:bodyPr anchorCtr="0" anchor="ctr" bIns="91425" lIns="91425" spcFirstLastPara="1" rIns="91425" wrap="square" tIns="91425">
            <a:noAutofit/>
          </a:bodyPr>
          <a:lstStyle>
            <a:lvl1pPr indent="-228600" lvl="0" marL="457200">
              <a:lnSpc>
                <a:spcPct val="100000"/>
              </a:lnSpc>
              <a:spcBef>
                <a:spcPts val="0"/>
              </a:spcBef>
              <a:spcAft>
                <a:spcPts val="0"/>
              </a:spcAft>
              <a:buSzPts val="1800"/>
              <a:buNone/>
              <a:defRPr/>
            </a:lvl1pPr>
          </a:lstStyle>
          <a:p/>
        </p:txBody>
      </p:sp>
      <p:sp>
        <p:nvSpPr>
          <p:cNvPr id="44" name="Google Shape;44;p1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5" name="Shape 45"/>
        <p:cNvGrpSpPr/>
        <p:nvPr/>
      </p:nvGrpSpPr>
      <p:grpSpPr>
        <a:xfrm>
          <a:off x="0" y="0"/>
          <a:ext cx="0" cy="0"/>
          <a:chOff x="0" y="0"/>
          <a:chExt cx="0" cy="0"/>
        </a:xfrm>
      </p:grpSpPr>
      <p:sp>
        <p:nvSpPr>
          <p:cNvPr id="46" name="Google Shape;46;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7" name="Google Shape;47;p11"/>
          <p:cNvSpPr txBox="1"/>
          <p:nvPr>
            <p:ph idx="1" type="body"/>
          </p:nvPr>
        </p:nvSpPr>
        <p:spPr>
          <a:xfrm>
            <a:off x="311700" y="3152225"/>
            <a:ext cx="8520600" cy="1300800"/>
          </a:xfrm>
          <a:prstGeom prst="rect">
            <a:avLst/>
          </a:prstGeom>
        </p:spPr>
        <p:txBody>
          <a:bodyPr anchorCtr="0" anchor="t" bIns="91425" lIns="91425" spcFirstLastPara="1" rIns="91425" wrap="square" tIns="91425">
            <a:noAutofit/>
          </a:bodyPr>
          <a:lstStyle>
            <a:lvl1pPr indent="-342900" lvl="0" marL="457200" algn="ctr">
              <a:spcBef>
                <a:spcPts val="0"/>
              </a:spcBef>
              <a:spcAft>
                <a:spcPts val="0"/>
              </a:spcAft>
              <a:buSzPts val="1800"/>
              <a:buChar char="●"/>
              <a:defRPr/>
            </a:lvl1pPr>
            <a:lvl2pPr indent="-317500" lvl="1" marL="914400" algn="ctr">
              <a:spcBef>
                <a:spcPts val="1600"/>
              </a:spcBef>
              <a:spcAft>
                <a:spcPts val="0"/>
              </a:spcAft>
              <a:buSzPts val="1400"/>
              <a:buChar char="○"/>
              <a:defRPr/>
            </a:lvl2pPr>
            <a:lvl3pPr indent="-317500" lvl="2" marL="1371600" algn="ctr">
              <a:spcBef>
                <a:spcPts val="1600"/>
              </a:spcBef>
              <a:spcAft>
                <a:spcPts val="0"/>
              </a:spcAft>
              <a:buSzPts val="1400"/>
              <a:buChar char="■"/>
              <a:defRPr/>
            </a:lvl3pPr>
            <a:lvl4pPr indent="-317500" lvl="3" marL="1828800" algn="ctr">
              <a:spcBef>
                <a:spcPts val="1600"/>
              </a:spcBef>
              <a:spcAft>
                <a:spcPts val="0"/>
              </a:spcAft>
              <a:buSzPts val="1400"/>
              <a:buChar char="●"/>
              <a:defRPr/>
            </a:lvl4pPr>
            <a:lvl5pPr indent="-317500" lvl="4" marL="2286000" algn="ctr">
              <a:spcBef>
                <a:spcPts val="1600"/>
              </a:spcBef>
              <a:spcAft>
                <a:spcPts val="0"/>
              </a:spcAft>
              <a:buSzPts val="1400"/>
              <a:buChar char="○"/>
              <a:defRPr/>
            </a:lvl5pPr>
            <a:lvl6pPr indent="-317500" lvl="5" marL="2743200" algn="ctr">
              <a:spcBef>
                <a:spcPts val="1600"/>
              </a:spcBef>
              <a:spcAft>
                <a:spcPts val="0"/>
              </a:spcAft>
              <a:buSzPts val="1400"/>
              <a:buChar char="■"/>
              <a:defRPr/>
            </a:lvl6pPr>
            <a:lvl7pPr indent="-317500" lvl="6" marL="3200400" algn="ctr">
              <a:spcBef>
                <a:spcPts val="1600"/>
              </a:spcBef>
              <a:spcAft>
                <a:spcPts val="0"/>
              </a:spcAft>
              <a:buSzPts val="1400"/>
              <a:buChar char="●"/>
              <a:defRPr/>
            </a:lvl7pPr>
            <a:lvl8pPr indent="-317500" lvl="7" marL="3657600" algn="ctr">
              <a:spcBef>
                <a:spcPts val="1600"/>
              </a:spcBef>
              <a:spcAft>
                <a:spcPts val="0"/>
              </a:spcAft>
              <a:buSzPts val="1400"/>
              <a:buChar char="○"/>
              <a:defRPr/>
            </a:lvl8pPr>
            <a:lvl9pPr indent="-317500" lvl="8" marL="4114800" algn="ctr">
              <a:spcBef>
                <a:spcPts val="1600"/>
              </a:spcBef>
              <a:spcAft>
                <a:spcPts val="1600"/>
              </a:spcAft>
              <a:buSzPts val="1400"/>
              <a:buChar char="■"/>
              <a:defRPr/>
            </a:lvl9pPr>
          </a:lstStyle>
          <a:p/>
        </p:txBody>
      </p:sp>
      <p:sp>
        <p:nvSpPr>
          <p:cNvPr id="48" name="Google Shape;48;p1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9" name="Shape 49"/>
        <p:cNvGrpSpPr/>
        <p:nvPr/>
      </p:nvGrpSpPr>
      <p:grpSpPr>
        <a:xfrm>
          <a:off x="0" y="0"/>
          <a:ext cx="0" cy="0"/>
          <a:chOff x="0" y="0"/>
          <a:chExt cx="0" cy="0"/>
        </a:xfrm>
      </p:grpSpPr>
      <p:sp>
        <p:nvSpPr>
          <p:cNvPr id="50" name="Google Shape;50;p1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64025"/>
            <a:ext cx="8520600" cy="5727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619075"/>
            <a:ext cx="8520600" cy="3416400"/>
          </a:xfrm>
          <a:prstGeom prst="rect">
            <a:avLst/>
          </a:prstGeom>
          <a:noFill/>
          <a:ln>
            <a:noFill/>
          </a:ln>
        </p:spPr>
        <p:txBody>
          <a:bodyPr anchorCtr="0" anchor="t" bIns="91425" lIns="91425" spcFirstLastPara="1" rIns="91425" wrap="square" tIns="91425">
            <a:no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1600"/>
              </a:spcBef>
              <a:spcAft>
                <a:spcPts val="0"/>
              </a:spcAft>
              <a:buClr>
                <a:schemeClr val="dk2"/>
              </a:buClr>
              <a:buSzPts val="1400"/>
              <a:buChar char="○"/>
              <a:defRPr>
                <a:solidFill>
                  <a:schemeClr val="dk2"/>
                </a:solidFill>
              </a:defRPr>
            </a:lvl2pPr>
            <a:lvl3pPr indent="-317500" lvl="2" marL="1371600">
              <a:lnSpc>
                <a:spcPct val="115000"/>
              </a:lnSpc>
              <a:spcBef>
                <a:spcPts val="1600"/>
              </a:spcBef>
              <a:spcAft>
                <a:spcPts val="0"/>
              </a:spcAft>
              <a:buClr>
                <a:schemeClr val="dk2"/>
              </a:buClr>
              <a:buSzPts val="1400"/>
              <a:buChar char="■"/>
              <a:defRPr>
                <a:solidFill>
                  <a:schemeClr val="dk2"/>
                </a:solidFill>
              </a:defRPr>
            </a:lvl3pPr>
            <a:lvl4pPr indent="-317500" lvl="3" marL="1828800">
              <a:lnSpc>
                <a:spcPct val="115000"/>
              </a:lnSpc>
              <a:spcBef>
                <a:spcPts val="1600"/>
              </a:spcBef>
              <a:spcAft>
                <a:spcPts val="0"/>
              </a:spcAft>
              <a:buClr>
                <a:schemeClr val="dk2"/>
              </a:buClr>
              <a:buSzPts val="1400"/>
              <a:buChar char="●"/>
              <a:defRPr>
                <a:solidFill>
                  <a:schemeClr val="dk2"/>
                </a:solidFill>
              </a:defRPr>
            </a:lvl4pPr>
            <a:lvl5pPr indent="-317500" lvl="4" marL="2286000">
              <a:lnSpc>
                <a:spcPct val="115000"/>
              </a:lnSpc>
              <a:spcBef>
                <a:spcPts val="1600"/>
              </a:spcBef>
              <a:spcAft>
                <a:spcPts val="0"/>
              </a:spcAft>
              <a:buClr>
                <a:schemeClr val="dk2"/>
              </a:buClr>
              <a:buSzPts val="1400"/>
              <a:buChar char="○"/>
              <a:defRPr>
                <a:solidFill>
                  <a:schemeClr val="dk2"/>
                </a:solidFill>
              </a:defRPr>
            </a:lvl5pPr>
            <a:lvl6pPr indent="-317500" lvl="5" marL="2743200">
              <a:lnSpc>
                <a:spcPct val="115000"/>
              </a:lnSpc>
              <a:spcBef>
                <a:spcPts val="1600"/>
              </a:spcBef>
              <a:spcAft>
                <a:spcPts val="0"/>
              </a:spcAft>
              <a:buClr>
                <a:schemeClr val="dk2"/>
              </a:buClr>
              <a:buSzPts val="1400"/>
              <a:buChar char="■"/>
              <a:defRPr>
                <a:solidFill>
                  <a:schemeClr val="dk2"/>
                </a:solidFill>
              </a:defRPr>
            </a:lvl6pPr>
            <a:lvl7pPr indent="-317500" lvl="6" marL="3200400">
              <a:lnSpc>
                <a:spcPct val="115000"/>
              </a:lnSpc>
              <a:spcBef>
                <a:spcPts val="1600"/>
              </a:spcBef>
              <a:spcAft>
                <a:spcPts val="0"/>
              </a:spcAft>
              <a:buClr>
                <a:schemeClr val="dk2"/>
              </a:buClr>
              <a:buSzPts val="1400"/>
              <a:buChar char="●"/>
              <a:defRPr>
                <a:solidFill>
                  <a:schemeClr val="dk2"/>
                </a:solidFill>
              </a:defRPr>
            </a:lvl7pPr>
            <a:lvl8pPr indent="-317500" lvl="7" marL="3657600">
              <a:lnSpc>
                <a:spcPct val="115000"/>
              </a:lnSpc>
              <a:spcBef>
                <a:spcPts val="1600"/>
              </a:spcBef>
              <a:spcAft>
                <a:spcPts val="0"/>
              </a:spcAft>
              <a:buClr>
                <a:schemeClr val="dk2"/>
              </a:buClr>
              <a:buSzPts val="1400"/>
              <a:buChar char="○"/>
              <a:defRPr>
                <a:solidFill>
                  <a:schemeClr val="dk2"/>
                </a:solidFill>
              </a:defRPr>
            </a:lvl8pPr>
            <a:lvl9pPr indent="-317500" lvl="8" marL="4114800">
              <a:lnSpc>
                <a:spcPct val="115000"/>
              </a:lnSpc>
              <a:spcBef>
                <a:spcPts val="1600"/>
              </a:spcBef>
              <a:spcAft>
                <a:spcPts val="160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it"/>
              <a:t>‹#›</a:t>
            </a:fld>
            <a:endParaRPr/>
          </a:p>
        </p:txBody>
      </p:sp>
      <p:sp>
        <p:nvSpPr>
          <p:cNvPr id="9" name="Google Shape;9;p1"/>
          <p:cNvSpPr txBox="1"/>
          <p:nvPr/>
        </p:nvSpPr>
        <p:spPr>
          <a:xfrm>
            <a:off x="558425" y="4834400"/>
            <a:ext cx="8031300" cy="3381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it" sz="1000">
                <a:solidFill>
                  <a:schemeClr val="dk1"/>
                </a:solidFill>
              </a:rPr>
              <a:t>DANIELE MAZZEI - </a:t>
            </a:r>
            <a:r>
              <a:rPr lang="it" sz="1000"/>
              <a:t>PROGRAMMAZIONE INTERFACCE 24-25</a:t>
            </a:r>
            <a:r>
              <a:rPr lang="it"/>
              <a:t> </a:t>
            </a:r>
            <a:r>
              <a:rPr lang="it" sz="700"/>
              <a:t>(</a:t>
            </a:r>
            <a:r>
              <a:rPr lang="it" sz="700"/>
              <a:t>all rights reserved)</a:t>
            </a:r>
            <a:endParaRPr sz="700"/>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hyperlink" Target="https://makeymakey.com/" TargetMode="Externa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image" Target="../media/image5.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 Id="rId3" Type="http://schemas.openxmlformats.org/officeDocument/2006/relationships/image" Target="../media/image9.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 Id="rId3" Type="http://schemas.openxmlformats.org/officeDocument/2006/relationships/image" Target="../media/image11.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 Id="rId3" Type="http://schemas.openxmlformats.org/officeDocument/2006/relationships/image" Target="../media/image1.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 Id="rId3" Type="http://schemas.openxmlformats.org/officeDocument/2006/relationships/hyperlink" Target="https://www.youtube.com/watch?v=PBRmGmF9l7Q&amp;t=378s&amp;ab_channel=DanieleMazzei" TargetMode="Externa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 Id="rId3" Type="http://schemas.openxmlformats.org/officeDocument/2006/relationships/image" Target="../media/image17.png"/><Relationship Id="rId4" Type="http://schemas.openxmlformats.org/officeDocument/2006/relationships/image" Target="../media/image3.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3.xml"/><Relationship Id="rId3" Type="http://schemas.openxmlformats.org/officeDocument/2006/relationships/image" Target="../media/image8.png"/><Relationship Id="rId4" Type="http://schemas.openxmlformats.org/officeDocument/2006/relationships/image" Target="../media/image6.png"/><Relationship Id="rId5" Type="http://schemas.openxmlformats.org/officeDocument/2006/relationships/image" Target="../media/image36.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4.xml"/><Relationship Id="rId3" Type="http://schemas.openxmlformats.org/officeDocument/2006/relationships/image" Target="../media/image6.png"/><Relationship Id="rId4" Type="http://schemas.openxmlformats.org/officeDocument/2006/relationships/image" Target="../media/image36.png"/><Relationship Id="rId5" Type="http://schemas.openxmlformats.org/officeDocument/2006/relationships/image" Target="../media/image8.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6.xml"/><Relationship Id="rId3" Type="http://schemas.openxmlformats.org/officeDocument/2006/relationships/image" Target="../media/image16.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7.xml"/><Relationship Id="rId3" Type="http://schemas.openxmlformats.org/officeDocument/2006/relationships/image" Target="../media/image12.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0.xml"/><Relationship Id="rId3" Type="http://schemas.openxmlformats.org/officeDocument/2006/relationships/image" Target="../media/image4.png"/><Relationship Id="rId4" Type="http://schemas.openxmlformats.org/officeDocument/2006/relationships/image" Target="../media/image7.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1.xml"/><Relationship Id="rId3" Type="http://schemas.openxmlformats.org/officeDocument/2006/relationships/image" Target="../media/image22.jpg"/><Relationship Id="rId4" Type="http://schemas.openxmlformats.org/officeDocument/2006/relationships/image" Target="../media/image10.jpg"/><Relationship Id="rId5" Type="http://schemas.openxmlformats.org/officeDocument/2006/relationships/image" Target="../media/image2.jp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4.xml"/><Relationship Id="rId3" Type="http://schemas.openxmlformats.org/officeDocument/2006/relationships/hyperlink" Target="https://www.youtube.com/watch?v=oSo8fbZfHLk&amp;ab_channel=TobiiGaming" TargetMode="External"/><Relationship Id="rId4" Type="http://schemas.openxmlformats.org/officeDocument/2006/relationships/hyperlink" Target="https://www.youtube.com/watch?v=4fvdBhPdhIU&amp;ab_channel=TobiiPro" TargetMode="Externa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5.xml"/><Relationship Id="rId3" Type="http://schemas.openxmlformats.org/officeDocument/2006/relationships/image" Target="../media/image14.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7.xml"/><Relationship Id="rId3" Type="http://schemas.openxmlformats.org/officeDocument/2006/relationships/image" Target="../media/image13.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8.xml"/><Relationship Id="rId3" Type="http://schemas.openxmlformats.org/officeDocument/2006/relationships/image" Target="../media/image25.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2.xml"/><Relationship Id="rId3" Type="http://schemas.openxmlformats.org/officeDocument/2006/relationships/image" Target="../media/image15.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4.xml"/><Relationship Id="rId3" Type="http://schemas.openxmlformats.org/officeDocument/2006/relationships/image" Target="../media/image29.png"/><Relationship Id="rId4" Type="http://schemas.openxmlformats.org/officeDocument/2006/relationships/image" Target="../media/image33.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6.xml"/><Relationship Id="rId3" Type="http://schemas.openxmlformats.org/officeDocument/2006/relationships/hyperlink" Target="https://www.youtube.com/watch?v=IKZToY-V16w&amp;ab_channel=EliyahuShatz" TargetMode="Externa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7.xml"/><Relationship Id="rId3" Type="http://schemas.openxmlformats.org/officeDocument/2006/relationships/hyperlink" Target="https://www.youtube.com/watch?v=ZLpuYQ401s8&amp;ab_channel=JonWahrenberger" TargetMode="Externa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0.xml"/><Relationship Id="rId3" Type="http://schemas.openxmlformats.org/officeDocument/2006/relationships/image" Target="../media/image21.png"/></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4.xml"/><Relationship Id="rId3" Type="http://schemas.openxmlformats.org/officeDocument/2006/relationships/image" Target="../media/image20.png"/></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5.xml"/><Relationship Id="rId3" Type="http://schemas.openxmlformats.org/officeDocument/2006/relationships/image" Target="../media/image23.png"/></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6.xml"/><Relationship Id="rId3" Type="http://schemas.openxmlformats.org/officeDocument/2006/relationships/image" Target="../media/image26.png"/></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8.xml"/><Relationship Id="rId3" Type="http://schemas.openxmlformats.org/officeDocument/2006/relationships/image" Target="../media/image19.png"/></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9.xml"/><Relationship Id="rId3" Type="http://schemas.openxmlformats.org/officeDocument/2006/relationships/image" Target="../media/image18.png"/></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0.xml"/><Relationship Id="rId3" Type="http://schemas.openxmlformats.org/officeDocument/2006/relationships/image" Target="../media/image27.png"/></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1.xml"/><Relationship Id="rId3" Type="http://schemas.openxmlformats.org/officeDocument/2006/relationships/image" Target="../media/image38.png"/></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2.xml"/><Relationship Id="rId3" Type="http://schemas.openxmlformats.org/officeDocument/2006/relationships/hyperlink" Target="https://lightbuzz.com/body-tracking-sensors-2017/#:~:text=Orbbec%20Persee&amp;text=Orbbec%20Astra%20is%20a%20Kinect,with%20an%20integrated%20Operating%20System." TargetMode="External"/><Relationship Id="rId4" Type="http://schemas.openxmlformats.org/officeDocument/2006/relationships/image" Target="../media/image34.png"/></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3.xml"/><Relationship Id="rId3" Type="http://schemas.openxmlformats.org/officeDocument/2006/relationships/hyperlink" Target="http://www.youtube.com/watch?v=px3nTTn6sUw" TargetMode="External"/><Relationship Id="rId4" Type="http://schemas.openxmlformats.org/officeDocument/2006/relationships/image" Target="../media/image31.jpg"/></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5.xml"/><Relationship Id="rId3" Type="http://schemas.openxmlformats.org/officeDocument/2006/relationships/image" Target="../media/image24.png"/><Relationship Id="rId4" Type="http://schemas.openxmlformats.org/officeDocument/2006/relationships/image" Target="../media/image32.png"/><Relationship Id="rId5" Type="http://schemas.openxmlformats.org/officeDocument/2006/relationships/image" Target="../media/image35.png"/></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6.xml"/><Relationship Id="rId3" Type="http://schemas.openxmlformats.org/officeDocument/2006/relationships/image" Target="../media/image28.png"/></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7.xml"/><Relationship Id="rId3" Type="http://schemas.openxmlformats.org/officeDocument/2006/relationships/hyperlink" Target="https://www.youtube.com/watch?v=6YIAR4WZmes&amp;ab_channel=DanieleMazzei" TargetMode="External"/><Relationship Id="rId4" Type="http://schemas.openxmlformats.org/officeDocument/2006/relationships/hyperlink" Target="https://www.youtube.com/watch?v=6F7MzmySx9g&amp;ab_channel=DanieleMazzei" TargetMode="External"/><Relationship Id="rId5" Type="http://schemas.openxmlformats.org/officeDocument/2006/relationships/hyperlink" Target="https://www.youtube.com/watch?v=oQ2VCi-6uGI&amp;ab_channel=DanieleMazzei" TargetMode="Externa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0.xml"/><Relationship Id="rId3" Type="http://schemas.openxmlformats.org/officeDocument/2006/relationships/hyperlink" Target="https://www.youtube.com/watch?v=kohLcShNbHE&amp;ab_channel=Fox5NY" TargetMode="External"/><Relationship Id="rId4" Type="http://schemas.openxmlformats.org/officeDocument/2006/relationships/hyperlink" Target="https://www.youtube.com/watch?v=QTniLL0sQtA&amp;ab_channel=Dr.Yo" TargetMode="Externa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1.xml"/><Relationship Id="rId3" Type="http://schemas.openxmlformats.org/officeDocument/2006/relationships/image" Target="../media/image39.png"/><Relationship Id="rId4" Type="http://schemas.openxmlformats.org/officeDocument/2006/relationships/image" Target="../media/image30.png"/></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2.xml"/><Relationship Id="rId3" Type="http://schemas.openxmlformats.org/officeDocument/2006/relationships/hyperlink" Target="https://www.youtube.com/watch?v=LZrat-VG4Ms&amp;ab_channel=GSMArenaOfficial" TargetMode="External"/><Relationship Id="rId4" Type="http://schemas.openxmlformats.org/officeDocument/2006/relationships/image" Target="../media/image37.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 name="Shape 54"/>
        <p:cNvGrpSpPr/>
        <p:nvPr/>
      </p:nvGrpSpPr>
      <p:grpSpPr>
        <a:xfrm>
          <a:off x="0" y="0"/>
          <a:ext cx="0" cy="0"/>
          <a:chOff x="0" y="0"/>
          <a:chExt cx="0" cy="0"/>
        </a:xfrm>
      </p:grpSpPr>
      <p:sp>
        <p:nvSpPr>
          <p:cNvPr id="55" name="Google Shape;55;p13"/>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it"/>
              <a:t>Human Interface Devices (HID)</a:t>
            </a:r>
            <a:endParaRPr/>
          </a:p>
        </p:txBody>
      </p:sp>
      <p:sp>
        <p:nvSpPr>
          <p:cNvPr id="56" name="Google Shape;56;p13"/>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it"/>
              <a:t>DANIELE MAZZEI</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 name="Shape 60"/>
        <p:cNvGrpSpPr/>
        <p:nvPr/>
      </p:nvGrpSpPr>
      <p:grpSpPr>
        <a:xfrm>
          <a:off x="0" y="0"/>
          <a:ext cx="0" cy="0"/>
          <a:chOff x="0" y="0"/>
          <a:chExt cx="0" cy="0"/>
        </a:xfrm>
      </p:grpSpPr>
      <p:sp>
        <p:nvSpPr>
          <p:cNvPr id="61" name="Google Shape;61;p14"/>
          <p:cNvSpPr txBox="1"/>
          <p:nvPr>
            <p:ph type="title"/>
          </p:nvPr>
        </p:nvSpPr>
        <p:spPr>
          <a:xfrm>
            <a:off x="311700" y="64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t"/>
              <a:t>Human Interface Devices</a:t>
            </a:r>
            <a:endParaRPr/>
          </a:p>
        </p:txBody>
      </p:sp>
      <p:sp>
        <p:nvSpPr>
          <p:cNvPr id="62" name="Google Shape;62;p14"/>
          <p:cNvSpPr txBox="1"/>
          <p:nvPr>
            <p:ph idx="1" type="body"/>
          </p:nvPr>
        </p:nvSpPr>
        <p:spPr>
          <a:xfrm>
            <a:off x="311700" y="6190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t"/>
              <a:t>A human interface device or HID is a type of computer device usually used by humans. </a:t>
            </a:r>
            <a:endParaRPr/>
          </a:p>
          <a:p>
            <a:pPr indent="0" lvl="0" marL="0" rtl="0" algn="l">
              <a:spcBef>
                <a:spcPts val="1600"/>
              </a:spcBef>
              <a:spcAft>
                <a:spcPts val="0"/>
              </a:spcAft>
              <a:buNone/>
            </a:pPr>
            <a:r>
              <a:rPr lang="it"/>
              <a:t>HID takes input from humans and gives output to humans.</a:t>
            </a:r>
            <a:endParaRPr/>
          </a:p>
          <a:p>
            <a:pPr indent="0" lvl="0" marL="0" rtl="0" algn="l">
              <a:spcBef>
                <a:spcPts val="1600"/>
              </a:spcBef>
              <a:spcAft>
                <a:spcPts val="0"/>
              </a:spcAft>
              <a:buNone/>
            </a:pPr>
            <a:r>
              <a:rPr lang="it"/>
              <a:t>The term "HID" is used to indicate </a:t>
            </a:r>
            <a:r>
              <a:rPr b="1" lang="it"/>
              <a:t>the physical devices</a:t>
            </a:r>
            <a:r>
              <a:rPr lang="it"/>
              <a:t> and also the </a:t>
            </a:r>
            <a:r>
              <a:rPr b="1" lang="it"/>
              <a:t>USB-HID specification.</a:t>
            </a:r>
            <a:r>
              <a:rPr lang="it"/>
              <a:t> </a:t>
            </a:r>
            <a:endParaRPr/>
          </a:p>
          <a:p>
            <a:pPr indent="0" lvl="0" marL="0" rtl="0" algn="l">
              <a:spcBef>
                <a:spcPts val="1600"/>
              </a:spcBef>
              <a:spcAft>
                <a:spcPts val="0"/>
              </a:spcAft>
              <a:buClr>
                <a:schemeClr val="dk1"/>
              </a:buClr>
              <a:buSzPts val="1100"/>
              <a:buFont typeface="Arial"/>
              <a:buNone/>
            </a:pPr>
            <a:r>
              <a:rPr i="1" lang="it"/>
              <a:t>The term was coined by Mike Van Flandern of Microsoft when he proposed that the USB committee create a Human Input Device class working group. The working group was renamed as the Human Interface Device class at the suggestion of Tom Schmidt of DEC because the proposed standard supported bi-directional communication.</a:t>
            </a:r>
            <a:endParaRPr i="1"/>
          </a:p>
          <a:p>
            <a:pPr indent="0" lvl="0" marL="0" rtl="0" algn="l">
              <a:spcBef>
                <a:spcPts val="1600"/>
              </a:spcBef>
              <a:spcAft>
                <a:spcPts val="1600"/>
              </a:spcAft>
              <a:buNone/>
            </a:pPr>
            <a:r>
              <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 name="Shape 66"/>
        <p:cNvGrpSpPr/>
        <p:nvPr/>
      </p:nvGrpSpPr>
      <p:grpSpPr>
        <a:xfrm>
          <a:off x="0" y="0"/>
          <a:ext cx="0" cy="0"/>
          <a:chOff x="0" y="0"/>
          <a:chExt cx="0" cy="0"/>
        </a:xfrm>
      </p:grpSpPr>
      <p:sp>
        <p:nvSpPr>
          <p:cNvPr id="67" name="Google Shape;67;p15"/>
          <p:cNvSpPr txBox="1"/>
          <p:nvPr>
            <p:ph type="title"/>
          </p:nvPr>
        </p:nvSpPr>
        <p:spPr>
          <a:xfrm>
            <a:off x="311700" y="2150850"/>
            <a:ext cx="8520600" cy="8418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it" sz="2800"/>
              <a:t>HID software specification</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 name="Shape 71"/>
        <p:cNvGrpSpPr/>
        <p:nvPr/>
      </p:nvGrpSpPr>
      <p:grpSpPr>
        <a:xfrm>
          <a:off x="0" y="0"/>
          <a:ext cx="0" cy="0"/>
          <a:chOff x="0" y="0"/>
          <a:chExt cx="0" cy="0"/>
        </a:xfrm>
      </p:grpSpPr>
      <p:sp>
        <p:nvSpPr>
          <p:cNvPr id="72" name="Google Shape;72;p16"/>
          <p:cNvSpPr txBox="1"/>
          <p:nvPr>
            <p:ph type="title"/>
          </p:nvPr>
        </p:nvSpPr>
        <p:spPr>
          <a:xfrm>
            <a:off x="311700" y="64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t"/>
              <a:t>HID (software specification)</a:t>
            </a:r>
            <a:endParaRPr/>
          </a:p>
        </p:txBody>
      </p:sp>
      <p:sp>
        <p:nvSpPr>
          <p:cNvPr id="73" name="Google Shape;73;p16"/>
          <p:cNvSpPr txBox="1"/>
          <p:nvPr>
            <p:ph idx="1" type="body"/>
          </p:nvPr>
        </p:nvSpPr>
        <p:spPr>
          <a:xfrm>
            <a:off x="311700" y="6190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t"/>
              <a:t>The HID standard was adopted primarily to enable innovation in PC input devices and to </a:t>
            </a:r>
            <a:r>
              <a:rPr b="1" lang="it"/>
              <a:t>simplify the process of installing</a:t>
            </a:r>
            <a:r>
              <a:rPr lang="it"/>
              <a:t> such devices. </a:t>
            </a:r>
            <a:endParaRPr/>
          </a:p>
          <a:p>
            <a:pPr indent="0" lvl="0" marL="0" rtl="0" algn="l">
              <a:spcBef>
                <a:spcPts val="1600"/>
              </a:spcBef>
              <a:spcAft>
                <a:spcPts val="0"/>
              </a:spcAft>
              <a:buNone/>
            </a:pPr>
            <a:r>
              <a:rPr lang="it"/>
              <a:t>Prior to the introduction of the HID concept, devices usually conformed to strictly defined protocols for mouse, keyboards and joysticks; for example, the standard mouse protocol at the time supported relative X- and Y-axis data and binary input for up to two buttons, with no legacy support. </a:t>
            </a:r>
            <a:endParaRPr/>
          </a:p>
          <a:p>
            <a:pPr indent="0" lvl="0" marL="0" rtl="0" algn="l">
              <a:spcBef>
                <a:spcPts val="1600"/>
              </a:spcBef>
              <a:spcAft>
                <a:spcPts val="1600"/>
              </a:spcAft>
              <a:buNone/>
            </a:pPr>
            <a:r>
              <a:rPr lang="it"/>
              <a:t>All hardware innovations necessitated either overloading the use of data in an existing protocol or the creation of custom device drivers and the evangelization of a new protocol to developers. By contrast, all </a:t>
            </a:r>
            <a:r>
              <a:rPr b="1" lang="it"/>
              <a:t>HID-defined devices deliver self-describing packages that may contain any number of data types and formats.</a:t>
            </a:r>
            <a:r>
              <a:rPr lang="it"/>
              <a:t> </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 name="Shape 77"/>
        <p:cNvGrpSpPr/>
        <p:nvPr/>
      </p:nvGrpSpPr>
      <p:grpSpPr>
        <a:xfrm>
          <a:off x="0" y="0"/>
          <a:ext cx="0" cy="0"/>
          <a:chOff x="0" y="0"/>
          <a:chExt cx="0" cy="0"/>
        </a:xfrm>
      </p:grpSpPr>
      <p:sp>
        <p:nvSpPr>
          <p:cNvPr id="78" name="Google Shape;78;p17"/>
          <p:cNvSpPr txBox="1"/>
          <p:nvPr>
            <p:ph type="title"/>
          </p:nvPr>
        </p:nvSpPr>
        <p:spPr>
          <a:xfrm>
            <a:off x="311700" y="64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it"/>
              <a:t>HID (software specification)</a:t>
            </a:r>
            <a:endParaRPr/>
          </a:p>
          <a:p>
            <a:pPr indent="0" lvl="0" marL="0" rtl="0" algn="l">
              <a:spcBef>
                <a:spcPts val="0"/>
              </a:spcBef>
              <a:spcAft>
                <a:spcPts val="0"/>
              </a:spcAft>
              <a:buNone/>
            </a:pPr>
            <a:r>
              <a:t/>
            </a:r>
            <a:endParaRPr/>
          </a:p>
        </p:txBody>
      </p:sp>
      <p:sp>
        <p:nvSpPr>
          <p:cNvPr id="79" name="Google Shape;79;p17"/>
          <p:cNvSpPr txBox="1"/>
          <p:nvPr>
            <p:ph idx="1" type="body"/>
          </p:nvPr>
        </p:nvSpPr>
        <p:spPr>
          <a:xfrm>
            <a:off x="311700" y="6190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t"/>
              <a:t>A single HID driver on a computer parses data and enables </a:t>
            </a:r>
            <a:r>
              <a:rPr b="1" lang="it"/>
              <a:t>dynamic association of data I/O with application functionality</a:t>
            </a:r>
            <a:r>
              <a:rPr lang="it"/>
              <a:t>, which has enabled rapid innovation and development, and prolific diversification of new human-interface devices.</a:t>
            </a:r>
            <a:endParaRPr/>
          </a:p>
          <a:p>
            <a:pPr indent="0" lvl="0" marL="0" rtl="0" algn="l">
              <a:spcBef>
                <a:spcPts val="1600"/>
              </a:spcBef>
              <a:spcAft>
                <a:spcPts val="0"/>
              </a:spcAft>
              <a:buNone/>
            </a:pPr>
            <a:r>
              <a:rPr lang="it"/>
              <a:t>The HID protocol has its limitations, but all modern mainstream operating systems will recognize standard USB HID devices, such as keyboards and mice, without needing a specialized driver. When installed, a message saying that "A 'HID-compliant device' has been recognized" generally appears on screen. </a:t>
            </a:r>
            <a:endParaRPr/>
          </a:p>
          <a:p>
            <a:pPr indent="0" lvl="0" marL="0" rtl="0" algn="l">
              <a:spcBef>
                <a:spcPts val="1600"/>
              </a:spcBef>
              <a:spcAft>
                <a:spcPts val="0"/>
              </a:spcAft>
              <a:buNone/>
            </a:pPr>
            <a:r>
              <a:rPr lang="it"/>
              <a:t>In comparison, this message does not usually appear for devices connected via the PS/2 6-pin DIN connectors which preceded USB. the PS/2 standard does not support the HID protocol. </a:t>
            </a:r>
            <a:endParaRPr/>
          </a:p>
          <a:p>
            <a:pPr indent="0" lvl="0" marL="0" rtl="0" algn="l">
              <a:spcBef>
                <a:spcPts val="1600"/>
              </a:spcBef>
              <a:spcAft>
                <a:spcPts val="1600"/>
              </a:spcAft>
              <a:buNone/>
            </a:pPr>
            <a:r>
              <a:rPr b="1" lang="it"/>
              <a:t>The USB human interface device class describes a USB HID.</a:t>
            </a:r>
            <a:endParaRPr b="1"/>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p18"/>
          <p:cNvSpPr txBox="1"/>
          <p:nvPr>
            <p:ph type="title"/>
          </p:nvPr>
        </p:nvSpPr>
        <p:spPr>
          <a:xfrm>
            <a:off x="311700" y="64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it"/>
              <a:t>HID (software specification)</a:t>
            </a:r>
            <a:endParaRPr/>
          </a:p>
          <a:p>
            <a:pPr indent="0" lvl="0" marL="0" rtl="0" algn="l">
              <a:spcBef>
                <a:spcPts val="0"/>
              </a:spcBef>
              <a:spcAft>
                <a:spcPts val="0"/>
              </a:spcAft>
              <a:buNone/>
            </a:pPr>
            <a:r>
              <a:t/>
            </a:r>
            <a:endParaRPr/>
          </a:p>
        </p:txBody>
      </p:sp>
      <p:sp>
        <p:nvSpPr>
          <p:cNvPr id="85" name="Google Shape;85;p18"/>
          <p:cNvSpPr txBox="1"/>
          <p:nvPr>
            <p:ph idx="1" type="body"/>
          </p:nvPr>
        </p:nvSpPr>
        <p:spPr>
          <a:xfrm>
            <a:off x="311700" y="6190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t"/>
              <a:t>In the HID protocol, there are 2 entities: the </a:t>
            </a:r>
            <a:r>
              <a:rPr b="1" lang="it"/>
              <a:t>"host"</a:t>
            </a:r>
            <a:r>
              <a:rPr lang="it"/>
              <a:t> and the </a:t>
            </a:r>
            <a:r>
              <a:rPr b="1" lang="it"/>
              <a:t>"device"</a:t>
            </a:r>
            <a:r>
              <a:rPr lang="it"/>
              <a:t>. </a:t>
            </a:r>
            <a:endParaRPr/>
          </a:p>
          <a:p>
            <a:pPr indent="0" lvl="0" marL="0" rtl="0" algn="l">
              <a:spcBef>
                <a:spcPts val="1600"/>
              </a:spcBef>
              <a:spcAft>
                <a:spcPts val="0"/>
              </a:spcAft>
              <a:buNone/>
            </a:pPr>
            <a:r>
              <a:rPr lang="it"/>
              <a:t>The device is the entity that directly interacts with a human, such as a keyboard or mouse. </a:t>
            </a:r>
            <a:endParaRPr/>
          </a:p>
          <a:p>
            <a:pPr indent="0" lvl="0" marL="0" rtl="0" algn="l">
              <a:spcBef>
                <a:spcPts val="1600"/>
              </a:spcBef>
              <a:spcAft>
                <a:spcPts val="0"/>
              </a:spcAft>
              <a:buNone/>
            </a:pPr>
            <a:r>
              <a:rPr lang="it"/>
              <a:t>The host communicates with the device and receives input data from the device on actions performed by the human. Output data flows from the host to the device and then to the human. </a:t>
            </a:r>
            <a:endParaRPr/>
          </a:p>
          <a:p>
            <a:pPr indent="0" lvl="0" marL="0" rtl="0" algn="l">
              <a:spcBef>
                <a:spcPts val="1600"/>
              </a:spcBef>
              <a:spcAft>
                <a:spcPts val="0"/>
              </a:spcAft>
              <a:buNone/>
            </a:pPr>
            <a:r>
              <a:t/>
            </a:r>
            <a:endParaRPr/>
          </a:p>
          <a:p>
            <a:pPr indent="0" lvl="0" marL="0" rtl="0" algn="l">
              <a:spcBef>
                <a:spcPts val="1600"/>
              </a:spcBef>
              <a:spcAft>
                <a:spcPts val="1600"/>
              </a:spcAft>
              <a:buNone/>
            </a:pPr>
            <a:r>
              <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 name="Shape 89"/>
        <p:cNvGrpSpPr/>
        <p:nvPr/>
      </p:nvGrpSpPr>
      <p:grpSpPr>
        <a:xfrm>
          <a:off x="0" y="0"/>
          <a:ext cx="0" cy="0"/>
          <a:chOff x="0" y="0"/>
          <a:chExt cx="0" cy="0"/>
        </a:xfrm>
      </p:grpSpPr>
      <p:sp>
        <p:nvSpPr>
          <p:cNvPr id="90" name="Google Shape;90;p19"/>
          <p:cNvSpPr txBox="1"/>
          <p:nvPr>
            <p:ph type="title"/>
          </p:nvPr>
        </p:nvSpPr>
        <p:spPr>
          <a:xfrm>
            <a:off x="311700" y="64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it"/>
              <a:t>HID (software specification)</a:t>
            </a:r>
            <a:endParaRPr/>
          </a:p>
          <a:p>
            <a:pPr indent="0" lvl="0" marL="0" rtl="0" algn="l">
              <a:spcBef>
                <a:spcPts val="0"/>
              </a:spcBef>
              <a:spcAft>
                <a:spcPts val="0"/>
              </a:spcAft>
              <a:buNone/>
            </a:pPr>
            <a:r>
              <a:t/>
            </a:r>
            <a:endParaRPr/>
          </a:p>
        </p:txBody>
      </p:sp>
      <p:sp>
        <p:nvSpPr>
          <p:cNvPr id="91" name="Google Shape;91;p19"/>
          <p:cNvSpPr txBox="1"/>
          <p:nvPr>
            <p:ph idx="1" type="body"/>
          </p:nvPr>
        </p:nvSpPr>
        <p:spPr>
          <a:xfrm>
            <a:off x="311700" y="6190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t"/>
              <a:t>The HID protocol makes </a:t>
            </a:r>
            <a:r>
              <a:rPr b="1" lang="it"/>
              <a:t>implementation of devices very simple.</a:t>
            </a:r>
            <a:r>
              <a:rPr lang="it"/>
              <a:t> </a:t>
            </a:r>
            <a:endParaRPr/>
          </a:p>
          <a:p>
            <a:pPr indent="0" lvl="0" marL="0" rtl="0" algn="l">
              <a:spcBef>
                <a:spcPts val="1600"/>
              </a:spcBef>
              <a:spcAft>
                <a:spcPts val="0"/>
              </a:spcAft>
              <a:buNone/>
            </a:pPr>
            <a:r>
              <a:rPr lang="it"/>
              <a:t>Devices define their data packets and then present a "HID descriptor" to the host.</a:t>
            </a:r>
            <a:endParaRPr/>
          </a:p>
          <a:p>
            <a:pPr indent="0" lvl="0" marL="0" rtl="0" algn="l">
              <a:spcBef>
                <a:spcPts val="1600"/>
              </a:spcBef>
              <a:spcAft>
                <a:spcPts val="0"/>
              </a:spcAft>
              <a:buNone/>
            </a:pPr>
            <a:r>
              <a:rPr b="1" lang="it"/>
              <a:t>The HID descriptor is a hard coded array of bytes that describes the device's data packets.</a:t>
            </a:r>
            <a:r>
              <a:rPr lang="it"/>
              <a:t> </a:t>
            </a:r>
            <a:endParaRPr/>
          </a:p>
          <a:p>
            <a:pPr indent="0" lvl="0" marL="0" rtl="0" algn="l">
              <a:spcBef>
                <a:spcPts val="1600"/>
              </a:spcBef>
              <a:spcAft>
                <a:spcPts val="0"/>
              </a:spcAft>
              <a:buNone/>
            </a:pPr>
            <a:r>
              <a:rPr lang="it"/>
              <a:t>This includes: </a:t>
            </a:r>
            <a:endParaRPr/>
          </a:p>
          <a:p>
            <a:pPr indent="-342900" lvl="0" marL="457200" rtl="0" algn="l">
              <a:spcBef>
                <a:spcPts val="1600"/>
              </a:spcBef>
              <a:spcAft>
                <a:spcPts val="0"/>
              </a:spcAft>
              <a:buSzPts val="1800"/>
              <a:buChar char="●"/>
            </a:pPr>
            <a:r>
              <a:rPr lang="it"/>
              <a:t>how many packets the device supports, </a:t>
            </a:r>
            <a:endParaRPr/>
          </a:p>
          <a:p>
            <a:pPr indent="-342900" lvl="0" marL="457200" rtl="0" algn="l">
              <a:spcBef>
                <a:spcPts val="0"/>
              </a:spcBef>
              <a:spcAft>
                <a:spcPts val="0"/>
              </a:spcAft>
              <a:buSzPts val="1800"/>
              <a:buChar char="●"/>
            </a:pPr>
            <a:r>
              <a:rPr lang="it"/>
              <a:t>the size of the packets, </a:t>
            </a:r>
            <a:endParaRPr/>
          </a:p>
          <a:p>
            <a:pPr indent="-342900" lvl="0" marL="457200" rtl="0" algn="l">
              <a:spcBef>
                <a:spcPts val="0"/>
              </a:spcBef>
              <a:spcAft>
                <a:spcPts val="0"/>
              </a:spcAft>
              <a:buSzPts val="1800"/>
              <a:buChar char="●"/>
            </a:pPr>
            <a:r>
              <a:rPr lang="it"/>
              <a:t>the purpose of each byte and bit in the packet. </a:t>
            </a:r>
            <a:endParaRPr/>
          </a:p>
          <a:p>
            <a:pPr indent="0" lvl="0" marL="0" rtl="0" algn="l">
              <a:spcBef>
                <a:spcPts val="1600"/>
              </a:spcBef>
              <a:spcAft>
                <a:spcPts val="0"/>
              </a:spcAft>
              <a:buNone/>
            </a:pPr>
            <a:r>
              <a:rPr lang="it"/>
              <a:t>For example, a keyboard with a calculator program button can tell the host that the button's pressed/released state is stored as the 2nd bit in the 6th byte in data packet number 4 </a:t>
            </a:r>
            <a:endParaRPr/>
          </a:p>
          <a:p>
            <a:pPr indent="0" lvl="0" marL="0" rtl="0" algn="l">
              <a:spcBef>
                <a:spcPts val="1600"/>
              </a:spcBef>
              <a:spcAft>
                <a:spcPts val="1600"/>
              </a:spcAft>
              <a:buNone/>
            </a:pPr>
            <a:r>
              <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 name="Shape 95"/>
        <p:cNvGrpSpPr/>
        <p:nvPr/>
      </p:nvGrpSpPr>
      <p:grpSpPr>
        <a:xfrm>
          <a:off x="0" y="0"/>
          <a:ext cx="0" cy="0"/>
          <a:chOff x="0" y="0"/>
          <a:chExt cx="0" cy="0"/>
        </a:xfrm>
      </p:grpSpPr>
      <p:sp>
        <p:nvSpPr>
          <p:cNvPr id="96" name="Google Shape;96;p20"/>
          <p:cNvSpPr txBox="1"/>
          <p:nvPr>
            <p:ph type="title"/>
          </p:nvPr>
        </p:nvSpPr>
        <p:spPr>
          <a:xfrm>
            <a:off x="311700" y="64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t"/>
              <a:t>HID (software specification)</a:t>
            </a:r>
            <a:endParaRPr/>
          </a:p>
        </p:txBody>
      </p:sp>
      <p:sp>
        <p:nvSpPr>
          <p:cNvPr id="97" name="Google Shape;97;p20"/>
          <p:cNvSpPr txBox="1"/>
          <p:nvPr>
            <p:ph idx="1" type="body"/>
          </p:nvPr>
        </p:nvSpPr>
        <p:spPr>
          <a:xfrm>
            <a:off x="311700" y="6190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t"/>
              <a:t>The device typically stores the HID descriptor in ROM and </a:t>
            </a:r>
            <a:r>
              <a:rPr b="1" lang="it"/>
              <a:t>does not need to intrinsically understand or parse the HID descriptor.</a:t>
            </a:r>
            <a:r>
              <a:rPr lang="it"/>
              <a:t> Some mouse and keyboard hardware in the market today is implemented using only an 8-bit CPU.</a:t>
            </a:r>
            <a:endParaRPr/>
          </a:p>
          <a:p>
            <a:pPr indent="0" lvl="0" marL="0" rtl="0" algn="l">
              <a:spcBef>
                <a:spcPts val="1600"/>
              </a:spcBef>
              <a:spcAft>
                <a:spcPts val="0"/>
              </a:spcAft>
              <a:buNone/>
            </a:pPr>
            <a:r>
              <a:rPr lang="it"/>
              <a:t>The host is expected to be a more complex entity than the device. </a:t>
            </a:r>
            <a:r>
              <a:rPr b="1" lang="it"/>
              <a:t>The host needs to retrieve the HID descriptor from the device and parse it before it can fully communicate with the device. </a:t>
            </a:r>
            <a:endParaRPr b="1"/>
          </a:p>
          <a:p>
            <a:pPr indent="0" lvl="0" marL="0" rtl="0" algn="l">
              <a:spcBef>
                <a:spcPts val="1600"/>
              </a:spcBef>
              <a:spcAft>
                <a:spcPts val="0"/>
              </a:spcAft>
              <a:buNone/>
            </a:pPr>
            <a:r>
              <a:rPr lang="it"/>
              <a:t>Parsing the HID descriptor can be complicated. Multiple operating systems are known to have shipped bugs in the device drivers responsible for parsing the HID descriptors years after the device drivers were originally released to the public.</a:t>
            </a:r>
            <a:endParaRPr/>
          </a:p>
          <a:p>
            <a:pPr indent="0" lvl="0" marL="0" rtl="0" algn="l">
              <a:spcBef>
                <a:spcPts val="1600"/>
              </a:spcBef>
              <a:spcAft>
                <a:spcPts val="0"/>
              </a:spcAft>
              <a:buNone/>
            </a:pPr>
            <a:r>
              <a:rPr lang="it"/>
              <a:t>However, this complexity is the reason why rapid innovation with HID devices is possible.</a:t>
            </a:r>
            <a:endParaRPr/>
          </a:p>
          <a:p>
            <a:pPr indent="0" lvl="0" marL="0" rtl="0" algn="l">
              <a:spcBef>
                <a:spcPts val="1600"/>
              </a:spcBef>
              <a:spcAft>
                <a:spcPts val="0"/>
              </a:spcAft>
              <a:buNone/>
            </a:pPr>
            <a:r>
              <a:t/>
            </a:r>
            <a:endParaRPr/>
          </a:p>
          <a:p>
            <a:pPr indent="0" lvl="0" marL="0" rtl="0" algn="l">
              <a:spcBef>
                <a:spcPts val="1600"/>
              </a:spcBef>
              <a:spcAft>
                <a:spcPts val="1600"/>
              </a:spcAft>
              <a:buNone/>
            </a:pPr>
            <a:r>
              <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 name="Shape 101"/>
        <p:cNvGrpSpPr/>
        <p:nvPr/>
      </p:nvGrpSpPr>
      <p:grpSpPr>
        <a:xfrm>
          <a:off x="0" y="0"/>
          <a:ext cx="0" cy="0"/>
          <a:chOff x="0" y="0"/>
          <a:chExt cx="0" cy="0"/>
        </a:xfrm>
      </p:grpSpPr>
      <p:sp>
        <p:nvSpPr>
          <p:cNvPr id="102" name="Google Shape;102;p21"/>
          <p:cNvSpPr txBox="1"/>
          <p:nvPr>
            <p:ph type="title"/>
          </p:nvPr>
        </p:nvSpPr>
        <p:spPr>
          <a:xfrm>
            <a:off x="311700" y="64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it"/>
              <a:t>HID (software specification)</a:t>
            </a:r>
            <a:endParaRPr/>
          </a:p>
          <a:p>
            <a:pPr indent="0" lvl="0" marL="0" rtl="0" algn="l">
              <a:spcBef>
                <a:spcPts val="0"/>
              </a:spcBef>
              <a:spcAft>
                <a:spcPts val="0"/>
              </a:spcAft>
              <a:buNone/>
            </a:pPr>
            <a:r>
              <a:t/>
            </a:r>
            <a:endParaRPr/>
          </a:p>
        </p:txBody>
      </p:sp>
      <p:sp>
        <p:nvSpPr>
          <p:cNvPr id="103" name="Google Shape;103;p21"/>
          <p:cNvSpPr txBox="1"/>
          <p:nvPr>
            <p:ph idx="1" type="body"/>
          </p:nvPr>
        </p:nvSpPr>
        <p:spPr>
          <a:xfrm>
            <a:off x="311700" y="6190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t"/>
              <a:t>The above mechanism describes what is known as </a:t>
            </a:r>
            <a:r>
              <a:rPr b="1" lang="it"/>
              <a:t>HID "report protocol"</a:t>
            </a:r>
            <a:r>
              <a:rPr lang="it"/>
              <a:t>. </a:t>
            </a:r>
            <a:endParaRPr/>
          </a:p>
          <a:p>
            <a:pPr indent="0" lvl="0" marL="0" rtl="0" algn="l">
              <a:spcBef>
                <a:spcPts val="1600"/>
              </a:spcBef>
              <a:spcAft>
                <a:spcPts val="0"/>
              </a:spcAft>
              <a:buNone/>
            </a:pPr>
            <a:r>
              <a:rPr lang="it"/>
              <a:t>Because it was understood that not all hosts would be capable of parsing HID descriptors, HID also defines "boot protocol". In boot protocol, only specific devices are supported with only specific features because fixed data packet formats are used. </a:t>
            </a:r>
            <a:endParaRPr/>
          </a:p>
          <a:p>
            <a:pPr indent="0" lvl="0" marL="0" rtl="0" algn="l">
              <a:spcBef>
                <a:spcPts val="1600"/>
              </a:spcBef>
              <a:spcAft>
                <a:spcPts val="0"/>
              </a:spcAft>
              <a:buNone/>
            </a:pPr>
            <a:r>
              <a:rPr lang="it"/>
              <a:t>The HID descriptor is not used in this mode so innovation is limited. </a:t>
            </a:r>
            <a:endParaRPr/>
          </a:p>
          <a:p>
            <a:pPr indent="0" lvl="0" marL="0" rtl="0" algn="l">
              <a:spcBef>
                <a:spcPts val="1600"/>
              </a:spcBef>
              <a:spcAft>
                <a:spcPts val="0"/>
              </a:spcAft>
              <a:buNone/>
            </a:pPr>
            <a:r>
              <a:rPr lang="it"/>
              <a:t>However, the benefit is that minimal functionality is still possible on hosts that otherwise would be unable to support HID. </a:t>
            </a:r>
            <a:endParaRPr/>
          </a:p>
          <a:p>
            <a:pPr indent="0" lvl="0" marL="0" rtl="0" algn="l">
              <a:spcBef>
                <a:spcPts val="1600"/>
              </a:spcBef>
              <a:spcAft>
                <a:spcPts val="0"/>
              </a:spcAft>
              <a:buNone/>
            </a:pPr>
            <a:r>
              <a:rPr b="1" lang="it"/>
              <a:t>The only devices supported in boot protocol are: Keyboard and Mouse</a:t>
            </a:r>
            <a:endParaRPr b="1"/>
          </a:p>
          <a:p>
            <a:pPr indent="0" lvl="0" marL="0" rtl="0" algn="l">
              <a:spcBef>
                <a:spcPts val="1600"/>
              </a:spcBef>
              <a:spcAft>
                <a:spcPts val="0"/>
              </a:spcAft>
              <a:buNone/>
            </a:pPr>
            <a:r>
              <a:rPr b="1" lang="it" u="sng">
                <a:solidFill>
                  <a:schemeClr val="hlink"/>
                </a:solidFill>
                <a:hlinkClick r:id="rId3"/>
              </a:rPr>
              <a:t>https://makeymakey.com/</a:t>
            </a:r>
            <a:r>
              <a:rPr b="1" lang="it"/>
              <a:t> </a:t>
            </a:r>
            <a:endParaRPr b="1"/>
          </a:p>
          <a:p>
            <a:pPr indent="0" lvl="0" marL="0" rtl="0" algn="l">
              <a:spcBef>
                <a:spcPts val="1600"/>
              </a:spcBef>
              <a:spcAft>
                <a:spcPts val="1600"/>
              </a:spcAft>
              <a:buNone/>
            </a:pPr>
            <a:r>
              <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 name="Shape 107"/>
        <p:cNvGrpSpPr/>
        <p:nvPr/>
      </p:nvGrpSpPr>
      <p:grpSpPr>
        <a:xfrm>
          <a:off x="0" y="0"/>
          <a:ext cx="0" cy="0"/>
          <a:chOff x="0" y="0"/>
          <a:chExt cx="0" cy="0"/>
        </a:xfrm>
      </p:grpSpPr>
      <p:sp>
        <p:nvSpPr>
          <p:cNvPr id="108" name="Google Shape;108;p22"/>
          <p:cNvSpPr txBox="1"/>
          <p:nvPr>
            <p:ph type="title"/>
          </p:nvPr>
        </p:nvSpPr>
        <p:spPr>
          <a:xfrm>
            <a:off x="311700" y="64025"/>
            <a:ext cx="8520600" cy="572700"/>
          </a:xfrm>
          <a:prstGeom prst="rect">
            <a:avLst/>
          </a:prstGeom>
        </p:spPr>
        <p:txBody>
          <a:bodyPr anchorCtr="0" anchor="t" bIns="91425" lIns="91425" spcFirstLastPara="1" rIns="91425" wrap="square" tIns="91425">
            <a:noAutofit/>
          </a:bodyPr>
          <a:lstStyle/>
          <a:p>
            <a:pPr indent="0" lvl="0" marL="0" marR="0" rtl="0" algn="l">
              <a:lnSpc>
                <a:spcPct val="100000"/>
              </a:lnSpc>
              <a:spcBef>
                <a:spcPts val="0"/>
              </a:spcBef>
              <a:spcAft>
                <a:spcPts val="0"/>
              </a:spcAft>
              <a:buNone/>
            </a:pPr>
            <a:r>
              <a:rPr lang="it"/>
              <a:t>Other protocols using HID</a:t>
            </a:r>
            <a:endParaRPr/>
          </a:p>
        </p:txBody>
      </p:sp>
      <p:sp>
        <p:nvSpPr>
          <p:cNvPr id="109" name="Google Shape;109;p22"/>
          <p:cNvSpPr txBox="1"/>
          <p:nvPr>
            <p:ph idx="1" type="body"/>
          </p:nvPr>
        </p:nvSpPr>
        <p:spPr>
          <a:xfrm>
            <a:off x="311700" y="6190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t"/>
              <a:t>Since HID's original definition over USB, HID is now also used in other computer communication buses. </a:t>
            </a:r>
            <a:endParaRPr/>
          </a:p>
          <a:p>
            <a:pPr indent="0" lvl="0" marL="0" rtl="0" algn="l">
              <a:spcBef>
                <a:spcPts val="1600"/>
              </a:spcBef>
              <a:spcAft>
                <a:spcPts val="0"/>
              </a:spcAft>
              <a:buNone/>
            </a:pPr>
            <a:r>
              <a:rPr lang="it"/>
              <a:t>This enables HID devices that traditionally were only found on USB to also be used on alternative buses. This is done since existing support for USB HID devices can typically be adapted much faster than having to invent an entirely new protocol to support mouse, keyboards, and the like. </a:t>
            </a:r>
            <a:endParaRPr/>
          </a:p>
          <a:p>
            <a:pPr indent="0" lvl="0" marL="0" rtl="0" algn="l">
              <a:spcBef>
                <a:spcPts val="1600"/>
              </a:spcBef>
              <a:spcAft>
                <a:spcPts val="0"/>
              </a:spcAft>
              <a:buNone/>
            </a:pPr>
            <a:r>
              <a:rPr lang="it"/>
              <a:t>Known buses that use HID are:</a:t>
            </a:r>
            <a:endParaRPr/>
          </a:p>
          <a:p>
            <a:pPr indent="-311150" lvl="0" marL="457200" rtl="0" algn="l">
              <a:spcBef>
                <a:spcPts val="1600"/>
              </a:spcBef>
              <a:spcAft>
                <a:spcPts val="0"/>
              </a:spcAft>
              <a:buSzPts val="1300"/>
              <a:buChar char="●"/>
            </a:pPr>
            <a:r>
              <a:rPr lang="it" sz="1300"/>
              <a:t>Bluetooth HID – Used for mouse and keyboards that are connected via Bluetooth</a:t>
            </a:r>
            <a:endParaRPr sz="1300"/>
          </a:p>
          <a:p>
            <a:pPr indent="-311150" lvl="0" marL="457200" rtl="0" algn="l">
              <a:spcBef>
                <a:spcPts val="0"/>
              </a:spcBef>
              <a:spcAft>
                <a:spcPts val="0"/>
              </a:spcAft>
              <a:buSzPts val="1300"/>
              <a:buChar char="●"/>
            </a:pPr>
            <a:r>
              <a:rPr lang="it" sz="1300"/>
              <a:t>Serial HID – Used in Microsoft's Windows Media Center PC remote control receivers.</a:t>
            </a:r>
            <a:endParaRPr sz="1300"/>
          </a:p>
          <a:p>
            <a:pPr indent="-311150" lvl="0" marL="457200" rtl="0" algn="l">
              <a:spcBef>
                <a:spcPts val="0"/>
              </a:spcBef>
              <a:spcAft>
                <a:spcPts val="0"/>
              </a:spcAft>
              <a:buSzPts val="1300"/>
              <a:buChar char="●"/>
            </a:pPr>
            <a:r>
              <a:rPr lang="it" sz="1300"/>
              <a:t>ZigBee input device – ZigBee (RF4CE) supports HID devices through the ZigBee input device profile.</a:t>
            </a:r>
            <a:endParaRPr sz="1300"/>
          </a:p>
          <a:p>
            <a:pPr indent="-311150" lvl="0" marL="457200" rtl="0" algn="l">
              <a:spcBef>
                <a:spcPts val="0"/>
              </a:spcBef>
              <a:spcAft>
                <a:spcPts val="0"/>
              </a:spcAft>
              <a:buSzPts val="1300"/>
              <a:buChar char="●"/>
            </a:pPr>
            <a:r>
              <a:rPr lang="it" sz="1300"/>
              <a:t>HID over I²C – Used for embedded devices in Microsoft Windows 8[2]</a:t>
            </a:r>
            <a:endParaRPr sz="1300"/>
          </a:p>
          <a:p>
            <a:pPr indent="-311150" lvl="0" marL="457200" rtl="0" algn="l">
              <a:spcBef>
                <a:spcPts val="0"/>
              </a:spcBef>
              <a:spcAft>
                <a:spcPts val="0"/>
              </a:spcAft>
              <a:buSzPts val="1300"/>
              <a:buChar char="●"/>
            </a:pPr>
            <a:r>
              <a:rPr lang="it" sz="1300"/>
              <a:t>HOGP (HID over GATT) – Used for HID devices connected using Bluetooth low energy technology</a:t>
            </a:r>
            <a:endParaRPr sz="1300"/>
          </a:p>
          <a:p>
            <a:pPr indent="0" lvl="0" marL="0" rtl="0" algn="l">
              <a:spcBef>
                <a:spcPts val="1600"/>
              </a:spcBef>
              <a:spcAft>
                <a:spcPts val="0"/>
              </a:spcAft>
              <a:buNone/>
            </a:pPr>
            <a:r>
              <a:t/>
            </a:r>
            <a:endParaRPr/>
          </a:p>
          <a:p>
            <a:pPr indent="0" lvl="0" marL="0" rtl="0" algn="l">
              <a:spcBef>
                <a:spcPts val="1600"/>
              </a:spcBef>
              <a:spcAft>
                <a:spcPts val="1600"/>
              </a:spcAft>
              <a:buNone/>
            </a:pPr>
            <a:r>
              <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 name="Shape 113"/>
        <p:cNvGrpSpPr/>
        <p:nvPr/>
      </p:nvGrpSpPr>
      <p:grpSpPr>
        <a:xfrm>
          <a:off x="0" y="0"/>
          <a:ext cx="0" cy="0"/>
          <a:chOff x="0" y="0"/>
          <a:chExt cx="0" cy="0"/>
        </a:xfrm>
      </p:grpSpPr>
      <p:sp>
        <p:nvSpPr>
          <p:cNvPr id="114" name="Google Shape;114;p23"/>
          <p:cNvSpPr txBox="1"/>
          <p:nvPr>
            <p:ph type="title"/>
          </p:nvPr>
        </p:nvSpPr>
        <p:spPr>
          <a:xfrm>
            <a:off x="311700" y="2150850"/>
            <a:ext cx="8520600" cy="8418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it" sz="2800"/>
              <a:t>HID Devices</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 name="Shape 118"/>
        <p:cNvGrpSpPr/>
        <p:nvPr/>
      </p:nvGrpSpPr>
      <p:grpSpPr>
        <a:xfrm>
          <a:off x="0" y="0"/>
          <a:ext cx="0" cy="0"/>
          <a:chOff x="0" y="0"/>
          <a:chExt cx="0" cy="0"/>
        </a:xfrm>
      </p:grpSpPr>
      <p:sp>
        <p:nvSpPr>
          <p:cNvPr id="119" name="Google Shape;119;p24"/>
          <p:cNvSpPr txBox="1"/>
          <p:nvPr>
            <p:ph type="title"/>
          </p:nvPr>
        </p:nvSpPr>
        <p:spPr>
          <a:xfrm>
            <a:off x="311700" y="64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t"/>
              <a:t>HID (peripheral)</a:t>
            </a:r>
            <a:endParaRPr/>
          </a:p>
        </p:txBody>
      </p:sp>
      <p:sp>
        <p:nvSpPr>
          <p:cNvPr id="120" name="Google Shape;120;p24"/>
          <p:cNvSpPr txBox="1"/>
          <p:nvPr>
            <p:ph idx="1" type="body"/>
          </p:nvPr>
        </p:nvSpPr>
        <p:spPr>
          <a:xfrm>
            <a:off x="311700" y="6190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t"/>
              <a:t>HID peripherals can be organized in two main categories:</a:t>
            </a:r>
            <a:endParaRPr/>
          </a:p>
          <a:p>
            <a:pPr indent="-342900" lvl="0" marL="457200" rtl="0" algn="l">
              <a:spcBef>
                <a:spcPts val="1600"/>
              </a:spcBef>
              <a:spcAft>
                <a:spcPts val="0"/>
              </a:spcAft>
              <a:buSzPts val="1800"/>
              <a:buChar char="●"/>
            </a:pPr>
            <a:r>
              <a:rPr lang="it"/>
              <a:t>Input devices</a:t>
            </a:r>
            <a:endParaRPr/>
          </a:p>
          <a:p>
            <a:pPr indent="-342900" lvl="0" marL="457200" rtl="0" algn="l">
              <a:spcBef>
                <a:spcPts val="0"/>
              </a:spcBef>
              <a:spcAft>
                <a:spcPts val="0"/>
              </a:spcAft>
              <a:buSzPts val="1800"/>
              <a:buChar char="●"/>
            </a:pPr>
            <a:r>
              <a:rPr lang="it"/>
              <a:t>Output devices</a:t>
            </a:r>
            <a:endParaRPr/>
          </a:p>
          <a:p>
            <a:pPr indent="0" lvl="0" marL="0" rtl="0" algn="l">
              <a:spcBef>
                <a:spcPts val="1600"/>
              </a:spcBef>
              <a:spcAft>
                <a:spcPts val="0"/>
              </a:spcAft>
              <a:buNone/>
            </a:pPr>
            <a:r>
              <a:t/>
            </a:r>
            <a:endParaRPr/>
          </a:p>
          <a:p>
            <a:pPr indent="0" lvl="0" marL="0" rtl="0" algn="l">
              <a:spcBef>
                <a:spcPts val="1600"/>
              </a:spcBef>
              <a:spcAft>
                <a:spcPts val="0"/>
              </a:spcAft>
              <a:buNone/>
            </a:pPr>
            <a:r>
              <a:rPr lang="it"/>
              <a:t>Input devices are based on </a:t>
            </a:r>
            <a:r>
              <a:rPr b="1" lang="it"/>
              <a:t>sensors </a:t>
            </a:r>
            <a:r>
              <a:rPr lang="it"/>
              <a:t>(a device, module, or subsystem whose purpose is to detect events or changes in the physical world its environment and convert it in analog or digital electronic information)</a:t>
            </a:r>
            <a:endParaRPr/>
          </a:p>
          <a:p>
            <a:pPr indent="0" lvl="0" marL="0" rtl="0" algn="l">
              <a:spcBef>
                <a:spcPts val="1600"/>
              </a:spcBef>
              <a:spcAft>
                <a:spcPts val="1600"/>
              </a:spcAft>
              <a:buNone/>
            </a:pPr>
            <a:r>
              <a:rPr lang="it"/>
              <a:t>Output devices are based on </a:t>
            </a:r>
            <a:r>
              <a:rPr b="1" lang="it"/>
              <a:t>actuators </a:t>
            </a:r>
            <a:r>
              <a:rPr lang="it"/>
              <a:t>(a device, module, or subsystem whose purpose is to convert analog or digital electronic signals in physical events aimed at changing the physical)</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 name="Shape 124"/>
        <p:cNvGrpSpPr/>
        <p:nvPr/>
      </p:nvGrpSpPr>
      <p:grpSpPr>
        <a:xfrm>
          <a:off x="0" y="0"/>
          <a:ext cx="0" cy="0"/>
          <a:chOff x="0" y="0"/>
          <a:chExt cx="0" cy="0"/>
        </a:xfrm>
      </p:grpSpPr>
      <p:sp>
        <p:nvSpPr>
          <p:cNvPr id="125" name="Google Shape;125;p25"/>
          <p:cNvSpPr txBox="1"/>
          <p:nvPr>
            <p:ph type="title"/>
          </p:nvPr>
        </p:nvSpPr>
        <p:spPr>
          <a:xfrm>
            <a:off x="311700" y="64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t"/>
              <a:t>HID classification (old fashion)</a:t>
            </a:r>
            <a:endParaRPr/>
          </a:p>
        </p:txBody>
      </p:sp>
      <p:sp>
        <p:nvSpPr>
          <p:cNvPr id="126" name="Google Shape;126;p25"/>
          <p:cNvSpPr txBox="1"/>
          <p:nvPr>
            <p:ph idx="1" type="body"/>
          </p:nvPr>
        </p:nvSpPr>
        <p:spPr>
          <a:xfrm>
            <a:off x="311700" y="6190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t"/>
              <a:t>Input or Output HID are typically divided in classes according to the type of input/output used by the HID:</a:t>
            </a:r>
            <a:endParaRPr/>
          </a:p>
          <a:p>
            <a:pPr indent="-342900" lvl="0" marL="457200" rtl="0" algn="l">
              <a:spcBef>
                <a:spcPts val="1600"/>
              </a:spcBef>
              <a:spcAft>
                <a:spcPts val="0"/>
              </a:spcAft>
              <a:buSzPts val="1800"/>
              <a:buChar char="●"/>
            </a:pPr>
            <a:r>
              <a:rPr lang="it"/>
              <a:t>Texts and chars</a:t>
            </a:r>
            <a:endParaRPr/>
          </a:p>
          <a:p>
            <a:pPr indent="-342900" lvl="0" marL="457200" rtl="0" algn="l">
              <a:spcBef>
                <a:spcPts val="0"/>
              </a:spcBef>
              <a:spcAft>
                <a:spcPts val="0"/>
              </a:spcAft>
              <a:buSzPts val="1800"/>
              <a:buChar char="●"/>
            </a:pPr>
            <a:r>
              <a:rPr lang="it"/>
              <a:t>Positions</a:t>
            </a:r>
            <a:endParaRPr/>
          </a:p>
          <a:p>
            <a:pPr indent="-342900" lvl="0" marL="457200" rtl="0" algn="l">
              <a:spcBef>
                <a:spcPts val="0"/>
              </a:spcBef>
              <a:spcAft>
                <a:spcPts val="0"/>
              </a:spcAft>
              <a:buSzPts val="1800"/>
              <a:buChar char="●"/>
            </a:pPr>
            <a:r>
              <a:rPr lang="it"/>
              <a:t>Sound</a:t>
            </a:r>
            <a:endParaRPr/>
          </a:p>
          <a:p>
            <a:pPr indent="-342900" lvl="0" marL="457200" rtl="0" algn="l">
              <a:spcBef>
                <a:spcPts val="0"/>
              </a:spcBef>
              <a:spcAft>
                <a:spcPts val="0"/>
              </a:spcAft>
              <a:buSzPts val="1800"/>
              <a:buChar char="●"/>
            </a:pPr>
            <a:r>
              <a:rPr lang="it"/>
              <a:t>Images</a:t>
            </a:r>
            <a:endParaRPr/>
          </a:p>
          <a:p>
            <a:pPr indent="-342900" lvl="0" marL="457200" rtl="0" algn="l">
              <a:spcBef>
                <a:spcPts val="0"/>
              </a:spcBef>
              <a:spcAft>
                <a:spcPts val="0"/>
              </a:spcAft>
              <a:buSzPts val="1800"/>
              <a:buChar char="●"/>
            </a:pPr>
            <a:r>
              <a:rPr lang="it"/>
              <a:t>Environmental parameters</a:t>
            </a:r>
            <a:endParaRPr/>
          </a:p>
          <a:p>
            <a:pPr indent="-342900" lvl="0" marL="457200" rtl="0" algn="l">
              <a:spcBef>
                <a:spcPts val="0"/>
              </a:spcBef>
              <a:spcAft>
                <a:spcPts val="0"/>
              </a:spcAft>
              <a:buSzPts val="1800"/>
              <a:buChar char="●"/>
            </a:pPr>
            <a:r>
              <a:rPr lang="it"/>
              <a:t>Position</a:t>
            </a:r>
            <a:endParaRPr/>
          </a:p>
          <a:p>
            <a:pPr indent="-342900" lvl="0" marL="457200" rtl="0" algn="l">
              <a:spcBef>
                <a:spcPts val="0"/>
              </a:spcBef>
              <a:spcAft>
                <a:spcPts val="0"/>
              </a:spcAft>
              <a:buSzPts val="1800"/>
              <a:buChar char="●"/>
            </a:pPr>
            <a:r>
              <a:rPr lang="it"/>
              <a:t>Health/bio/physiological parameters</a:t>
            </a:r>
            <a:endParaRPr/>
          </a:p>
          <a:p>
            <a:pPr indent="0" lvl="0" marL="0" rtl="0" algn="l">
              <a:spcBef>
                <a:spcPts val="1600"/>
              </a:spcBef>
              <a:spcAft>
                <a:spcPts val="1600"/>
              </a:spcAft>
              <a:buNone/>
            </a:pPr>
            <a:r>
              <a:rPr lang="it"/>
              <a:t>Nowadays most of the novel HIDs use mixed technology so it is difficult to still classify them on the basis of what they sense... </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 name="Shape 130"/>
        <p:cNvGrpSpPr/>
        <p:nvPr/>
      </p:nvGrpSpPr>
      <p:grpSpPr>
        <a:xfrm>
          <a:off x="0" y="0"/>
          <a:ext cx="0" cy="0"/>
          <a:chOff x="0" y="0"/>
          <a:chExt cx="0" cy="0"/>
        </a:xfrm>
      </p:grpSpPr>
      <p:sp>
        <p:nvSpPr>
          <p:cNvPr id="131" name="Google Shape;131;p26"/>
          <p:cNvSpPr txBox="1"/>
          <p:nvPr>
            <p:ph type="title"/>
          </p:nvPr>
        </p:nvSpPr>
        <p:spPr>
          <a:xfrm>
            <a:off x="311700" y="2150850"/>
            <a:ext cx="8520600" cy="8418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it"/>
              <a:t>Input Devices</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 name="Shape 135"/>
        <p:cNvGrpSpPr/>
        <p:nvPr/>
      </p:nvGrpSpPr>
      <p:grpSpPr>
        <a:xfrm>
          <a:off x="0" y="0"/>
          <a:ext cx="0" cy="0"/>
          <a:chOff x="0" y="0"/>
          <a:chExt cx="0" cy="0"/>
        </a:xfrm>
      </p:grpSpPr>
      <p:sp>
        <p:nvSpPr>
          <p:cNvPr id="136" name="Google Shape;136;p27"/>
          <p:cNvSpPr txBox="1"/>
          <p:nvPr>
            <p:ph type="title"/>
          </p:nvPr>
        </p:nvSpPr>
        <p:spPr>
          <a:xfrm>
            <a:off x="311700" y="64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t"/>
              <a:t>Keyboards</a:t>
            </a:r>
            <a:endParaRPr/>
          </a:p>
        </p:txBody>
      </p:sp>
      <p:sp>
        <p:nvSpPr>
          <p:cNvPr id="137" name="Google Shape;137;p27"/>
          <p:cNvSpPr txBox="1"/>
          <p:nvPr>
            <p:ph idx="1" type="body"/>
          </p:nvPr>
        </p:nvSpPr>
        <p:spPr>
          <a:xfrm>
            <a:off x="311700" y="6190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t"/>
              <a:t>The most used text and chars HID is the keyboard</a:t>
            </a:r>
            <a:endParaRPr/>
          </a:p>
          <a:p>
            <a:pPr indent="0" lvl="0" marL="0" rtl="0" algn="l">
              <a:spcBef>
                <a:spcPts val="1600"/>
              </a:spcBef>
              <a:spcAft>
                <a:spcPts val="0"/>
              </a:spcAft>
              <a:buNone/>
            </a:pPr>
            <a:r>
              <a:rPr b="1" lang="it"/>
              <a:t>Different types of keyboards are available</a:t>
            </a:r>
            <a:r>
              <a:rPr lang="it"/>
              <a:t> and each is designed with a focus on specific features that suit particular needs. Today, most full-size keyboards use one of three different mechanical layouts, usually referred to as simply ISO (ISO/IEC 9995-2) ANSI standard.</a:t>
            </a:r>
            <a:endParaRPr/>
          </a:p>
          <a:p>
            <a:pPr indent="0" lvl="0" marL="0" rtl="0" algn="l">
              <a:spcBef>
                <a:spcPts val="1600"/>
              </a:spcBef>
              <a:spcAft>
                <a:spcPts val="0"/>
              </a:spcAft>
              <a:buClr>
                <a:schemeClr val="dk1"/>
              </a:buClr>
              <a:buSzPts val="1100"/>
              <a:buFont typeface="Arial"/>
              <a:buNone/>
            </a:pPr>
            <a:r>
              <a:rPr lang="it"/>
              <a:t>ANSI standard alphanumeric keyboards have keys that are on three-quarter inch centers (0.75 inches (19 mm)), and have a key travel of at least 0.15 inches (3.8 mm).</a:t>
            </a:r>
            <a:endParaRPr/>
          </a:p>
          <a:p>
            <a:pPr indent="0" lvl="0" marL="0" rtl="0" algn="l">
              <a:spcBef>
                <a:spcPts val="1600"/>
              </a:spcBef>
              <a:spcAft>
                <a:spcPts val="1600"/>
              </a:spcAft>
              <a:buNone/>
            </a:pPr>
            <a:r>
              <a:rPr lang="it"/>
              <a:t>Modern keyboard models contain a set number of total keys according to their given standard, described as 101, 104, 105, etc. and sold as "Full-size" keyboards.</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1" name="Shape 141"/>
        <p:cNvGrpSpPr/>
        <p:nvPr/>
      </p:nvGrpSpPr>
      <p:grpSpPr>
        <a:xfrm>
          <a:off x="0" y="0"/>
          <a:ext cx="0" cy="0"/>
          <a:chOff x="0" y="0"/>
          <a:chExt cx="0" cy="0"/>
        </a:xfrm>
      </p:grpSpPr>
      <p:sp>
        <p:nvSpPr>
          <p:cNvPr id="142" name="Google Shape;142;p28"/>
          <p:cNvSpPr txBox="1"/>
          <p:nvPr>
            <p:ph type="title"/>
          </p:nvPr>
        </p:nvSpPr>
        <p:spPr>
          <a:xfrm>
            <a:off x="311700" y="64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t"/>
              <a:t>Keyboard layouts</a:t>
            </a:r>
            <a:endParaRPr/>
          </a:p>
        </p:txBody>
      </p:sp>
      <p:sp>
        <p:nvSpPr>
          <p:cNvPr id="143" name="Google Shape;143;p28"/>
          <p:cNvSpPr txBox="1"/>
          <p:nvPr>
            <p:ph idx="1" type="body"/>
          </p:nvPr>
        </p:nvSpPr>
        <p:spPr>
          <a:xfrm>
            <a:off x="311700" y="6190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it"/>
              <a:t>A keyboard layout is any specific physical, visual or functional arrangement</a:t>
            </a:r>
            <a:r>
              <a:rPr lang="it"/>
              <a:t> of the keys, legends, or key-meaning associations (respectively) of a computer keyboard, mobile phone, or other computer-controlled typographic keyboard.</a:t>
            </a:r>
            <a:endParaRPr/>
          </a:p>
          <a:p>
            <a:pPr indent="0" lvl="0" marL="0" rtl="0" algn="l">
              <a:spcBef>
                <a:spcPts val="1600"/>
              </a:spcBef>
              <a:spcAft>
                <a:spcPts val="0"/>
              </a:spcAft>
              <a:buNone/>
            </a:pPr>
            <a:r>
              <a:rPr b="1" lang="it"/>
              <a:t>Physical layout</a:t>
            </a:r>
            <a:r>
              <a:rPr lang="it"/>
              <a:t> is the actual positioning of keys on a keyboard. </a:t>
            </a:r>
            <a:endParaRPr/>
          </a:p>
          <a:p>
            <a:pPr indent="0" lvl="0" marL="0" rtl="0" algn="l">
              <a:spcBef>
                <a:spcPts val="1600"/>
              </a:spcBef>
              <a:spcAft>
                <a:spcPts val="0"/>
              </a:spcAft>
              <a:buNone/>
            </a:pPr>
            <a:r>
              <a:rPr b="1" lang="it"/>
              <a:t>Visual layout</a:t>
            </a:r>
            <a:r>
              <a:rPr lang="it"/>
              <a:t> the arrangement of the legends (labels, markings, engravings) that appear on those keys. </a:t>
            </a:r>
            <a:endParaRPr/>
          </a:p>
          <a:p>
            <a:pPr indent="0" lvl="0" marL="0" rtl="0" algn="l">
              <a:spcBef>
                <a:spcPts val="1600"/>
              </a:spcBef>
              <a:spcAft>
                <a:spcPts val="0"/>
              </a:spcAft>
              <a:buClr>
                <a:schemeClr val="dk1"/>
              </a:buClr>
              <a:buSzPts val="1100"/>
              <a:buFont typeface="Arial"/>
              <a:buNone/>
            </a:pPr>
            <a:r>
              <a:rPr b="1" lang="it"/>
              <a:t>Functional layout</a:t>
            </a:r>
            <a:r>
              <a:rPr lang="it"/>
              <a:t> is the arrangement of the key-meaning association or keyboard mapping, determined in software, of all the keys of a keyboard: this (rather than the legends) determines the actual response to a key press.</a:t>
            </a:r>
            <a:endParaRPr/>
          </a:p>
          <a:p>
            <a:pPr indent="0" lvl="0" marL="0" rtl="0" algn="l">
              <a:spcBef>
                <a:spcPts val="1600"/>
              </a:spcBef>
              <a:spcAft>
                <a:spcPts val="1600"/>
              </a:spcAft>
              <a:buNone/>
            </a:pPr>
            <a:r>
              <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 name="Shape 147"/>
        <p:cNvGrpSpPr/>
        <p:nvPr/>
      </p:nvGrpSpPr>
      <p:grpSpPr>
        <a:xfrm>
          <a:off x="0" y="0"/>
          <a:ext cx="0" cy="0"/>
          <a:chOff x="0" y="0"/>
          <a:chExt cx="0" cy="0"/>
        </a:xfrm>
      </p:grpSpPr>
      <p:sp>
        <p:nvSpPr>
          <p:cNvPr id="148" name="Google Shape;148;p29"/>
          <p:cNvSpPr txBox="1"/>
          <p:nvPr>
            <p:ph type="title"/>
          </p:nvPr>
        </p:nvSpPr>
        <p:spPr>
          <a:xfrm>
            <a:off x="311700" y="64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9" name="Google Shape;149;p29"/>
          <p:cNvSpPr txBox="1"/>
          <p:nvPr>
            <p:ph idx="1" type="body"/>
          </p:nvPr>
        </p:nvSpPr>
        <p:spPr>
          <a:xfrm>
            <a:off x="311700" y="6190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t/>
            </a:r>
            <a:endParaRPr/>
          </a:p>
        </p:txBody>
      </p:sp>
      <p:pic>
        <p:nvPicPr>
          <p:cNvPr id="150" name="Google Shape;150;p29"/>
          <p:cNvPicPr preferRelativeResize="0"/>
          <p:nvPr/>
        </p:nvPicPr>
        <p:blipFill>
          <a:blip r:embed="rId3">
            <a:alphaModFix/>
          </a:blip>
          <a:stretch>
            <a:fillRect/>
          </a:stretch>
        </p:blipFill>
        <p:spPr>
          <a:xfrm>
            <a:off x="607463" y="925100"/>
            <a:ext cx="7929075" cy="3541650"/>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4" name="Shape 154"/>
        <p:cNvGrpSpPr/>
        <p:nvPr/>
      </p:nvGrpSpPr>
      <p:grpSpPr>
        <a:xfrm>
          <a:off x="0" y="0"/>
          <a:ext cx="0" cy="0"/>
          <a:chOff x="0" y="0"/>
          <a:chExt cx="0" cy="0"/>
        </a:xfrm>
      </p:grpSpPr>
      <p:sp>
        <p:nvSpPr>
          <p:cNvPr id="155" name="Google Shape;155;p30"/>
          <p:cNvSpPr txBox="1"/>
          <p:nvPr>
            <p:ph type="title"/>
          </p:nvPr>
        </p:nvSpPr>
        <p:spPr>
          <a:xfrm>
            <a:off x="311700" y="64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it"/>
              <a:t>Keyboard layouts</a:t>
            </a:r>
            <a:endParaRPr/>
          </a:p>
          <a:p>
            <a:pPr indent="0" lvl="0" marL="0" rtl="0" algn="l">
              <a:spcBef>
                <a:spcPts val="0"/>
              </a:spcBef>
              <a:spcAft>
                <a:spcPts val="0"/>
              </a:spcAft>
              <a:buNone/>
            </a:pPr>
            <a:r>
              <a:t/>
            </a:r>
            <a:endParaRPr/>
          </a:p>
        </p:txBody>
      </p:sp>
      <p:sp>
        <p:nvSpPr>
          <p:cNvPr id="156" name="Google Shape;156;p30"/>
          <p:cNvSpPr txBox="1"/>
          <p:nvPr>
            <p:ph idx="1" type="body"/>
          </p:nvPr>
        </p:nvSpPr>
        <p:spPr>
          <a:xfrm>
            <a:off x="311700" y="6190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t"/>
              <a:t>Modern computer keyboards are designed to send a scancode to the operating system (OS) when a key is pressed or released: t</a:t>
            </a:r>
            <a:r>
              <a:rPr b="1" lang="it"/>
              <a:t>his code reports only the key's row and column</a:t>
            </a:r>
            <a:r>
              <a:rPr lang="it"/>
              <a:t>, not the specific character engraved on that key. </a:t>
            </a:r>
            <a:endParaRPr/>
          </a:p>
          <a:p>
            <a:pPr indent="0" lvl="0" marL="0" rtl="0" algn="l">
              <a:spcBef>
                <a:spcPts val="1600"/>
              </a:spcBef>
              <a:spcAft>
                <a:spcPts val="0"/>
              </a:spcAft>
              <a:buNone/>
            </a:pPr>
            <a:r>
              <a:rPr lang="it"/>
              <a:t>The OS converts the scancode into a specific binary character code using a "scancode to character" conversion table, called the keyboard mapping table. </a:t>
            </a:r>
            <a:endParaRPr/>
          </a:p>
          <a:p>
            <a:pPr indent="0" lvl="0" marL="0" rtl="0" algn="l">
              <a:spcBef>
                <a:spcPts val="1600"/>
              </a:spcBef>
              <a:spcAft>
                <a:spcPts val="0"/>
              </a:spcAft>
              <a:buClr>
                <a:schemeClr val="dk1"/>
              </a:buClr>
              <a:buSzPts val="1100"/>
              <a:buFont typeface="Arial"/>
              <a:buNone/>
            </a:pPr>
            <a:r>
              <a:rPr b="1" lang="it"/>
              <a:t>This means that a physical keyboard may be dynamically mapped to any layout without switching hardware components </a:t>
            </a:r>
            <a:r>
              <a:rPr lang="it"/>
              <a:t>– merely by changing the software that interprets the keystrokes.</a:t>
            </a:r>
            <a:endParaRPr/>
          </a:p>
          <a:p>
            <a:pPr indent="0" lvl="0" marL="0" rtl="0" algn="l">
              <a:spcBef>
                <a:spcPts val="1600"/>
              </a:spcBef>
              <a:spcAft>
                <a:spcPts val="0"/>
              </a:spcAft>
              <a:buClr>
                <a:schemeClr val="dk1"/>
              </a:buClr>
              <a:buSzPts val="1100"/>
              <a:buFont typeface="Arial"/>
              <a:buNone/>
            </a:pPr>
            <a:r>
              <a:t/>
            </a:r>
            <a:endParaRPr/>
          </a:p>
          <a:p>
            <a:pPr indent="0" lvl="0" marL="0" rtl="0" algn="l">
              <a:spcBef>
                <a:spcPts val="1600"/>
              </a:spcBef>
              <a:spcAft>
                <a:spcPts val="1600"/>
              </a:spcAft>
              <a:buNone/>
            </a:pPr>
            <a:r>
              <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0" name="Shape 160"/>
        <p:cNvGrpSpPr/>
        <p:nvPr/>
      </p:nvGrpSpPr>
      <p:grpSpPr>
        <a:xfrm>
          <a:off x="0" y="0"/>
          <a:ext cx="0" cy="0"/>
          <a:chOff x="0" y="0"/>
          <a:chExt cx="0" cy="0"/>
        </a:xfrm>
      </p:grpSpPr>
      <p:sp>
        <p:nvSpPr>
          <p:cNvPr id="161" name="Google Shape;161;p31"/>
          <p:cNvSpPr txBox="1"/>
          <p:nvPr>
            <p:ph type="title"/>
          </p:nvPr>
        </p:nvSpPr>
        <p:spPr>
          <a:xfrm>
            <a:off x="311700" y="64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2" name="Google Shape;162;p31"/>
          <p:cNvSpPr txBox="1"/>
          <p:nvPr>
            <p:ph idx="1" type="body"/>
          </p:nvPr>
        </p:nvSpPr>
        <p:spPr>
          <a:xfrm>
            <a:off x="311700" y="6190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t/>
            </a:r>
            <a:endParaRPr/>
          </a:p>
        </p:txBody>
      </p:sp>
      <p:pic>
        <p:nvPicPr>
          <p:cNvPr id="163" name="Google Shape;163;p31"/>
          <p:cNvPicPr preferRelativeResize="0"/>
          <p:nvPr/>
        </p:nvPicPr>
        <p:blipFill>
          <a:blip r:embed="rId3">
            <a:alphaModFix/>
          </a:blip>
          <a:stretch>
            <a:fillRect/>
          </a:stretch>
        </p:blipFill>
        <p:spPr>
          <a:xfrm>
            <a:off x="652463" y="1033463"/>
            <a:ext cx="8143875" cy="3381375"/>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7" name="Shape 167"/>
        <p:cNvGrpSpPr/>
        <p:nvPr/>
      </p:nvGrpSpPr>
      <p:grpSpPr>
        <a:xfrm>
          <a:off x="0" y="0"/>
          <a:ext cx="0" cy="0"/>
          <a:chOff x="0" y="0"/>
          <a:chExt cx="0" cy="0"/>
        </a:xfrm>
      </p:grpSpPr>
      <p:sp>
        <p:nvSpPr>
          <p:cNvPr id="168" name="Google Shape;168;p32"/>
          <p:cNvSpPr txBox="1"/>
          <p:nvPr>
            <p:ph type="title"/>
          </p:nvPr>
        </p:nvSpPr>
        <p:spPr>
          <a:xfrm>
            <a:off x="311700" y="64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t"/>
              <a:t>QWERTY Layout</a:t>
            </a:r>
            <a:endParaRPr/>
          </a:p>
        </p:txBody>
      </p:sp>
      <p:sp>
        <p:nvSpPr>
          <p:cNvPr id="169" name="Google Shape;169;p32"/>
          <p:cNvSpPr txBox="1"/>
          <p:nvPr>
            <p:ph idx="1" type="body"/>
          </p:nvPr>
        </p:nvSpPr>
        <p:spPr>
          <a:xfrm>
            <a:off x="311700" y="619075"/>
            <a:ext cx="8520600" cy="3416400"/>
          </a:xfrm>
          <a:prstGeom prst="rect">
            <a:avLst/>
          </a:prstGeom>
        </p:spPr>
        <p:txBody>
          <a:bodyPr anchorCtr="0" anchor="t" bIns="91425" lIns="91425" spcFirstLastPara="1" rIns="91425" wrap="square" tIns="91425">
            <a:noAutofit/>
          </a:bodyPr>
          <a:lstStyle/>
          <a:p>
            <a:pPr indent="0" lvl="0" marL="0" marR="0" rtl="0" algn="l">
              <a:lnSpc>
                <a:spcPct val="115000"/>
              </a:lnSpc>
              <a:spcBef>
                <a:spcPts val="0"/>
              </a:spcBef>
              <a:spcAft>
                <a:spcPts val="0"/>
              </a:spcAft>
              <a:buNone/>
            </a:pPr>
            <a:r>
              <a:rPr lang="it"/>
              <a:t>The QWERTY layout far the most widespread layout in use, and the only one that is not confined to a particular geographical area.</a:t>
            </a:r>
            <a:endParaRPr/>
          </a:p>
          <a:p>
            <a:pPr indent="0" lvl="0" marL="0" marR="0" rtl="0" algn="l">
              <a:lnSpc>
                <a:spcPct val="115000"/>
              </a:lnSpc>
              <a:spcBef>
                <a:spcPts val="1600"/>
              </a:spcBef>
              <a:spcAft>
                <a:spcPts val="0"/>
              </a:spcAft>
              <a:buNone/>
            </a:pPr>
            <a:r>
              <a:rPr b="1" lang="it"/>
              <a:t>QWERTY is a keyboard layout design</a:t>
            </a:r>
            <a:r>
              <a:rPr lang="it"/>
              <a:t> for Latin-script alphabets. </a:t>
            </a:r>
            <a:endParaRPr/>
          </a:p>
          <a:p>
            <a:pPr indent="0" lvl="0" marL="0" marR="0" rtl="0" algn="l">
              <a:lnSpc>
                <a:spcPct val="115000"/>
              </a:lnSpc>
              <a:spcBef>
                <a:spcPts val="1600"/>
              </a:spcBef>
              <a:spcAft>
                <a:spcPts val="1600"/>
              </a:spcAft>
              <a:buNone/>
            </a:pPr>
            <a:r>
              <a:rPr lang="it"/>
              <a:t>The name comes from the order of the first six keys on the top left letter row of the keyboard (Q W E R T Y)</a:t>
            </a:r>
            <a:endParaRPr sz="1050">
              <a:solidFill>
                <a:srgbClr val="202122"/>
              </a:solidFill>
              <a:highlight>
                <a:srgbClr val="FFFFFF"/>
              </a:highlight>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3" name="Shape 173"/>
        <p:cNvGrpSpPr/>
        <p:nvPr/>
      </p:nvGrpSpPr>
      <p:grpSpPr>
        <a:xfrm>
          <a:off x="0" y="0"/>
          <a:ext cx="0" cy="0"/>
          <a:chOff x="0" y="0"/>
          <a:chExt cx="0" cy="0"/>
        </a:xfrm>
      </p:grpSpPr>
      <p:sp>
        <p:nvSpPr>
          <p:cNvPr id="174" name="Google Shape;174;p33"/>
          <p:cNvSpPr txBox="1"/>
          <p:nvPr>
            <p:ph type="title"/>
          </p:nvPr>
        </p:nvSpPr>
        <p:spPr>
          <a:xfrm>
            <a:off x="311700" y="64025"/>
            <a:ext cx="8520600" cy="572700"/>
          </a:xfrm>
          <a:prstGeom prst="rect">
            <a:avLst/>
          </a:prstGeom>
        </p:spPr>
        <p:txBody>
          <a:bodyPr anchorCtr="0" anchor="t" bIns="91425" lIns="91425" spcFirstLastPara="1" rIns="91425" wrap="square" tIns="91425">
            <a:noAutofit/>
          </a:bodyPr>
          <a:lstStyle/>
          <a:p>
            <a:pPr indent="0" lvl="0" marL="0" marR="0" rtl="0" algn="l">
              <a:lnSpc>
                <a:spcPct val="100000"/>
              </a:lnSpc>
              <a:spcBef>
                <a:spcPts val="0"/>
              </a:spcBef>
              <a:spcAft>
                <a:spcPts val="0"/>
              </a:spcAft>
              <a:buNone/>
            </a:pPr>
            <a:r>
              <a:rPr lang="it"/>
              <a:t>Multifunctional keyboards</a:t>
            </a:r>
            <a:endParaRPr/>
          </a:p>
        </p:txBody>
      </p:sp>
      <p:sp>
        <p:nvSpPr>
          <p:cNvPr id="175" name="Google Shape;175;p33"/>
          <p:cNvSpPr txBox="1"/>
          <p:nvPr>
            <p:ph idx="1" type="body"/>
          </p:nvPr>
        </p:nvSpPr>
        <p:spPr>
          <a:xfrm>
            <a:off x="311700" y="6190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t" sz="1500"/>
              <a:t>Provide additional function beyond the standard keyboard. </a:t>
            </a:r>
            <a:endParaRPr sz="1500"/>
          </a:p>
          <a:p>
            <a:pPr indent="0" lvl="0" marL="0" rtl="0" algn="l">
              <a:spcBef>
                <a:spcPts val="1600"/>
              </a:spcBef>
              <a:spcAft>
                <a:spcPts val="0"/>
              </a:spcAft>
              <a:buNone/>
            </a:pPr>
            <a:r>
              <a:rPr lang="it" sz="1500"/>
              <a:t>Many are programmable, configurable computer keyboards and some control multiple PCs, workstations and other information sources, usually in multi-screen work environments. </a:t>
            </a:r>
            <a:endParaRPr sz="1500"/>
          </a:p>
          <a:p>
            <a:pPr indent="0" lvl="0" marL="0" rtl="0" algn="l">
              <a:spcBef>
                <a:spcPts val="1600"/>
              </a:spcBef>
              <a:spcAft>
                <a:spcPts val="0"/>
              </a:spcAft>
              <a:buClr>
                <a:schemeClr val="dk1"/>
              </a:buClr>
              <a:buSzPts val="1100"/>
              <a:buFont typeface="Arial"/>
              <a:buNone/>
            </a:pPr>
            <a:r>
              <a:rPr lang="it" sz="1500"/>
              <a:t>Users have additional key functions as well as the standard functions and can typically use a single keyboard and mouse to access multiple sources.</a:t>
            </a:r>
            <a:endParaRPr sz="1500"/>
          </a:p>
          <a:p>
            <a:pPr indent="0" lvl="0" marL="0" rtl="0" algn="l">
              <a:spcBef>
                <a:spcPts val="1600"/>
              </a:spcBef>
              <a:spcAft>
                <a:spcPts val="0"/>
              </a:spcAft>
              <a:buNone/>
            </a:pPr>
            <a:r>
              <a:rPr lang="it" sz="1500"/>
              <a:t>Multifunctional keyboards may feature customised keypads, fully programmable function or soft keys for macros/pre-sets, biometric or smart card readers, trackballs, etc. </a:t>
            </a:r>
            <a:endParaRPr sz="1500"/>
          </a:p>
          <a:p>
            <a:pPr indent="0" lvl="0" marL="0" rtl="0" algn="l">
              <a:spcBef>
                <a:spcPts val="1600"/>
              </a:spcBef>
              <a:spcAft>
                <a:spcPts val="0"/>
              </a:spcAft>
              <a:buNone/>
            </a:pPr>
            <a:r>
              <a:rPr lang="it" sz="1500"/>
              <a:t>New generation multifunctional keyboards feature a touchscreen display to stream video, control audio visual media etc.</a:t>
            </a:r>
            <a:endParaRPr sz="1500"/>
          </a:p>
          <a:p>
            <a:pPr indent="0" lvl="0" marL="0" rtl="0" algn="l">
              <a:spcBef>
                <a:spcPts val="1600"/>
              </a:spcBef>
              <a:spcAft>
                <a:spcPts val="0"/>
              </a:spcAft>
              <a:buClr>
                <a:schemeClr val="dk1"/>
              </a:buClr>
              <a:buSzPts val="1100"/>
              <a:buFont typeface="Arial"/>
              <a:buNone/>
            </a:pPr>
            <a:r>
              <a:rPr lang="it" sz="1500"/>
              <a:t>Common environments for multifunctional keyboards are complex, high-performance workplaces for financial traders and control room operators (emergency services, security, air traffic management; industry, utilities management, etc.).</a:t>
            </a:r>
            <a:endParaRPr sz="1500"/>
          </a:p>
          <a:p>
            <a:pPr indent="0" lvl="0" marL="0" rtl="0" algn="l">
              <a:spcBef>
                <a:spcPts val="1600"/>
              </a:spcBef>
              <a:spcAft>
                <a:spcPts val="1600"/>
              </a:spcAft>
              <a:buNone/>
            </a:pPr>
            <a:r>
              <a:t/>
            </a:r>
            <a:endParaRPr sz="1500"/>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9" name="Shape 179"/>
        <p:cNvGrpSpPr/>
        <p:nvPr/>
      </p:nvGrpSpPr>
      <p:grpSpPr>
        <a:xfrm>
          <a:off x="0" y="0"/>
          <a:ext cx="0" cy="0"/>
          <a:chOff x="0" y="0"/>
          <a:chExt cx="0" cy="0"/>
        </a:xfrm>
      </p:grpSpPr>
      <p:sp>
        <p:nvSpPr>
          <p:cNvPr id="180" name="Google Shape;180;p34"/>
          <p:cNvSpPr txBox="1"/>
          <p:nvPr>
            <p:ph type="title"/>
          </p:nvPr>
        </p:nvSpPr>
        <p:spPr>
          <a:xfrm>
            <a:off x="311700" y="64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t"/>
              <a:t>Barcode readers</a:t>
            </a:r>
            <a:endParaRPr/>
          </a:p>
        </p:txBody>
      </p:sp>
      <p:sp>
        <p:nvSpPr>
          <p:cNvPr id="181" name="Google Shape;181;p34"/>
          <p:cNvSpPr txBox="1"/>
          <p:nvPr>
            <p:ph idx="1" type="body"/>
          </p:nvPr>
        </p:nvSpPr>
        <p:spPr>
          <a:xfrm>
            <a:off x="311700" y="6190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t"/>
              <a:t>A barcode reader (or barcode scanner) is an optical scanner </a:t>
            </a:r>
            <a:r>
              <a:rPr b="1" lang="it"/>
              <a:t>that can read printed barcodes</a:t>
            </a:r>
            <a:r>
              <a:rPr lang="it"/>
              <a:t>, decode the data contained in the barcode and send the data to a computer. </a:t>
            </a:r>
            <a:endParaRPr/>
          </a:p>
          <a:p>
            <a:pPr indent="0" lvl="0" marL="0" rtl="0" algn="l">
              <a:spcBef>
                <a:spcPts val="1600"/>
              </a:spcBef>
              <a:spcAft>
                <a:spcPts val="0"/>
              </a:spcAft>
              <a:buNone/>
            </a:pPr>
            <a:r>
              <a:rPr lang="it"/>
              <a:t>Like a flatbed scanner, it consists of a light source, a lens and a light sensor translating for optical impulses into electrical signals. </a:t>
            </a:r>
            <a:endParaRPr/>
          </a:p>
          <a:p>
            <a:pPr indent="0" lvl="0" marL="0" rtl="0" algn="l">
              <a:spcBef>
                <a:spcPts val="1600"/>
              </a:spcBef>
              <a:spcAft>
                <a:spcPts val="1600"/>
              </a:spcAft>
              <a:buNone/>
            </a:pPr>
            <a:r>
              <a:rPr lang="it"/>
              <a:t>Additionally, nearly all barcode readers contain decoder circuitry that can analyze the barcode's image data provided by the sensor and sending the barcode's content to the scanner's output port.</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5" name="Shape 185"/>
        <p:cNvGrpSpPr/>
        <p:nvPr/>
      </p:nvGrpSpPr>
      <p:grpSpPr>
        <a:xfrm>
          <a:off x="0" y="0"/>
          <a:ext cx="0" cy="0"/>
          <a:chOff x="0" y="0"/>
          <a:chExt cx="0" cy="0"/>
        </a:xfrm>
      </p:grpSpPr>
      <p:sp>
        <p:nvSpPr>
          <p:cNvPr id="186" name="Google Shape;186;p35"/>
          <p:cNvSpPr txBox="1"/>
          <p:nvPr>
            <p:ph type="title"/>
          </p:nvPr>
        </p:nvSpPr>
        <p:spPr>
          <a:xfrm>
            <a:off x="311700" y="64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t"/>
              <a:t>Barcode Readers</a:t>
            </a:r>
            <a:endParaRPr/>
          </a:p>
        </p:txBody>
      </p:sp>
      <p:sp>
        <p:nvSpPr>
          <p:cNvPr id="187" name="Google Shape;187;p35"/>
          <p:cNvSpPr txBox="1"/>
          <p:nvPr>
            <p:ph idx="1" type="body"/>
          </p:nvPr>
        </p:nvSpPr>
        <p:spPr>
          <a:xfrm>
            <a:off x="311700" y="6190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a:p>
            <a:pPr indent="0" lvl="0" marL="0" rtl="0" algn="l">
              <a:spcBef>
                <a:spcPts val="1600"/>
              </a:spcBef>
              <a:spcAft>
                <a:spcPts val="0"/>
              </a:spcAft>
              <a:buNone/>
            </a:pPr>
            <a:r>
              <a:rPr lang="it"/>
              <a:t>A barcode is a method of representing data in a visual, machine-readable form. Standard, barcodes represent data by varying the widths and spacings of parallel lines. A barcode encodes a string (typically numbers)</a:t>
            </a:r>
            <a:endParaRPr/>
          </a:p>
          <a:p>
            <a:pPr indent="0" lvl="0" marL="0" rtl="0" algn="l">
              <a:spcBef>
                <a:spcPts val="1600"/>
              </a:spcBef>
              <a:spcAft>
                <a:spcPts val="1600"/>
              </a:spcAft>
              <a:buNone/>
            </a:pPr>
            <a:r>
              <a:rPr b="1" lang="it"/>
              <a:t>A QR is a bidimensional barcode.</a:t>
            </a:r>
            <a:r>
              <a:rPr lang="it"/>
              <a:t> It uses four standardized encoding modes (numeric, alphanumeric, byte/binary, and kanji) to store data efficiently;</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1" name="Shape 191"/>
        <p:cNvGrpSpPr/>
        <p:nvPr/>
      </p:nvGrpSpPr>
      <p:grpSpPr>
        <a:xfrm>
          <a:off x="0" y="0"/>
          <a:ext cx="0" cy="0"/>
          <a:chOff x="0" y="0"/>
          <a:chExt cx="0" cy="0"/>
        </a:xfrm>
      </p:grpSpPr>
      <p:sp>
        <p:nvSpPr>
          <p:cNvPr id="192" name="Google Shape;192;p36"/>
          <p:cNvSpPr txBox="1"/>
          <p:nvPr>
            <p:ph type="title"/>
          </p:nvPr>
        </p:nvSpPr>
        <p:spPr>
          <a:xfrm>
            <a:off x="311700" y="64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t"/>
              <a:t>RFID</a:t>
            </a:r>
            <a:endParaRPr/>
          </a:p>
          <a:p>
            <a:pPr indent="0" lvl="0" marL="0" rtl="0" algn="l">
              <a:spcBef>
                <a:spcPts val="0"/>
              </a:spcBef>
              <a:spcAft>
                <a:spcPts val="0"/>
              </a:spcAft>
              <a:buNone/>
            </a:pPr>
            <a:r>
              <a:t/>
            </a:r>
            <a:endParaRPr/>
          </a:p>
        </p:txBody>
      </p:sp>
      <p:sp>
        <p:nvSpPr>
          <p:cNvPr id="193" name="Google Shape;193;p36"/>
          <p:cNvSpPr txBox="1"/>
          <p:nvPr>
            <p:ph idx="1" type="body"/>
          </p:nvPr>
        </p:nvSpPr>
        <p:spPr>
          <a:xfrm>
            <a:off x="311700" y="6190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t"/>
              <a:t>An RFID tag consists of a tiny radio transponder; a radio receiver and transmitter. </a:t>
            </a:r>
            <a:endParaRPr/>
          </a:p>
          <a:p>
            <a:pPr indent="0" lvl="0" marL="0" rtl="0" algn="l">
              <a:spcBef>
                <a:spcPts val="1600"/>
              </a:spcBef>
              <a:spcAft>
                <a:spcPts val="0"/>
              </a:spcAft>
              <a:buNone/>
            </a:pPr>
            <a:r>
              <a:rPr lang="it"/>
              <a:t>When triggered by an electromagnetic interrogation pulse from a nearby RFID reader device, the tag transmits digital data, usually an identifying inventory number, back to the reader. This number can be used to inventory goods. </a:t>
            </a:r>
            <a:endParaRPr/>
          </a:p>
          <a:p>
            <a:pPr indent="0" lvl="0" marL="0" rtl="0" algn="l">
              <a:spcBef>
                <a:spcPts val="1600"/>
              </a:spcBef>
              <a:spcAft>
                <a:spcPts val="0"/>
              </a:spcAft>
              <a:buNone/>
            </a:pPr>
            <a:r>
              <a:rPr lang="it"/>
              <a:t>There are two types:</a:t>
            </a:r>
            <a:endParaRPr/>
          </a:p>
          <a:p>
            <a:pPr indent="-342900" lvl="0" marL="457200" rtl="0" algn="l">
              <a:spcBef>
                <a:spcPts val="1600"/>
              </a:spcBef>
              <a:spcAft>
                <a:spcPts val="0"/>
              </a:spcAft>
              <a:buSzPts val="1800"/>
              <a:buChar char="●"/>
            </a:pPr>
            <a:r>
              <a:rPr lang="it"/>
              <a:t>Passive tags are powered by energy from the RFID reader's interrogating radio waves. </a:t>
            </a:r>
            <a:endParaRPr/>
          </a:p>
          <a:p>
            <a:pPr indent="-342900" lvl="0" marL="457200" rtl="0" algn="l">
              <a:spcBef>
                <a:spcPts val="0"/>
              </a:spcBef>
              <a:spcAft>
                <a:spcPts val="0"/>
              </a:spcAft>
              <a:buSzPts val="1800"/>
              <a:buChar char="●"/>
            </a:pPr>
            <a:r>
              <a:rPr lang="it"/>
              <a:t>Active tags are powered by a battery and thus can be read at a greater range from the RFID reader; up to hundreds of meters. </a:t>
            </a:r>
            <a:endParaRPr/>
          </a:p>
          <a:p>
            <a:pPr indent="0" lvl="0" marL="0" rtl="0" algn="l">
              <a:spcBef>
                <a:spcPts val="1600"/>
              </a:spcBef>
              <a:spcAft>
                <a:spcPts val="1600"/>
              </a:spcAft>
              <a:buNone/>
            </a:pPr>
            <a:r>
              <a:rPr b="1" lang="it"/>
              <a:t>Unlike a barcode, the tag doesn't need to be within the line of sight of the reader, so it may be embedded in the tracked object.</a:t>
            </a:r>
            <a:r>
              <a:rPr lang="it"/>
              <a:t> </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7" name="Shape 197"/>
        <p:cNvGrpSpPr/>
        <p:nvPr/>
      </p:nvGrpSpPr>
      <p:grpSpPr>
        <a:xfrm>
          <a:off x="0" y="0"/>
          <a:ext cx="0" cy="0"/>
          <a:chOff x="0" y="0"/>
          <a:chExt cx="0" cy="0"/>
        </a:xfrm>
      </p:grpSpPr>
      <p:sp>
        <p:nvSpPr>
          <p:cNvPr id="198" name="Google Shape;198;p37"/>
          <p:cNvSpPr txBox="1"/>
          <p:nvPr>
            <p:ph type="title"/>
          </p:nvPr>
        </p:nvSpPr>
        <p:spPr>
          <a:xfrm>
            <a:off x="311700" y="64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t"/>
              <a:t>NFC</a:t>
            </a:r>
            <a:endParaRPr/>
          </a:p>
        </p:txBody>
      </p:sp>
      <p:sp>
        <p:nvSpPr>
          <p:cNvPr id="199" name="Google Shape;199;p37"/>
          <p:cNvSpPr txBox="1"/>
          <p:nvPr>
            <p:ph idx="1" type="body"/>
          </p:nvPr>
        </p:nvSpPr>
        <p:spPr>
          <a:xfrm>
            <a:off x="311700" y="6190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t"/>
              <a:t>Near-Field-Communication (NFC) is a set of communication protocols for bidirectional communication between two electronic devices over a distance of 4 cm (1​1⁄2 in) or less.</a:t>
            </a:r>
            <a:endParaRPr/>
          </a:p>
          <a:p>
            <a:pPr indent="0" lvl="0" marL="0" rtl="0" algn="l">
              <a:spcBef>
                <a:spcPts val="1600"/>
              </a:spcBef>
              <a:spcAft>
                <a:spcPts val="0"/>
              </a:spcAft>
              <a:buNone/>
            </a:pPr>
            <a:r>
              <a:rPr lang="it"/>
              <a:t>NFC offers a low-speed connection with simple setup that can be used to bootstrap more-capable wireless connections.</a:t>
            </a:r>
            <a:endParaRPr/>
          </a:p>
          <a:p>
            <a:pPr indent="0" lvl="0" marL="0" rtl="0" algn="l">
              <a:spcBef>
                <a:spcPts val="1600"/>
              </a:spcBef>
              <a:spcAft>
                <a:spcPts val="0"/>
              </a:spcAft>
              <a:buNone/>
            </a:pPr>
            <a:r>
              <a:t/>
            </a:r>
            <a:endParaRPr/>
          </a:p>
          <a:p>
            <a:pPr indent="0" lvl="0" marL="0" rtl="0" algn="l">
              <a:spcBef>
                <a:spcPts val="1600"/>
              </a:spcBef>
              <a:spcAft>
                <a:spcPts val="1600"/>
              </a:spcAft>
              <a:buNone/>
            </a:pPr>
            <a:r>
              <a:rPr b="1" i="1" lang="it"/>
              <a:t>Is it a HID or a communication technology?</a:t>
            </a:r>
            <a:endParaRPr b="1" i="1"/>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3" name="Shape 203"/>
        <p:cNvGrpSpPr/>
        <p:nvPr/>
      </p:nvGrpSpPr>
      <p:grpSpPr>
        <a:xfrm>
          <a:off x="0" y="0"/>
          <a:ext cx="0" cy="0"/>
          <a:chOff x="0" y="0"/>
          <a:chExt cx="0" cy="0"/>
        </a:xfrm>
      </p:grpSpPr>
      <p:sp>
        <p:nvSpPr>
          <p:cNvPr id="204" name="Google Shape;204;p38"/>
          <p:cNvSpPr txBox="1"/>
          <p:nvPr>
            <p:ph type="title"/>
          </p:nvPr>
        </p:nvSpPr>
        <p:spPr>
          <a:xfrm>
            <a:off x="311700" y="64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t"/>
              <a:t>Pointing Devices</a:t>
            </a:r>
            <a:endParaRPr/>
          </a:p>
        </p:txBody>
      </p:sp>
      <p:sp>
        <p:nvSpPr>
          <p:cNvPr id="205" name="Google Shape;205;p38"/>
          <p:cNvSpPr txBox="1"/>
          <p:nvPr>
            <p:ph idx="1" type="body"/>
          </p:nvPr>
        </p:nvSpPr>
        <p:spPr>
          <a:xfrm>
            <a:off x="311700" y="6190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t"/>
              <a:t>A pointing device is an input interface that allows a user </a:t>
            </a:r>
            <a:r>
              <a:rPr b="1" lang="it"/>
              <a:t>to input spatial</a:t>
            </a:r>
            <a:r>
              <a:rPr lang="it"/>
              <a:t> (i.e., continuous and multi-dimensional) </a:t>
            </a:r>
            <a:r>
              <a:rPr b="1" lang="it"/>
              <a:t>data to a computer.</a:t>
            </a:r>
            <a:r>
              <a:rPr lang="it"/>
              <a:t> </a:t>
            </a:r>
            <a:endParaRPr/>
          </a:p>
          <a:p>
            <a:pPr indent="0" lvl="0" marL="0" rtl="0" algn="l">
              <a:spcBef>
                <a:spcPts val="1600"/>
              </a:spcBef>
              <a:spcAft>
                <a:spcPts val="0"/>
              </a:spcAft>
              <a:buNone/>
            </a:pPr>
            <a:r>
              <a:rPr lang="it"/>
              <a:t>CAD systems and graphical user interfaces (GUI) allow the user to control and provide data to the computer using physical gestures by moving a hand-held mouse or similar device across the surface of the physical desktop and activating switches on the mouse. </a:t>
            </a:r>
            <a:endParaRPr/>
          </a:p>
          <a:p>
            <a:pPr indent="0" lvl="0" marL="0" rtl="0" algn="l">
              <a:spcBef>
                <a:spcPts val="1600"/>
              </a:spcBef>
              <a:spcAft>
                <a:spcPts val="0"/>
              </a:spcAft>
              <a:buNone/>
            </a:pPr>
            <a:r>
              <a:rPr b="1" lang="it"/>
              <a:t>Movements of the pointing device are echoed on the screen by movements of the pointer</a:t>
            </a:r>
            <a:r>
              <a:rPr lang="it"/>
              <a:t> (or cursor) and other visual changes. </a:t>
            </a:r>
            <a:endParaRPr/>
          </a:p>
          <a:p>
            <a:pPr indent="0" lvl="0" marL="0" rtl="0" algn="l">
              <a:spcBef>
                <a:spcPts val="1600"/>
              </a:spcBef>
              <a:spcAft>
                <a:spcPts val="0"/>
              </a:spcAft>
              <a:buNone/>
            </a:pPr>
            <a:r>
              <a:rPr lang="it"/>
              <a:t>Common gestures are point and click and drag and drop.</a:t>
            </a:r>
            <a:endParaRPr/>
          </a:p>
          <a:p>
            <a:pPr indent="0" lvl="0" marL="0" rtl="0" algn="l">
              <a:spcBef>
                <a:spcPts val="1600"/>
              </a:spcBef>
              <a:spcAft>
                <a:spcPts val="0"/>
              </a:spcAft>
              <a:buNone/>
            </a:pPr>
            <a:r>
              <a:t/>
            </a:r>
            <a:endParaRPr/>
          </a:p>
          <a:p>
            <a:pPr indent="0" lvl="0" marL="0" rtl="0" algn="l">
              <a:spcBef>
                <a:spcPts val="1600"/>
              </a:spcBef>
              <a:spcAft>
                <a:spcPts val="1600"/>
              </a:spcAft>
              <a:buNone/>
            </a:pPr>
            <a:r>
              <a:t/>
            </a:r>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9" name="Shape 209"/>
        <p:cNvGrpSpPr/>
        <p:nvPr/>
      </p:nvGrpSpPr>
      <p:grpSpPr>
        <a:xfrm>
          <a:off x="0" y="0"/>
          <a:ext cx="0" cy="0"/>
          <a:chOff x="0" y="0"/>
          <a:chExt cx="0" cy="0"/>
        </a:xfrm>
      </p:grpSpPr>
      <p:sp>
        <p:nvSpPr>
          <p:cNvPr id="210" name="Google Shape;210;p39"/>
          <p:cNvSpPr txBox="1"/>
          <p:nvPr>
            <p:ph type="title"/>
          </p:nvPr>
        </p:nvSpPr>
        <p:spPr>
          <a:xfrm>
            <a:off x="311700" y="64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it"/>
              <a:t>Pointing Devices</a:t>
            </a:r>
            <a:endParaRPr/>
          </a:p>
          <a:p>
            <a:pPr indent="0" lvl="0" marL="0" rtl="0" algn="l">
              <a:spcBef>
                <a:spcPts val="0"/>
              </a:spcBef>
              <a:spcAft>
                <a:spcPts val="0"/>
              </a:spcAft>
              <a:buNone/>
            </a:pPr>
            <a:r>
              <a:t/>
            </a:r>
            <a:endParaRPr/>
          </a:p>
        </p:txBody>
      </p:sp>
      <p:sp>
        <p:nvSpPr>
          <p:cNvPr id="211" name="Google Shape;211;p39"/>
          <p:cNvSpPr txBox="1"/>
          <p:nvPr>
            <p:ph idx="1" type="body"/>
          </p:nvPr>
        </p:nvSpPr>
        <p:spPr>
          <a:xfrm>
            <a:off x="311700" y="6190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it"/>
              <a:t>While the most common pointing device by far is the mouse, many more devices have been developed. However, the term "mouse" is commonly used as a metaphor for devices that move the cursor.</a:t>
            </a:r>
            <a:endParaRPr/>
          </a:p>
          <a:p>
            <a:pPr indent="0" lvl="0" marL="0" rtl="0" algn="l">
              <a:spcBef>
                <a:spcPts val="1600"/>
              </a:spcBef>
              <a:spcAft>
                <a:spcPts val="1600"/>
              </a:spcAft>
              <a:buNone/>
            </a:pPr>
            <a:r>
              <a:t/>
            </a:r>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5" name="Shape 215"/>
        <p:cNvGrpSpPr/>
        <p:nvPr/>
      </p:nvGrpSpPr>
      <p:grpSpPr>
        <a:xfrm>
          <a:off x="0" y="0"/>
          <a:ext cx="0" cy="0"/>
          <a:chOff x="0" y="0"/>
          <a:chExt cx="0" cy="0"/>
        </a:xfrm>
      </p:grpSpPr>
      <p:sp>
        <p:nvSpPr>
          <p:cNvPr id="216" name="Google Shape;216;p40"/>
          <p:cNvSpPr txBox="1"/>
          <p:nvPr>
            <p:ph type="title"/>
          </p:nvPr>
        </p:nvSpPr>
        <p:spPr>
          <a:xfrm>
            <a:off x="311700" y="64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t"/>
              <a:t>Fitts's law</a:t>
            </a:r>
            <a:endParaRPr/>
          </a:p>
        </p:txBody>
      </p:sp>
      <p:sp>
        <p:nvSpPr>
          <p:cNvPr id="217" name="Google Shape;217;p40"/>
          <p:cNvSpPr txBox="1"/>
          <p:nvPr>
            <p:ph idx="1" type="body"/>
          </p:nvPr>
        </p:nvSpPr>
        <p:spPr>
          <a:xfrm>
            <a:off x="311700" y="619075"/>
            <a:ext cx="52221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t"/>
              <a:t>Fitts's law is a predictive model of human movement primarily used in human–computer interaction and ergonomics. </a:t>
            </a:r>
            <a:endParaRPr/>
          </a:p>
          <a:p>
            <a:pPr indent="0" lvl="0" marL="0" rtl="0" algn="l">
              <a:spcBef>
                <a:spcPts val="1600"/>
              </a:spcBef>
              <a:spcAft>
                <a:spcPts val="0"/>
              </a:spcAft>
              <a:buNone/>
            </a:pPr>
            <a:r>
              <a:rPr lang="it"/>
              <a:t>This scientific law predicts that </a:t>
            </a:r>
            <a:r>
              <a:rPr b="1" lang="it"/>
              <a:t>the time required to rapidly move to a target area is a function of the ratio between the distance (D) to the target and the width of the target (W).</a:t>
            </a:r>
            <a:endParaRPr b="1"/>
          </a:p>
          <a:p>
            <a:pPr indent="0" lvl="0" marL="0" rtl="0" algn="l">
              <a:spcBef>
                <a:spcPts val="1600"/>
              </a:spcBef>
              <a:spcAft>
                <a:spcPts val="0"/>
              </a:spcAft>
              <a:buNone/>
            </a:pPr>
            <a:r>
              <a:rPr lang="it"/>
              <a:t>Fitts's law is used to model the act of pointing, either by physically touching an object with a hand or finger, or virtually, by pointing to an object on a computer monitor using a pointing device.</a:t>
            </a:r>
            <a:endParaRPr/>
          </a:p>
          <a:p>
            <a:pPr indent="0" lvl="0" marL="0" rtl="0" algn="l">
              <a:spcBef>
                <a:spcPts val="1600"/>
              </a:spcBef>
              <a:spcAft>
                <a:spcPts val="1600"/>
              </a:spcAft>
              <a:buNone/>
            </a:pPr>
            <a:r>
              <a:t/>
            </a:r>
            <a:endParaRPr/>
          </a:p>
        </p:txBody>
      </p:sp>
      <p:pic>
        <p:nvPicPr>
          <p:cNvPr id="218" name="Google Shape;218;p40"/>
          <p:cNvPicPr preferRelativeResize="0"/>
          <p:nvPr/>
        </p:nvPicPr>
        <p:blipFill>
          <a:blip r:embed="rId3">
            <a:alphaModFix/>
          </a:blip>
          <a:stretch>
            <a:fillRect/>
          </a:stretch>
        </p:blipFill>
        <p:spPr>
          <a:xfrm>
            <a:off x="5159425" y="772350"/>
            <a:ext cx="3948301" cy="2961226"/>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2" name="Shape 222"/>
        <p:cNvGrpSpPr/>
        <p:nvPr/>
      </p:nvGrpSpPr>
      <p:grpSpPr>
        <a:xfrm>
          <a:off x="0" y="0"/>
          <a:ext cx="0" cy="0"/>
          <a:chOff x="0" y="0"/>
          <a:chExt cx="0" cy="0"/>
        </a:xfrm>
      </p:grpSpPr>
      <p:sp>
        <p:nvSpPr>
          <p:cNvPr id="223" name="Google Shape;223;p41"/>
          <p:cNvSpPr txBox="1"/>
          <p:nvPr>
            <p:ph type="title"/>
          </p:nvPr>
        </p:nvSpPr>
        <p:spPr>
          <a:xfrm>
            <a:off x="311700" y="64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it"/>
              <a:t>Fitts's law</a:t>
            </a:r>
            <a:endParaRPr/>
          </a:p>
          <a:p>
            <a:pPr indent="0" lvl="0" marL="0" rtl="0" algn="l">
              <a:spcBef>
                <a:spcPts val="0"/>
              </a:spcBef>
              <a:spcAft>
                <a:spcPts val="0"/>
              </a:spcAft>
              <a:buNone/>
            </a:pPr>
            <a:r>
              <a:t/>
            </a:r>
            <a:endParaRPr/>
          </a:p>
        </p:txBody>
      </p:sp>
      <p:sp>
        <p:nvSpPr>
          <p:cNvPr id="224" name="Google Shape;224;p41"/>
          <p:cNvSpPr txBox="1"/>
          <p:nvPr>
            <p:ph idx="1" type="body"/>
          </p:nvPr>
        </p:nvSpPr>
        <p:spPr>
          <a:xfrm>
            <a:off x="311700" y="6190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t"/>
              <a:t>Movement Time:</a:t>
            </a:r>
            <a:endParaRPr/>
          </a:p>
          <a:p>
            <a:pPr indent="-342900" lvl="0" marL="457200" rtl="0" algn="l">
              <a:spcBef>
                <a:spcPts val="1600"/>
              </a:spcBef>
              <a:spcAft>
                <a:spcPts val="0"/>
              </a:spcAft>
              <a:buSzPts val="1800"/>
              <a:buChar char="●"/>
            </a:pPr>
            <a:r>
              <a:rPr lang="it"/>
              <a:t>a = time to start/stop in seconds (empirically measured per device) </a:t>
            </a:r>
            <a:endParaRPr/>
          </a:p>
          <a:p>
            <a:pPr indent="-342900" lvl="0" marL="457200" rtl="0" algn="l">
              <a:spcBef>
                <a:spcPts val="0"/>
              </a:spcBef>
              <a:spcAft>
                <a:spcPts val="0"/>
              </a:spcAft>
              <a:buSzPts val="1800"/>
              <a:buChar char="●"/>
            </a:pPr>
            <a:r>
              <a:rPr lang="it"/>
              <a:t>b = inherent speed of the device (empirically measured per device)</a:t>
            </a:r>
            <a:endParaRPr/>
          </a:p>
          <a:p>
            <a:pPr indent="-342900" lvl="0" marL="457200" rtl="0" algn="l">
              <a:spcBef>
                <a:spcPts val="0"/>
              </a:spcBef>
              <a:spcAft>
                <a:spcPts val="0"/>
              </a:spcAft>
              <a:buSzPts val="1800"/>
              <a:buChar char="●"/>
            </a:pPr>
            <a:r>
              <a:rPr lang="it"/>
              <a:t>D is the distance from the starting point to the center of the target.</a:t>
            </a:r>
            <a:endParaRPr/>
          </a:p>
          <a:p>
            <a:pPr indent="-342900" lvl="0" marL="457200" rtl="0" algn="l">
              <a:spcBef>
                <a:spcPts val="0"/>
              </a:spcBef>
              <a:spcAft>
                <a:spcPts val="0"/>
              </a:spcAft>
              <a:buSzPts val="1800"/>
              <a:buChar char="●"/>
            </a:pPr>
            <a:r>
              <a:rPr lang="it"/>
              <a:t>W is the width of the target measured along the axis of motion.</a:t>
            </a:r>
            <a:endParaRPr/>
          </a:p>
          <a:p>
            <a:pPr indent="0" lvl="0" marL="457200" rtl="0" algn="l">
              <a:spcBef>
                <a:spcPts val="1600"/>
              </a:spcBef>
              <a:spcAft>
                <a:spcPts val="0"/>
              </a:spcAft>
              <a:buNone/>
            </a:pPr>
            <a:r>
              <a:t/>
            </a:r>
            <a:endParaRPr/>
          </a:p>
          <a:p>
            <a:pPr indent="0" lvl="0" marL="457200" rtl="0" algn="l">
              <a:spcBef>
                <a:spcPts val="1600"/>
              </a:spcBef>
              <a:spcAft>
                <a:spcPts val="0"/>
              </a:spcAft>
              <a:buNone/>
            </a:pPr>
            <a:r>
              <a:t/>
            </a:r>
            <a:endParaRPr/>
          </a:p>
          <a:p>
            <a:pPr indent="0" lvl="0" marL="0" rtl="0" algn="l">
              <a:spcBef>
                <a:spcPts val="1600"/>
              </a:spcBef>
              <a:spcAft>
                <a:spcPts val="1600"/>
              </a:spcAft>
              <a:buNone/>
            </a:pPr>
            <a:r>
              <a:rPr i="1" lang="it" sz="1400"/>
              <a:t>Notice that because the ID term depends only on the ratio of distance to width, the model implies that a target distance and width combination can be re-scaled arbitrarily without affecting movement time, which is impossible. Despite its flaws, this form of the model does possess remarkable predictive power across a range of computer interface modalities and motor tasks, and has provided many insights into user interface design principles.</a:t>
            </a:r>
            <a:endParaRPr i="1" sz="1400"/>
          </a:p>
        </p:txBody>
      </p:sp>
      <p:pic>
        <p:nvPicPr>
          <p:cNvPr id="225" name="Google Shape;225;p41"/>
          <p:cNvPicPr preferRelativeResize="0"/>
          <p:nvPr/>
        </p:nvPicPr>
        <p:blipFill>
          <a:blip r:embed="rId3">
            <a:alphaModFix/>
          </a:blip>
          <a:stretch>
            <a:fillRect/>
          </a:stretch>
        </p:blipFill>
        <p:spPr>
          <a:xfrm>
            <a:off x="2426763" y="2659175"/>
            <a:ext cx="4290475" cy="844025"/>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9" name="Shape 229"/>
        <p:cNvGrpSpPr/>
        <p:nvPr/>
      </p:nvGrpSpPr>
      <p:grpSpPr>
        <a:xfrm>
          <a:off x="0" y="0"/>
          <a:ext cx="0" cy="0"/>
          <a:chOff x="0" y="0"/>
          <a:chExt cx="0" cy="0"/>
        </a:xfrm>
      </p:grpSpPr>
      <p:sp>
        <p:nvSpPr>
          <p:cNvPr id="230" name="Google Shape;230;p42"/>
          <p:cNvSpPr txBox="1"/>
          <p:nvPr>
            <p:ph type="title"/>
          </p:nvPr>
        </p:nvSpPr>
        <p:spPr>
          <a:xfrm>
            <a:off x="311700" y="64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it"/>
              <a:t>Fitts's law</a:t>
            </a:r>
            <a:endParaRPr/>
          </a:p>
          <a:p>
            <a:pPr indent="0" lvl="0" marL="0" rtl="0" algn="l">
              <a:spcBef>
                <a:spcPts val="0"/>
              </a:spcBef>
              <a:spcAft>
                <a:spcPts val="0"/>
              </a:spcAft>
              <a:buNone/>
            </a:pPr>
            <a:r>
              <a:t/>
            </a:r>
            <a:endParaRPr/>
          </a:p>
        </p:txBody>
      </p:sp>
      <p:sp>
        <p:nvSpPr>
          <p:cNvPr id="231" name="Google Shape;231;p42"/>
          <p:cNvSpPr txBox="1"/>
          <p:nvPr>
            <p:ph idx="1" type="body"/>
          </p:nvPr>
        </p:nvSpPr>
        <p:spPr>
          <a:xfrm>
            <a:off x="311700" y="6190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it"/>
              <a:t>Proven to provide good timings for most age groups</a:t>
            </a:r>
            <a:endParaRPr/>
          </a:p>
          <a:p>
            <a:pPr indent="0" lvl="0" marL="0" rtl="0" algn="l">
              <a:spcBef>
                <a:spcPts val="1600"/>
              </a:spcBef>
              <a:spcAft>
                <a:spcPts val="0"/>
              </a:spcAft>
              <a:buClr>
                <a:schemeClr val="dk1"/>
              </a:buClr>
              <a:buSzPts val="1100"/>
              <a:buFont typeface="Arial"/>
              <a:buNone/>
            </a:pPr>
            <a:r>
              <a:rPr lang="it"/>
              <a:t>Newer versions taken into account</a:t>
            </a:r>
            <a:endParaRPr/>
          </a:p>
          <a:p>
            <a:pPr indent="-342900" lvl="0" marL="457200" rtl="0" algn="l">
              <a:spcBef>
                <a:spcPts val="1600"/>
              </a:spcBef>
              <a:spcAft>
                <a:spcPts val="0"/>
              </a:spcAft>
              <a:buSzPts val="1800"/>
              <a:buChar char="●"/>
            </a:pPr>
            <a:r>
              <a:rPr lang="it"/>
              <a:t>Direction (we are faster horizontally than vertically)</a:t>
            </a:r>
            <a:endParaRPr/>
          </a:p>
          <a:p>
            <a:pPr indent="-342900" lvl="0" marL="457200" rtl="0" algn="l">
              <a:spcBef>
                <a:spcPts val="0"/>
              </a:spcBef>
              <a:spcAft>
                <a:spcPts val="0"/>
              </a:spcAft>
              <a:buSzPts val="1800"/>
              <a:buChar char="●"/>
            </a:pPr>
            <a:r>
              <a:rPr lang="it"/>
              <a:t>Device weight</a:t>
            </a:r>
            <a:endParaRPr/>
          </a:p>
          <a:p>
            <a:pPr indent="-342900" lvl="0" marL="457200" rtl="0" algn="l">
              <a:spcBef>
                <a:spcPts val="0"/>
              </a:spcBef>
              <a:spcAft>
                <a:spcPts val="0"/>
              </a:spcAft>
              <a:buSzPts val="1800"/>
              <a:buChar char="●"/>
            </a:pPr>
            <a:r>
              <a:rPr lang="it"/>
              <a:t>Target shape</a:t>
            </a:r>
            <a:endParaRPr/>
          </a:p>
          <a:p>
            <a:pPr indent="-342900" lvl="0" marL="457200" rtl="0" algn="l">
              <a:spcBef>
                <a:spcPts val="0"/>
              </a:spcBef>
              <a:spcAft>
                <a:spcPts val="0"/>
              </a:spcAft>
              <a:buSzPts val="1800"/>
              <a:buChar char="●"/>
            </a:pPr>
            <a:r>
              <a:rPr lang="it"/>
              <a:t>Arm position (resting or midair)</a:t>
            </a:r>
            <a:endParaRPr/>
          </a:p>
          <a:p>
            <a:pPr indent="-342900" lvl="0" marL="457200" rtl="0" algn="l">
              <a:spcBef>
                <a:spcPts val="0"/>
              </a:spcBef>
              <a:spcAft>
                <a:spcPts val="0"/>
              </a:spcAft>
              <a:buSzPts val="1800"/>
              <a:buChar char="●"/>
            </a:pPr>
            <a:r>
              <a:rPr lang="it"/>
              <a:t>2D and 3D (Zhai ’96)</a:t>
            </a:r>
            <a:endParaRPr/>
          </a:p>
          <a:p>
            <a:pPr indent="-342900" lvl="0" marL="457200" rtl="0" algn="l">
              <a:spcBef>
                <a:spcPts val="0"/>
              </a:spcBef>
              <a:spcAft>
                <a:spcPts val="0"/>
              </a:spcAft>
              <a:buSzPts val="1800"/>
              <a:buChar char="●"/>
            </a:pPr>
            <a:r>
              <a:rPr lang="it" u="sng">
                <a:solidFill>
                  <a:schemeClr val="hlink"/>
                </a:solidFill>
                <a:hlinkClick r:id="rId3"/>
              </a:rPr>
              <a:t>Zero gravity environment </a:t>
            </a:r>
            <a:endParaRPr sz="800"/>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5" name="Shape 235"/>
        <p:cNvGrpSpPr/>
        <p:nvPr/>
      </p:nvGrpSpPr>
      <p:grpSpPr>
        <a:xfrm>
          <a:off x="0" y="0"/>
          <a:ext cx="0" cy="0"/>
          <a:chOff x="0" y="0"/>
          <a:chExt cx="0" cy="0"/>
        </a:xfrm>
      </p:grpSpPr>
      <p:sp>
        <p:nvSpPr>
          <p:cNvPr id="236" name="Google Shape;236;p43"/>
          <p:cNvSpPr txBox="1"/>
          <p:nvPr>
            <p:ph type="title"/>
          </p:nvPr>
        </p:nvSpPr>
        <p:spPr>
          <a:xfrm>
            <a:off x="311700" y="64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t"/>
              <a:t>Pointing Devices classification</a:t>
            </a:r>
            <a:endParaRPr/>
          </a:p>
        </p:txBody>
      </p:sp>
      <p:sp>
        <p:nvSpPr>
          <p:cNvPr id="237" name="Google Shape;237;p43"/>
          <p:cNvSpPr txBox="1"/>
          <p:nvPr>
            <p:ph idx="1" type="body"/>
          </p:nvPr>
        </p:nvSpPr>
        <p:spPr>
          <a:xfrm>
            <a:off x="311700" y="6190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it"/>
              <a:t>direct vs. indirect input</a:t>
            </a:r>
            <a:endParaRPr b="1"/>
          </a:p>
          <a:p>
            <a:pPr indent="0" lvl="0" marL="0" rtl="0" algn="l">
              <a:spcBef>
                <a:spcPts val="1600"/>
              </a:spcBef>
              <a:spcAft>
                <a:spcPts val="0"/>
              </a:spcAft>
              <a:buNone/>
            </a:pPr>
            <a:r>
              <a:rPr lang="it"/>
              <a:t>In case of a direct-input pointing device, </a:t>
            </a:r>
            <a:r>
              <a:rPr b="1" lang="it"/>
              <a:t>the on-screen pointer is at the same physical position as the pointing device</a:t>
            </a:r>
            <a:r>
              <a:rPr lang="it"/>
              <a:t> (e.g., finger on a touch screen, stylus on a tablet computer). </a:t>
            </a:r>
            <a:endParaRPr/>
          </a:p>
          <a:p>
            <a:pPr indent="0" lvl="0" marL="0" rtl="0" algn="l">
              <a:spcBef>
                <a:spcPts val="1600"/>
              </a:spcBef>
              <a:spcAft>
                <a:spcPts val="0"/>
              </a:spcAft>
              <a:buClr>
                <a:schemeClr val="dk1"/>
              </a:buClr>
              <a:buSzPts val="1100"/>
              <a:buFont typeface="Arial"/>
              <a:buNone/>
            </a:pPr>
            <a:r>
              <a:rPr lang="it"/>
              <a:t>An indirect-input pointing device </a:t>
            </a:r>
            <a:r>
              <a:rPr b="1" lang="it"/>
              <a:t>is not at the same physical position as the pointer</a:t>
            </a:r>
            <a:r>
              <a:rPr lang="it"/>
              <a:t> but translates its movement onto the screen (e.g., computer mouse, joystick, stylus on a graphics tablet).</a:t>
            </a:r>
            <a:endParaRPr/>
          </a:p>
          <a:p>
            <a:pPr indent="0" lvl="0" marL="0" rtl="0" algn="l">
              <a:spcBef>
                <a:spcPts val="1600"/>
              </a:spcBef>
              <a:spcAft>
                <a:spcPts val="0"/>
              </a:spcAft>
              <a:buClr>
                <a:schemeClr val="dk1"/>
              </a:buClr>
              <a:buSzPts val="1100"/>
              <a:buFont typeface="Arial"/>
              <a:buNone/>
            </a:pPr>
            <a:r>
              <a:t/>
            </a:r>
            <a:endParaRPr/>
          </a:p>
          <a:p>
            <a:pPr indent="0" lvl="0" marL="0" rtl="0" algn="l">
              <a:spcBef>
                <a:spcPts val="1600"/>
              </a:spcBef>
              <a:spcAft>
                <a:spcPts val="1600"/>
              </a:spcAft>
              <a:buNone/>
            </a:pPr>
            <a:r>
              <a:t/>
            </a:r>
            <a:endParaRPr/>
          </a:p>
        </p:txBody>
      </p:sp>
      <p:pic>
        <p:nvPicPr>
          <p:cNvPr id="238" name="Google Shape;238;p43"/>
          <p:cNvPicPr preferRelativeResize="0"/>
          <p:nvPr/>
        </p:nvPicPr>
        <p:blipFill>
          <a:blip r:embed="rId3">
            <a:alphaModFix/>
          </a:blip>
          <a:stretch>
            <a:fillRect/>
          </a:stretch>
        </p:blipFill>
        <p:spPr>
          <a:xfrm>
            <a:off x="1007000" y="3350499"/>
            <a:ext cx="2234675" cy="1486075"/>
          </a:xfrm>
          <a:prstGeom prst="rect">
            <a:avLst/>
          </a:prstGeom>
          <a:noFill/>
          <a:ln>
            <a:noFill/>
          </a:ln>
        </p:spPr>
      </p:pic>
      <p:pic>
        <p:nvPicPr>
          <p:cNvPr id="239" name="Google Shape;239;p43"/>
          <p:cNvPicPr preferRelativeResize="0"/>
          <p:nvPr/>
        </p:nvPicPr>
        <p:blipFill>
          <a:blip r:embed="rId4">
            <a:alphaModFix/>
          </a:blip>
          <a:stretch>
            <a:fillRect/>
          </a:stretch>
        </p:blipFill>
        <p:spPr>
          <a:xfrm>
            <a:off x="5380213" y="3312488"/>
            <a:ext cx="2924175" cy="1562100"/>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3" name="Shape 243"/>
        <p:cNvGrpSpPr/>
        <p:nvPr/>
      </p:nvGrpSpPr>
      <p:grpSpPr>
        <a:xfrm>
          <a:off x="0" y="0"/>
          <a:ext cx="0" cy="0"/>
          <a:chOff x="0" y="0"/>
          <a:chExt cx="0" cy="0"/>
        </a:xfrm>
      </p:grpSpPr>
      <p:sp>
        <p:nvSpPr>
          <p:cNvPr id="244" name="Google Shape;244;p44"/>
          <p:cNvSpPr txBox="1"/>
          <p:nvPr>
            <p:ph type="title"/>
          </p:nvPr>
        </p:nvSpPr>
        <p:spPr>
          <a:xfrm>
            <a:off x="311700" y="64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it"/>
              <a:t>Pointing Devices classification</a:t>
            </a:r>
            <a:endParaRPr/>
          </a:p>
          <a:p>
            <a:pPr indent="0" lvl="0" marL="0" rtl="0" algn="l">
              <a:spcBef>
                <a:spcPts val="0"/>
              </a:spcBef>
              <a:spcAft>
                <a:spcPts val="0"/>
              </a:spcAft>
              <a:buNone/>
            </a:pPr>
            <a:r>
              <a:t/>
            </a:r>
            <a:endParaRPr/>
          </a:p>
        </p:txBody>
      </p:sp>
      <p:sp>
        <p:nvSpPr>
          <p:cNvPr id="245" name="Google Shape;245;p44"/>
          <p:cNvSpPr txBox="1"/>
          <p:nvPr>
            <p:ph idx="1" type="body"/>
          </p:nvPr>
        </p:nvSpPr>
        <p:spPr>
          <a:xfrm>
            <a:off x="311700" y="6190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it"/>
              <a:t>absolute vs. relative movement</a:t>
            </a:r>
            <a:endParaRPr b="1"/>
          </a:p>
          <a:p>
            <a:pPr indent="0" lvl="0" marL="0" rtl="0" algn="l">
              <a:spcBef>
                <a:spcPts val="1600"/>
              </a:spcBef>
              <a:spcAft>
                <a:spcPts val="0"/>
              </a:spcAft>
              <a:buNone/>
            </a:pPr>
            <a:r>
              <a:rPr lang="it"/>
              <a:t>An absolute-movement input device (e.g., stylus, finger on touch screen) provides a consistent mapping between a point in the input space (location/state of the input device) and a point in the output space (position of pointer on screen). </a:t>
            </a:r>
            <a:endParaRPr/>
          </a:p>
          <a:p>
            <a:pPr indent="0" lvl="0" marL="0" rtl="0" algn="l">
              <a:spcBef>
                <a:spcPts val="1600"/>
              </a:spcBef>
              <a:spcAft>
                <a:spcPts val="0"/>
              </a:spcAft>
              <a:buClr>
                <a:schemeClr val="dk1"/>
              </a:buClr>
              <a:buSzPts val="1100"/>
              <a:buFont typeface="Arial"/>
              <a:buNone/>
            </a:pPr>
            <a:r>
              <a:rPr lang="it"/>
              <a:t>A relative-movement input device (e.g., mouse, joystick) maps displacement in the input space to displacement in the output state. It therefore controls the relative position of the cursor compared to its initial position.</a:t>
            </a:r>
            <a:endParaRPr/>
          </a:p>
          <a:p>
            <a:pPr indent="0" lvl="0" marL="0" rtl="0" algn="l">
              <a:spcBef>
                <a:spcPts val="1600"/>
              </a:spcBef>
              <a:spcAft>
                <a:spcPts val="0"/>
              </a:spcAft>
              <a:buClr>
                <a:schemeClr val="dk1"/>
              </a:buClr>
              <a:buSzPts val="1100"/>
              <a:buFont typeface="Arial"/>
              <a:buNone/>
            </a:pPr>
            <a:r>
              <a:t/>
            </a:r>
            <a:endParaRPr/>
          </a:p>
          <a:p>
            <a:pPr indent="0" lvl="0" marL="0" rtl="0" algn="l">
              <a:spcBef>
                <a:spcPts val="1600"/>
              </a:spcBef>
              <a:spcAft>
                <a:spcPts val="1600"/>
              </a:spcAft>
              <a:buNone/>
            </a:pPr>
            <a:r>
              <a:t/>
            </a:r>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9" name="Shape 249"/>
        <p:cNvGrpSpPr/>
        <p:nvPr/>
      </p:nvGrpSpPr>
      <p:grpSpPr>
        <a:xfrm>
          <a:off x="0" y="0"/>
          <a:ext cx="0" cy="0"/>
          <a:chOff x="0" y="0"/>
          <a:chExt cx="0" cy="0"/>
        </a:xfrm>
      </p:grpSpPr>
      <p:sp>
        <p:nvSpPr>
          <p:cNvPr id="250" name="Google Shape;250;p45"/>
          <p:cNvSpPr txBox="1"/>
          <p:nvPr>
            <p:ph type="title"/>
          </p:nvPr>
        </p:nvSpPr>
        <p:spPr>
          <a:xfrm>
            <a:off x="311700" y="64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it"/>
              <a:t>Pointing Devices classification</a:t>
            </a:r>
            <a:endParaRPr/>
          </a:p>
          <a:p>
            <a:pPr indent="0" lvl="0" marL="0" rtl="0" algn="l">
              <a:spcBef>
                <a:spcPts val="0"/>
              </a:spcBef>
              <a:spcAft>
                <a:spcPts val="0"/>
              </a:spcAft>
              <a:buNone/>
            </a:pPr>
            <a:r>
              <a:t/>
            </a:r>
            <a:endParaRPr/>
          </a:p>
        </p:txBody>
      </p:sp>
      <p:sp>
        <p:nvSpPr>
          <p:cNvPr id="251" name="Google Shape;251;p45"/>
          <p:cNvSpPr txBox="1"/>
          <p:nvPr>
            <p:ph idx="1" type="body"/>
          </p:nvPr>
        </p:nvSpPr>
        <p:spPr>
          <a:xfrm>
            <a:off x="311700" y="6190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it"/>
              <a:t>isotonic vs. elastic vs. isometric</a:t>
            </a:r>
            <a:endParaRPr b="1"/>
          </a:p>
          <a:p>
            <a:pPr indent="0" lvl="0" marL="0" rtl="0" algn="l">
              <a:spcBef>
                <a:spcPts val="1600"/>
              </a:spcBef>
              <a:spcAft>
                <a:spcPts val="0"/>
              </a:spcAft>
              <a:buClr>
                <a:schemeClr val="dk1"/>
              </a:buClr>
              <a:buSzPts val="1100"/>
              <a:buFont typeface="Arial"/>
              <a:buNone/>
            </a:pPr>
            <a:r>
              <a:rPr lang="it"/>
              <a:t>An isotonic pointing device </a:t>
            </a:r>
            <a:r>
              <a:rPr b="1" lang="it"/>
              <a:t>is movable and measures its displacement</a:t>
            </a:r>
            <a:r>
              <a:rPr lang="it"/>
              <a:t> (mouse, pen, human arm) whereas an isometric device </a:t>
            </a:r>
            <a:r>
              <a:rPr b="1" lang="it"/>
              <a:t>is fixed and measures the force which acts on it</a:t>
            </a:r>
            <a:r>
              <a:rPr lang="it"/>
              <a:t> (trackpoint, force-sensing touch screen). </a:t>
            </a:r>
            <a:r>
              <a:rPr b="1" lang="it"/>
              <a:t>An elastic device increases its force resistance with displacement</a:t>
            </a:r>
            <a:r>
              <a:rPr lang="it"/>
              <a:t> (joystick).</a:t>
            </a:r>
            <a:endParaRPr/>
          </a:p>
          <a:p>
            <a:pPr indent="0" lvl="0" marL="0" rtl="0" algn="l">
              <a:spcBef>
                <a:spcPts val="1600"/>
              </a:spcBef>
              <a:spcAft>
                <a:spcPts val="0"/>
              </a:spcAft>
              <a:buClr>
                <a:schemeClr val="dk1"/>
              </a:buClr>
              <a:buSzPts val="1100"/>
              <a:buFont typeface="Arial"/>
              <a:buNone/>
            </a:pPr>
            <a:r>
              <a:t/>
            </a:r>
            <a:endParaRPr/>
          </a:p>
          <a:p>
            <a:pPr indent="0" lvl="0" marL="0" rtl="0" algn="l">
              <a:spcBef>
                <a:spcPts val="1600"/>
              </a:spcBef>
              <a:spcAft>
                <a:spcPts val="1600"/>
              </a:spcAft>
              <a:buNone/>
            </a:pPr>
            <a:r>
              <a:t/>
            </a:r>
            <a:endParaRPr/>
          </a:p>
        </p:txBody>
      </p:sp>
      <p:pic>
        <p:nvPicPr>
          <p:cNvPr id="252" name="Google Shape;252;p45"/>
          <p:cNvPicPr preferRelativeResize="0"/>
          <p:nvPr/>
        </p:nvPicPr>
        <p:blipFill>
          <a:blip r:embed="rId3">
            <a:alphaModFix/>
          </a:blip>
          <a:stretch>
            <a:fillRect/>
          </a:stretch>
        </p:blipFill>
        <p:spPr>
          <a:xfrm>
            <a:off x="3364160" y="2681750"/>
            <a:ext cx="2568074" cy="1712075"/>
          </a:xfrm>
          <a:prstGeom prst="rect">
            <a:avLst/>
          </a:prstGeom>
          <a:noFill/>
          <a:ln>
            <a:noFill/>
          </a:ln>
        </p:spPr>
      </p:pic>
      <p:pic>
        <p:nvPicPr>
          <p:cNvPr id="253" name="Google Shape;253;p45"/>
          <p:cNvPicPr preferRelativeResize="0"/>
          <p:nvPr/>
        </p:nvPicPr>
        <p:blipFill>
          <a:blip r:embed="rId4">
            <a:alphaModFix/>
          </a:blip>
          <a:stretch>
            <a:fillRect/>
          </a:stretch>
        </p:blipFill>
        <p:spPr>
          <a:xfrm>
            <a:off x="6730825" y="2405875"/>
            <a:ext cx="1987950" cy="1987950"/>
          </a:xfrm>
          <a:prstGeom prst="rect">
            <a:avLst/>
          </a:prstGeom>
          <a:noFill/>
          <a:ln>
            <a:noFill/>
          </a:ln>
        </p:spPr>
      </p:pic>
      <p:pic>
        <p:nvPicPr>
          <p:cNvPr id="254" name="Google Shape;254;p45"/>
          <p:cNvPicPr preferRelativeResize="0"/>
          <p:nvPr/>
        </p:nvPicPr>
        <p:blipFill rotWithShape="1">
          <a:blip r:embed="rId5">
            <a:alphaModFix/>
          </a:blip>
          <a:srcRect b="21036" l="0" r="0" t="0"/>
          <a:stretch/>
        </p:blipFill>
        <p:spPr>
          <a:xfrm>
            <a:off x="434990" y="2681750"/>
            <a:ext cx="2168209" cy="1712074"/>
          </a:xfrm>
          <a:prstGeom prst="rect">
            <a:avLst/>
          </a:prstGeom>
          <a:noFill/>
          <a:ln>
            <a:noFill/>
          </a:ln>
        </p:spPr>
      </p:pic>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8" name="Shape 258"/>
        <p:cNvGrpSpPr/>
        <p:nvPr/>
      </p:nvGrpSpPr>
      <p:grpSpPr>
        <a:xfrm>
          <a:off x="0" y="0"/>
          <a:ext cx="0" cy="0"/>
          <a:chOff x="0" y="0"/>
          <a:chExt cx="0" cy="0"/>
        </a:xfrm>
      </p:grpSpPr>
      <p:sp>
        <p:nvSpPr>
          <p:cNvPr id="259" name="Google Shape;259;p46"/>
          <p:cNvSpPr txBox="1"/>
          <p:nvPr>
            <p:ph type="title"/>
          </p:nvPr>
        </p:nvSpPr>
        <p:spPr>
          <a:xfrm>
            <a:off x="311700" y="64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it"/>
              <a:t>Pointing Devices classification</a:t>
            </a:r>
            <a:endParaRPr/>
          </a:p>
        </p:txBody>
      </p:sp>
      <p:sp>
        <p:nvSpPr>
          <p:cNvPr id="260" name="Google Shape;260;p46"/>
          <p:cNvSpPr txBox="1"/>
          <p:nvPr>
            <p:ph idx="1" type="body"/>
          </p:nvPr>
        </p:nvSpPr>
        <p:spPr>
          <a:xfrm>
            <a:off x="311700" y="6190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it"/>
              <a:t>position control vs. rate control</a:t>
            </a:r>
            <a:endParaRPr b="1"/>
          </a:p>
          <a:p>
            <a:pPr indent="0" lvl="0" marL="0" rtl="0" algn="l">
              <a:spcBef>
                <a:spcPts val="1600"/>
              </a:spcBef>
              <a:spcAft>
                <a:spcPts val="0"/>
              </a:spcAft>
              <a:buClr>
                <a:schemeClr val="dk1"/>
              </a:buClr>
              <a:buSzPts val="1100"/>
              <a:buFont typeface="Arial"/>
              <a:buNone/>
            </a:pPr>
            <a:r>
              <a:rPr lang="it"/>
              <a:t>A position-control input device (e.g., mouse, finger on touch screen) </a:t>
            </a:r>
            <a:r>
              <a:rPr b="1" lang="it"/>
              <a:t>directly changes the absolute or relative position of the on-screen pointer.</a:t>
            </a:r>
            <a:r>
              <a:rPr lang="it"/>
              <a:t> A rate-control input device (e.g., trackpoint, joystick) </a:t>
            </a:r>
            <a:r>
              <a:rPr b="1" lang="it"/>
              <a:t>changes the speed and direction of the movement of the on-screen pointer.</a:t>
            </a:r>
            <a:endParaRPr b="1"/>
          </a:p>
          <a:p>
            <a:pPr indent="0" lvl="0" marL="0" rtl="0" algn="l">
              <a:spcBef>
                <a:spcPts val="1600"/>
              </a:spcBef>
              <a:spcAft>
                <a:spcPts val="1600"/>
              </a:spcAft>
              <a:buNone/>
            </a:pPr>
            <a:r>
              <a:t/>
            </a:r>
            <a:endParaRPr/>
          </a:p>
        </p:txBody>
      </p:sp>
      <p:pic>
        <p:nvPicPr>
          <p:cNvPr id="261" name="Google Shape;261;p46"/>
          <p:cNvPicPr preferRelativeResize="0"/>
          <p:nvPr/>
        </p:nvPicPr>
        <p:blipFill>
          <a:blip r:embed="rId3">
            <a:alphaModFix/>
          </a:blip>
          <a:stretch>
            <a:fillRect/>
          </a:stretch>
        </p:blipFill>
        <p:spPr>
          <a:xfrm>
            <a:off x="6959425" y="2405875"/>
            <a:ext cx="1987950" cy="1987950"/>
          </a:xfrm>
          <a:prstGeom prst="rect">
            <a:avLst/>
          </a:prstGeom>
          <a:noFill/>
          <a:ln>
            <a:noFill/>
          </a:ln>
        </p:spPr>
      </p:pic>
      <p:pic>
        <p:nvPicPr>
          <p:cNvPr id="262" name="Google Shape;262;p46"/>
          <p:cNvPicPr preferRelativeResize="0"/>
          <p:nvPr/>
        </p:nvPicPr>
        <p:blipFill rotWithShape="1">
          <a:blip r:embed="rId4">
            <a:alphaModFix/>
          </a:blip>
          <a:srcRect b="21036" l="0" r="0" t="0"/>
          <a:stretch/>
        </p:blipFill>
        <p:spPr>
          <a:xfrm>
            <a:off x="434990" y="2681750"/>
            <a:ext cx="2168209" cy="1712074"/>
          </a:xfrm>
          <a:prstGeom prst="rect">
            <a:avLst/>
          </a:prstGeom>
          <a:noFill/>
          <a:ln>
            <a:noFill/>
          </a:ln>
        </p:spPr>
      </p:pic>
      <p:pic>
        <p:nvPicPr>
          <p:cNvPr id="263" name="Google Shape;263;p46"/>
          <p:cNvPicPr preferRelativeResize="0"/>
          <p:nvPr/>
        </p:nvPicPr>
        <p:blipFill>
          <a:blip r:embed="rId5">
            <a:alphaModFix/>
          </a:blip>
          <a:stretch>
            <a:fillRect/>
          </a:stretch>
        </p:blipFill>
        <p:spPr>
          <a:xfrm>
            <a:off x="4659560" y="2681750"/>
            <a:ext cx="2568074" cy="1712075"/>
          </a:xfrm>
          <a:prstGeom prst="rect">
            <a:avLst/>
          </a:prstGeom>
          <a:noFill/>
          <a:ln>
            <a:noFill/>
          </a:ln>
        </p:spPr>
      </p:pic>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7" name="Shape 267"/>
        <p:cNvGrpSpPr/>
        <p:nvPr/>
      </p:nvGrpSpPr>
      <p:grpSpPr>
        <a:xfrm>
          <a:off x="0" y="0"/>
          <a:ext cx="0" cy="0"/>
          <a:chOff x="0" y="0"/>
          <a:chExt cx="0" cy="0"/>
        </a:xfrm>
      </p:grpSpPr>
      <p:sp>
        <p:nvSpPr>
          <p:cNvPr id="268" name="Google Shape;268;p47"/>
          <p:cNvSpPr txBox="1"/>
          <p:nvPr>
            <p:ph type="title"/>
          </p:nvPr>
        </p:nvSpPr>
        <p:spPr>
          <a:xfrm>
            <a:off x="311700" y="64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t"/>
              <a:t>What we know</a:t>
            </a:r>
            <a:endParaRPr/>
          </a:p>
        </p:txBody>
      </p:sp>
      <p:sp>
        <p:nvSpPr>
          <p:cNvPr id="269" name="Google Shape;269;p47"/>
          <p:cNvSpPr txBox="1"/>
          <p:nvPr>
            <p:ph idx="1" type="body"/>
          </p:nvPr>
        </p:nvSpPr>
        <p:spPr>
          <a:xfrm>
            <a:off x="311700" y="619075"/>
            <a:ext cx="8520600" cy="34164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it"/>
              <a:t>Direct pointing is Faster but less accurate than indirect (Haller ’84)</a:t>
            </a:r>
            <a:endParaRPr/>
          </a:p>
          <a:p>
            <a:pPr indent="-342900" lvl="0" marL="457200" rtl="0" algn="l">
              <a:spcBef>
                <a:spcPts val="0"/>
              </a:spcBef>
              <a:spcAft>
                <a:spcPts val="0"/>
              </a:spcAft>
              <a:buSzPts val="1800"/>
              <a:buChar char="●"/>
            </a:pPr>
            <a:r>
              <a:rPr lang="it"/>
              <a:t>Lots of studies confirm mouse is best for most tasks for speed and accuracy: Trackpoint &lt; Trackballs &amp; Touchpads &lt; Mouse</a:t>
            </a:r>
            <a:endParaRPr/>
          </a:p>
          <a:p>
            <a:pPr indent="-342900" lvl="0" marL="457200" rtl="0" algn="l">
              <a:spcBef>
                <a:spcPts val="0"/>
              </a:spcBef>
              <a:spcAft>
                <a:spcPts val="0"/>
              </a:spcAft>
              <a:buSzPts val="1800"/>
              <a:buChar char="●"/>
            </a:pPr>
            <a:r>
              <a:rPr lang="it"/>
              <a:t>For short distances cursor keys are better than pointing devices</a:t>
            </a:r>
            <a:endParaRPr/>
          </a:p>
          <a:p>
            <a:pPr indent="-342900" lvl="0" marL="457200" rtl="0" algn="l">
              <a:spcBef>
                <a:spcPts val="0"/>
              </a:spcBef>
              <a:spcAft>
                <a:spcPts val="0"/>
              </a:spcAft>
              <a:buSzPts val="1800"/>
              <a:buChar char="●"/>
            </a:pPr>
            <a:r>
              <a:rPr lang="it"/>
              <a:t>Disabled prefer joysticks and trackballs:</a:t>
            </a:r>
            <a:endParaRPr/>
          </a:p>
          <a:p>
            <a:pPr indent="-317500" lvl="1" marL="914400" rtl="0" algn="l">
              <a:spcBef>
                <a:spcPts val="0"/>
              </a:spcBef>
              <a:spcAft>
                <a:spcPts val="0"/>
              </a:spcAft>
              <a:buSzPts val="1400"/>
              <a:buChar char="○"/>
            </a:pPr>
            <a:r>
              <a:rPr lang="it"/>
              <a:t>If force application is a problem, then touch sensitive is preferred</a:t>
            </a:r>
            <a:endParaRPr/>
          </a:p>
          <a:p>
            <a:pPr indent="-317500" lvl="1" marL="914400" rtl="0" algn="l">
              <a:spcBef>
                <a:spcPts val="0"/>
              </a:spcBef>
              <a:spcAft>
                <a:spcPts val="0"/>
              </a:spcAft>
              <a:buSzPts val="1400"/>
              <a:buChar char="○"/>
            </a:pPr>
            <a:r>
              <a:rPr lang="it"/>
              <a:t>Vision impaired have problems with most pointing devices</a:t>
            </a:r>
            <a:endParaRPr/>
          </a:p>
          <a:p>
            <a:pPr indent="-342900" lvl="0" marL="457200" rtl="0" algn="l">
              <a:spcBef>
                <a:spcPts val="0"/>
              </a:spcBef>
              <a:spcAft>
                <a:spcPts val="0"/>
              </a:spcAft>
              <a:buSzPts val="1800"/>
              <a:buChar char="●"/>
            </a:pPr>
            <a:r>
              <a:rPr lang="it"/>
              <a:t>Use multimodal approach or customizable cursors improve usability and performances</a:t>
            </a:r>
            <a:endParaRPr/>
          </a:p>
          <a:p>
            <a:pPr indent="-342900" lvl="0" marL="457200" rtl="0" algn="l">
              <a:spcBef>
                <a:spcPts val="0"/>
              </a:spcBef>
              <a:spcAft>
                <a:spcPts val="0"/>
              </a:spcAft>
              <a:buSzPts val="1800"/>
              <a:buChar char="●"/>
            </a:pPr>
            <a:r>
              <a:rPr lang="it"/>
              <a:t>Keep in mind Fits’ law: </a:t>
            </a:r>
            <a:endParaRPr/>
          </a:p>
          <a:p>
            <a:pPr indent="-317500" lvl="1" marL="914400" rtl="0" algn="l">
              <a:spcBef>
                <a:spcPts val="0"/>
              </a:spcBef>
              <a:spcAft>
                <a:spcPts val="0"/>
              </a:spcAft>
              <a:buSzPts val="1400"/>
              <a:buChar char="○"/>
            </a:pPr>
            <a:r>
              <a:rPr lang="it"/>
              <a:t>Large targets reduce time and frustration; </a:t>
            </a:r>
            <a:endParaRPr/>
          </a:p>
          <a:p>
            <a:pPr indent="-317500" lvl="1" marL="914400" rtl="0" algn="l">
              <a:spcBef>
                <a:spcPts val="0"/>
              </a:spcBef>
              <a:spcAft>
                <a:spcPts val="0"/>
              </a:spcAft>
              <a:buSzPts val="1400"/>
              <a:buChar char="○"/>
            </a:pPr>
            <a:r>
              <a:rPr lang="it"/>
              <a:t>Designers should smooth out and reduce trajectories</a:t>
            </a:r>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3" name="Shape 273"/>
        <p:cNvGrpSpPr/>
        <p:nvPr/>
      </p:nvGrpSpPr>
      <p:grpSpPr>
        <a:xfrm>
          <a:off x="0" y="0"/>
          <a:ext cx="0" cy="0"/>
          <a:chOff x="0" y="0"/>
          <a:chExt cx="0" cy="0"/>
        </a:xfrm>
      </p:grpSpPr>
      <p:sp>
        <p:nvSpPr>
          <p:cNvPr id="274" name="Google Shape;274;p48"/>
          <p:cNvSpPr txBox="1"/>
          <p:nvPr>
            <p:ph type="title"/>
          </p:nvPr>
        </p:nvSpPr>
        <p:spPr>
          <a:xfrm>
            <a:off x="311700" y="64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t"/>
              <a:t>The father of all pointing devices</a:t>
            </a:r>
            <a:endParaRPr/>
          </a:p>
        </p:txBody>
      </p:sp>
      <p:sp>
        <p:nvSpPr>
          <p:cNvPr id="275" name="Google Shape;275;p48"/>
          <p:cNvSpPr txBox="1"/>
          <p:nvPr>
            <p:ph idx="1" type="body"/>
          </p:nvPr>
        </p:nvSpPr>
        <p:spPr>
          <a:xfrm>
            <a:off x="311700" y="6190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t"/>
              <a:t>A computer mouse is a hand-held pointing device that detects two-dimensional motion relative to a surface. </a:t>
            </a:r>
            <a:endParaRPr/>
          </a:p>
          <a:p>
            <a:pPr indent="0" lvl="0" marL="0" rtl="0" algn="l">
              <a:spcBef>
                <a:spcPts val="1600"/>
              </a:spcBef>
              <a:spcAft>
                <a:spcPts val="1600"/>
              </a:spcAft>
              <a:buNone/>
            </a:pPr>
            <a:r>
              <a:rPr lang="it"/>
              <a:t>This motion is typically translated into the motion of a pointer on a display, which allows a smooth control of the graphical user interface of a computer.</a:t>
            </a:r>
            <a:endParaRPr/>
          </a:p>
        </p:txBody>
      </p:sp>
      <p:pic>
        <p:nvPicPr>
          <p:cNvPr id="276" name="Google Shape;276;p48"/>
          <p:cNvPicPr preferRelativeResize="0"/>
          <p:nvPr/>
        </p:nvPicPr>
        <p:blipFill>
          <a:blip r:embed="rId3">
            <a:alphaModFix/>
          </a:blip>
          <a:stretch>
            <a:fillRect/>
          </a:stretch>
        </p:blipFill>
        <p:spPr>
          <a:xfrm>
            <a:off x="1232375" y="2431400"/>
            <a:ext cx="2857500" cy="1905000"/>
          </a:xfrm>
          <a:prstGeom prst="rect">
            <a:avLst/>
          </a:prstGeom>
          <a:noFill/>
          <a:ln>
            <a:noFill/>
          </a:ln>
        </p:spPr>
      </p:pic>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0" name="Shape 280"/>
        <p:cNvGrpSpPr/>
        <p:nvPr/>
      </p:nvGrpSpPr>
      <p:grpSpPr>
        <a:xfrm>
          <a:off x="0" y="0"/>
          <a:ext cx="0" cy="0"/>
          <a:chOff x="0" y="0"/>
          <a:chExt cx="0" cy="0"/>
        </a:xfrm>
      </p:grpSpPr>
      <p:sp>
        <p:nvSpPr>
          <p:cNvPr id="281" name="Google Shape;281;p49"/>
          <p:cNvSpPr txBox="1"/>
          <p:nvPr>
            <p:ph type="title"/>
          </p:nvPr>
        </p:nvSpPr>
        <p:spPr>
          <a:xfrm>
            <a:off x="311700" y="64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t"/>
              <a:t>The mouse evolution</a:t>
            </a:r>
            <a:endParaRPr/>
          </a:p>
        </p:txBody>
      </p:sp>
      <p:sp>
        <p:nvSpPr>
          <p:cNvPr id="282" name="Google Shape;282;p49"/>
          <p:cNvSpPr txBox="1"/>
          <p:nvPr>
            <p:ph idx="1" type="body"/>
          </p:nvPr>
        </p:nvSpPr>
        <p:spPr>
          <a:xfrm>
            <a:off x="311700" y="619075"/>
            <a:ext cx="8520600" cy="3416400"/>
          </a:xfrm>
          <a:prstGeom prst="rect">
            <a:avLst/>
          </a:prstGeom>
        </p:spPr>
        <p:txBody>
          <a:bodyPr anchorCtr="0" anchor="t" bIns="91425" lIns="91425" spcFirstLastPara="1" rIns="91425" wrap="square" tIns="91425">
            <a:noAutofit/>
          </a:bodyPr>
          <a:lstStyle/>
          <a:p>
            <a:pPr indent="0" lvl="0" marL="0" marR="0" rtl="0" algn="l">
              <a:lnSpc>
                <a:spcPct val="115000"/>
              </a:lnSpc>
              <a:spcBef>
                <a:spcPts val="0"/>
              </a:spcBef>
              <a:spcAft>
                <a:spcPts val="0"/>
              </a:spcAft>
              <a:buNone/>
            </a:pPr>
            <a:r>
              <a:rPr lang="it"/>
              <a:t>In 2000, Logitech introduced a "tactile mouse" that contained a small actuator to make the mouse vibrate. Such a mouse can augment user-interfaces with haptic feedback (output), such as giving feedback when crossing a window boundary. </a:t>
            </a:r>
            <a:endParaRPr/>
          </a:p>
          <a:p>
            <a:pPr indent="0" lvl="0" marL="0" marR="0" rtl="0" algn="l">
              <a:lnSpc>
                <a:spcPct val="115000"/>
              </a:lnSpc>
              <a:spcBef>
                <a:spcPts val="1600"/>
              </a:spcBef>
              <a:spcAft>
                <a:spcPts val="0"/>
              </a:spcAft>
              <a:buNone/>
            </a:pPr>
            <a:r>
              <a:rPr lang="it"/>
              <a:t>Other modern pointing devices have </a:t>
            </a:r>
            <a:br>
              <a:rPr lang="it"/>
            </a:br>
            <a:r>
              <a:rPr lang="it"/>
              <a:t>extended the input dimensions up to 6 DOF</a:t>
            </a:r>
            <a:endParaRPr/>
          </a:p>
          <a:p>
            <a:pPr indent="0" lvl="0" marL="0" marR="0" rtl="0" algn="l">
              <a:lnSpc>
                <a:spcPct val="115000"/>
              </a:lnSpc>
              <a:spcBef>
                <a:spcPts val="1600"/>
              </a:spcBef>
              <a:spcAft>
                <a:spcPts val="1600"/>
              </a:spcAft>
              <a:buNone/>
            </a:pPr>
            <a:r>
              <a:t/>
            </a:r>
            <a:endParaRPr/>
          </a:p>
        </p:txBody>
      </p:sp>
      <p:pic>
        <p:nvPicPr>
          <p:cNvPr id="283" name="Google Shape;283;p49"/>
          <p:cNvPicPr preferRelativeResize="0"/>
          <p:nvPr/>
        </p:nvPicPr>
        <p:blipFill>
          <a:blip r:embed="rId3">
            <a:alphaModFix/>
          </a:blip>
          <a:stretch>
            <a:fillRect/>
          </a:stretch>
        </p:blipFill>
        <p:spPr>
          <a:xfrm>
            <a:off x="5573775" y="1863125"/>
            <a:ext cx="3258525" cy="2172350"/>
          </a:xfrm>
          <a:prstGeom prst="rect">
            <a:avLst/>
          </a:prstGeom>
          <a:noFill/>
          <a:ln>
            <a:noFill/>
          </a:ln>
        </p:spPr>
      </p:pic>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7" name="Shape 287"/>
        <p:cNvGrpSpPr/>
        <p:nvPr/>
      </p:nvGrpSpPr>
      <p:grpSpPr>
        <a:xfrm>
          <a:off x="0" y="0"/>
          <a:ext cx="0" cy="0"/>
          <a:chOff x="0" y="0"/>
          <a:chExt cx="0" cy="0"/>
        </a:xfrm>
      </p:grpSpPr>
      <p:sp>
        <p:nvSpPr>
          <p:cNvPr id="288" name="Google Shape;288;p50"/>
          <p:cNvSpPr txBox="1"/>
          <p:nvPr>
            <p:ph type="title"/>
          </p:nvPr>
        </p:nvSpPr>
        <p:spPr>
          <a:xfrm>
            <a:off x="311700" y="2150850"/>
            <a:ext cx="8520600" cy="8418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it"/>
              <a:t>Novel Pointing Devices</a:t>
            </a:r>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2" name="Shape 292"/>
        <p:cNvGrpSpPr/>
        <p:nvPr/>
      </p:nvGrpSpPr>
      <p:grpSpPr>
        <a:xfrm>
          <a:off x="0" y="0"/>
          <a:ext cx="0" cy="0"/>
          <a:chOff x="0" y="0"/>
          <a:chExt cx="0" cy="0"/>
        </a:xfrm>
      </p:grpSpPr>
      <p:sp>
        <p:nvSpPr>
          <p:cNvPr id="293" name="Google Shape;293;p51"/>
          <p:cNvSpPr txBox="1"/>
          <p:nvPr>
            <p:ph type="title"/>
          </p:nvPr>
        </p:nvSpPr>
        <p:spPr>
          <a:xfrm>
            <a:off x="311700" y="64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t"/>
              <a:t>Eye Tracking</a:t>
            </a:r>
            <a:endParaRPr/>
          </a:p>
        </p:txBody>
      </p:sp>
      <p:sp>
        <p:nvSpPr>
          <p:cNvPr id="294" name="Google Shape;294;p51"/>
          <p:cNvSpPr txBox="1"/>
          <p:nvPr>
            <p:ph idx="1" type="body"/>
          </p:nvPr>
        </p:nvSpPr>
        <p:spPr>
          <a:xfrm>
            <a:off x="311700" y="6190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t"/>
              <a:t>Eye tracking is the process of measuring either the point of gaze (where one is looking) or the motion of an eye relative to the head. </a:t>
            </a:r>
            <a:endParaRPr/>
          </a:p>
          <a:p>
            <a:pPr indent="0" lvl="0" marL="0" rtl="0" algn="l">
              <a:spcBef>
                <a:spcPts val="1600"/>
              </a:spcBef>
              <a:spcAft>
                <a:spcPts val="0"/>
              </a:spcAft>
              <a:buNone/>
            </a:pPr>
            <a:r>
              <a:rPr b="1" lang="it"/>
              <a:t>An eye tracker is a device for measuring eye positions and eye movement. </a:t>
            </a:r>
            <a:endParaRPr b="1"/>
          </a:p>
          <a:p>
            <a:pPr indent="0" lvl="0" marL="0" rtl="0" algn="l">
              <a:spcBef>
                <a:spcPts val="1600"/>
              </a:spcBef>
              <a:spcAft>
                <a:spcPts val="0"/>
              </a:spcAft>
              <a:buNone/>
            </a:pPr>
            <a:r>
              <a:rPr lang="it"/>
              <a:t>Eye trackers are used in research on the visual system, in psychology, in psycholinguistics, marketing, as an input device for human-computer interaction, and in product design. </a:t>
            </a:r>
            <a:endParaRPr/>
          </a:p>
          <a:p>
            <a:pPr indent="0" lvl="0" marL="0" rtl="0" algn="l">
              <a:spcBef>
                <a:spcPts val="1600"/>
              </a:spcBef>
              <a:spcAft>
                <a:spcPts val="0"/>
              </a:spcAft>
              <a:buNone/>
            </a:pPr>
            <a:r>
              <a:rPr lang="it"/>
              <a:t>Eye trackers are also being increasingly used for rehabilitative and assistive applications (related for instance to control of wheel chairs, robotic arms and prostheses). </a:t>
            </a:r>
            <a:endParaRPr/>
          </a:p>
          <a:p>
            <a:pPr indent="0" lvl="0" marL="0" rtl="0" algn="l">
              <a:spcBef>
                <a:spcPts val="1600"/>
              </a:spcBef>
              <a:spcAft>
                <a:spcPts val="1600"/>
              </a:spcAft>
              <a:buNone/>
            </a:pPr>
            <a:r>
              <a:rPr lang="it"/>
              <a:t>There are a number of methods for measuring eye movement. The most popular variant uses video images from which the eye position is extracted.</a:t>
            </a:r>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8" name="Shape 298"/>
        <p:cNvGrpSpPr/>
        <p:nvPr/>
      </p:nvGrpSpPr>
      <p:grpSpPr>
        <a:xfrm>
          <a:off x="0" y="0"/>
          <a:ext cx="0" cy="0"/>
          <a:chOff x="0" y="0"/>
          <a:chExt cx="0" cy="0"/>
        </a:xfrm>
      </p:grpSpPr>
      <p:sp>
        <p:nvSpPr>
          <p:cNvPr id="299" name="Google Shape;299;p52"/>
          <p:cNvSpPr txBox="1"/>
          <p:nvPr>
            <p:ph type="title"/>
          </p:nvPr>
        </p:nvSpPr>
        <p:spPr>
          <a:xfrm>
            <a:off x="311700" y="64025"/>
            <a:ext cx="8520600" cy="5727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1600"/>
              </a:spcAft>
              <a:buClr>
                <a:schemeClr val="dk1"/>
              </a:buClr>
              <a:buSzPts val="1100"/>
              <a:buFont typeface="Arial"/>
              <a:buNone/>
            </a:pPr>
            <a:r>
              <a:rPr lang="it"/>
              <a:t>Eye Tracking</a:t>
            </a:r>
            <a:endParaRPr/>
          </a:p>
        </p:txBody>
      </p:sp>
      <p:sp>
        <p:nvSpPr>
          <p:cNvPr id="300" name="Google Shape;300;p52"/>
          <p:cNvSpPr txBox="1"/>
          <p:nvPr>
            <p:ph idx="1" type="body"/>
          </p:nvPr>
        </p:nvSpPr>
        <p:spPr>
          <a:xfrm>
            <a:off x="311700" y="619075"/>
            <a:ext cx="57792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t"/>
              <a:t>Light, typically infrared, is reflected from the eye and sensed by a video camera or some other specially designed optical sensor. </a:t>
            </a:r>
            <a:endParaRPr/>
          </a:p>
          <a:p>
            <a:pPr indent="0" lvl="0" marL="0" rtl="0" algn="l">
              <a:spcBef>
                <a:spcPts val="1600"/>
              </a:spcBef>
              <a:spcAft>
                <a:spcPts val="0"/>
              </a:spcAft>
              <a:buNone/>
            </a:pPr>
            <a:r>
              <a:rPr lang="it"/>
              <a:t>The information is then analyzed to extract eye rotation from changes in reflections. </a:t>
            </a:r>
            <a:endParaRPr/>
          </a:p>
          <a:p>
            <a:pPr indent="0" lvl="0" marL="0" rtl="0" algn="l">
              <a:spcBef>
                <a:spcPts val="1600"/>
              </a:spcBef>
              <a:spcAft>
                <a:spcPts val="0"/>
              </a:spcAft>
              <a:buNone/>
            </a:pPr>
            <a:r>
              <a:rPr lang="it"/>
              <a:t>Video-based eye trackers typically use the corneal reflection and the center of the pupil as features to track over time. </a:t>
            </a:r>
            <a:endParaRPr/>
          </a:p>
          <a:p>
            <a:pPr indent="0" lvl="0" marL="0" rtl="0" algn="l">
              <a:spcBef>
                <a:spcPts val="1600"/>
              </a:spcBef>
              <a:spcAft>
                <a:spcPts val="1600"/>
              </a:spcAft>
              <a:buNone/>
            </a:pPr>
            <a:r>
              <a:t/>
            </a:r>
            <a:endParaRPr/>
          </a:p>
        </p:txBody>
      </p:sp>
      <p:pic>
        <p:nvPicPr>
          <p:cNvPr id="301" name="Google Shape;301;p52"/>
          <p:cNvPicPr preferRelativeResize="0"/>
          <p:nvPr/>
        </p:nvPicPr>
        <p:blipFill rotWithShape="1">
          <a:blip r:embed="rId3">
            <a:alphaModFix/>
          </a:blip>
          <a:srcRect b="0" l="24976" r="29744" t="0"/>
          <a:stretch/>
        </p:blipFill>
        <p:spPr>
          <a:xfrm>
            <a:off x="6377625" y="264475"/>
            <a:ext cx="2766375" cy="2037600"/>
          </a:xfrm>
          <a:prstGeom prst="rect">
            <a:avLst/>
          </a:prstGeom>
          <a:noFill/>
          <a:ln>
            <a:noFill/>
          </a:ln>
        </p:spPr>
      </p:pic>
      <p:pic>
        <p:nvPicPr>
          <p:cNvPr id="302" name="Google Shape;302;p52"/>
          <p:cNvPicPr preferRelativeResize="0"/>
          <p:nvPr/>
        </p:nvPicPr>
        <p:blipFill rotWithShape="1">
          <a:blip r:embed="rId4">
            <a:alphaModFix/>
          </a:blip>
          <a:srcRect b="0" l="35761" r="36113" t="0"/>
          <a:stretch/>
        </p:blipFill>
        <p:spPr>
          <a:xfrm>
            <a:off x="6648325" y="2098500"/>
            <a:ext cx="2452325" cy="2907900"/>
          </a:xfrm>
          <a:prstGeom prst="rect">
            <a:avLst/>
          </a:prstGeom>
          <a:noFill/>
          <a:ln>
            <a:noFill/>
          </a:ln>
        </p:spPr>
      </p:pic>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6" name="Shape 306"/>
        <p:cNvGrpSpPr/>
        <p:nvPr/>
      </p:nvGrpSpPr>
      <p:grpSpPr>
        <a:xfrm>
          <a:off x="0" y="0"/>
          <a:ext cx="0" cy="0"/>
          <a:chOff x="0" y="0"/>
          <a:chExt cx="0" cy="0"/>
        </a:xfrm>
      </p:grpSpPr>
      <p:sp>
        <p:nvSpPr>
          <p:cNvPr id="307" name="Google Shape;307;p53"/>
          <p:cNvSpPr txBox="1"/>
          <p:nvPr>
            <p:ph type="title"/>
          </p:nvPr>
        </p:nvSpPr>
        <p:spPr>
          <a:xfrm>
            <a:off x="311700" y="64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t"/>
              <a:t>Eye tracking methods</a:t>
            </a:r>
            <a:endParaRPr/>
          </a:p>
        </p:txBody>
      </p:sp>
      <p:sp>
        <p:nvSpPr>
          <p:cNvPr id="308" name="Google Shape;308;p53"/>
          <p:cNvSpPr txBox="1"/>
          <p:nvPr>
            <p:ph idx="1" type="body"/>
          </p:nvPr>
        </p:nvSpPr>
        <p:spPr>
          <a:xfrm>
            <a:off x="311700" y="619075"/>
            <a:ext cx="65160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t" sz="1400"/>
              <a:t>The most widely used current designs are </a:t>
            </a:r>
            <a:r>
              <a:rPr b="1" lang="it" sz="1400"/>
              <a:t>video-based eye-trackers.</a:t>
            </a:r>
            <a:r>
              <a:rPr lang="it" sz="1400"/>
              <a:t> </a:t>
            </a:r>
            <a:endParaRPr sz="1400"/>
          </a:p>
          <a:p>
            <a:pPr indent="0" lvl="0" marL="0" rtl="0" algn="l">
              <a:spcBef>
                <a:spcPts val="1600"/>
              </a:spcBef>
              <a:spcAft>
                <a:spcPts val="0"/>
              </a:spcAft>
              <a:buNone/>
            </a:pPr>
            <a:r>
              <a:rPr lang="it" sz="1400"/>
              <a:t>A camera focuses on one or both eyes and records eye movement. Most modern eye-trackers use the center of the pupil and infrared/near-infrared non-collimated light to create corneal reflections (CR). </a:t>
            </a:r>
            <a:endParaRPr sz="1400"/>
          </a:p>
          <a:p>
            <a:pPr indent="0" lvl="0" marL="0" rtl="0" algn="l">
              <a:spcBef>
                <a:spcPts val="1600"/>
              </a:spcBef>
              <a:spcAft>
                <a:spcPts val="0"/>
              </a:spcAft>
              <a:buClr>
                <a:schemeClr val="dk1"/>
              </a:buClr>
              <a:buSzPts val="1100"/>
              <a:buFont typeface="Arial"/>
              <a:buNone/>
            </a:pPr>
            <a:r>
              <a:rPr lang="it" sz="1400"/>
              <a:t>The vector between the pupil center and the corneal reflections can be used to compute the point of regard on surface or the gaze direction. A simple calibration procedure of the individual is usually needed before using the eye tracker.</a:t>
            </a:r>
            <a:endParaRPr sz="1400"/>
          </a:p>
          <a:p>
            <a:pPr indent="0" lvl="0" marL="0" rtl="0" algn="l">
              <a:spcBef>
                <a:spcPts val="1600"/>
              </a:spcBef>
              <a:spcAft>
                <a:spcPts val="0"/>
              </a:spcAft>
              <a:buClr>
                <a:schemeClr val="dk1"/>
              </a:buClr>
              <a:buSzPts val="1100"/>
              <a:buFont typeface="Arial"/>
              <a:buNone/>
            </a:pPr>
            <a:r>
              <a:rPr lang="it" sz="1400"/>
              <a:t>Two general types of infrared/near-infrared (also known as active light) eye-tracking techniques are used: </a:t>
            </a:r>
            <a:r>
              <a:rPr b="1" lang="it" sz="1400"/>
              <a:t>bright-pupil (top) and dark-pupil (center).</a:t>
            </a:r>
            <a:r>
              <a:rPr lang="it" sz="1400"/>
              <a:t> Their difference is based on the location of the illumination source with respect to the optics. </a:t>
            </a:r>
            <a:endParaRPr sz="1400"/>
          </a:p>
          <a:p>
            <a:pPr indent="0" lvl="0" marL="0" rtl="0" algn="l">
              <a:spcBef>
                <a:spcPts val="1600"/>
              </a:spcBef>
              <a:spcAft>
                <a:spcPts val="1600"/>
              </a:spcAft>
              <a:buNone/>
            </a:pPr>
            <a:r>
              <a:rPr lang="it" sz="1400"/>
              <a:t>Another, less used, method is known as </a:t>
            </a:r>
            <a:r>
              <a:rPr b="1" lang="it" sz="1400"/>
              <a:t>passive light (bottom)</a:t>
            </a:r>
            <a:r>
              <a:rPr lang="it" sz="1400"/>
              <a:t>. It uses visible light to illuminate </a:t>
            </a:r>
            <a:endParaRPr sz="1400"/>
          </a:p>
        </p:txBody>
      </p:sp>
      <p:pic>
        <p:nvPicPr>
          <p:cNvPr id="309" name="Google Shape;309;p53"/>
          <p:cNvPicPr preferRelativeResize="0"/>
          <p:nvPr/>
        </p:nvPicPr>
        <p:blipFill>
          <a:blip r:embed="rId3">
            <a:alphaModFix/>
          </a:blip>
          <a:stretch>
            <a:fillRect/>
          </a:stretch>
        </p:blipFill>
        <p:spPr>
          <a:xfrm>
            <a:off x="6916675" y="743075"/>
            <a:ext cx="2057400" cy="1143000"/>
          </a:xfrm>
          <a:prstGeom prst="rect">
            <a:avLst/>
          </a:prstGeom>
          <a:noFill/>
          <a:ln>
            <a:noFill/>
          </a:ln>
        </p:spPr>
      </p:pic>
      <p:pic>
        <p:nvPicPr>
          <p:cNvPr id="310" name="Google Shape;310;p53"/>
          <p:cNvPicPr preferRelativeResize="0"/>
          <p:nvPr/>
        </p:nvPicPr>
        <p:blipFill>
          <a:blip r:embed="rId4">
            <a:alphaModFix/>
          </a:blip>
          <a:stretch>
            <a:fillRect/>
          </a:stretch>
        </p:blipFill>
        <p:spPr>
          <a:xfrm>
            <a:off x="6902388" y="2075900"/>
            <a:ext cx="2085975" cy="1143000"/>
          </a:xfrm>
          <a:prstGeom prst="rect">
            <a:avLst/>
          </a:prstGeom>
          <a:noFill/>
          <a:ln>
            <a:noFill/>
          </a:ln>
        </p:spPr>
      </p:pic>
      <p:pic>
        <p:nvPicPr>
          <p:cNvPr id="311" name="Google Shape;311;p53"/>
          <p:cNvPicPr preferRelativeResize="0"/>
          <p:nvPr/>
        </p:nvPicPr>
        <p:blipFill>
          <a:blip r:embed="rId5">
            <a:alphaModFix/>
          </a:blip>
          <a:stretch>
            <a:fillRect/>
          </a:stretch>
        </p:blipFill>
        <p:spPr>
          <a:xfrm>
            <a:off x="6930975" y="3386801"/>
            <a:ext cx="2057400" cy="1349124"/>
          </a:xfrm>
          <a:prstGeom prst="rect">
            <a:avLst/>
          </a:prstGeom>
          <a:noFill/>
          <a:ln>
            <a:noFill/>
          </a:ln>
        </p:spPr>
      </p:pic>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5" name="Shape 315"/>
        <p:cNvGrpSpPr/>
        <p:nvPr/>
      </p:nvGrpSpPr>
      <p:grpSpPr>
        <a:xfrm>
          <a:off x="0" y="0"/>
          <a:ext cx="0" cy="0"/>
          <a:chOff x="0" y="0"/>
          <a:chExt cx="0" cy="0"/>
        </a:xfrm>
      </p:grpSpPr>
      <p:sp>
        <p:nvSpPr>
          <p:cNvPr id="316" name="Google Shape;316;p54"/>
          <p:cNvSpPr txBox="1"/>
          <p:nvPr>
            <p:ph type="title"/>
          </p:nvPr>
        </p:nvSpPr>
        <p:spPr>
          <a:xfrm>
            <a:off x="311700" y="64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it"/>
              <a:t>Eye tracking methods</a:t>
            </a:r>
            <a:endParaRPr/>
          </a:p>
          <a:p>
            <a:pPr indent="0" lvl="0" marL="0" rtl="0" algn="l">
              <a:spcBef>
                <a:spcPts val="0"/>
              </a:spcBef>
              <a:spcAft>
                <a:spcPts val="0"/>
              </a:spcAft>
              <a:buNone/>
            </a:pPr>
            <a:r>
              <a:t/>
            </a:r>
            <a:endParaRPr/>
          </a:p>
        </p:txBody>
      </p:sp>
      <p:sp>
        <p:nvSpPr>
          <p:cNvPr id="317" name="Google Shape;317;p54"/>
          <p:cNvSpPr txBox="1"/>
          <p:nvPr>
            <p:ph idx="1" type="body"/>
          </p:nvPr>
        </p:nvSpPr>
        <p:spPr>
          <a:xfrm>
            <a:off x="311700" y="6190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it"/>
              <a:t>If the illumination is coaxial with the optical path, then the eye acts as a retroreflector as the light reflects off the retina creating a bright pupil effect similar to red eye. If the illumination source is offset from the optical path, then the pupil appears dark because the retroreflection from the retina is directed away from the camera.</a:t>
            </a:r>
            <a:endParaRPr/>
          </a:p>
          <a:p>
            <a:pPr indent="0" lvl="0" marL="0" rtl="0" algn="l">
              <a:spcBef>
                <a:spcPts val="1600"/>
              </a:spcBef>
              <a:spcAft>
                <a:spcPts val="0"/>
              </a:spcAft>
              <a:buClr>
                <a:schemeClr val="dk1"/>
              </a:buClr>
              <a:buSzPts val="1100"/>
              <a:buFont typeface="Arial"/>
              <a:buNone/>
            </a:pPr>
            <a:r>
              <a:rPr lang="it"/>
              <a:t>Bright-pupil tracking creates greater iris/pupil contrast, allowing more robust eye-tracking with all iris pigmentation, and greatly reduces interference caused by eyelashes and other obscuring features. It also allows tracking in lighting conditions ranging from total darkness to very bright.</a:t>
            </a:r>
            <a:endParaRPr/>
          </a:p>
          <a:p>
            <a:pPr indent="0" lvl="0" marL="0" rtl="0" algn="l">
              <a:spcBef>
                <a:spcPts val="1600"/>
              </a:spcBef>
              <a:spcAft>
                <a:spcPts val="1600"/>
              </a:spcAft>
              <a:buNone/>
            </a:pPr>
            <a:r>
              <a:rPr b="1" lang="it"/>
              <a:t>Bright-pupil tracking is more reliable but require more complex hardware setup</a:t>
            </a:r>
            <a:endParaRPr b="1"/>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1" name="Shape 321"/>
        <p:cNvGrpSpPr/>
        <p:nvPr/>
      </p:nvGrpSpPr>
      <p:grpSpPr>
        <a:xfrm>
          <a:off x="0" y="0"/>
          <a:ext cx="0" cy="0"/>
          <a:chOff x="0" y="0"/>
          <a:chExt cx="0" cy="0"/>
        </a:xfrm>
      </p:grpSpPr>
      <p:sp>
        <p:nvSpPr>
          <p:cNvPr id="322" name="Google Shape;322;p55"/>
          <p:cNvSpPr txBox="1"/>
          <p:nvPr>
            <p:ph type="title"/>
          </p:nvPr>
        </p:nvSpPr>
        <p:spPr>
          <a:xfrm>
            <a:off x="311700" y="64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t"/>
              <a:t>E</a:t>
            </a:r>
            <a:r>
              <a:rPr lang="it"/>
              <a:t>ye-tracking vs. gaze-tracking</a:t>
            </a:r>
            <a:endParaRPr/>
          </a:p>
        </p:txBody>
      </p:sp>
      <p:sp>
        <p:nvSpPr>
          <p:cNvPr id="323" name="Google Shape;323;p55"/>
          <p:cNvSpPr txBox="1"/>
          <p:nvPr>
            <p:ph idx="1" type="body"/>
          </p:nvPr>
        </p:nvSpPr>
        <p:spPr>
          <a:xfrm>
            <a:off x="311700" y="6190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t"/>
              <a:t>Eye-trackers necessarily measure the rotation of the eye with respect to some frame of reference. This is usually tied to the measuring system. Thus, if the measuring system is head-mounted, as with video-based system mounted to a helmet, then eye-in-head angles are measured. </a:t>
            </a:r>
            <a:endParaRPr/>
          </a:p>
          <a:p>
            <a:pPr indent="0" lvl="0" marL="0" rtl="0" algn="l">
              <a:spcBef>
                <a:spcPts val="1600"/>
              </a:spcBef>
              <a:spcAft>
                <a:spcPts val="0"/>
              </a:spcAft>
              <a:buClr>
                <a:schemeClr val="dk1"/>
              </a:buClr>
              <a:buSzPts val="1100"/>
              <a:buFont typeface="Arial"/>
              <a:buNone/>
            </a:pPr>
            <a:r>
              <a:rPr lang="it"/>
              <a:t>To deduce the line of sight in world coordinates, the head must be kept in a constant position or its movements must be tracked as well. In these cases, head direction is added to eye-in-head direction to determine gaze direction.</a:t>
            </a:r>
            <a:endParaRPr/>
          </a:p>
          <a:p>
            <a:pPr indent="0" lvl="0" marL="0" rtl="0" algn="l">
              <a:spcBef>
                <a:spcPts val="1600"/>
              </a:spcBef>
              <a:spcAft>
                <a:spcPts val="0"/>
              </a:spcAft>
              <a:buClr>
                <a:schemeClr val="dk1"/>
              </a:buClr>
              <a:buSzPts val="1100"/>
              <a:buFont typeface="Arial"/>
              <a:buNone/>
            </a:pPr>
            <a:r>
              <a:rPr lang="it"/>
              <a:t>If the measuring system is table-mounted, as with table-mounted camera (“remote”) systems, then gaze angles are measured directly in world coordinates. Typically, in these situations head movements are prohibited.</a:t>
            </a:r>
            <a:endParaRPr/>
          </a:p>
          <a:p>
            <a:pPr indent="0" lvl="0" marL="0" rtl="0" algn="l">
              <a:spcBef>
                <a:spcPts val="1600"/>
              </a:spcBef>
              <a:spcAft>
                <a:spcPts val="1600"/>
              </a:spcAft>
              <a:buNone/>
            </a:pPr>
            <a:r>
              <a:rPr lang="it"/>
              <a:t>Some results are available on human eye movements under natural conditions where head movements are allowed as well.</a:t>
            </a:r>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7" name="Shape 327"/>
        <p:cNvGrpSpPr/>
        <p:nvPr/>
      </p:nvGrpSpPr>
      <p:grpSpPr>
        <a:xfrm>
          <a:off x="0" y="0"/>
          <a:ext cx="0" cy="0"/>
          <a:chOff x="0" y="0"/>
          <a:chExt cx="0" cy="0"/>
        </a:xfrm>
      </p:grpSpPr>
      <p:sp>
        <p:nvSpPr>
          <p:cNvPr id="328" name="Google Shape;328;p56"/>
          <p:cNvSpPr txBox="1"/>
          <p:nvPr>
            <p:ph type="title"/>
          </p:nvPr>
        </p:nvSpPr>
        <p:spPr>
          <a:xfrm>
            <a:off x="311700" y="64025"/>
            <a:ext cx="8520600" cy="5727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it"/>
              <a:t>Eye Tracking mouse</a:t>
            </a:r>
            <a:endParaRPr/>
          </a:p>
          <a:p>
            <a:pPr indent="0" lvl="0" marL="0" rtl="0" algn="l">
              <a:spcBef>
                <a:spcPts val="1600"/>
              </a:spcBef>
              <a:spcAft>
                <a:spcPts val="0"/>
              </a:spcAft>
              <a:buNone/>
            </a:pPr>
            <a:r>
              <a:t/>
            </a:r>
            <a:endParaRPr/>
          </a:p>
        </p:txBody>
      </p:sp>
      <p:sp>
        <p:nvSpPr>
          <p:cNvPr id="329" name="Google Shape;329;p56"/>
          <p:cNvSpPr txBox="1"/>
          <p:nvPr>
            <p:ph idx="1" type="body"/>
          </p:nvPr>
        </p:nvSpPr>
        <p:spPr>
          <a:xfrm>
            <a:off x="311700" y="6190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t" u="sng">
                <a:solidFill>
                  <a:schemeClr val="hlink"/>
                </a:solidFill>
                <a:hlinkClick r:id="rId3"/>
              </a:rPr>
              <a:t>https://www.youtube.com/watch?v=oSo8fbZfHLk&amp;ab_channel=TobiiGaming</a:t>
            </a:r>
            <a:endParaRPr/>
          </a:p>
          <a:p>
            <a:pPr indent="0" lvl="0" marL="0" rtl="0" algn="l">
              <a:spcBef>
                <a:spcPts val="1600"/>
              </a:spcBef>
              <a:spcAft>
                <a:spcPts val="0"/>
              </a:spcAft>
              <a:buNone/>
            </a:pPr>
            <a:r>
              <a:rPr lang="it" u="sng">
                <a:solidFill>
                  <a:schemeClr val="hlink"/>
                </a:solidFill>
                <a:hlinkClick r:id="rId4"/>
              </a:rPr>
              <a:t>https://www.youtube.com/watch?v=4fvdBhPdhIU&amp;ab_channel=TobiiPro</a:t>
            </a:r>
            <a:endParaRPr/>
          </a:p>
          <a:p>
            <a:pPr indent="0" lvl="0" marL="0" rtl="0" algn="l">
              <a:spcBef>
                <a:spcPts val="1600"/>
              </a:spcBef>
              <a:spcAft>
                <a:spcPts val="0"/>
              </a:spcAft>
              <a:buNone/>
            </a:pPr>
            <a:r>
              <a:t/>
            </a:r>
            <a:endParaRPr/>
          </a:p>
          <a:p>
            <a:pPr indent="0" lvl="0" marL="0" rtl="0" algn="l">
              <a:spcBef>
                <a:spcPts val="1600"/>
              </a:spcBef>
              <a:spcAft>
                <a:spcPts val="1600"/>
              </a:spcAft>
              <a:buNone/>
            </a:pPr>
            <a:r>
              <a:t/>
            </a:r>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3" name="Shape 333"/>
        <p:cNvGrpSpPr/>
        <p:nvPr/>
      </p:nvGrpSpPr>
      <p:grpSpPr>
        <a:xfrm>
          <a:off x="0" y="0"/>
          <a:ext cx="0" cy="0"/>
          <a:chOff x="0" y="0"/>
          <a:chExt cx="0" cy="0"/>
        </a:xfrm>
      </p:grpSpPr>
      <p:sp>
        <p:nvSpPr>
          <p:cNvPr id="334" name="Google Shape;334;p57"/>
          <p:cNvSpPr txBox="1"/>
          <p:nvPr>
            <p:ph type="title"/>
          </p:nvPr>
        </p:nvSpPr>
        <p:spPr>
          <a:xfrm>
            <a:off x="311700" y="64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t"/>
              <a:t>Data Glove</a:t>
            </a:r>
            <a:endParaRPr/>
          </a:p>
        </p:txBody>
      </p:sp>
      <p:sp>
        <p:nvSpPr>
          <p:cNvPr id="335" name="Google Shape;335;p57"/>
          <p:cNvSpPr txBox="1"/>
          <p:nvPr>
            <p:ph idx="1" type="body"/>
          </p:nvPr>
        </p:nvSpPr>
        <p:spPr>
          <a:xfrm>
            <a:off x="311700" y="619075"/>
            <a:ext cx="86535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it" sz="1600"/>
              <a:t>A wired glove (also called a "dataglove") is an input device for human–computer interaction worn like a glove.</a:t>
            </a:r>
            <a:endParaRPr sz="1600"/>
          </a:p>
          <a:p>
            <a:pPr indent="0" lvl="0" marL="0" rtl="0" algn="l">
              <a:spcBef>
                <a:spcPts val="1600"/>
              </a:spcBef>
              <a:spcAft>
                <a:spcPts val="0"/>
              </a:spcAft>
              <a:buNone/>
            </a:pPr>
            <a:r>
              <a:rPr lang="it" sz="1600"/>
              <a:t>Various sensor technologies are used to capture physical data such as bending of fingers. </a:t>
            </a:r>
            <a:endParaRPr sz="1600"/>
          </a:p>
          <a:p>
            <a:pPr indent="0" lvl="0" marL="0" rtl="0" algn="l">
              <a:spcBef>
                <a:spcPts val="1600"/>
              </a:spcBef>
              <a:spcAft>
                <a:spcPts val="0"/>
              </a:spcAft>
              <a:buNone/>
            </a:pPr>
            <a:r>
              <a:rPr lang="it" sz="1600"/>
              <a:t>Often a motion tracker, such as a magnetic tracking device or inertial tracking device, is attached to capture the global position/rotation data of the </a:t>
            </a:r>
            <a:br>
              <a:rPr lang="it" sz="1600"/>
            </a:br>
            <a:r>
              <a:rPr lang="it" sz="1600"/>
              <a:t>glove. </a:t>
            </a:r>
            <a:endParaRPr sz="1600"/>
          </a:p>
          <a:p>
            <a:pPr indent="0" lvl="0" marL="0" rtl="0" algn="l">
              <a:spcBef>
                <a:spcPts val="1600"/>
              </a:spcBef>
              <a:spcAft>
                <a:spcPts val="0"/>
              </a:spcAft>
              <a:buNone/>
            </a:pPr>
            <a:r>
              <a:rPr lang="it" sz="1600"/>
              <a:t>These movements are then interpreted by the software that </a:t>
            </a:r>
            <a:br>
              <a:rPr lang="it" sz="1600"/>
            </a:br>
            <a:r>
              <a:rPr lang="it" sz="1600"/>
              <a:t>accompanies the glove, so any one movement can mean any </a:t>
            </a:r>
            <a:br>
              <a:rPr lang="it" sz="1600"/>
            </a:br>
            <a:r>
              <a:rPr lang="it" sz="1600"/>
              <a:t>number of things.</a:t>
            </a:r>
            <a:endParaRPr sz="1600"/>
          </a:p>
          <a:p>
            <a:pPr indent="0" lvl="0" marL="0" rtl="0" algn="l">
              <a:spcBef>
                <a:spcPts val="1600"/>
              </a:spcBef>
              <a:spcAft>
                <a:spcPts val="0"/>
              </a:spcAft>
              <a:buClr>
                <a:schemeClr val="dk1"/>
              </a:buClr>
              <a:buSzPts val="1100"/>
              <a:buFont typeface="Arial"/>
              <a:buNone/>
            </a:pPr>
            <a:r>
              <a:rPr b="1" lang="it" sz="1600"/>
              <a:t>Gestures can then be categorized into useful information, </a:t>
            </a:r>
            <a:br>
              <a:rPr b="1" lang="it" sz="1600"/>
            </a:br>
            <a:r>
              <a:rPr b="1" lang="it" sz="1600"/>
              <a:t>such as to recognize sign language or other symbolic </a:t>
            </a:r>
            <a:br>
              <a:rPr b="1" lang="it" sz="1600"/>
            </a:br>
            <a:r>
              <a:rPr b="1" lang="it" sz="1600"/>
              <a:t>functions.</a:t>
            </a:r>
            <a:endParaRPr b="1" sz="1600"/>
          </a:p>
          <a:p>
            <a:pPr indent="0" lvl="0" marL="0" rtl="0" algn="l">
              <a:spcBef>
                <a:spcPts val="1600"/>
              </a:spcBef>
              <a:spcAft>
                <a:spcPts val="1600"/>
              </a:spcAft>
              <a:buNone/>
            </a:pPr>
            <a:r>
              <a:t/>
            </a:r>
            <a:endParaRPr sz="1600"/>
          </a:p>
        </p:txBody>
      </p:sp>
      <p:pic>
        <p:nvPicPr>
          <p:cNvPr id="336" name="Google Shape;336;p57"/>
          <p:cNvPicPr preferRelativeResize="0"/>
          <p:nvPr/>
        </p:nvPicPr>
        <p:blipFill rotWithShape="1">
          <a:blip r:embed="rId3">
            <a:alphaModFix/>
          </a:blip>
          <a:srcRect b="0" l="28157" r="10391" t="0"/>
          <a:stretch/>
        </p:blipFill>
        <p:spPr>
          <a:xfrm>
            <a:off x="6067100" y="2277850"/>
            <a:ext cx="2993750" cy="2633375"/>
          </a:xfrm>
          <a:prstGeom prst="rect">
            <a:avLst/>
          </a:prstGeom>
          <a:noFill/>
          <a:ln>
            <a:noFill/>
          </a:ln>
        </p:spPr>
      </p:pic>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0" name="Shape 340"/>
        <p:cNvGrpSpPr/>
        <p:nvPr/>
      </p:nvGrpSpPr>
      <p:grpSpPr>
        <a:xfrm>
          <a:off x="0" y="0"/>
          <a:ext cx="0" cy="0"/>
          <a:chOff x="0" y="0"/>
          <a:chExt cx="0" cy="0"/>
        </a:xfrm>
      </p:grpSpPr>
      <p:sp>
        <p:nvSpPr>
          <p:cNvPr id="341" name="Google Shape;341;p58"/>
          <p:cNvSpPr txBox="1"/>
          <p:nvPr>
            <p:ph type="title"/>
          </p:nvPr>
        </p:nvSpPr>
        <p:spPr>
          <a:xfrm>
            <a:off x="311700" y="64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t"/>
              <a:t>Haptic Devices</a:t>
            </a:r>
            <a:endParaRPr/>
          </a:p>
        </p:txBody>
      </p:sp>
      <p:sp>
        <p:nvSpPr>
          <p:cNvPr id="342" name="Google Shape;342;p58"/>
          <p:cNvSpPr txBox="1"/>
          <p:nvPr>
            <p:ph idx="1" type="body"/>
          </p:nvPr>
        </p:nvSpPr>
        <p:spPr>
          <a:xfrm>
            <a:off x="311700" y="6190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it"/>
              <a:t>Haptic devices (or haptic interfaces) are mechanical devices that mediate communication between the user and the computer. </a:t>
            </a:r>
            <a:r>
              <a:rPr b="1" lang="it"/>
              <a:t>Haptic devices allow users to touch, feel and manipulate three-dimensional objects in virtual environments and tele-operated systems.</a:t>
            </a:r>
            <a:endParaRPr b="1"/>
          </a:p>
          <a:p>
            <a:pPr indent="0" lvl="0" marL="0" rtl="0" algn="l">
              <a:spcBef>
                <a:spcPts val="1600"/>
              </a:spcBef>
              <a:spcAft>
                <a:spcPts val="0"/>
              </a:spcAft>
              <a:buNone/>
            </a:pPr>
            <a:r>
              <a:rPr lang="it"/>
              <a:t>Most common computer interface devices, such as basic mice and joysticks, are input only devices, meaning that they track a user's physical manipulations but provide no manual feedback. As a result, information flows in only one direction, from the peripheral to the computer. </a:t>
            </a:r>
            <a:endParaRPr/>
          </a:p>
          <a:p>
            <a:pPr indent="0" lvl="0" marL="0" rtl="0" algn="l">
              <a:spcBef>
                <a:spcPts val="1600"/>
              </a:spcBef>
              <a:spcAft>
                <a:spcPts val="0"/>
              </a:spcAft>
              <a:buClr>
                <a:schemeClr val="dk1"/>
              </a:buClr>
              <a:buSzPts val="1100"/>
              <a:buFont typeface="Arial"/>
              <a:buNone/>
            </a:pPr>
            <a:r>
              <a:rPr b="1" lang="it"/>
              <a:t>Haptic devices are input-output devices, meaning that they track a user's physical manipulations (input) and provide realistic touch sensations coordinated with on-screen events (output). </a:t>
            </a:r>
            <a:endParaRPr b="1"/>
          </a:p>
          <a:p>
            <a:pPr indent="0" lvl="0" marL="0" rtl="0" algn="l">
              <a:spcBef>
                <a:spcPts val="1600"/>
              </a:spcBef>
              <a:spcAft>
                <a:spcPts val="1600"/>
              </a:spcAft>
              <a:buNone/>
            </a:pPr>
            <a:r>
              <a:t/>
            </a:r>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6" name="Shape 346"/>
        <p:cNvGrpSpPr/>
        <p:nvPr/>
      </p:nvGrpSpPr>
      <p:grpSpPr>
        <a:xfrm>
          <a:off x="0" y="0"/>
          <a:ext cx="0" cy="0"/>
          <a:chOff x="0" y="0"/>
          <a:chExt cx="0" cy="0"/>
        </a:xfrm>
      </p:grpSpPr>
      <p:sp>
        <p:nvSpPr>
          <p:cNvPr id="347" name="Google Shape;347;p59"/>
          <p:cNvSpPr txBox="1"/>
          <p:nvPr>
            <p:ph type="title"/>
          </p:nvPr>
        </p:nvSpPr>
        <p:spPr>
          <a:xfrm>
            <a:off x="311700" y="64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t"/>
              <a:t>Haptic Devices</a:t>
            </a:r>
            <a:endParaRPr/>
          </a:p>
        </p:txBody>
      </p:sp>
      <p:sp>
        <p:nvSpPr>
          <p:cNvPr id="348" name="Google Shape;348;p59"/>
          <p:cNvSpPr txBox="1"/>
          <p:nvPr>
            <p:ph idx="1" type="body"/>
          </p:nvPr>
        </p:nvSpPr>
        <p:spPr>
          <a:xfrm>
            <a:off x="311700" y="6190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t/>
            </a:r>
            <a:endParaRPr/>
          </a:p>
        </p:txBody>
      </p:sp>
      <p:pic>
        <p:nvPicPr>
          <p:cNvPr id="349" name="Google Shape;349;p59"/>
          <p:cNvPicPr preferRelativeResize="0"/>
          <p:nvPr/>
        </p:nvPicPr>
        <p:blipFill>
          <a:blip r:embed="rId3">
            <a:alphaModFix/>
          </a:blip>
          <a:stretch>
            <a:fillRect/>
          </a:stretch>
        </p:blipFill>
        <p:spPr>
          <a:xfrm>
            <a:off x="1925050" y="729875"/>
            <a:ext cx="5293900" cy="3970425"/>
          </a:xfrm>
          <a:prstGeom prst="rect">
            <a:avLst/>
          </a:prstGeom>
          <a:noFill/>
          <a:ln>
            <a:noFill/>
          </a:ln>
        </p:spPr>
      </p:pic>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3" name="Shape 353"/>
        <p:cNvGrpSpPr/>
        <p:nvPr/>
      </p:nvGrpSpPr>
      <p:grpSpPr>
        <a:xfrm>
          <a:off x="0" y="0"/>
          <a:ext cx="0" cy="0"/>
          <a:chOff x="0" y="0"/>
          <a:chExt cx="0" cy="0"/>
        </a:xfrm>
      </p:grpSpPr>
      <p:sp>
        <p:nvSpPr>
          <p:cNvPr id="354" name="Google Shape;354;p60"/>
          <p:cNvSpPr txBox="1"/>
          <p:nvPr>
            <p:ph type="title"/>
          </p:nvPr>
        </p:nvSpPr>
        <p:spPr>
          <a:xfrm>
            <a:off x="311700" y="64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t"/>
              <a:t>Smart Paper, Whiteboards and similars</a:t>
            </a:r>
            <a:endParaRPr/>
          </a:p>
        </p:txBody>
      </p:sp>
      <p:sp>
        <p:nvSpPr>
          <p:cNvPr id="355" name="Google Shape;355;p60"/>
          <p:cNvSpPr txBox="1"/>
          <p:nvPr>
            <p:ph idx="1" type="body"/>
          </p:nvPr>
        </p:nvSpPr>
        <p:spPr>
          <a:xfrm>
            <a:off x="311700" y="619075"/>
            <a:ext cx="35418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t"/>
              <a:t>A novel generation of devices aimed at digitizing user interaction with paper and whiteboard have been developed in the last years.</a:t>
            </a:r>
            <a:endParaRPr/>
          </a:p>
          <a:p>
            <a:pPr indent="0" lvl="0" marL="0" rtl="0" algn="l">
              <a:spcBef>
                <a:spcPts val="1600"/>
              </a:spcBef>
              <a:spcAft>
                <a:spcPts val="1600"/>
              </a:spcAft>
              <a:buNone/>
            </a:pPr>
            <a:r>
              <a:rPr lang="it"/>
              <a:t>These devices digitize the user writing by means of tracked smart pens and/or sensorized surfaces </a:t>
            </a:r>
            <a:endParaRPr/>
          </a:p>
        </p:txBody>
      </p:sp>
      <p:pic>
        <p:nvPicPr>
          <p:cNvPr id="356" name="Google Shape;356;p60"/>
          <p:cNvPicPr preferRelativeResize="0"/>
          <p:nvPr/>
        </p:nvPicPr>
        <p:blipFill rotWithShape="1">
          <a:blip r:embed="rId3">
            <a:alphaModFix/>
          </a:blip>
          <a:srcRect b="9592" l="0" r="0" t="10066"/>
          <a:stretch/>
        </p:blipFill>
        <p:spPr>
          <a:xfrm>
            <a:off x="3924300" y="669925"/>
            <a:ext cx="5143500" cy="4132325"/>
          </a:xfrm>
          <a:prstGeom prst="rect">
            <a:avLst/>
          </a:prstGeom>
          <a:noFill/>
          <a:ln>
            <a:noFill/>
          </a:ln>
        </p:spPr>
      </p:pic>
      <p:sp>
        <p:nvSpPr>
          <p:cNvPr id="357" name="Google Shape;357;p60"/>
          <p:cNvSpPr txBox="1"/>
          <p:nvPr/>
        </p:nvSpPr>
        <p:spPr>
          <a:xfrm>
            <a:off x="398100" y="4092500"/>
            <a:ext cx="3526200" cy="748500"/>
          </a:xfrm>
          <a:prstGeom prst="rect">
            <a:avLst/>
          </a:prstGeom>
          <a:solidFill>
            <a:srgbClr val="F4CCCC"/>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it"/>
              <a:t>This is a cross categories interface where pointing and images are used as blended inputs</a:t>
            </a:r>
            <a:endParaRPr/>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1" name="Shape 361"/>
        <p:cNvGrpSpPr/>
        <p:nvPr/>
      </p:nvGrpSpPr>
      <p:grpSpPr>
        <a:xfrm>
          <a:off x="0" y="0"/>
          <a:ext cx="0" cy="0"/>
          <a:chOff x="0" y="0"/>
          <a:chExt cx="0" cy="0"/>
        </a:xfrm>
      </p:grpSpPr>
      <p:sp>
        <p:nvSpPr>
          <p:cNvPr id="362" name="Google Shape;362;p61"/>
          <p:cNvSpPr txBox="1"/>
          <p:nvPr>
            <p:ph type="title"/>
          </p:nvPr>
        </p:nvSpPr>
        <p:spPr>
          <a:xfrm>
            <a:off x="311700" y="2150850"/>
            <a:ext cx="8520600" cy="8418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it"/>
              <a:t>Speech and Auditory Input Interfaces</a:t>
            </a:r>
            <a:endParaRPr/>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6" name="Shape 366"/>
        <p:cNvGrpSpPr/>
        <p:nvPr/>
      </p:nvGrpSpPr>
      <p:grpSpPr>
        <a:xfrm>
          <a:off x="0" y="0"/>
          <a:ext cx="0" cy="0"/>
          <a:chOff x="0" y="0"/>
          <a:chExt cx="0" cy="0"/>
        </a:xfrm>
      </p:grpSpPr>
      <p:sp>
        <p:nvSpPr>
          <p:cNvPr id="367" name="Google Shape;367;p62"/>
          <p:cNvSpPr txBox="1"/>
          <p:nvPr>
            <p:ph type="title"/>
          </p:nvPr>
        </p:nvSpPr>
        <p:spPr>
          <a:xfrm>
            <a:off x="311700" y="64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t"/>
              <a:t>Audio and sound acquisition</a:t>
            </a:r>
            <a:endParaRPr/>
          </a:p>
        </p:txBody>
      </p:sp>
      <p:sp>
        <p:nvSpPr>
          <p:cNvPr id="368" name="Google Shape;368;p62"/>
          <p:cNvSpPr txBox="1"/>
          <p:nvPr>
            <p:ph idx="1" type="body"/>
          </p:nvPr>
        </p:nvSpPr>
        <p:spPr>
          <a:xfrm>
            <a:off x="311700" y="6190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it"/>
              <a:t>In physics, sound is a vibration that propagates as an acoustic wave, through a transmission medium such as a gas, liquid or solid.</a:t>
            </a:r>
            <a:endParaRPr/>
          </a:p>
          <a:p>
            <a:pPr indent="0" lvl="0" marL="0" rtl="0" algn="l">
              <a:spcBef>
                <a:spcPts val="1600"/>
              </a:spcBef>
              <a:spcAft>
                <a:spcPts val="0"/>
              </a:spcAft>
              <a:buNone/>
            </a:pPr>
            <a:r>
              <a:rPr lang="it"/>
              <a:t>In human physiology and psychology, sound is the reception of such waves and their perception by the brain.</a:t>
            </a:r>
            <a:endParaRPr/>
          </a:p>
          <a:p>
            <a:pPr indent="0" lvl="0" marL="0" rtl="0" algn="l">
              <a:spcBef>
                <a:spcPts val="1600"/>
              </a:spcBef>
              <a:spcAft>
                <a:spcPts val="0"/>
              </a:spcAft>
              <a:buNone/>
            </a:pPr>
            <a:r>
              <a:rPr lang="it"/>
              <a:t>Only acoustic waves that have frequencies lying between about 20 Hz and 20 kHz, the audio frequency range, elicit an auditory percept in humans. </a:t>
            </a:r>
            <a:endParaRPr/>
          </a:p>
          <a:p>
            <a:pPr indent="0" lvl="0" marL="0" rtl="0" algn="l">
              <a:spcBef>
                <a:spcPts val="1600"/>
              </a:spcBef>
              <a:spcAft>
                <a:spcPts val="0"/>
              </a:spcAft>
              <a:buNone/>
            </a:pPr>
            <a:r>
              <a:rPr lang="it"/>
              <a:t>In air at atmospheric pressure, these represent sound waves with wavelengths of 17 meters to 1.7 centimetres. </a:t>
            </a:r>
            <a:endParaRPr/>
          </a:p>
          <a:p>
            <a:pPr indent="0" lvl="0" marL="0" rtl="0" algn="l">
              <a:spcBef>
                <a:spcPts val="1600"/>
              </a:spcBef>
              <a:spcAft>
                <a:spcPts val="0"/>
              </a:spcAft>
              <a:buClr>
                <a:schemeClr val="dk1"/>
              </a:buClr>
              <a:buSzPts val="1100"/>
              <a:buFont typeface="Arial"/>
              <a:buNone/>
            </a:pPr>
            <a:r>
              <a:rPr lang="it"/>
              <a:t>Sound waves above 20 kHz are known as ultrasound and are not audible to humans. Sound waves below 20 Hz are known as infrasound. Different animal species have varying hearing ranges.</a:t>
            </a:r>
            <a:endParaRPr/>
          </a:p>
          <a:p>
            <a:pPr indent="0" lvl="0" marL="0" rtl="0" algn="l">
              <a:spcBef>
                <a:spcPts val="1600"/>
              </a:spcBef>
              <a:spcAft>
                <a:spcPts val="1600"/>
              </a:spcAft>
              <a:buNone/>
            </a:pPr>
            <a:r>
              <a:t/>
            </a:r>
            <a:endParaRPr/>
          </a:p>
        </p:txBody>
      </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2" name="Shape 372"/>
        <p:cNvGrpSpPr/>
        <p:nvPr/>
      </p:nvGrpSpPr>
      <p:grpSpPr>
        <a:xfrm>
          <a:off x="0" y="0"/>
          <a:ext cx="0" cy="0"/>
          <a:chOff x="0" y="0"/>
          <a:chExt cx="0" cy="0"/>
        </a:xfrm>
      </p:grpSpPr>
      <p:sp>
        <p:nvSpPr>
          <p:cNvPr id="373" name="Google Shape;373;p63"/>
          <p:cNvSpPr txBox="1"/>
          <p:nvPr>
            <p:ph type="title"/>
          </p:nvPr>
        </p:nvSpPr>
        <p:spPr>
          <a:xfrm>
            <a:off x="311700" y="64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it"/>
              <a:t>Audio and sound acquisition</a:t>
            </a:r>
            <a:endParaRPr/>
          </a:p>
          <a:p>
            <a:pPr indent="0" lvl="0" marL="0" rtl="0" algn="l">
              <a:spcBef>
                <a:spcPts val="0"/>
              </a:spcBef>
              <a:spcAft>
                <a:spcPts val="0"/>
              </a:spcAft>
              <a:buNone/>
            </a:pPr>
            <a:r>
              <a:t/>
            </a:r>
            <a:endParaRPr/>
          </a:p>
        </p:txBody>
      </p:sp>
      <p:sp>
        <p:nvSpPr>
          <p:cNvPr id="374" name="Google Shape;374;p63"/>
          <p:cNvSpPr txBox="1"/>
          <p:nvPr>
            <p:ph idx="1" type="body"/>
          </p:nvPr>
        </p:nvSpPr>
        <p:spPr>
          <a:xfrm>
            <a:off x="311700" y="6190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t"/>
              <a:t>Sound can be acquired using microphones. </a:t>
            </a:r>
            <a:endParaRPr/>
          </a:p>
          <a:p>
            <a:pPr indent="0" lvl="0" marL="0" rtl="0" algn="l">
              <a:spcBef>
                <a:spcPts val="1600"/>
              </a:spcBef>
              <a:spcAft>
                <a:spcPts val="0"/>
              </a:spcAft>
              <a:buNone/>
            </a:pPr>
            <a:r>
              <a:rPr lang="it"/>
              <a:t>A microphone is a device – a sensor– that converts sound into an electrical signal. </a:t>
            </a:r>
            <a:endParaRPr/>
          </a:p>
          <a:p>
            <a:pPr indent="0" lvl="0" marL="0" rtl="0" algn="l">
              <a:spcBef>
                <a:spcPts val="1600"/>
              </a:spcBef>
              <a:spcAft>
                <a:spcPts val="0"/>
              </a:spcAft>
              <a:buClr>
                <a:schemeClr val="dk1"/>
              </a:buClr>
              <a:buSzPts val="1100"/>
              <a:buFont typeface="Arial"/>
              <a:buNone/>
            </a:pPr>
            <a:r>
              <a:rPr lang="it"/>
              <a:t>Microphones are widely used as HID</a:t>
            </a:r>
            <a:endParaRPr/>
          </a:p>
          <a:p>
            <a:pPr indent="0" lvl="0" marL="0" rtl="0" algn="l">
              <a:spcBef>
                <a:spcPts val="1600"/>
              </a:spcBef>
              <a:spcAft>
                <a:spcPts val="0"/>
              </a:spcAft>
              <a:buClr>
                <a:schemeClr val="dk1"/>
              </a:buClr>
              <a:buSzPts val="1100"/>
              <a:buFont typeface="Arial"/>
              <a:buNone/>
            </a:pPr>
            <a:r>
              <a:rPr lang="it"/>
              <a:t>Several types of microphone are used today, which employ different methods to convert the air pressure variations of a sound wave to an electrical signal. </a:t>
            </a:r>
            <a:endParaRPr/>
          </a:p>
          <a:p>
            <a:pPr indent="0" lvl="0" marL="0" rtl="0" algn="l">
              <a:spcBef>
                <a:spcPts val="1600"/>
              </a:spcBef>
              <a:spcAft>
                <a:spcPts val="1600"/>
              </a:spcAft>
              <a:buNone/>
            </a:pPr>
            <a:r>
              <a:t/>
            </a:r>
            <a:endParaRPr/>
          </a:p>
        </p:txBody>
      </p: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8" name="Shape 378"/>
        <p:cNvGrpSpPr/>
        <p:nvPr/>
      </p:nvGrpSpPr>
      <p:grpSpPr>
        <a:xfrm>
          <a:off x="0" y="0"/>
          <a:ext cx="0" cy="0"/>
          <a:chOff x="0" y="0"/>
          <a:chExt cx="0" cy="0"/>
        </a:xfrm>
      </p:grpSpPr>
      <p:sp>
        <p:nvSpPr>
          <p:cNvPr id="379" name="Google Shape;379;p64"/>
          <p:cNvSpPr txBox="1"/>
          <p:nvPr>
            <p:ph type="title"/>
          </p:nvPr>
        </p:nvSpPr>
        <p:spPr>
          <a:xfrm>
            <a:off x="311700" y="64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t"/>
              <a:t>Microphone arrays</a:t>
            </a:r>
            <a:endParaRPr/>
          </a:p>
        </p:txBody>
      </p:sp>
      <p:sp>
        <p:nvSpPr>
          <p:cNvPr id="380" name="Google Shape;380;p64"/>
          <p:cNvSpPr txBox="1"/>
          <p:nvPr>
            <p:ph idx="1" type="body"/>
          </p:nvPr>
        </p:nvSpPr>
        <p:spPr>
          <a:xfrm>
            <a:off x="311700" y="6190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t"/>
              <a:t>A microphone array is any number of microphones operating in tandem.</a:t>
            </a:r>
            <a:endParaRPr/>
          </a:p>
          <a:p>
            <a:pPr indent="0" lvl="0" marL="0" rtl="0" algn="l">
              <a:spcBef>
                <a:spcPts val="1600"/>
              </a:spcBef>
              <a:spcAft>
                <a:spcPts val="0"/>
              </a:spcAft>
              <a:buNone/>
            </a:pPr>
            <a:r>
              <a:rPr lang="it"/>
              <a:t>The are used for:</a:t>
            </a:r>
            <a:endParaRPr/>
          </a:p>
          <a:p>
            <a:pPr indent="-342900" lvl="0" marL="457200" rtl="0" algn="l">
              <a:spcBef>
                <a:spcPts val="1600"/>
              </a:spcBef>
              <a:spcAft>
                <a:spcPts val="0"/>
              </a:spcAft>
              <a:buSzPts val="1800"/>
              <a:buChar char="●"/>
            </a:pPr>
            <a:r>
              <a:rPr lang="it"/>
              <a:t>Systems for extracting voice input from ambient noise (notably telephones, speech recognition systems, hearing aids)</a:t>
            </a:r>
            <a:endParaRPr/>
          </a:p>
          <a:p>
            <a:pPr indent="-342900" lvl="0" marL="457200" rtl="0" algn="l">
              <a:spcBef>
                <a:spcPts val="0"/>
              </a:spcBef>
              <a:spcAft>
                <a:spcPts val="0"/>
              </a:spcAft>
              <a:buSzPts val="1800"/>
              <a:buChar char="●"/>
            </a:pPr>
            <a:r>
              <a:rPr lang="it"/>
              <a:t>Surround sound and related technologies</a:t>
            </a:r>
            <a:endParaRPr/>
          </a:p>
          <a:p>
            <a:pPr indent="-342900" lvl="0" marL="457200" rtl="0" algn="l">
              <a:spcBef>
                <a:spcPts val="0"/>
              </a:spcBef>
              <a:spcAft>
                <a:spcPts val="0"/>
              </a:spcAft>
              <a:buSzPts val="1800"/>
              <a:buChar char="●"/>
            </a:pPr>
            <a:r>
              <a:rPr lang="it"/>
              <a:t>Binaural recording</a:t>
            </a:r>
            <a:endParaRPr/>
          </a:p>
          <a:p>
            <a:pPr indent="-342900" lvl="0" marL="457200" rtl="0" algn="l">
              <a:spcBef>
                <a:spcPts val="0"/>
              </a:spcBef>
              <a:spcAft>
                <a:spcPts val="0"/>
              </a:spcAft>
              <a:buSzPts val="1800"/>
              <a:buChar char="●"/>
            </a:pPr>
            <a:r>
              <a:rPr lang="it"/>
              <a:t>Locating objects by sound: acoustic </a:t>
            </a:r>
            <a:br>
              <a:rPr lang="it"/>
            </a:br>
            <a:r>
              <a:rPr lang="it"/>
              <a:t>source localization</a:t>
            </a:r>
            <a:endParaRPr/>
          </a:p>
          <a:p>
            <a:pPr indent="-342900" lvl="0" marL="457200" rtl="0" algn="l">
              <a:spcBef>
                <a:spcPts val="0"/>
              </a:spcBef>
              <a:spcAft>
                <a:spcPts val="0"/>
              </a:spcAft>
              <a:buSzPts val="1800"/>
              <a:buChar char="●"/>
            </a:pPr>
            <a:r>
              <a:rPr lang="it"/>
              <a:t>High fidelity original recordings</a:t>
            </a:r>
            <a:endParaRPr/>
          </a:p>
          <a:p>
            <a:pPr indent="-342900" lvl="0" marL="457200" rtl="0" algn="l">
              <a:spcBef>
                <a:spcPts val="0"/>
              </a:spcBef>
              <a:spcAft>
                <a:spcPts val="0"/>
              </a:spcAft>
              <a:buSzPts val="1800"/>
              <a:buChar char="●"/>
            </a:pPr>
            <a:r>
              <a:rPr lang="it"/>
              <a:t>Environmental Noise Monitoring</a:t>
            </a:r>
            <a:endParaRPr/>
          </a:p>
          <a:p>
            <a:pPr indent="0" lvl="0" marL="0" rtl="0" algn="l">
              <a:spcBef>
                <a:spcPts val="1600"/>
              </a:spcBef>
              <a:spcAft>
                <a:spcPts val="1600"/>
              </a:spcAft>
              <a:buNone/>
            </a:pPr>
            <a:r>
              <a:t/>
            </a:r>
            <a:endParaRPr/>
          </a:p>
        </p:txBody>
      </p:sp>
      <p:pic>
        <p:nvPicPr>
          <p:cNvPr id="381" name="Google Shape;381;p64"/>
          <p:cNvPicPr preferRelativeResize="0"/>
          <p:nvPr/>
        </p:nvPicPr>
        <p:blipFill>
          <a:blip r:embed="rId3">
            <a:alphaModFix/>
          </a:blip>
          <a:stretch>
            <a:fillRect/>
          </a:stretch>
        </p:blipFill>
        <p:spPr>
          <a:xfrm>
            <a:off x="5125575" y="2683225"/>
            <a:ext cx="3917051" cy="2237350"/>
          </a:xfrm>
          <a:prstGeom prst="rect">
            <a:avLst/>
          </a:prstGeom>
          <a:noFill/>
          <a:ln>
            <a:noFill/>
          </a:ln>
        </p:spPr>
      </p:pic>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5" name="Shape 385"/>
        <p:cNvGrpSpPr/>
        <p:nvPr/>
      </p:nvGrpSpPr>
      <p:grpSpPr>
        <a:xfrm>
          <a:off x="0" y="0"/>
          <a:ext cx="0" cy="0"/>
          <a:chOff x="0" y="0"/>
          <a:chExt cx="0" cy="0"/>
        </a:xfrm>
      </p:grpSpPr>
      <p:sp>
        <p:nvSpPr>
          <p:cNvPr id="386" name="Google Shape;386;p65"/>
          <p:cNvSpPr txBox="1"/>
          <p:nvPr>
            <p:ph type="title"/>
          </p:nvPr>
        </p:nvSpPr>
        <p:spPr>
          <a:xfrm>
            <a:off x="311700" y="64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t"/>
              <a:t>Microphone Arrays</a:t>
            </a:r>
            <a:endParaRPr/>
          </a:p>
        </p:txBody>
      </p:sp>
      <p:sp>
        <p:nvSpPr>
          <p:cNvPr id="387" name="Google Shape;387;p65"/>
          <p:cNvSpPr txBox="1"/>
          <p:nvPr>
            <p:ph idx="1" type="body"/>
          </p:nvPr>
        </p:nvSpPr>
        <p:spPr>
          <a:xfrm>
            <a:off x="311700" y="6190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t"/>
              <a:t>Typically, an array is made up of omnidirectional microphones, directional microphones, or a mix of omnidirectional and directional microphones distributed about the perimeter of a space</a:t>
            </a:r>
            <a:endParaRPr/>
          </a:p>
          <a:p>
            <a:pPr indent="0" lvl="0" marL="0" rtl="0" algn="l">
              <a:spcBef>
                <a:spcPts val="1600"/>
              </a:spcBef>
              <a:spcAft>
                <a:spcPts val="0"/>
              </a:spcAft>
              <a:buNone/>
            </a:pPr>
            <a:r>
              <a:rPr lang="it"/>
              <a:t>All microphones are linked to a computer that records and interprets the results into a coherent form. </a:t>
            </a:r>
            <a:endParaRPr/>
          </a:p>
          <a:p>
            <a:pPr indent="0" lvl="0" marL="0" rtl="0" algn="l">
              <a:spcBef>
                <a:spcPts val="1600"/>
              </a:spcBef>
              <a:spcAft>
                <a:spcPts val="0"/>
              </a:spcAft>
              <a:buNone/>
            </a:pPr>
            <a:r>
              <a:rPr lang="it"/>
              <a:t>Arrays may also be formed using numbers of very closely spaced microphones. </a:t>
            </a:r>
            <a:endParaRPr/>
          </a:p>
          <a:p>
            <a:pPr indent="0" lvl="0" marL="0" rtl="0" algn="l">
              <a:spcBef>
                <a:spcPts val="1600"/>
              </a:spcBef>
              <a:spcAft>
                <a:spcPts val="0"/>
              </a:spcAft>
              <a:buClr>
                <a:schemeClr val="dk1"/>
              </a:buClr>
              <a:buSzPts val="1100"/>
              <a:buFont typeface="Arial"/>
              <a:buNone/>
            </a:pPr>
            <a:r>
              <a:rPr lang="it"/>
              <a:t>Given a fixed physical relationship in space between the different individual microphone transducer array elements, simultaneous DSP (digital signal processor) processing of the signals from each of the individual microphone array elements </a:t>
            </a:r>
            <a:r>
              <a:rPr b="1" lang="it"/>
              <a:t>can create one or more "virtual" microphones.</a:t>
            </a:r>
            <a:r>
              <a:rPr lang="it"/>
              <a:t> </a:t>
            </a:r>
            <a:endParaRPr/>
          </a:p>
          <a:p>
            <a:pPr indent="0" lvl="0" marL="0" rtl="0" algn="l">
              <a:spcBef>
                <a:spcPts val="1600"/>
              </a:spcBef>
              <a:spcAft>
                <a:spcPts val="1600"/>
              </a:spcAft>
              <a:buNone/>
            </a:pPr>
            <a:r>
              <a:t/>
            </a:r>
            <a:endParaRPr/>
          </a:p>
        </p:txBody>
      </p:sp>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1" name="Shape 391"/>
        <p:cNvGrpSpPr/>
        <p:nvPr/>
      </p:nvGrpSpPr>
      <p:grpSpPr>
        <a:xfrm>
          <a:off x="0" y="0"/>
          <a:ext cx="0" cy="0"/>
          <a:chOff x="0" y="0"/>
          <a:chExt cx="0" cy="0"/>
        </a:xfrm>
      </p:grpSpPr>
      <p:sp>
        <p:nvSpPr>
          <p:cNvPr id="392" name="Google Shape;392;p66"/>
          <p:cNvSpPr txBox="1"/>
          <p:nvPr>
            <p:ph type="title"/>
          </p:nvPr>
        </p:nvSpPr>
        <p:spPr>
          <a:xfrm>
            <a:off x="311700" y="64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93" name="Google Shape;393;p66"/>
          <p:cNvSpPr txBox="1"/>
          <p:nvPr>
            <p:ph idx="1" type="body"/>
          </p:nvPr>
        </p:nvSpPr>
        <p:spPr>
          <a:xfrm>
            <a:off x="311700" y="6190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t/>
            </a:r>
            <a:endParaRPr/>
          </a:p>
        </p:txBody>
      </p:sp>
      <p:pic>
        <p:nvPicPr>
          <p:cNvPr id="394" name="Google Shape;394;p66"/>
          <p:cNvPicPr preferRelativeResize="0"/>
          <p:nvPr/>
        </p:nvPicPr>
        <p:blipFill>
          <a:blip r:embed="rId3">
            <a:alphaModFix/>
          </a:blip>
          <a:stretch>
            <a:fillRect/>
          </a:stretch>
        </p:blipFill>
        <p:spPr>
          <a:xfrm>
            <a:off x="1143000" y="0"/>
            <a:ext cx="6858000" cy="5143500"/>
          </a:xfrm>
          <a:prstGeom prst="rect">
            <a:avLst/>
          </a:prstGeom>
          <a:noFill/>
          <a:ln>
            <a:noFill/>
          </a:ln>
        </p:spPr>
      </p:pic>
      <p:sp>
        <p:nvSpPr>
          <p:cNvPr id="395" name="Google Shape;395;p66"/>
          <p:cNvSpPr/>
          <p:nvPr/>
        </p:nvSpPr>
        <p:spPr>
          <a:xfrm>
            <a:off x="7248900" y="1265975"/>
            <a:ext cx="517500" cy="501600"/>
          </a:xfrm>
          <a:prstGeom prst="ellipse">
            <a:avLst/>
          </a:prstGeom>
          <a:noFill/>
          <a:ln cap="flat" cmpd="sng" w="7620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6" name="Google Shape;396;p66"/>
          <p:cNvSpPr/>
          <p:nvPr/>
        </p:nvSpPr>
        <p:spPr>
          <a:xfrm>
            <a:off x="7345575" y="3321325"/>
            <a:ext cx="517500" cy="501600"/>
          </a:xfrm>
          <a:prstGeom prst="ellipse">
            <a:avLst/>
          </a:prstGeom>
          <a:noFill/>
          <a:ln cap="flat" cmpd="sng" w="7620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7" name="Google Shape;397;p66"/>
          <p:cNvSpPr/>
          <p:nvPr/>
        </p:nvSpPr>
        <p:spPr>
          <a:xfrm>
            <a:off x="5690575" y="4134550"/>
            <a:ext cx="517500" cy="501600"/>
          </a:xfrm>
          <a:prstGeom prst="ellipse">
            <a:avLst/>
          </a:prstGeom>
          <a:noFill/>
          <a:ln cap="flat" cmpd="sng" w="7620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8" name="Google Shape;398;p66"/>
          <p:cNvSpPr/>
          <p:nvPr/>
        </p:nvSpPr>
        <p:spPr>
          <a:xfrm>
            <a:off x="4313250" y="3196150"/>
            <a:ext cx="517500" cy="501600"/>
          </a:xfrm>
          <a:prstGeom prst="ellipse">
            <a:avLst/>
          </a:prstGeom>
          <a:noFill/>
          <a:ln cap="flat" cmpd="sng" w="7620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9" name="Google Shape;399;p66"/>
          <p:cNvSpPr/>
          <p:nvPr/>
        </p:nvSpPr>
        <p:spPr>
          <a:xfrm>
            <a:off x="4235750" y="1665638"/>
            <a:ext cx="517500" cy="501600"/>
          </a:xfrm>
          <a:prstGeom prst="ellipse">
            <a:avLst/>
          </a:prstGeom>
          <a:noFill/>
          <a:ln cap="flat" cmpd="sng" w="7620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0" name="Google Shape;400;p66"/>
          <p:cNvSpPr/>
          <p:nvPr/>
        </p:nvSpPr>
        <p:spPr>
          <a:xfrm>
            <a:off x="5463025" y="636725"/>
            <a:ext cx="517500" cy="501600"/>
          </a:xfrm>
          <a:prstGeom prst="ellipse">
            <a:avLst/>
          </a:prstGeom>
          <a:noFill/>
          <a:ln cap="flat" cmpd="sng" w="7620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401" name="Google Shape;401;p66"/>
          <p:cNvPicPr preferRelativeResize="0"/>
          <p:nvPr/>
        </p:nvPicPr>
        <p:blipFill>
          <a:blip r:embed="rId4">
            <a:alphaModFix/>
          </a:blip>
          <a:stretch>
            <a:fillRect/>
          </a:stretch>
        </p:blipFill>
        <p:spPr>
          <a:xfrm>
            <a:off x="-4" y="2244821"/>
            <a:ext cx="2898650" cy="2898675"/>
          </a:xfrm>
          <a:prstGeom prst="rect">
            <a:avLst/>
          </a:prstGeom>
          <a:noFill/>
          <a:ln>
            <a:noFill/>
          </a:ln>
        </p:spPr>
      </p:pic>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5" name="Shape 405"/>
        <p:cNvGrpSpPr/>
        <p:nvPr/>
      </p:nvGrpSpPr>
      <p:grpSpPr>
        <a:xfrm>
          <a:off x="0" y="0"/>
          <a:ext cx="0" cy="0"/>
          <a:chOff x="0" y="0"/>
          <a:chExt cx="0" cy="0"/>
        </a:xfrm>
      </p:grpSpPr>
      <p:sp>
        <p:nvSpPr>
          <p:cNvPr id="406" name="Google Shape;406;p67"/>
          <p:cNvSpPr txBox="1"/>
          <p:nvPr>
            <p:ph type="title"/>
          </p:nvPr>
        </p:nvSpPr>
        <p:spPr>
          <a:xfrm>
            <a:off x="311700" y="64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t"/>
              <a:t>Speech and Auditory Interfaces</a:t>
            </a:r>
            <a:endParaRPr/>
          </a:p>
        </p:txBody>
      </p:sp>
      <p:sp>
        <p:nvSpPr>
          <p:cNvPr id="407" name="Google Shape;407;p67"/>
          <p:cNvSpPr txBox="1"/>
          <p:nvPr>
            <p:ph idx="1" type="body"/>
          </p:nvPr>
        </p:nvSpPr>
        <p:spPr>
          <a:xfrm>
            <a:off x="311700" y="6190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t"/>
              <a:t>There’s the dream…. Then there’s reality  </a:t>
            </a:r>
            <a:endParaRPr/>
          </a:p>
          <a:p>
            <a:pPr indent="0" lvl="0" marL="0" rtl="0" algn="l">
              <a:spcBef>
                <a:spcPts val="1600"/>
              </a:spcBef>
              <a:spcAft>
                <a:spcPts val="0"/>
              </a:spcAft>
              <a:buNone/>
            </a:pPr>
            <a:r>
              <a:rPr lang="it"/>
              <a:t>Practical apps don’t really allows freeform discussions with a computer :(</a:t>
            </a:r>
            <a:endParaRPr/>
          </a:p>
          <a:p>
            <a:pPr indent="0" lvl="0" marL="0" rtl="0" algn="l">
              <a:spcBef>
                <a:spcPts val="1600"/>
              </a:spcBef>
              <a:spcAft>
                <a:spcPts val="0"/>
              </a:spcAft>
              <a:buNone/>
            </a:pPr>
            <a:r>
              <a:rPr lang="it"/>
              <a:t>Main Design Goals: </a:t>
            </a:r>
            <a:endParaRPr/>
          </a:p>
          <a:p>
            <a:pPr indent="-342900" lvl="0" marL="457200" rtl="0" algn="l">
              <a:spcBef>
                <a:spcPts val="1600"/>
              </a:spcBef>
              <a:spcAft>
                <a:spcPts val="0"/>
              </a:spcAft>
              <a:buSzPts val="1800"/>
              <a:buChar char="●"/>
            </a:pPr>
            <a:r>
              <a:rPr lang="it"/>
              <a:t>Low cognitive load </a:t>
            </a:r>
            <a:endParaRPr/>
          </a:p>
          <a:p>
            <a:pPr indent="-342900" lvl="0" marL="457200" rtl="0" algn="l">
              <a:spcBef>
                <a:spcPts val="0"/>
              </a:spcBef>
              <a:spcAft>
                <a:spcPts val="0"/>
              </a:spcAft>
              <a:buSzPts val="1800"/>
              <a:buChar char="●"/>
            </a:pPr>
            <a:r>
              <a:rPr lang="it"/>
              <a:t>Low error rates </a:t>
            </a:r>
            <a:endParaRPr/>
          </a:p>
          <a:p>
            <a:pPr indent="-342900" lvl="0" marL="457200" rtl="0" algn="l">
              <a:spcBef>
                <a:spcPts val="0"/>
              </a:spcBef>
              <a:spcAft>
                <a:spcPts val="0"/>
              </a:spcAft>
              <a:buSzPts val="1800"/>
              <a:buChar char="●"/>
            </a:pPr>
            <a:r>
              <a:rPr lang="it"/>
              <a:t>Natural user experience</a:t>
            </a:r>
            <a:endParaRPr/>
          </a:p>
          <a:p>
            <a:pPr indent="0" lvl="0" marL="457200" rtl="0" algn="l">
              <a:spcBef>
                <a:spcPts val="1600"/>
              </a:spcBef>
              <a:spcAft>
                <a:spcPts val="1600"/>
              </a:spcAft>
              <a:buNone/>
            </a:pPr>
            <a:r>
              <a:t/>
            </a:r>
            <a:endParaRPr/>
          </a:p>
        </p:txBody>
      </p:sp>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1" name="Shape 411"/>
        <p:cNvGrpSpPr/>
        <p:nvPr/>
      </p:nvGrpSpPr>
      <p:grpSpPr>
        <a:xfrm>
          <a:off x="0" y="0"/>
          <a:ext cx="0" cy="0"/>
          <a:chOff x="0" y="0"/>
          <a:chExt cx="0" cy="0"/>
        </a:xfrm>
      </p:grpSpPr>
      <p:sp>
        <p:nvSpPr>
          <p:cNvPr id="412" name="Google Shape;412;p68"/>
          <p:cNvSpPr txBox="1"/>
          <p:nvPr>
            <p:ph type="title"/>
          </p:nvPr>
        </p:nvSpPr>
        <p:spPr>
          <a:xfrm>
            <a:off x="311700" y="64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it"/>
              <a:t>Speech and Auditory Interfaces</a:t>
            </a:r>
            <a:endParaRPr/>
          </a:p>
          <a:p>
            <a:pPr indent="0" lvl="0" marL="0" rtl="0" algn="l">
              <a:spcBef>
                <a:spcPts val="0"/>
              </a:spcBef>
              <a:spcAft>
                <a:spcPts val="0"/>
              </a:spcAft>
              <a:buNone/>
            </a:pPr>
            <a:r>
              <a:t/>
            </a:r>
            <a:endParaRPr/>
          </a:p>
        </p:txBody>
      </p:sp>
      <p:sp>
        <p:nvSpPr>
          <p:cNvPr id="413" name="Google Shape;413;p68"/>
          <p:cNvSpPr txBox="1"/>
          <p:nvPr>
            <p:ph idx="1" type="body"/>
          </p:nvPr>
        </p:nvSpPr>
        <p:spPr>
          <a:xfrm>
            <a:off x="311700" y="6190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t"/>
              <a:t>Problem and limitations:</a:t>
            </a:r>
            <a:endParaRPr/>
          </a:p>
          <a:p>
            <a:pPr indent="-342900" lvl="0" marL="457200" rtl="0" algn="l">
              <a:spcBef>
                <a:spcPts val="1600"/>
              </a:spcBef>
              <a:spcAft>
                <a:spcPts val="0"/>
              </a:spcAft>
              <a:buSzPts val="1800"/>
              <a:buChar char="●"/>
            </a:pPr>
            <a:r>
              <a:rPr lang="it"/>
              <a:t>Bandwidth is much lower than visual displays</a:t>
            </a:r>
            <a:endParaRPr/>
          </a:p>
          <a:p>
            <a:pPr indent="-342900" lvl="0" marL="457200" rtl="0" algn="l">
              <a:spcBef>
                <a:spcPts val="0"/>
              </a:spcBef>
              <a:spcAft>
                <a:spcPts val="0"/>
              </a:spcAft>
              <a:buSzPts val="1800"/>
              <a:buChar char="●"/>
            </a:pPr>
            <a:r>
              <a:rPr lang="it"/>
              <a:t>Ephemeral nature of speech (tone, etc.)</a:t>
            </a:r>
            <a:endParaRPr/>
          </a:p>
          <a:p>
            <a:pPr indent="-342900" lvl="0" marL="457200" rtl="0" algn="l">
              <a:spcBef>
                <a:spcPts val="0"/>
              </a:spcBef>
              <a:spcAft>
                <a:spcPts val="0"/>
              </a:spcAft>
              <a:buSzPts val="1800"/>
              <a:buChar char="●"/>
            </a:pPr>
            <a:r>
              <a:rPr lang="it"/>
              <a:t>Difficulty in parsing/searching → higher computational load </a:t>
            </a:r>
            <a:endParaRPr/>
          </a:p>
          <a:p>
            <a:pPr indent="0" lvl="0" marL="0" rtl="0" algn="l">
              <a:spcBef>
                <a:spcPts val="1600"/>
              </a:spcBef>
              <a:spcAft>
                <a:spcPts val="0"/>
              </a:spcAft>
              <a:buNone/>
            </a:pPr>
            <a:r>
              <a:rPr lang="it" u="sng">
                <a:solidFill>
                  <a:schemeClr val="hlink"/>
                </a:solidFill>
                <a:hlinkClick r:id="rId3"/>
              </a:rPr>
              <a:t>https://www.youtube.com/watch?v=IKZToY-V16w&amp;ab_channel=EliyahuShatz</a:t>
            </a:r>
            <a:endParaRPr/>
          </a:p>
          <a:p>
            <a:pPr indent="0" lvl="0" marL="0" rtl="0" algn="l">
              <a:spcBef>
                <a:spcPts val="1600"/>
              </a:spcBef>
              <a:spcAft>
                <a:spcPts val="1600"/>
              </a:spcAft>
              <a:buNone/>
            </a:pPr>
            <a:r>
              <a:t/>
            </a:r>
            <a:endParaRPr/>
          </a:p>
        </p:txBody>
      </p:sp>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7" name="Shape 417"/>
        <p:cNvGrpSpPr/>
        <p:nvPr/>
      </p:nvGrpSpPr>
      <p:grpSpPr>
        <a:xfrm>
          <a:off x="0" y="0"/>
          <a:ext cx="0" cy="0"/>
          <a:chOff x="0" y="0"/>
          <a:chExt cx="0" cy="0"/>
        </a:xfrm>
      </p:grpSpPr>
      <p:sp>
        <p:nvSpPr>
          <p:cNvPr id="418" name="Google Shape;418;p69"/>
          <p:cNvSpPr txBox="1"/>
          <p:nvPr>
            <p:ph type="title"/>
          </p:nvPr>
        </p:nvSpPr>
        <p:spPr>
          <a:xfrm>
            <a:off x="311700" y="64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it"/>
              <a:t>Speech and Auditory Interfaces</a:t>
            </a:r>
            <a:endParaRPr/>
          </a:p>
          <a:p>
            <a:pPr indent="0" lvl="0" marL="0" rtl="0" algn="l">
              <a:spcBef>
                <a:spcPts val="0"/>
              </a:spcBef>
              <a:spcAft>
                <a:spcPts val="0"/>
              </a:spcAft>
              <a:buNone/>
            </a:pPr>
            <a:r>
              <a:t/>
            </a:r>
            <a:endParaRPr/>
          </a:p>
        </p:txBody>
      </p:sp>
      <p:sp>
        <p:nvSpPr>
          <p:cNvPr id="419" name="Google Shape;419;p69"/>
          <p:cNvSpPr txBox="1"/>
          <p:nvPr>
            <p:ph idx="1" type="body"/>
          </p:nvPr>
        </p:nvSpPr>
        <p:spPr>
          <a:xfrm>
            <a:off x="311700" y="6190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t"/>
              <a:t>Succeed With:</a:t>
            </a:r>
            <a:endParaRPr/>
          </a:p>
          <a:p>
            <a:pPr indent="0" lvl="0" marL="0" rtl="0" algn="l">
              <a:spcBef>
                <a:spcPts val="1600"/>
              </a:spcBef>
              <a:spcAft>
                <a:spcPts val="0"/>
              </a:spcAft>
              <a:buNone/>
            </a:pPr>
            <a:r>
              <a:rPr lang="it"/>
              <a:t>Specialized vocabularies (like medical or legal) </a:t>
            </a:r>
            <a:endParaRPr/>
          </a:p>
          <a:p>
            <a:pPr indent="-342900" lvl="0" marL="457200" rtl="0" algn="l">
              <a:spcBef>
                <a:spcPts val="1600"/>
              </a:spcBef>
              <a:spcAft>
                <a:spcPts val="0"/>
              </a:spcAft>
              <a:buSzPts val="1800"/>
              <a:buChar char="●"/>
            </a:pPr>
            <a:r>
              <a:rPr lang="it"/>
              <a:t>Dictate reports, notes, letters</a:t>
            </a:r>
            <a:endParaRPr/>
          </a:p>
          <a:p>
            <a:pPr indent="-342900" lvl="0" marL="457200" rtl="0" algn="l">
              <a:spcBef>
                <a:spcPts val="0"/>
              </a:spcBef>
              <a:spcAft>
                <a:spcPts val="0"/>
              </a:spcAft>
              <a:buSzPts val="1800"/>
              <a:buChar char="●"/>
            </a:pPr>
            <a:r>
              <a:rPr lang="it"/>
              <a:t>Communication skills practice (virtual patient)</a:t>
            </a:r>
            <a:endParaRPr/>
          </a:p>
          <a:p>
            <a:pPr indent="-342900" lvl="0" marL="457200" rtl="0" algn="l">
              <a:spcBef>
                <a:spcPts val="0"/>
              </a:spcBef>
              <a:spcAft>
                <a:spcPts val="0"/>
              </a:spcAft>
              <a:buSzPts val="1800"/>
              <a:buChar char="●"/>
            </a:pPr>
            <a:r>
              <a:rPr lang="it"/>
              <a:t>Automatic retrieval/transcription of audio content (like radio, CC)</a:t>
            </a:r>
            <a:endParaRPr/>
          </a:p>
          <a:p>
            <a:pPr indent="-342900" lvl="0" marL="457200" rtl="0" algn="l">
              <a:spcBef>
                <a:spcPts val="0"/>
              </a:spcBef>
              <a:spcAft>
                <a:spcPts val="0"/>
              </a:spcAft>
              <a:buSzPts val="1800"/>
              <a:buChar char="●"/>
            </a:pPr>
            <a:r>
              <a:rPr lang="it"/>
              <a:t>Security/user ID</a:t>
            </a:r>
            <a:endParaRPr/>
          </a:p>
          <a:p>
            <a:pPr indent="0" lvl="0" marL="0" rtl="0" algn="l">
              <a:spcBef>
                <a:spcPts val="1600"/>
              </a:spcBef>
              <a:spcAft>
                <a:spcPts val="0"/>
              </a:spcAft>
              <a:buNone/>
            </a:pPr>
            <a:r>
              <a:rPr lang="it" u="sng">
                <a:solidFill>
                  <a:schemeClr val="hlink"/>
                </a:solidFill>
                <a:hlinkClick r:id="rId3"/>
              </a:rPr>
              <a:t>https://www.youtube.com/watch?v=ZLpuYQ401s8&amp;ab_channel=JonWahrenberger</a:t>
            </a:r>
            <a:endParaRPr/>
          </a:p>
          <a:p>
            <a:pPr indent="0" lvl="0" marL="0" rtl="0" algn="l">
              <a:spcBef>
                <a:spcPts val="1600"/>
              </a:spcBef>
              <a:spcAft>
                <a:spcPts val="1600"/>
              </a:spcAft>
              <a:buNone/>
            </a:pPr>
            <a:r>
              <a:t/>
            </a:r>
            <a:endParaRPr/>
          </a:p>
        </p:txBody>
      </p:sp>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3" name="Shape 423"/>
        <p:cNvGrpSpPr/>
        <p:nvPr/>
      </p:nvGrpSpPr>
      <p:grpSpPr>
        <a:xfrm>
          <a:off x="0" y="0"/>
          <a:ext cx="0" cy="0"/>
          <a:chOff x="0" y="0"/>
          <a:chExt cx="0" cy="0"/>
        </a:xfrm>
      </p:grpSpPr>
      <p:sp>
        <p:nvSpPr>
          <p:cNvPr id="424" name="Google Shape;424;p70"/>
          <p:cNvSpPr txBox="1"/>
          <p:nvPr>
            <p:ph type="title"/>
          </p:nvPr>
        </p:nvSpPr>
        <p:spPr>
          <a:xfrm>
            <a:off x="311700" y="2150850"/>
            <a:ext cx="8520600" cy="8418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it"/>
              <a:t>Image based Input User Interfaces</a:t>
            </a:r>
            <a:endParaRPr/>
          </a:p>
        </p:txBody>
      </p:sp>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8" name="Shape 428"/>
        <p:cNvGrpSpPr/>
        <p:nvPr/>
      </p:nvGrpSpPr>
      <p:grpSpPr>
        <a:xfrm>
          <a:off x="0" y="0"/>
          <a:ext cx="0" cy="0"/>
          <a:chOff x="0" y="0"/>
          <a:chExt cx="0" cy="0"/>
        </a:xfrm>
      </p:grpSpPr>
      <p:sp>
        <p:nvSpPr>
          <p:cNvPr id="429" name="Google Shape;429;p71"/>
          <p:cNvSpPr txBox="1"/>
          <p:nvPr>
            <p:ph type="title"/>
          </p:nvPr>
        </p:nvSpPr>
        <p:spPr>
          <a:xfrm>
            <a:off x="311700" y="64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t"/>
              <a:t>Image Sensors</a:t>
            </a:r>
            <a:endParaRPr/>
          </a:p>
        </p:txBody>
      </p:sp>
      <p:sp>
        <p:nvSpPr>
          <p:cNvPr id="430" name="Google Shape;430;p71"/>
          <p:cNvSpPr txBox="1"/>
          <p:nvPr>
            <p:ph idx="1" type="body"/>
          </p:nvPr>
        </p:nvSpPr>
        <p:spPr>
          <a:xfrm>
            <a:off x="311700" y="6190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t"/>
              <a:t>An image sensor is a sensor that detects and conveys information used to make an image. </a:t>
            </a:r>
            <a:endParaRPr/>
          </a:p>
          <a:p>
            <a:pPr indent="0" lvl="0" marL="0" rtl="0" algn="l">
              <a:spcBef>
                <a:spcPts val="1600"/>
              </a:spcBef>
              <a:spcAft>
                <a:spcPts val="0"/>
              </a:spcAft>
              <a:buNone/>
            </a:pPr>
            <a:r>
              <a:rPr lang="it"/>
              <a:t>It does so by converting the variable attenuation of light waves (as they pass through or reflect off objects) into signals, small bursts of current that convey the information. </a:t>
            </a:r>
            <a:endParaRPr/>
          </a:p>
          <a:p>
            <a:pPr indent="0" lvl="0" marL="0" rtl="0" algn="l">
              <a:spcBef>
                <a:spcPts val="1600"/>
              </a:spcBef>
              <a:spcAft>
                <a:spcPts val="0"/>
              </a:spcAft>
              <a:buNone/>
            </a:pPr>
            <a:r>
              <a:rPr lang="it"/>
              <a:t>The waves can be light or other electromagnetic radiation. </a:t>
            </a:r>
            <a:endParaRPr/>
          </a:p>
          <a:p>
            <a:pPr indent="0" lvl="0" marL="0" rtl="0" algn="l">
              <a:spcBef>
                <a:spcPts val="1600"/>
              </a:spcBef>
              <a:spcAft>
                <a:spcPts val="0"/>
              </a:spcAft>
              <a:buNone/>
            </a:pPr>
            <a:r>
              <a:rPr lang="it"/>
              <a:t>Image sensors are used in electronic imaging devices of both analog and digital types, which include digital cameras, camera modules, camera phones, optical mouse devices, medical imaging equipment, night vision equipment such as thermal imaging devices, and others. </a:t>
            </a:r>
            <a:endParaRPr/>
          </a:p>
          <a:p>
            <a:pPr indent="0" lvl="0" marL="0" rtl="0" algn="l">
              <a:spcBef>
                <a:spcPts val="1600"/>
              </a:spcBef>
              <a:spcAft>
                <a:spcPts val="1600"/>
              </a:spcAft>
              <a:buNone/>
            </a:pPr>
            <a:r>
              <a:t/>
            </a:r>
            <a:endParaRPr/>
          </a:p>
        </p:txBody>
      </p:sp>
    </p:spTree>
  </p:cSld>
  <p:clrMapOvr>
    <a:masterClrMapping/>
  </p:clrMapOvr>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4" name="Shape 434"/>
        <p:cNvGrpSpPr/>
        <p:nvPr/>
      </p:nvGrpSpPr>
      <p:grpSpPr>
        <a:xfrm>
          <a:off x="0" y="0"/>
          <a:ext cx="0" cy="0"/>
          <a:chOff x="0" y="0"/>
          <a:chExt cx="0" cy="0"/>
        </a:xfrm>
      </p:grpSpPr>
      <p:sp>
        <p:nvSpPr>
          <p:cNvPr id="435" name="Google Shape;435;p72"/>
          <p:cNvSpPr txBox="1"/>
          <p:nvPr>
            <p:ph type="title"/>
          </p:nvPr>
        </p:nvSpPr>
        <p:spPr>
          <a:xfrm>
            <a:off x="311700" y="64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it"/>
              <a:t>Image Sensors</a:t>
            </a:r>
            <a:endParaRPr/>
          </a:p>
          <a:p>
            <a:pPr indent="0" lvl="0" marL="0" rtl="0" algn="l">
              <a:spcBef>
                <a:spcPts val="0"/>
              </a:spcBef>
              <a:spcAft>
                <a:spcPts val="0"/>
              </a:spcAft>
              <a:buNone/>
            </a:pPr>
            <a:r>
              <a:t/>
            </a:r>
            <a:endParaRPr/>
          </a:p>
        </p:txBody>
      </p:sp>
      <p:sp>
        <p:nvSpPr>
          <p:cNvPr id="436" name="Google Shape;436;p72"/>
          <p:cNvSpPr txBox="1"/>
          <p:nvPr>
            <p:ph idx="1" type="body"/>
          </p:nvPr>
        </p:nvSpPr>
        <p:spPr>
          <a:xfrm>
            <a:off x="311700" y="6190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t"/>
              <a:t>The two main types of electronic image sensors are the charge-coupled device (CCD) and the active-pixel sensor (CMOS sensor). </a:t>
            </a:r>
            <a:endParaRPr/>
          </a:p>
          <a:p>
            <a:pPr indent="0" lvl="0" marL="0" rtl="0" algn="l">
              <a:spcBef>
                <a:spcPts val="1600"/>
              </a:spcBef>
              <a:spcAft>
                <a:spcPts val="0"/>
              </a:spcAft>
              <a:buNone/>
            </a:pPr>
            <a:r>
              <a:rPr lang="it"/>
              <a:t>Both CCD and CMOS sensors are based on metal–oxide–semiconductor (MOS) technology, with CCDs based on MOS capacitors and CMOS sensors based on MOSFET (MOS field-effect transistor) amplifiers. </a:t>
            </a:r>
            <a:endParaRPr/>
          </a:p>
          <a:p>
            <a:pPr indent="0" lvl="0" marL="0" rtl="0" algn="l">
              <a:spcBef>
                <a:spcPts val="1600"/>
              </a:spcBef>
              <a:spcAft>
                <a:spcPts val="0"/>
              </a:spcAft>
              <a:buNone/>
            </a:pPr>
            <a:r>
              <a:rPr lang="it"/>
              <a:t>Analog sensors for invisible radiation tend to involve vacuum tubes of various kinds. </a:t>
            </a:r>
            <a:endParaRPr/>
          </a:p>
          <a:p>
            <a:pPr indent="0" lvl="0" marL="0" rtl="0" algn="l">
              <a:spcBef>
                <a:spcPts val="1600"/>
              </a:spcBef>
              <a:spcAft>
                <a:spcPts val="1600"/>
              </a:spcAft>
              <a:buNone/>
            </a:pPr>
            <a:r>
              <a:t/>
            </a:r>
            <a:endParaRPr/>
          </a:p>
        </p:txBody>
      </p:sp>
      <p:pic>
        <p:nvPicPr>
          <p:cNvPr id="437" name="Google Shape;437;p72"/>
          <p:cNvPicPr preferRelativeResize="0"/>
          <p:nvPr/>
        </p:nvPicPr>
        <p:blipFill>
          <a:blip r:embed="rId3">
            <a:alphaModFix/>
          </a:blip>
          <a:stretch>
            <a:fillRect/>
          </a:stretch>
        </p:blipFill>
        <p:spPr>
          <a:xfrm>
            <a:off x="6113100" y="3036500"/>
            <a:ext cx="2857500" cy="1905000"/>
          </a:xfrm>
          <a:prstGeom prst="rect">
            <a:avLst/>
          </a:prstGeom>
          <a:noFill/>
          <a:ln>
            <a:noFill/>
          </a:ln>
        </p:spPr>
      </p:pic>
    </p:spTree>
  </p:cSld>
  <p:clrMapOvr>
    <a:masterClrMapping/>
  </p:clrMapOvr>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1" name="Shape 441"/>
        <p:cNvGrpSpPr/>
        <p:nvPr/>
      </p:nvGrpSpPr>
      <p:grpSpPr>
        <a:xfrm>
          <a:off x="0" y="0"/>
          <a:ext cx="0" cy="0"/>
          <a:chOff x="0" y="0"/>
          <a:chExt cx="0" cy="0"/>
        </a:xfrm>
      </p:grpSpPr>
      <p:sp>
        <p:nvSpPr>
          <p:cNvPr id="442" name="Google Shape;442;p73"/>
          <p:cNvSpPr txBox="1"/>
          <p:nvPr>
            <p:ph type="title"/>
          </p:nvPr>
        </p:nvSpPr>
        <p:spPr>
          <a:xfrm>
            <a:off x="311700" y="64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t"/>
              <a:t>3D image capture device</a:t>
            </a:r>
            <a:endParaRPr/>
          </a:p>
        </p:txBody>
      </p:sp>
      <p:sp>
        <p:nvSpPr>
          <p:cNvPr id="443" name="Google Shape;443;p73"/>
          <p:cNvSpPr txBox="1"/>
          <p:nvPr>
            <p:ph idx="1" type="body"/>
          </p:nvPr>
        </p:nvSpPr>
        <p:spPr>
          <a:xfrm>
            <a:off x="311700" y="6190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it"/>
              <a:t>3D scanning is the process of analyzing a real-world object or environment to collect data on its shape and possibly its appearance </a:t>
            </a:r>
            <a:r>
              <a:rPr lang="it"/>
              <a:t>(e.g. colour). </a:t>
            </a:r>
            <a:endParaRPr/>
          </a:p>
          <a:p>
            <a:pPr indent="0" lvl="0" marL="0" rtl="0" algn="l">
              <a:spcBef>
                <a:spcPts val="1600"/>
              </a:spcBef>
              <a:spcAft>
                <a:spcPts val="0"/>
              </a:spcAft>
              <a:buNone/>
            </a:pPr>
            <a:r>
              <a:rPr lang="it"/>
              <a:t>The collected data can then be used to construct digital 3D models. 3D data is useful for a wide variety of applications. </a:t>
            </a:r>
            <a:endParaRPr/>
          </a:p>
          <a:p>
            <a:pPr indent="0" lvl="0" marL="0" rtl="0" algn="l">
              <a:spcBef>
                <a:spcPts val="1600"/>
              </a:spcBef>
              <a:spcAft>
                <a:spcPts val="0"/>
              </a:spcAft>
              <a:buNone/>
            </a:pPr>
            <a:r>
              <a:rPr lang="it"/>
              <a:t>These devices are used extensively by the entertainment industry in the production of movies and video games, including virtual reality. </a:t>
            </a:r>
            <a:endParaRPr/>
          </a:p>
          <a:p>
            <a:pPr indent="0" lvl="0" marL="0" rtl="0" algn="l">
              <a:spcBef>
                <a:spcPts val="1600"/>
              </a:spcBef>
              <a:spcAft>
                <a:spcPts val="0"/>
              </a:spcAft>
              <a:buNone/>
            </a:pPr>
            <a:r>
              <a:rPr lang="it"/>
              <a:t>Other common applications of this technology include </a:t>
            </a:r>
            <a:r>
              <a:rPr b="1" lang="it"/>
              <a:t>augmented reality,motion capture, gesture recognition</a:t>
            </a:r>
            <a:r>
              <a:rPr lang="it"/>
              <a:t>, robotic mapping, industrial design, orthotics and prosthetics,reverse engineering and prototyping, quality control/inspection and the digitization of cultural artifacts.</a:t>
            </a:r>
            <a:endParaRPr/>
          </a:p>
          <a:p>
            <a:pPr indent="0" lvl="0" marL="0" rtl="0" algn="l">
              <a:spcBef>
                <a:spcPts val="1600"/>
              </a:spcBef>
              <a:spcAft>
                <a:spcPts val="0"/>
              </a:spcAft>
              <a:buClr>
                <a:schemeClr val="dk1"/>
              </a:buClr>
              <a:buSzPts val="1100"/>
              <a:buFont typeface="Arial"/>
              <a:buNone/>
            </a:pPr>
            <a:r>
              <a:t/>
            </a:r>
            <a:endParaRPr/>
          </a:p>
          <a:p>
            <a:pPr indent="0" lvl="0" marL="0" rtl="0" algn="l">
              <a:spcBef>
                <a:spcPts val="1600"/>
              </a:spcBef>
              <a:spcAft>
                <a:spcPts val="1600"/>
              </a:spcAft>
              <a:buNone/>
            </a:pPr>
            <a:r>
              <a:t/>
            </a:r>
            <a:endParaRPr/>
          </a:p>
        </p:txBody>
      </p:sp>
    </p:spTree>
  </p:cSld>
  <p:clrMapOvr>
    <a:masterClrMapping/>
  </p:clrMapOvr>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7" name="Shape 447"/>
        <p:cNvGrpSpPr/>
        <p:nvPr/>
      </p:nvGrpSpPr>
      <p:grpSpPr>
        <a:xfrm>
          <a:off x="0" y="0"/>
          <a:ext cx="0" cy="0"/>
          <a:chOff x="0" y="0"/>
          <a:chExt cx="0" cy="0"/>
        </a:xfrm>
      </p:grpSpPr>
      <p:sp>
        <p:nvSpPr>
          <p:cNvPr id="448" name="Google Shape;448;p74"/>
          <p:cNvSpPr txBox="1"/>
          <p:nvPr>
            <p:ph type="title"/>
          </p:nvPr>
        </p:nvSpPr>
        <p:spPr>
          <a:xfrm>
            <a:off x="311700" y="64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it"/>
              <a:t>3D image capture device</a:t>
            </a:r>
            <a:endParaRPr/>
          </a:p>
          <a:p>
            <a:pPr indent="0" lvl="0" marL="0" rtl="0" algn="l">
              <a:spcBef>
                <a:spcPts val="0"/>
              </a:spcBef>
              <a:spcAft>
                <a:spcPts val="0"/>
              </a:spcAft>
              <a:buNone/>
            </a:pPr>
            <a:r>
              <a:t/>
            </a:r>
            <a:endParaRPr/>
          </a:p>
        </p:txBody>
      </p:sp>
      <p:sp>
        <p:nvSpPr>
          <p:cNvPr id="449" name="Google Shape;449;p74"/>
          <p:cNvSpPr txBox="1"/>
          <p:nvPr>
            <p:ph idx="1" type="body"/>
          </p:nvPr>
        </p:nvSpPr>
        <p:spPr>
          <a:xfrm>
            <a:off x="311700" y="6190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it"/>
              <a:t>A 3D scanner can be based on many different technologies, each with its own limitations, advantages and costs. </a:t>
            </a:r>
            <a:endParaRPr/>
          </a:p>
          <a:p>
            <a:pPr indent="0" lvl="0" marL="0" rtl="0" algn="l">
              <a:spcBef>
                <a:spcPts val="1600"/>
              </a:spcBef>
              <a:spcAft>
                <a:spcPts val="0"/>
              </a:spcAft>
              <a:buClr>
                <a:schemeClr val="dk1"/>
              </a:buClr>
              <a:buSzPts val="1100"/>
              <a:buFont typeface="Arial"/>
              <a:buNone/>
            </a:pPr>
            <a:r>
              <a:rPr lang="it"/>
              <a:t>Many limitations in the kind of objects that can be digitised are still present. For example, </a:t>
            </a:r>
            <a:r>
              <a:rPr b="1" lang="it"/>
              <a:t>optical technology may encounter many difficulties with shiny, reflective or transparent objects. </a:t>
            </a:r>
            <a:endParaRPr b="1"/>
          </a:p>
          <a:p>
            <a:pPr indent="0" lvl="0" marL="0" rtl="0" algn="l">
              <a:spcBef>
                <a:spcPts val="1600"/>
              </a:spcBef>
              <a:spcAft>
                <a:spcPts val="0"/>
              </a:spcAft>
              <a:buClr>
                <a:schemeClr val="dk1"/>
              </a:buClr>
              <a:buSzPts val="1100"/>
              <a:buFont typeface="Arial"/>
              <a:buNone/>
            </a:pPr>
            <a:r>
              <a:t/>
            </a:r>
            <a:endParaRPr b="1"/>
          </a:p>
          <a:p>
            <a:pPr indent="0" lvl="0" marL="0" rtl="0" algn="l">
              <a:spcBef>
                <a:spcPts val="1600"/>
              </a:spcBef>
              <a:spcAft>
                <a:spcPts val="0"/>
              </a:spcAft>
              <a:buClr>
                <a:schemeClr val="dk1"/>
              </a:buClr>
              <a:buSzPts val="1100"/>
              <a:buFont typeface="Arial"/>
              <a:buNone/>
            </a:pPr>
            <a:r>
              <a:rPr lang="it"/>
              <a:t>3D scanning technologies can be divided in two main categories:</a:t>
            </a:r>
            <a:r>
              <a:rPr b="1" lang="it"/>
              <a:t> Passive and Active</a:t>
            </a:r>
            <a:endParaRPr b="1"/>
          </a:p>
          <a:p>
            <a:pPr indent="0" lvl="0" marL="0" rtl="0" algn="l">
              <a:spcBef>
                <a:spcPts val="1600"/>
              </a:spcBef>
              <a:spcAft>
                <a:spcPts val="1600"/>
              </a:spcAft>
              <a:buNone/>
            </a:pPr>
            <a:r>
              <a:t/>
            </a:r>
            <a:endParaRPr/>
          </a:p>
        </p:txBody>
      </p:sp>
    </p:spTree>
  </p:cSld>
  <p:clrMapOvr>
    <a:masterClrMapping/>
  </p:clrMapOvr>
</p:sld>
</file>

<file path=ppt/slides/slide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3" name="Shape 453"/>
        <p:cNvGrpSpPr/>
        <p:nvPr/>
      </p:nvGrpSpPr>
      <p:grpSpPr>
        <a:xfrm>
          <a:off x="0" y="0"/>
          <a:ext cx="0" cy="0"/>
          <a:chOff x="0" y="0"/>
          <a:chExt cx="0" cy="0"/>
        </a:xfrm>
      </p:grpSpPr>
      <p:sp>
        <p:nvSpPr>
          <p:cNvPr id="454" name="Google Shape;454;p75"/>
          <p:cNvSpPr txBox="1"/>
          <p:nvPr>
            <p:ph type="title"/>
          </p:nvPr>
        </p:nvSpPr>
        <p:spPr>
          <a:xfrm>
            <a:off x="311700" y="64025"/>
            <a:ext cx="8520600" cy="572700"/>
          </a:xfrm>
          <a:prstGeom prst="rect">
            <a:avLst/>
          </a:prstGeom>
        </p:spPr>
        <p:txBody>
          <a:bodyPr anchorCtr="0" anchor="t" bIns="91425" lIns="91425" spcFirstLastPara="1" rIns="91425" wrap="square" tIns="91425">
            <a:noAutofit/>
          </a:bodyPr>
          <a:lstStyle/>
          <a:p>
            <a:pPr indent="0" lvl="0" marL="0" marR="0" rtl="0" algn="l">
              <a:lnSpc>
                <a:spcPct val="100000"/>
              </a:lnSpc>
              <a:spcBef>
                <a:spcPts val="0"/>
              </a:spcBef>
              <a:spcAft>
                <a:spcPts val="0"/>
              </a:spcAft>
              <a:buNone/>
            </a:pPr>
            <a:r>
              <a:rPr lang="it"/>
              <a:t>Types of 3D scanners</a:t>
            </a:r>
            <a:endParaRPr/>
          </a:p>
        </p:txBody>
      </p:sp>
      <p:sp>
        <p:nvSpPr>
          <p:cNvPr id="455" name="Google Shape;455;p75"/>
          <p:cNvSpPr txBox="1"/>
          <p:nvPr>
            <p:ph idx="1" type="body"/>
          </p:nvPr>
        </p:nvSpPr>
        <p:spPr>
          <a:xfrm>
            <a:off x="311700" y="6190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it"/>
              <a:t>Passive scanning:</a:t>
            </a:r>
            <a:r>
              <a:rPr lang="it"/>
              <a:t> Passive 3D imaging solutions do not emit any kind of radiation themselves, but instead rely on detecting reflected ambient radiation. </a:t>
            </a:r>
            <a:endParaRPr/>
          </a:p>
          <a:p>
            <a:pPr indent="0" lvl="0" marL="0" rtl="0" algn="l">
              <a:spcBef>
                <a:spcPts val="1600"/>
              </a:spcBef>
              <a:spcAft>
                <a:spcPts val="0"/>
              </a:spcAft>
              <a:buNone/>
            </a:pPr>
            <a:r>
              <a:rPr lang="it"/>
              <a:t>Most solutions of this type detect visible light because it is a readily available ambient radiation. </a:t>
            </a:r>
            <a:endParaRPr/>
          </a:p>
          <a:p>
            <a:pPr indent="0" lvl="0" marL="0" rtl="0" algn="l">
              <a:spcBef>
                <a:spcPts val="1600"/>
              </a:spcBef>
              <a:spcAft>
                <a:spcPts val="0"/>
              </a:spcAft>
              <a:buNone/>
            </a:pPr>
            <a:r>
              <a:rPr lang="it"/>
              <a:t>Other types of radiation, such as infrared could also be used. Passive methods can be very cheap, because in most cases they do not need particular hardware but simple digital cameras. </a:t>
            </a:r>
            <a:endParaRPr/>
          </a:p>
          <a:p>
            <a:pPr indent="0" lvl="0" marL="0" rtl="0" algn="l">
              <a:spcBef>
                <a:spcPts val="1600"/>
              </a:spcBef>
              <a:spcAft>
                <a:spcPts val="0"/>
              </a:spcAft>
              <a:buNone/>
            </a:pPr>
            <a:r>
              <a:rPr b="1" lang="it"/>
              <a:t>Stereoscopic cameras are the most common passive 3D scanning systems</a:t>
            </a:r>
            <a:endParaRPr b="1"/>
          </a:p>
          <a:p>
            <a:pPr indent="0" lvl="0" marL="0" rtl="0" algn="l">
              <a:spcBef>
                <a:spcPts val="1600"/>
              </a:spcBef>
              <a:spcAft>
                <a:spcPts val="0"/>
              </a:spcAft>
              <a:buClr>
                <a:schemeClr val="dk1"/>
              </a:buClr>
              <a:buSzPts val="1100"/>
              <a:buFont typeface="Arial"/>
              <a:buNone/>
            </a:pPr>
            <a:r>
              <a:t/>
            </a:r>
            <a:endParaRPr b="1"/>
          </a:p>
          <a:p>
            <a:pPr indent="0" lvl="0" marL="0" rtl="0" algn="l">
              <a:spcBef>
                <a:spcPts val="1600"/>
              </a:spcBef>
              <a:spcAft>
                <a:spcPts val="1600"/>
              </a:spcAft>
              <a:buNone/>
            </a:pPr>
            <a:r>
              <a:t/>
            </a:r>
            <a:endParaRPr/>
          </a:p>
        </p:txBody>
      </p:sp>
    </p:spTree>
  </p:cSld>
  <p:clrMapOvr>
    <a:masterClrMapping/>
  </p:clrMapOvr>
</p:sld>
</file>

<file path=ppt/slides/slide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9" name="Shape 459"/>
        <p:cNvGrpSpPr/>
        <p:nvPr/>
      </p:nvGrpSpPr>
      <p:grpSpPr>
        <a:xfrm>
          <a:off x="0" y="0"/>
          <a:ext cx="0" cy="0"/>
          <a:chOff x="0" y="0"/>
          <a:chExt cx="0" cy="0"/>
        </a:xfrm>
      </p:grpSpPr>
      <p:sp>
        <p:nvSpPr>
          <p:cNvPr id="460" name="Google Shape;460;p76"/>
          <p:cNvSpPr txBox="1"/>
          <p:nvPr>
            <p:ph type="title"/>
          </p:nvPr>
        </p:nvSpPr>
        <p:spPr>
          <a:xfrm>
            <a:off x="311700" y="64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t"/>
              <a:t>3D passive scanning </a:t>
            </a:r>
            <a:endParaRPr/>
          </a:p>
        </p:txBody>
      </p:sp>
      <p:sp>
        <p:nvSpPr>
          <p:cNvPr id="461" name="Google Shape;461;p76"/>
          <p:cNvSpPr txBox="1"/>
          <p:nvPr>
            <p:ph idx="1" type="body"/>
          </p:nvPr>
        </p:nvSpPr>
        <p:spPr>
          <a:xfrm>
            <a:off x="311700" y="6190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it"/>
              <a:t>Stereoscopic systems </a:t>
            </a:r>
            <a:r>
              <a:rPr lang="it"/>
              <a:t>usually employ two video cameras, slightly apart, looking at the same scene. By analysing the slight differences between the images seen by each camera, it is possible to determine the distance at each point in the images. This method is based on the same principles driving human stereoscopic vision.</a:t>
            </a:r>
            <a:endParaRPr/>
          </a:p>
          <a:p>
            <a:pPr indent="0" lvl="0" marL="0" rtl="0" algn="l">
              <a:spcBef>
                <a:spcPts val="1600"/>
              </a:spcBef>
              <a:spcAft>
                <a:spcPts val="1600"/>
              </a:spcAft>
              <a:buNone/>
            </a:pPr>
            <a:r>
              <a:t/>
            </a:r>
            <a:endParaRPr/>
          </a:p>
        </p:txBody>
      </p:sp>
      <p:pic>
        <p:nvPicPr>
          <p:cNvPr id="462" name="Google Shape;462;p76"/>
          <p:cNvPicPr preferRelativeResize="0"/>
          <p:nvPr/>
        </p:nvPicPr>
        <p:blipFill>
          <a:blip r:embed="rId3">
            <a:alphaModFix/>
          </a:blip>
          <a:stretch>
            <a:fillRect/>
          </a:stretch>
        </p:blipFill>
        <p:spPr>
          <a:xfrm>
            <a:off x="2338388" y="2027700"/>
            <a:ext cx="4467225" cy="2923725"/>
          </a:xfrm>
          <a:prstGeom prst="rect">
            <a:avLst/>
          </a:prstGeom>
          <a:noFill/>
          <a:ln>
            <a:noFill/>
          </a:ln>
        </p:spPr>
      </p:pic>
    </p:spTree>
  </p:cSld>
  <p:clrMapOvr>
    <a:masterClrMapping/>
  </p:clrMapOvr>
</p:sld>
</file>

<file path=ppt/slides/slide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6" name="Shape 466"/>
        <p:cNvGrpSpPr/>
        <p:nvPr/>
      </p:nvGrpSpPr>
      <p:grpSpPr>
        <a:xfrm>
          <a:off x="0" y="0"/>
          <a:ext cx="0" cy="0"/>
          <a:chOff x="0" y="0"/>
          <a:chExt cx="0" cy="0"/>
        </a:xfrm>
      </p:grpSpPr>
      <p:sp>
        <p:nvSpPr>
          <p:cNvPr id="467" name="Google Shape;467;p77"/>
          <p:cNvSpPr txBox="1"/>
          <p:nvPr>
            <p:ph type="title"/>
          </p:nvPr>
        </p:nvSpPr>
        <p:spPr>
          <a:xfrm>
            <a:off x="311700" y="64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it"/>
              <a:t>3D passive scanning </a:t>
            </a:r>
            <a:endParaRPr/>
          </a:p>
          <a:p>
            <a:pPr indent="0" lvl="0" marL="0" rtl="0" algn="l">
              <a:spcBef>
                <a:spcPts val="0"/>
              </a:spcBef>
              <a:spcAft>
                <a:spcPts val="0"/>
              </a:spcAft>
              <a:buNone/>
            </a:pPr>
            <a:r>
              <a:t/>
            </a:r>
            <a:endParaRPr/>
          </a:p>
        </p:txBody>
      </p:sp>
      <p:sp>
        <p:nvSpPr>
          <p:cNvPr id="468" name="Google Shape;468;p77"/>
          <p:cNvSpPr txBox="1"/>
          <p:nvPr>
            <p:ph idx="1" type="body"/>
          </p:nvPr>
        </p:nvSpPr>
        <p:spPr>
          <a:xfrm>
            <a:off x="311700" y="619075"/>
            <a:ext cx="28410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it"/>
              <a:t>Photometric systems</a:t>
            </a:r>
            <a:r>
              <a:rPr lang="it"/>
              <a:t> usually use a single camera, but take multiple images under varying lighting conditions. These techniques attempt to invert the image formation model in order to recover the surface orientation at each pixel.</a:t>
            </a:r>
            <a:endParaRPr/>
          </a:p>
          <a:p>
            <a:pPr indent="0" lvl="0" marL="0" rtl="0" algn="l">
              <a:spcBef>
                <a:spcPts val="1600"/>
              </a:spcBef>
              <a:spcAft>
                <a:spcPts val="1600"/>
              </a:spcAft>
              <a:buNone/>
            </a:pPr>
            <a:r>
              <a:t/>
            </a:r>
            <a:endParaRPr/>
          </a:p>
        </p:txBody>
      </p:sp>
      <p:pic>
        <p:nvPicPr>
          <p:cNvPr id="469" name="Google Shape;469;p77"/>
          <p:cNvPicPr preferRelativeResize="0"/>
          <p:nvPr/>
        </p:nvPicPr>
        <p:blipFill>
          <a:blip r:embed="rId3">
            <a:alphaModFix/>
          </a:blip>
          <a:stretch>
            <a:fillRect/>
          </a:stretch>
        </p:blipFill>
        <p:spPr>
          <a:xfrm>
            <a:off x="3305100" y="712925"/>
            <a:ext cx="5602632" cy="4201974"/>
          </a:xfrm>
          <a:prstGeom prst="rect">
            <a:avLst/>
          </a:prstGeom>
          <a:noFill/>
          <a:ln>
            <a:noFill/>
          </a:ln>
        </p:spPr>
      </p:pic>
    </p:spTree>
  </p:cSld>
  <p:clrMapOvr>
    <a:masterClrMapping/>
  </p:clrMapOvr>
</p:sld>
</file>

<file path=ppt/slides/slide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3" name="Shape 473"/>
        <p:cNvGrpSpPr/>
        <p:nvPr/>
      </p:nvGrpSpPr>
      <p:grpSpPr>
        <a:xfrm>
          <a:off x="0" y="0"/>
          <a:ext cx="0" cy="0"/>
          <a:chOff x="0" y="0"/>
          <a:chExt cx="0" cy="0"/>
        </a:xfrm>
      </p:grpSpPr>
      <p:sp>
        <p:nvSpPr>
          <p:cNvPr id="474" name="Google Shape;474;p78"/>
          <p:cNvSpPr txBox="1"/>
          <p:nvPr>
            <p:ph type="title"/>
          </p:nvPr>
        </p:nvSpPr>
        <p:spPr>
          <a:xfrm>
            <a:off x="311700" y="64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it"/>
              <a:t>3D passive scanning </a:t>
            </a:r>
            <a:endParaRPr/>
          </a:p>
          <a:p>
            <a:pPr indent="0" lvl="0" marL="0" rtl="0" algn="l">
              <a:spcBef>
                <a:spcPts val="0"/>
              </a:spcBef>
              <a:spcAft>
                <a:spcPts val="0"/>
              </a:spcAft>
              <a:buNone/>
            </a:pPr>
            <a:r>
              <a:t/>
            </a:r>
            <a:endParaRPr/>
          </a:p>
        </p:txBody>
      </p:sp>
      <p:sp>
        <p:nvSpPr>
          <p:cNvPr id="475" name="Google Shape;475;p78"/>
          <p:cNvSpPr txBox="1"/>
          <p:nvPr>
            <p:ph idx="1" type="body"/>
          </p:nvPr>
        </p:nvSpPr>
        <p:spPr>
          <a:xfrm>
            <a:off x="311700" y="619075"/>
            <a:ext cx="43284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it"/>
              <a:t>Silhouette techniques</a:t>
            </a:r>
            <a:r>
              <a:rPr lang="it"/>
              <a:t> use outlines created from a sequence of photographs around a three-dimensional object against a well contrasted background. These silhouettes are extruded and intersected to form the visual hull approximation of the object. With these approaches some concavities of an object (like the interior of a bowl) cannot be detected.</a:t>
            </a:r>
            <a:endParaRPr/>
          </a:p>
          <a:p>
            <a:pPr indent="0" lvl="0" marL="0" rtl="0" algn="l">
              <a:spcBef>
                <a:spcPts val="1600"/>
              </a:spcBef>
              <a:spcAft>
                <a:spcPts val="0"/>
              </a:spcAft>
              <a:buClr>
                <a:schemeClr val="dk1"/>
              </a:buClr>
              <a:buSzPts val="1100"/>
              <a:buFont typeface="Arial"/>
              <a:buNone/>
            </a:pPr>
            <a:r>
              <a:t/>
            </a:r>
            <a:endParaRPr/>
          </a:p>
          <a:p>
            <a:pPr indent="0" lvl="0" marL="0" rtl="0" algn="l">
              <a:spcBef>
                <a:spcPts val="1600"/>
              </a:spcBef>
              <a:spcAft>
                <a:spcPts val="1600"/>
              </a:spcAft>
              <a:buNone/>
            </a:pPr>
            <a:r>
              <a:t/>
            </a:r>
            <a:endParaRPr/>
          </a:p>
        </p:txBody>
      </p:sp>
      <p:pic>
        <p:nvPicPr>
          <p:cNvPr id="476" name="Google Shape;476;p78"/>
          <p:cNvPicPr preferRelativeResize="0"/>
          <p:nvPr/>
        </p:nvPicPr>
        <p:blipFill>
          <a:blip r:embed="rId3">
            <a:alphaModFix/>
          </a:blip>
          <a:stretch>
            <a:fillRect/>
          </a:stretch>
        </p:blipFill>
        <p:spPr>
          <a:xfrm>
            <a:off x="4792500" y="789125"/>
            <a:ext cx="4199099" cy="2908265"/>
          </a:xfrm>
          <a:prstGeom prst="rect">
            <a:avLst/>
          </a:prstGeom>
          <a:noFill/>
          <a:ln>
            <a:noFill/>
          </a:ln>
        </p:spPr>
      </p:pic>
    </p:spTree>
  </p:cSld>
  <p:clrMapOvr>
    <a:masterClrMapping/>
  </p:clrMapOvr>
</p:sld>
</file>

<file path=ppt/slides/slide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0" name="Shape 480"/>
        <p:cNvGrpSpPr/>
        <p:nvPr/>
      </p:nvGrpSpPr>
      <p:grpSpPr>
        <a:xfrm>
          <a:off x="0" y="0"/>
          <a:ext cx="0" cy="0"/>
          <a:chOff x="0" y="0"/>
          <a:chExt cx="0" cy="0"/>
        </a:xfrm>
      </p:grpSpPr>
      <p:sp>
        <p:nvSpPr>
          <p:cNvPr id="481" name="Google Shape;481;p79"/>
          <p:cNvSpPr txBox="1"/>
          <p:nvPr>
            <p:ph type="title"/>
          </p:nvPr>
        </p:nvSpPr>
        <p:spPr>
          <a:xfrm>
            <a:off x="311700" y="64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t"/>
              <a:t>3D Active Scanning</a:t>
            </a:r>
            <a:endParaRPr/>
          </a:p>
        </p:txBody>
      </p:sp>
      <p:sp>
        <p:nvSpPr>
          <p:cNvPr id="482" name="Google Shape;482;p79"/>
          <p:cNvSpPr txBox="1"/>
          <p:nvPr>
            <p:ph idx="1" type="body"/>
          </p:nvPr>
        </p:nvSpPr>
        <p:spPr>
          <a:xfrm>
            <a:off x="311700" y="6190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t"/>
              <a:t>Active scanners emit some kind of radiation or light and detect its reflection or radiation passing through object in order to probe an object or environment. Possible types of emissions used include light, ultrasound or x-ray. </a:t>
            </a:r>
            <a:endParaRPr/>
          </a:p>
          <a:p>
            <a:pPr indent="0" lvl="0" marL="0" rtl="0" algn="l">
              <a:spcBef>
                <a:spcPts val="1600"/>
              </a:spcBef>
              <a:spcAft>
                <a:spcPts val="0"/>
              </a:spcAft>
              <a:buClr>
                <a:schemeClr val="dk1"/>
              </a:buClr>
              <a:buSzPts val="1100"/>
              <a:buFont typeface="Arial"/>
              <a:buNone/>
            </a:pPr>
            <a:r>
              <a:rPr lang="it"/>
              <a:t>Various typologies: Time-of-flight, Triangulation, Structured light, Modulated Light</a:t>
            </a:r>
            <a:endParaRPr/>
          </a:p>
          <a:p>
            <a:pPr indent="0" lvl="0" marL="0" rtl="0" algn="l">
              <a:spcBef>
                <a:spcPts val="1600"/>
              </a:spcBef>
              <a:spcAft>
                <a:spcPts val="1600"/>
              </a:spcAft>
              <a:buNone/>
            </a:pPr>
            <a:r>
              <a:t/>
            </a:r>
            <a:endParaRPr/>
          </a:p>
        </p:txBody>
      </p:sp>
    </p:spTree>
  </p:cSld>
  <p:clrMapOvr>
    <a:masterClrMapping/>
  </p:clrMapOvr>
</p:sld>
</file>

<file path=ppt/slides/slide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6" name="Shape 486"/>
        <p:cNvGrpSpPr/>
        <p:nvPr/>
      </p:nvGrpSpPr>
      <p:grpSpPr>
        <a:xfrm>
          <a:off x="0" y="0"/>
          <a:ext cx="0" cy="0"/>
          <a:chOff x="0" y="0"/>
          <a:chExt cx="0" cy="0"/>
        </a:xfrm>
      </p:grpSpPr>
      <p:sp>
        <p:nvSpPr>
          <p:cNvPr id="487" name="Google Shape;487;p80"/>
          <p:cNvSpPr txBox="1"/>
          <p:nvPr>
            <p:ph type="title"/>
          </p:nvPr>
        </p:nvSpPr>
        <p:spPr>
          <a:xfrm>
            <a:off x="311700" y="64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it"/>
              <a:t>3D Active Scanning</a:t>
            </a:r>
            <a:endParaRPr/>
          </a:p>
          <a:p>
            <a:pPr indent="0" lvl="0" marL="0" rtl="0" algn="l">
              <a:spcBef>
                <a:spcPts val="0"/>
              </a:spcBef>
              <a:spcAft>
                <a:spcPts val="0"/>
              </a:spcAft>
              <a:buNone/>
            </a:pPr>
            <a:r>
              <a:t/>
            </a:r>
            <a:endParaRPr/>
          </a:p>
        </p:txBody>
      </p:sp>
      <p:sp>
        <p:nvSpPr>
          <p:cNvPr id="488" name="Google Shape;488;p80"/>
          <p:cNvSpPr txBox="1"/>
          <p:nvPr>
            <p:ph idx="1" type="body"/>
          </p:nvPr>
        </p:nvSpPr>
        <p:spPr>
          <a:xfrm>
            <a:off x="311700" y="6190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it"/>
              <a:t>The time-of-flight </a:t>
            </a:r>
            <a:r>
              <a:rPr lang="it"/>
              <a:t>3D laser scanner is an active scanner that uses laser light to probe the subject. At the heart of this type of scanner is a time-of-flight laser range finder. </a:t>
            </a:r>
            <a:endParaRPr/>
          </a:p>
          <a:p>
            <a:pPr indent="0" lvl="0" marL="0" rtl="0" algn="l">
              <a:spcBef>
                <a:spcPts val="1600"/>
              </a:spcBef>
              <a:spcAft>
                <a:spcPts val="0"/>
              </a:spcAft>
              <a:buClr>
                <a:schemeClr val="dk1"/>
              </a:buClr>
              <a:buSzPts val="1100"/>
              <a:buFont typeface="Arial"/>
              <a:buNone/>
            </a:pPr>
            <a:r>
              <a:rPr lang="it"/>
              <a:t>The laser range finder finds the distance of a surface by timing the round-trip time of a pulse of light. A laser is used to emit a pulse of light and the amount of time before the reflected light is seen by a detector is </a:t>
            </a:r>
            <a:br>
              <a:rPr lang="it"/>
            </a:br>
            <a:r>
              <a:rPr lang="it"/>
              <a:t>measured. 3.3 picoseconds (approx.) is the time </a:t>
            </a:r>
            <a:br>
              <a:rPr lang="it"/>
            </a:br>
            <a:r>
              <a:rPr lang="it"/>
              <a:t>taken for light to travel 1 millimetre.</a:t>
            </a:r>
            <a:endParaRPr/>
          </a:p>
          <a:p>
            <a:pPr indent="0" lvl="0" marL="0" rtl="0" algn="l">
              <a:spcBef>
                <a:spcPts val="1600"/>
              </a:spcBef>
              <a:spcAft>
                <a:spcPts val="1600"/>
              </a:spcAft>
              <a:buNone/>
            </a:pPr>
            <a:r>
              <a:rPr lang="it"/>
              <a:t>The laser range finder only detects the distance </a:t>
            </a:r>
            <a:br>
              <a:rPr lang="it"/>
            </a:br>
            <a:r>
              <a:rPr lang="it"/>
              <a:t>of one point in its direction of view. Thus, the </a:t>
            </a:r>
            <a:br>
              <a:rPr lang="it"/>
            </a:br>
            <a:r>
              <a:rPr lang="it"/>
              <a:t>scanner scans its entire field of view one point at </a:t>
            </a:r>
            <a:br>
              <a:rPr lang="it"/>
            </a:br>
            <a:r>
              <a:rPr lang="it"/>
              <a:t>a time by changing the range finder's direction</a:t>
            </a:r>
            <a:endParaRPr/>
          </a:p>
        </p:txBody>
      </p:sp>
      <p:pic>
        <p:nvPicPr>
          <p:cNvPr id="489" name="Google Shape;489;p80"/>
          <p:cNvPicPr preferRelativeResize="0"/>
          <p:nvPr/>
        </p:nvPicPr>
        <p:blipFill>
          <a:blip r:embed="rId3">
            <a:alphaModFix/>
          </a:blip>
          <a:stretch>
            <a:fillRect/>
          </a:stretch>
        </p:blipFill>
        <p:spPr>
          <a:xfrm>
            <a:off x="5654294" y="2627244"/>
            <a:ext cx="3433824" cy="2321825"/>
          </a:xfrm>
          <a:prstGeom prst="rect">
            <a:avLst/>
          </a:prstGeom>
          <a:noFill/>
          <a:ln>
            <a:noFill/>
          </a:ln>
        </p:spPr>
      </p:pic>
    </p:spTree>
  </p:cSld>
  <p:clrMapOvr>
    <a:masterClrMapping/>
  </p:clrMapOvr>
</p:sld>
</file>

<file path=ppt/slides/slide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3" name="Shape 493"/>
        <p:cNvGrpSpPr/>
        <p:nvPr/>
      </p:nvGrpSpPr>
      <p:grpSpPr>
        <a:xfrm>
          <a:off x="0" y="0"/>
          <a:ext cx="0" cy="0"/>
          <a:chOff x="0" y="0"/>
          <a:chExt cx="0" cy="0"/>
        </a:xfrm>
      </p:grpSpPr>
      <p:sp>
        <p:nvSpPr>
          <p:cNvPr id="494" name="Google Shape;494;p81"/>
          <p:cNvSpPr txBox="1"/>
          <p:nvPr>
            <p:ph type="title"/>
          </p:nvPr>
        </p:nvSpPr>
        <p:spPr>
          <a:xfrm>
            <a:off x="311700" y="64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it"/>
              <a:t>3D Active Scanning</a:t>
            </a:r>
            <a:endParaRPr/>
          </a:p>
          <a:p>
            <a:pPr indent="0" lvl="0" marL="0" rtl="0" algn="l">
              <a:spcBef>
                <a:spcPts val="0"/>
              </a:spcBef>
              <a:spcAft>
                <a:spcPts val="0"/>
              </a:spcAft>
              <a:buNone/>
            </a:pPr>
            <a:r>
              <a:t/>
            </a:r>
            <a:endParaRPr/>
          </a:p>
        </p:txBody>
      </p:sp>
      <p:sp>
        <p:nvSpPr>
          <p:cNvPr id="495" name="Google Shape;495;p81"/>
          <p:cNvSpPr txBox="1"/>
          <p:nvPr>
            <p:ph idx="1" type="body"/>
          </p:nvPr>
        </p:nvSpPr>
        <p:spPr>
          <a:xfrm>
            <a:off x="311700" y="619075"/>
            <a:ext cx="61344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it"/>
              <a:t>Triangulation</a:t>
            </a:r>
            <a:r>
              <a:rPr lang="it"/>
              <a:t> based 3D laser scanners are also active scanners that use laser light to probe the environment. With respect to time-of-flight 3D laser scanner the triangulation laser shines a laser on the subject and exploits a camera to look for the location of the laser dot. </a:t>
            </a:r>
            <a:endParaRPr/>
          </a:p>
          <a:p>
            <a:pPr indent="0" lvl="0" marL="0" rtl="0" algn="l">
              <a:spcBef>
                <a:spcPts val="1600"/>
              </a:spcBef>
              <a:spcAft>
                <a:spcPts val="0"/>
              </a:spcAft>
              <a:buNone/>
            </a:pPr>
            <a:r>
              <a:rPr lang="it"/>
              <a:t>Depending on how far away the laser strikes a surface, the laser dot appears at different places in the camera's field of view. </a:t>
            </a:r>
            <a:endParaRPr/>
          </a:p>
          <a:p>
            <a:pPr indent="0" lvl="0" marL="0" rtl="0" algn="l">
              <a:spcBef>
                <a:spcPts val="1600"/>
              </a:spcBef>
              <a:spcAft>
                <a:spcPts val="1600"/>
              </a:spcAft>
              <a:buNone/>
            </a:pPr>
            <a:r>
              <a:rPr lang="it"/>
              <a:t>This technique is called triangulation because the laser dot, the camera and the laser emitter form a triangle. </a:t>
            </a:r>
            <a:endParaRPr/>
          </a:p>
        </p:txBody>
      </p:sp>
      <p:pic>
        <p:nvPicPr>
          <p:cNvPr id="496" name="Google Shape;496;p81"/>
          <p:cNvPicPr preferRelativeResize="0"/>
          <p:nvPr/>
        </p:nvPicPr>
        <p:blipFill>
          <a:blip r:embed="rId3">
            <a:alphaModFix/>
          </a:blip>
          <a:stretch>
            <a:fillRect/>
          </a:stretch>
        </p:blipFill>
        <p:spPr>
          <a:xfrm>
            <a:off x="6781525" y="703863"/>
            <a:ext cx="2286000" cy="2581275"/>
          </a:xfrm>
          <a:prstGeom prst="rect">
            <a:avLst/>
          </a:prstGeom>
          <a:noFill/>
          <a:ln>
            <a:noFill/>
          </a:ln>
        </p:spPr>
      </p:pic>
    </p:spTree>
  </p:cSld>
  <p:clrMapOvr>
    <a:masterClrMapping/>
  </p:clrMapOvr>
</p:sld>
</file>

<file path=ppt/slides/slide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0" name="Shape 500"/>
        <p:cNvGrpSpPr/>
        <p:nvPr/>
      </p:nvGrpSpPr>
      <p:grpSpPr>
        <a:xfrm>
          <a:off x="0" y="0"/>
          <a:ext cx="0" cy="0"/>
          <a:chOff x="0" y="0"/>
          <a:chExt cx="0" cy="0"/>
        </a:xfrm>
      </p:grpSpPr>
      <p:sp>
        <p:nvSpPr>
          <p:cNvPr id="501" name="Google Shape;501;p82"/>
          <p:cNvSpPr txBox="1"/>
          <p:nvPr>
            <p:ph type="title"/>
          </p:nvPr>
        </p:nvSpPr>
        <p:spPr>
          <a:xfrm>
            <a:off x="311700" y="64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it"/>
              <a:t>3D Active Scanning</a:t>
            </a:r>
            <a:endParaRPr/>
          </a:p>
          <a:p>
            <a:pPr indent="0" lvl="0" marL="0" rtl="0" algn="l">
              <a:spcBef>
                <a:spcPts val="0"/>
              </a:spcBef>
              <a:spcAft>
                <a:spcPts val="0"/>
              </a:spcAft>
              <a:buNone/>
            </a:pPr>
            <a:r>
              <a:t/>
            </a:r>
            <a:endParaRPr/>
          </a:p>
        </p:txBody>
      </p:sp>
      <p:sp>
        <p:nvSpPr>
          <p:cNvPr id="502" name="Google Shape;502;p82"/>
          <p:cNvSpPr txBox="1"/>
          <p:nvPr>
            <p:ph idx="1" type="body"/>
          </p:nvPr>
        </p:nvSpPr>
        <p:spPr>
          <a:xfrm>
            <a:off x="311700" y="619075"/>
            <a:ext cx="86580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it"/>
              <a:t>Structured-light 3D scanners</a:t>
            </a:r>
            <a:r>
              <a:rPr lang="it"/>
              <a:t> project a pattern of light on the subject and look at the deformation of the pattern on the subject. The pattern is projected onto the subject using either an LCD projector or other stable light source. </a:t>
            </a:r>
            <a:endParaRPr/>
          </a:p>
          <a:p>
            <a:pPr indent="0" lvl="0" marL="0" rtl="0" algn="l">
              <a:spcBef>
                <a:spcPts val="1600"/>
              </a:spcBef>
              <a:spcAft>
                <a:spcPts val="0"/>
              </a:spcAft>
              <a:buClr>
                <a:schemeClr val="dk1"/>
              </a:buClr>
              <a:buSzPts val="1100"/>
              <a:buFont typeface="Arial"/>
              <a:buNone/>
            </a:pPr>
            <a:r>
              <a:rPr lang="it"/>
              <a:t>A camera, offset slightly from the pattern projector, looks at the shape of the pattern and calculates the distance of every point in the field of view.</a:t>
            </a:r>
            <a:endParaRPr/>
          </a:p>
          <a:p>
            <a:pPr indent="0" lvl="0" marL="0" rtl="0" algn="l">
              <a:spcBef>
                <a:spcPts val="1600"/>
              </a:spcBef>
              <a:spcAft>
                <a:spcPts val="0"/>
              </a:spcAft>
              <a:buNone/>
            </a:pPr>
            <a:r>
              <a:rPr lang="it"/>
              <a:t>The advantage of structured-light 3D scanners is </a:t>
            </a:r>
            <a:br>
              <a:rPr lang="it"/>
            </a:br>
            <a:r>
              <a:rPr lang="it"/>
              <a:t>speed and precision. Instead of scanning one </a:t>
            </a:r>
            <a:br>
              <a:rPr lang="it"/>
            </a:br>
            <a:r>
              <a:rPr lang="it"/>
              <a:t>point at a time, structured light scanners scan </a:t>
            </a:r>
            <a:br>
              <a:rPr lang="it"/>
            </a:br>
            <a:r>
              <a:rPr lang="it"/>
              <a:t>multiple points or the entire field of view at once. </a:t>
            </a:r>
            <a:endParaRPr/>
          </a:p>
          <a:p>
            <a:pPr indent="0" lvl="0" marL="0" rtl="0" algn="l">
              <a:spcBef>
                <a:spcPts val="1600"/>
              </a:spcBef>
              <a:spcAft>
                <a:spcPts val="0"/>
              </a:spcAft>
              <a:buClr>
                <a:schemeClr val="dk1"/>
              </a:buClr>
              <a:buSzPts val="1100"/>
              <a:buFont typeface="Arial"/>
              <a:buNone/>
            </a:pPr>
            <a:r>
              <a:rPr lang="it"/>
              <a:t>Scanning an entire field of view in a fraction of a </a:t>
            </a:r>
            <a:br>
              <a:rPr lang="it"/>
            </a:br>
            <a:r>
              <a:rPr lang="it"/>
              <a:t>second reduces or eliminates the problem of </a:t>
            </a:r>
            <a:br>
              <a:rPr lang="it"/>
            </a:br>
            <a:r>
              <a:rPr lang="it"/>
              <a:t>distortion from motion.</a:t>
            </a:r>
            <a:endParaRPr/>
          </a:p>
          <a:p>
            <a:pPr indent="0" lvl="0" marL="0" rtl="0" algn="l">
              <a:spcBef>
                <a:spcPts val="1600"/>
              </a:spcBef>
              <a:spcAft>
                <a:spcPts val="1600"/>
              </a:spcAft>
              <a:buNone/>
            </a:pPr>
            <a:r>
              <a:t/>
            </a:r>
            <a:endParaRPr/>
          </a:p>
        </p:txBody>
      </p:sp>
      <p:pic>
        <p:nvPicPr>
          <p:cNvPr id="503" name="Google Shape;503;p82"/>
          <p:cNvPicPr preferRelativeResize="0"/>
          <p:nvPr/>
        </p:nvPicPr>
        <p:blipFill rotWithShape="1">
          <a:blip r:embed="rId3">
            <a:alphaModFix/>
          </a:blip>
          <a:srcRect b="0" l="18852" r="17110" t="0"/>
          <a:stretch/>
        </p:blipFill>
        <p:spPr>
          <a:xfrm>
            <a:off x="5572750" y="2478900"/>
            <a:ext cx="3571250" cy="2509525"/>
          </a:xfrm>
          <a:prstGeom prst="rect">
            <a:avLst/>
          </a:prstGeom>
          <a:noFill/>
          <a:ln>
            <a:noFill/>
          </a:ln>
        </p:spPr>
      </p:pic>
    </p:spTree>
  </p:cSld>
  <p:clrMapOvr>
    <a:masterClrMapping/>
  </p:clrMapOvr>
</p:sld>
</file>

<file path=ppt/slides/slide7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7" name="Shape 507"/>
        <p:cNvGrpSpPr/>
        <p:nvPr/>
      </p:nvGrpSpPr>
      <p:grpSpPr>
        <a:xfrm>
          <a:off x="0" y="0"/>
          <a:ext cx="0" cy="0"/>
          <a:chOff x="0" y="0"/>
          <a:chExt cx="0" cy="0"/>
        </a:xfrm>
      </p:grpSpPr>
      <p:sp>
        <p:nvSpPr>
          <p:cNvPr id="508" name="Google Shape;508;p83"/>
          <p:cNvSpPr txBox="1"/>
          <p:nvPr>
            <p:ph type="title"/>
          </p:nvPr>
        </p:nvSpPr>
        <p:spPr>
          <a:xfrm>
            <a:off x="311700" y="64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it"/>
              <a:t>3D Active Scanning</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None/>
            </a:pPr>
            <a:r>
              <a:t/>
            </a:r>
            <a:endParaRPr/>
          </a:p>
        </p:txBody>
      </p:sp>
      <p:sp>
        <p:nvSpPr>
          <p:cNvPr id="509" name="Google Shape;509;p83"/>
          <p:cNvSpPr txBox="1"/>
          <p:nvPr>
            <p:ph idx="1" type="body"/>
          </p:nvPr>
        </p:nvSpPr>
        <p:spPr>
          <a:xfrm>
            <a:off x="311700" y="619075"/>
            <a:ext cx="35214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it"/>
              <a:t>Modulated light 3D scanners</a:t>
            </a:r>
            <a:r>
              <a:rPr lang="it"/>
              <a:t> shine a continually changing light at the subject. Usually the light source simply cycles its amplitude in a sinusoidal pattern. A camera detects the reflected light and the amount the pattern is shifted by determines the distance the light travelled. Modulated light also allows the scanner to ignore light from sources other than a laser, so there is no interference.</a:t>
            </a:r>
            <a:endParaRPr/>
          </a:p>
          <a:p>
            <a:pPr indent="0" lvl="0" marL="0" rtl="0" algn="l">
              <a:spcBef>
                <a:spcPts val="1600"/>
              </a:spcBef>
              <a:spcAft>
                <a:spcPts val="1600"/>
              </a:spcAft>
              <a:buNone/>
            </a:pPr>
            <a:r>
              <a:t/>
            </a:r>
            <a:endParaRPr/>
          </a:p>
        </p:txBody>
      </p:sp>
      <p:pic>
        <p:nvPicPr>
          <p:cNvPr id="510" name="Google Shape;510;p83"/>
          <p:cNvPicPr preferRelativeResize="0"/>
          <p:nvPr/>
        </p:nvPicPr>
        <p:blipFill>
          <a:blip r:embed="rId3">
            <a:alphaModFix/>
          </a:blip>
          <a:stretch>
            <a:fillRect/>
          </a:stretch>
        </p:blipFill>
        <p:spPr>
          <a:xfrm>
            <a:off x="3943544" y="923875"/>
            <a:ext cx="5962455" cy="3145200"/>
          </a:xfrm>
          <a:prstGeom prst="rect">
            <a:avLst/>
          </a:prstGeom>
          <a:noFill/>
          <a:ln>
            <a:noFill/>
          </a:ln>
        </p:spPr>
      </p:pic>
    </p:spTree>
  </p:cSld>
  <p:clrMapOvr>
    <a:masterClrMapping/>
  </p:clrMapOvr>
</p:sld>
</file>

<file path=ppt/slides/slide7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4" name="Shape 514"/>
        <p:cNvGrpSpPr/>
        <p:nvPr/>
      </p:nvGrpSpPr>
      <p:grpSpPr>
        <a:xfrm>
          <a:off x="0" y="0"/>
          <a:ext cx="0" cy="0"/>
          <a:chOff x="0" y="0"/>
          <a:chExt cx="0" cy="0"/>
        </a:xfrm>
      </p:grpSpPr>
      <p:sp>
        <p:nvSpPr>
          <p:cNvPr id="515" name="Google Shape;515;p84"/>
          <p:cNvSpPr txBox="1"/>
          <p:nvPr>
            <p:ph type="title"/>
          </p:nvPr>
        </p:nvSpPr>
        <p:spPr>
          <a:xfrm>
            <a:off x="311700" y="64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t"/>
              <a:t>Microsoft Kinect</a:t>
            </a:r>
            <a:endParaRPr/>
          </a:p>
        </p:txBody>
      </p:sp>
      <p:sp>
        <p:nvSpPr>
          <p:cNvPr id="516" name="Google Shape;516;p84"/>
          <p:cNvSpPr txBox="1"/>
          <p:nvPr>
            <p:ph idx="1" type="body"/>
          </p:nvPr>
        </p:nvSpPr>
        <p:spPr>
          <a:xfrm>
            <a:off x="311700" y="6190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t"/>
              <a:t>Kinect is a line of motion sensing input devices produced by Microsoft and first released in 2010. </a:t>
            </a:r>
            <a:endParaRPr/>
          </a:p>
          <a:p>
            <a:pPr indent="0" lvl="0" marL="0" rtl="0" algn="l">
              <a:spcBef>
                <a:spcPts val="1600"/>
              </a:spcBef>
              <a:spcAft>
                <a:spcPts val="0"/>
              </a:spcAft>
              <a:buNone/>
            </a:pPr>
            <a:r>
              <a:rPr lang="it"/>
              <a:t>The technology includes a set of hardware originally developed by PrimeSense, incorporating RGB cameras, infrared projectors </a:t>
            </a:r>
            <a:r>
              <a:rPr b="1" lang="it"/>
              <a:t>(active - structured light)</a:t>
            </a:r>
            <a:r>
              <a:rPr lang="it"/>
              <a:t> and detectors that mapped depth through either structured light or time of flight calculations, and a microphone array, along with software and artificial intelligence from Microsoft to allow the device to perform real-time gesture recognition, speech recognition and body skeletal detection for up to four people, among other capabilities. </a:t>
            </a:r>
            <a:endParaRPr/>
          </a:p>
          <a:p>
            <a:pPr indent="0" lvl="0" marL="0" rtl="0" algn="l">
              <a:spcBef>
                <a:spcPts val="1600"/>
              </a:spcBef>
              <a:spcAft>
                <a:spcPts val="0"/>
              </a:spcAft>
              <a:buNone/>
            </a:pPr>
            <a:r>
              <a:rPr lang="it"/>
              <a:t>This enables Kinect to be used as a hands-free natural </a:t>
            </a:r>
            <a:br>
              <a:rPr lang="it"/>
            </a:br>
            <a:r>
              <a:rPr lang="it"/>
              <a:t>user interface device to interact with a computer system.</a:t>
            </a:r>
            <a:endParaRPr/>
          </a:p>
          <a:p>
            <a:pPr indent="0" lvl="0" marL="0" rtl="0" algn="l">
              <a:spcBef>
                <a:spcPts val="1600"/>
              </a:spcBef>
              <a:spcAft>
                <a:spcPts val="1600"/>
              </a:spcAft>
              <a:buNone/>
            </a:pPr>
            <a:r>
              <a:rPr lang="it"/>
              <a:t>Product discontinued→ </a:t>
            </a:r>
            <a:r>
              <a:rPr lang="it" u="sng">
                <a:solidFill>
                  <a:schemeClr val="hlink"/>
                </a:solidFill>
                <a:hlinkClick r:id="rId3"/>
              </a:rPr>
              <a:t>alternatives </a:t>
            </a:r>
            <a:r>
              <a:rPr lang="it"/>
              <a:t> </a:t>
            </a:r>
            <a:endParaRPr/>
          </a:p>
        </p:txBody>
      </p:sp>
      <p:pic>
        <p:nvPicPr>
          <p:cNvPr id="517" name="Google Shape;517;p84"/>
          <p:cNvPicPr preferRelativeResize="0"/>
          <p:nvPr/>
        </p:nvPicPr>
        <p:blipFill>
          <a:blip r:embed="rId4">
            <a:alphaModFix/>
          </a:blip>
          <a:stretch>
            <a:fillRect/>
          </a:stretch>
        </p:blipFill>
        <p:spPr>
          <a:xfrm>
            <a:off x="6216600" y="3352675"/>
            <a:ext cx="2857500" cy="1752600"/>
          </a:xfrm>
          <a:prstGeom prst="rect">
            <a:avLst/>
          </a:prstGeom>
          <a:noFill/>
          <a:ln>
            <a:noFill/>
          </a:ln>
        </p:spPr>
      </p:pic>
    </p:spTree>
  </p:cSld>
  <p:clrMapOvr>
    <a:masterClrMapping/>
  </p:clrMapOvr>
</p:sld>
</file>

<file path=ppt/slides/slide7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1" name="Shape 521"/>
        <p:cNvGrpSpPr/>
        <p:nvPr/>
      </p:nvGrpSpPr>
      <p:grpSpPr>
        <a:xfrm>
          <a:off x="0" y="0"/>
          <a:ext cx="0" cy="0"/>
          <a:chOff x="0" y="0"/>
          <a:chExt cx="0" cy="0"/>
        </a:xfrm>
      </p:grpSpPr>
      <p:sp>
        <p:nvSpPr>
          <p:cNvPr id="522" name="Google Shape;522;p85"/>
          <p:cNvSpPr txBox="1"/>
          <p:nvPr>
            <p:ph type="title"/>
          </p:nvPr>
        </p:nvSpPr>
        <p:spPr>
          <a:xfrm>
            <a:off x="311700" y="64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23" name="Google Shape;523;p85"/>
          <p:cNvSpPr txBox="1"/>
          <p:nvPr>
            <p:ph idx="1" type="body"/>
          </p:nvPr>
        </p:nvSpPr>
        <p:spPr>
          <a:xfrm>
            <a:off x="311700" y="6190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t/>
            </a:r>
            <a:endParaRPr/>
          </a:p>
        </p:txBody>
      </p:sp>
      <p:pic>
        <p:nvPicPr>
          <p:cNvPr descr="Scene Analyzer is a unique perception system able to detect and analyse a wide range of human and environment relevant features with the awareness of real-world contents, and compatible with different robotics platforms. As shown in Figure below, SA has several standard sub-modules and layers which allows researchers in HRI area to perform complex perception tasks with a minimum effort just by using SA as a perfect and unique out-of-the-box perception toolkit. &#10;&#10;https://github.com/FACE-Team/SceneAnalyzer-2.0&#10;http://faceteam.it" id="524" name="Google Shape;524;p85" title="SceneAnalyzer 2.0 - Preliminary testing">
            <a:hlinkClick r:id="rId3"/>
          </p:cNvPr>
          <p:cNvPicPr preferRelativeResize="0"/>
          <p:nvPr/>
        </p:nvPicPr>
        <p:blipFill>
          <a:blip r:embed="rId4">
            <a:alphaModFix/>
          </a:blip>
          <a:stretch>
            <a:fillRect/>
          </a:stretch>
        </p:blipFill>
        <p:spPr>
          <a:xfrm>
            <a:off x="1105400" y="-28200"/>
            <a:ext cx="6933191" cy="51999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24"/>
                                        </p:tgtEl>
                                        <p:attrNameLst>
                                          <p:attrName>style.visibility</p:attrName>
                                        </p:attrNameLst>
                                      </p:cBhvr>
                                      <p:to>
                                        <p:strVal val="visible"/>
                                      </p:to>
                                    </p:set>
                                    <p:animEffect filter="fade" transition="in">
                                      <p:cBhvr>
                                        <p:cTn dur="1000"/>
                                        <p:tgtEl>
                                          <p:spTgt spid="52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8" name="Shape 528"/>
        <p:cNvGrpSpPr/>
        <p:nvPr/>
      </p:nvGrpSpPr>
      <p:grpSpPr>
        <a:xfrm>
          <a:off x="0" y="0"/>
          <a:ext cx="0" cy="0"/>
          <a:chOff x="0" y="0"/>
          <a:chExt cx="0" cy="0"/>
        </a:xfrm>
      </p:grpSpPr>
      <p:sp>
        <p:nvSpPr>
          <p:cNvPr id="529" name="Google Shape;529;p86"/>
          <p:cNvSpPr txBox="1"/>
          <p:nvPr>
            <p:ph type="title"/>
          </p:nvPr>
        </p:nvSpPr>
        <p:spPr>
          <a:xfrm>
            <a:off x="311700" y="2150850"/>
            <a:ext cx="8520600" cy="8418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it"/>
              <a:t>Novel UI are blended!</a:t>
            </a:r>
            <a:endParaRPr/>
          </a:p>
        </p:txBody>
      </p:sp>
    </p:spTree>
  </p:cSld>
  <p:clrMapOvr>
    <a:masterClrMapping/>
  </p:clrMapOvr>
</p:sld>
</file>

<file path=ppt/slides/slide7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3" name="Shape 533"/>
        <p:cNvGrpSpPr/>
        <p:nvPr/>
      </p:nvGrpSpPr>
      <p:grpSpPr>
        <a:xfrm>
          <a:off x="0" y="0"/>
          <a:ext cx="0" cy="0"/>
          <a:chOff x="0" y="0"/>
          <a:chExt cx="0" cy="0"/>
        </a:xfrm>
      </p:grpSpPr>
      <p:sp>
        <p:nvSpPr>
          <p:cNvPr id="534" name="Google Shape;534;p87"/>
          <p:cNvSpPr txBox="1"/>
          <p:nvPr>
            <p:ph type="title"/>
          </p:nvPr>
        </p:nvSpPr>
        <p:spPr>
          <a:xfrm>
            <a:off x="311700" y="64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t"/>
              <a:t>Wii Remote and similar Motion Sensing devices</a:t>
            </a:r>
            <a:endParaRPr/>
          </a:p>
        </p:txBody>
      </p:sp>
      <p:sp>
        <p:nvSpPr>
          <p:cNvPr id="535" name="Google Shape;535;p87"/>
          <p:cNvSpPr txBox="1"/>
          <p:nvPr>
            <p:ph idx="1" type="body"/>
          </p:nvPr>
        </p:nvSpPr>
        <p:spPr>
          <a:xfrm>
            <a:off x="311700" y="6190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t"/>
              <a:t>The Wii Remote, is the primary game controller for Nintendo's Wii home video game console. </a:t>
            </a:r>
            <a:endParaRPr/>
          </a:p>
          <a:p>
            <a:pPr indent="0" lvl="0" marL="0" rtl="0" algn="l">
              <a:spcBef>
                <a:spcPts val="1600"/>
              </a:spcBef>
              <a:spcAft>
                <a:spcPts val="0"/>
              </a:spcAft>
              <a:buClr>
                <a:schemeClr val="dk1"/>
              </a:buClr>
              <a:buSzPts val="1100"/>
              <a:buFont typeface="Arial"/>
              <a:buNone/>
            </a:pPr>
            <a:r>
              <a:rPr lang="it"/>
              <a:t>An essential capability of the Wii Remote is its motion sensing capability, which allows the user to interact with and manipulate items on screen via gesture recognition and pointing, using IMU and optical sensor technology. </a:t>
            </a:r>
            <a:endParaRPr/>
          </a:p>
          <a:p>
            <a:pPr indent="0" lvl="0" marL="0" rtl="0" algn="l">
              <a:spcBef>
                <a:spcPts val="1600"/>
              </a:spcBef>
              <a:spcAft>
                <a:spcPts val="0"/>
              </a:spcAft>
              <a:buClr>
                <a:schemeClr val="dk1"/>
              </a:buClr>
              <a:buSzPts val="1100"/>
              <a:buFont typeface="Arial"/>
              <a:buNone/>
            </a:pPr>
            <a:r>
              <a:rPr lang="it"/>
              <a:t>The Wii Remote was eventually succeeded by the more advanced Joy-Con controllers of the Nintendo Switch.</a:t>
            </a:r>
            <a:endParaRPr/>
          </a:p>
          <a:p>
            <a:pPr indent="0" lvl="0" marL="0" rtl="0" algn="l">
              <a:spcBef>
                <a:spcPts val="1600"/>
              </a:spcBef>
              <a:spcAft>
                <a:spcPts val="1600"/>
              </a:spcAft>
              <a:buNone/>
            </a:pPr>
            <a:r>
              <a:t/>
            </a:r>
            <a:endParaRPr/>
          </a:p>
        </p:txBody>
      </p:sp>
      <p:pic>
        <p:nvPicPr>
          <p:cNvPr id="536" name="Google Shape;536;p87"/>
          <p:cNvPicPr preferRelativeResize="0"/>
          <p:nvPr/>
        </p:nvPicPr>
        <p:blipFill>
          <a:blip r:embed="rId3">
            <a:alphaModFix/>
          </a:blip>
          <a:stretch>
            <a:fillRect/>
          </a:stretch>
        </p:blipFill>
        <p:spPr>
          <a:xfrm>
            <a:off x="7118100" y="3057425"/>
            <a:ext cx="2025900" cy="1917850"/>
          </a:xfrm>
          <a:prstGeom prst="rect">
            <a:avLst/>
          </a:prstGeom>
          <a:noFill/>
          <a:ln>
            <a:noFill/>
          </a:ln>
        </p:spPr>
      </p:pic>
      <p:pic>
        <p:nvPicPr>
          <p:cNvPr id="537" name="Google Shape;537;p87"/>
          <p:cNvPicPr preferRelativeResize="0"/>
          <p:nvPr/>
        </p:nvPicPr>
        <p:blipFill>
          <a:blip r:embed="rId4">
            <a:alphaModFix/>
          </a:blip>
          <a:stretch>
            <a:fillRect/>
          </a:stretch>
        </p:blipFill>
        <p:spPr>
          <a:xfrm>
            <a:off x="157825" y="3333750"/>
            <a:ext cx="2381250" cy="1809750"/>
          </a:xfrm>
          <a:prstGeom prst="rect">
            <a:avLst/>
          </a:prstGeom>
          <a:noFill/>
          <a:ln>
            <a:noFill/>
          </a:ln>
        </p:spPr>
      </p:pic>
      <p:pic>
        <p:nvPicPr>
          <p:cNvPr id="538" name="Google Shape;538;p87"/>
          <p:cNvPicPr preferRelativeResize="0"/>
          <p:nvPr/>
        </p:nvPicPr>
        <p:blipFill>
          <a:blip r:embed="rId5">
            <a:alphaModFix/>
          </a:blip>
          <a:stretch>
            <a:fillRect/>
          </a:stretch>
        </p:blipFill>
        <p:spPr>
          <a:xfrm>
            <a:off x="2642438" y="3340075"/>
            <a:ext cx="3381375" cy="1352550"/>
          </a:xfrm>
          <a:prstGeom prst="rect">
            <a:avLst/>
          </a:prstGeom>
          <a:noFill/>
          <a:ln>
            <a:noFill/>
          </a:ln>
        </p:spPr>
      </p:pic>
    </p:spTree>
  </p:cSld>
  <p:clrMapOvr>
    <a:masterClrMapping/>
  </p:clrMapOvr>
</p:sld>
</file>

<file path=ppt/slides/slide7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2" name="Shape 542"/>
        <p:cNvGrpSpPr/>
        <p:nvPr/>
      </p:nvGrpSpPr>
      <p:grpSpPr>
        <a:xfrm>
          <a:off x="0" y="0"/>
          <a:ext cx="0" cy="0"/>
          <a:chOff x="0" y="0"/>
          <a:chExt cx="0" cy="0"/>
        </a:xfrm>
      </p:grpSpPr>
      <p:sp>
        <p:nvSpPr>
          <p:cNvPr id="543" name="Google Shape;543;p88"/>
          <p:cNvSpPr txBox="1"/>
          <p:nvPr>
            <p:ph type="title"/>
          </p:nvPr>
        </p:nvSpPr>
        <p:spPr>
          <a:xfrm>
            <a:off x="311700" y="64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t"/>
              <a:t>IMU Inertial Measurement Unit</a:t>
            </a:r>
            <a:endParaRPr/>
          </a:p>
        </p:txBody>
      </p:sp>
      <p:sp>
        <p:nvSpPr>
          <p:cNvPr id="544" name="Google Shape;544;p88"/>
          <p:cNvSpPr txBox="1"/>
          <p:nvPr>
            <p:ph idx="1" type="body"/>
          </p:nvPr>
        </p:nvSpPr>
        <p:spPr>
          <a:xfrm>
            <a:off x="311700" y="6190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t"/>
              <a:t>An inertial measurement unit (IMU) is an electronic device that measures and reports a body's </a:t>
            </a:r>
            <a:r>
              <a:rPr b="1" lang="it"/>
              <a:t>specific force, angular rate</a:t>
            </a:r>
            <a:r>
              <a:rPr lang="it"/>
              <a:t>, and sometimes the </a:t>
            </a:r>
            <a:r>
              <a:rPr b="1" lang="it"/>
              <a:t>orientation of the body</a:t>
            </a:r>
            <a:r>
              <a:rPr lang="it"/>
              <a:t>, using a combination </a:t>
            </a:r>
            <a:r>
              <a:rPr b="1" lang="it"/>
              <a:t>of accelerometers, gyroscopes, and sometimes magnetometers.</a:t>
            </a:r>
            <a:endParaRPr b="1"/>
          </a:p>
          <a:p>
            <a:pPr indent="0" lvl="0" marL="0" rtl="0" algn="l">
              <a:spcBef>
                <a:spcPts val="1600"/>
              </a:spcBef>
              <a:spcAft>
                <a:spcPts val="1600"/>
              </a:spcAft>
              <a:buNone/>
            </a:pPr>
            <a:r>
              <a:rPr lang="it"/>
              <a:t>9-Axis devices combine a </a:t>
            </a:r>
            <a:r>
              <a:rPr b="1" lang="it"/>
              <a:t>3-axis </a:t>
            </a:r>
            <a:br>
              <a:rPr b="1" lang="it"/>
            </a:br>
            <a:r>
              <a:rPr b="1" lang="it"/>
              <a:t>gyroscope, 3-axis accelerometer and </a:t>
            </a:r>
            <a:br>
              <a:rPr b="1" lang="it"/>
            </a:br>
            <a:r>
              <a:rPr b="1" lang="it"/>
              <a:t>3-axis compass</a:t>
            </a:r>
            <a:r>
              <a:rPr lang="it"/>
              <a:t> (magnetometer) in the </a:t>
            </a:r>
            <a:br>
              <a:rPr lang="it"/>
            </a:br>
            <a:r>
              <a:rPr lang="it"/>
              <a:t>same chip together with an onboard </a:t>
            </a:r>
            <a:br>
              <a:rPr lang="it"/>
            </a:br>
            <a:r>
              <a:rPr lang="it"/>
              <a:t>Digital Motion Processor capable of </a:t>
            </a:r>
            <a:br>
              <a:rPr lang="it"/>
            </a:br>
            <a:r>
              <a:rPr lang="it"/>
              <a:t>processing the complex MotionFusion </a:t>
            </a:r>
            <a:br>
              <a:rPr lang="it"/>
            </a:br>
            <a:r>
              <a:rPr lang="it"/>
              <a:t>algorithms</a:t>
            </a:r>
            <a:endParaRPr/>
          </a:p>
        </p:txBody>
      </p:sp>
      <p:pic>
        <p:nvPicPr>
          <p:cNvPr id="545" name="Google Shape;545;p88"/>
          <p:cNvPicPr preferRelativeResize="0"/>
          <p:nvPr/>
        </p:nvPicPr>
        <p:blipFill>
          <a:blip r:embed="rId3">
            <a:alphaModFix/>
          </a:blip>
          <a:stretch>
            <a:fillRect/>
          </a:stretch>
        </p:blipFill>
        <p:spPr>
          <a:xfrm>
            <a:off x="4538025" y="1795175"/>
            <a:ext cx="4419600" cy="2876550"/>
          </a:xfrm>
          <a:prstGeom prst="rect">
            <a:avLst/>
          </a:prstGeom>
          <a:noFill/>
          <a:ln>
            <a:noFill/>
          </a:ln>
        </p:spPr>
      </p:pic>
    </p:spTree>
  </p:cSld>
  <p:clrMapOvr>
    <a:masterClrMapping/>
  </p:clrMapOvr>
</p:sld>
</file>

<file path=ppt/slides/slide7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9" name="Shape 549"/>
        <p:cNvGrpSpPr/>
        <p:nvPr/>
      </p:nvGrpSpPr>
      <p:grpSpPr>
        <a:xfrm>
          <a:off x="0" y="0"/>
          <a:ext cx="0" cy="0"/>
          <a:chOff x="0" y="0"/>
          <a:chExt cx="0" cy="0"/>
        </a:xfrm>
      </p:grpSpPr>
      <p:sp>
        <p:nvSpPr>
          <p:cNvPr id="550" name="Google Shape;550;p89"/>
          <p:cNvSpPr txBox="1"/>
          <p:nvPr>
            <p:ph type="title"/>
          </p:nvPr>
        </p:nvSpPr>
        <p:spPr>
          <a:xfrm>
            <a:off x="311700" y="64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t"/>
              <a:t>Hacking the user interface and experience</a:t>
            </a:r>
            <a:endParaRPr/>
          </a:p>
        </p:txBody>
      </p:sp>
      <p:sp>
        <p:nvSpPr>
          <p:cNvPr id="551" name="Google Shape;551;p89"/>
          <p:cNvSpPr txBox="1"/>
          <p:nvPr>
            <p:ph idx="1" type="body"/>
          </p:nvPr>
        </p:nvSpPr>
        <p:spPr>
          <a:xfrm>
            <a:off x="311700" y="6190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t" u="sng">
                <a:solidFill>
                  <a:schemeClr val="hlink"/>
                </a:solidFill>
                <a:hlinkClick r:id="rId3"/>
              </a:rPr>
              <a:t>https://www.youtube.com/watch?v=6YIAR4WZmes&amp;ab_channel=DanieleMazzei</a:t>
            </a:r>
            <a:endParaRPr/>
          </a:p>
          <a:p>
            <a:pPr indent="0" lvl="0" marL="0" rtl="0" algn="l">
              <a:spcBef>
                <a:spcPts val="1600"/>
              </a:spcBef>
              <a:spcAft>
                <a:spcPts val="0"/>
              </a:spcAft>
              <a:buNone/>
            </a:pPr>
            <a:r>
              <a:rPr lang="it" u="sng">
                <a:solidFill>
                  <a:schemeClr val="hlink"/>
                </a:solidFill>
                <a:hlinkClick r:id="rId4"/>
              </a:rPr>
              <a:t>https://www.youtube.com/watch?v=6F7MzmySx9g&amp;ab_channel=DanieleMazzei</a:t>
            </a:r>
            <a:endParaRPr/>
          </a:p>
          <a:p>
            <a:pPr indent="0" lvl="0" marL="0" rtl="0" algn="l">
              <a:spcBef>
                <a:spcPts val="1600"/>
              </a:spcBef>
              <a:spcAft>
                <a:spcPts val="0"/>
              </a:spcAft>
              <a:buNone/>
            </a:pPr>
            <a:r>
              <a:rPr lang="it" u="sng">
                <a:solidFill>
                  <a:schemeClr val="hlink"/>
                </a:solidFill>
                <a:hlinkClick r:id="rId5"/>
              </a:rPr>
              <a:t>https://www.youtube.com/watch?v=oQ2VCi-6uGI&amp;ab_channel=DanieleMazzei</a:t>
            </a:r>
            <a:endParaRPr/>
          </a:p>
          <a:p>
            <a:pPr indent="0" lvl="0" marL="0" rtl="0" algn="l">
              <a:spcBef>
                <a:spcPts val="1600"/>
              </a:spcBef>
              <a:spcAft>
                <a:spcPts val="1600"/>
              </a:spcAft>
              <a:buNone/>
            </a:pPr>
            <a:r>
              <a:t/>
            </a:r>
            <a:endParaRPr/>
          </a:p>
        </p:txBody>
      </p:sp>
    </p:spTree>
  </p:cSld>
  <p:clrMapOvr>
    <a:masterClrMapping/>
  </p:clrMapOvr>
</p:sld>
</file>

<file path=ppt/slides/slide7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5" name="Shape 555"/>
        <p:cNvGrpSpPr/>
        <p:nvPr/>
      </p:nvGrpSpPr>
      <p:grpSpPr>
        <a:xfrm>
          <a:off x="0" y="0"/>
          <a:ext cx="0" cy="0"/>
          <a:chOff x="0" y="0"/>
          <a:chExt cx="0" cy="0"/>
        </a:xfrm>
      </p:grpSpPr>
      <p:sp>
        <p:nvSpPr>
          <p:cNvPr id="556" name="Google Shape;556;p90"/>
          <p:cNvSpPr txBox="1"/>
          <p:nvPr>
            <p:ph type="title"/>
          </p:nvPr>
        </p:nvSpPr>
        <p:spPr>
          <a:xfrm>
            <a:off x="311700" y="64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t"/>
              <a:t>Wearable Devices and User Interfaces</a:t>
            </a:r>
            <a:endParaRPr/>
          </a:p>
        </p:txBody>
      </p:sp>
      <p:sp>
        <p:nvSpPr>
          <p:cNvPr id="557" name="Google Shape;557;p90"/>
          <p:cNvSpPr txBox="1"/>
          <p:nvPr>
            <p:ph idx="1" type="body"/>
          </p:nvPr>
        </p:nvSpPr>
        <p:spPr>
          <a:xfrm>
            <a:off x="311700" y="6190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t"/>
              <a:t>A wearable computer is a computing device worn on the body. </a:t>
            </a:r>
            <a:r>
              <a:rPr lang="it" u="sng"/>
              <a:t>The interface and the computing unit are merged together!</a:t>
            </a:r>
            <a:endParaRPr u="sng"/>
          </a:p>
          <a:p>
            <a:pPr indent="0" lvl="0" marL="0" rtl="0" algn="l">
              <a:spcBef>
                <a:spcPts val="1600"/>
              </a:spcBef>
              <a:spcAft>
                <a:spcPts val="0"/>
              </a:spcAft>
              <a:buNone/>
            </a:pPr>
            <a:r>
              <a:rPr lang="it"/>
              <a:t>Wearables may be for general use, in which case they are just a particularly small example of mobile computing. Alternatively they may be for </a:t>
            </a:r>
            <a:r>
              <a:rPr b="1" lang="it"/>
              <a:t>specialized purposes</a:t>
            </a:r>
            <a:r>
              <a:rPr lang="it"/>
              <a:t> such as fitness trackers. </a:t>
            </a:r>
            <a:endParaRPr/>
          </a:p>
          <a:p>
            <a:pPr indent="0" lvl="0" marL="0" rtl="0" algn="l">
              <a:spcBef>
                <a:spcPts val="1600"/>
              </a:spcBef>
              <a:spcAft>
                <a:spcPts val="0"/>
              </a:spcAft>
              <a:buNone/>
            </a:pPr>
            <a:r>
              <a:rPr lang="it"/>
              <a:t>They may incorporate special sensors such as accelerometers, thermometer and heart rate monitors, or novel user interfaces such as Google Glass, an optical head-mounted display controlled by gestures. </a:t>
            </a:r>
            <a:endParaRPr/>
          </a:p>
          <a:p>
            <a:pPr indent="0" lvl="0" marL="0" rtl="0" algn="l">
              <a:spcBef>
                <a:spcPts val="1600"/>
              </a:spcBef>
              <a:spcAft>
                <a:spcPts val="0"/>
              </a:spcAft>
              <a:buClr>
                <a:schemeClr val="dk1"/>
              </a:buClr>
              <a:buSzPts val="1100"/>
              <a:buFont typeface="Arial"/>
              <a:buNone/>
            </a:pPr>
            <a:r>
              <a:rPr lang="it"/>
              <a:t>It may be that specialized wearables will evolve into general all-in-one devices, as happened with the convergence of PDAs and mobile phones into smartphones.</a:t>
            </a:r>
            <a:endParaRPr/>
          </a:p>
          <a:p>
            <a:pPr indent="0" lvl="0" marL="0" rtl="0" algn="l">
              <a:spcBef>
                <a:spcPts val="1600"/>
              </a:spcBef>
              <a:spcAft>
                <a:spcPts val="0"/>
              </a:spcAft>
              <a:buClr>
                <a:schemeClr val="dk1"/>
              </a:buClr>
              <a:buSzPts val="1100"/>
              <a:buFont typeface="Arial"/>
              <a:buNone/>
            </a:pPr>
            <a:r>
              <a:t/>
            </a:r>
            <a:endParaRPr/>
          </a:p>
          <a:p>
            <a:pPr indent="0" lvl="0" marL="0" rtl="0" algn="l">
              <a:spcBef>
                <a:spcPts val="1600"/>
              </a:spcBef>
              <a:spcAft>
                <a:spcPts val="1600"/>
              </a:spcAft>
              <a:buNone/>
            </a:pPr>
            <a:r>
              <a:t/>
            </a:r>
            <a:endParaRPr/>
          </a:p>
        </p:txBody>
      </p:sp>
    </p:spTree>
  </p:cSld>
  <p:clrMapOvr>
    <a:masterClrMapping/>
  </p:clrMapOvr>
</p:sld>
</file>

<file path=ppt/slides/slide7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1" name="Shape 561"/>
        <p:cNvGrpSpPr/>
        <p:nvPr/>
      </p:nvGrpSpPr>
      <p:grpSpPr>
        <a:xfrm>
          <a:off x="0" y="0"/>
          <a:ext cx="0" cy="0"/>
          <a:chOff x="0" y="0"/>
          <a:chExt cx="0" cy="0"/>
        </a:xfrm>
      </p:grpSpPr>
      <p:sp>
        <p:nvSpPr>
          <p:cNvPr id="562" name="Google Shape;562;p91"/>
          <p:cNvSpPr txBox="1"/>
          <p:nvPr>
            <p:ph type="title"/>
          </p:nvPr>
        </p:nvSpPr>
        <p:spPr>
          <a:xfrm>
            <a:off x="311700" y="64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it"/>
              <a:t>Wearable Devices and User Interfaces</a:t>
            </a:r>
            <a:endParaRPr/>
          </a:p>
          <a:p>
            <a:pPr indent="0" lvl="0" marL="0" rtl="0" algn="l">
              <a:spcBef>
                <a:spcPts val="0"/>
              </a:spcBef>
              <a:spcAft>
                <a:spcPts val="0"/>
              </a:spcAft>
              <a:buNone/>
            </a:pPr>
            <a:r>
              <a:t/>
            </a:r>
            <a:endParaRPr/>
          </a:p>
        </p:txBody>
      </p:sp>
      <p:sp>
        <p:nvSpPr>
          <p:cNvPr id="563" name="Google Shape;563;p91"/>
          <p:cNvSpPr txBox="1"/>
          <p:nvPr>
            <p:ph idx="1" type="body"/>
          </p:nvPr>
        </p:nvSpPr>
        <p:spPr>
          <a:xfrm>
            <a:off x="311700" y="6190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t"/>
              <a:t>Wearables are typically worn on the wrist (e.g. fitness trackers), hung from the neck (like a necklace), strapped to the arm or leg (smartphones when exercising), or on the head (as glasses or a helmet), though some have been located elsewhere (e.g. on a finger or in a shoe). </a:t>
            </a:r>
            <a:endParaRPr/>
          </a:p>
          <a:p>
            <a:pPr indent="0" lvl="0" marL="0" rtl="0" algn="l">
              <a:spcBef>
                <a:spcPts val="1600"/>
              </a:spcBef>
              <a:spcAft>
                <a:spcPts val="0"/>
              </a:spcAft>
              <a:buClr>
                <a:schemeClr val="dk1"/>
              </a:buClr>
              <a:buSzPts val="1100"/>
              <a:buFont typeface="Arial"/>
              <a:buNone/>
            </a:pPr>
            <a:r>
              <a:rPr lang="it" u="sng"/>
              <a:t>Devices carried in a pocket or bag – such as smartphones and before them pocket calculators and PDAs, may or may not be regarded as 'worn'.</a:t>
            </a:r>
            <a:endParaRPr u="sng"/>
          </a:p>
          <a:p>
            <a:pPr indent="0" lvl="0" marL="0" rtl="0" algn="l">
              <a:spcBef>
                <a:spcPts val="1600"/>
              </a:spcBef>
              <a:spcAft>
                <a:spcPts val="0"/>
              </a:spcAft>
              <a:buNone/>
            </a:pPr>
            <a:r>
              <a:rPr b="1" lang="it"/>
              <a:t>Wearable computers have various technical issues common to other mobile computing, such as batteries, heat dissipation</a:t>
            </a:r>
            <a:r>
              <a:rPr lang="it"/>
              <a:t>, software architectures, wireless and personal area networks, and data management.</a:t>
            </a:r>
            <a:endParaRPr/>
          </a:p>
          <a:p>
            <a:pPr indent="0" lvl="0" marL="0" rtl="0" algn="l">
              <a:spcBef>
                <a:spcPts val="1600"/>
              </a:spcBef>
              <a:spcAft>
                <a:spcPts val="0"/>
              </a:spcAft>
              <a:buClr>
                <a:schemeClr val="dk1"/>
              </a:buClr>
              <a:buSzPts val="1100"/>
              <a:buFont typeface="Arial"/>
              <a:buNone/>
            </a:pPr>
            <a:r>
              <a:rPr lang="it"/>
              <a:t>Many wearable computers are active all the time, e.g. processing or recording data continuously.</a:t>
            </a:r>
            <a:endParaRPr/>
          </a:p>
          <a:p>
            <a:pPr indent="0" lvl="0" marL="0" rtl="0" algn="l">
              <a:spcBef>
                <a:spcPts val="1600"/>
              </a:spcBef>
              <a:spcAft>
                <a:spcPts val="1600"/>
              </a:spcAft>
              <a:buNone/>
            </a:pPr>
            <a:r>
              <a:t/>
            </a:r>
            <a:endParaRPr/>
          </a:p>
        </p:txBody>
      </p:sp>
    </p:spTree>
  </p:cSld>
  <p:clrMapOvr>
    <a:masterClrMapping/>
  </p:clrMapOvr>
</p:sld>
</file>

<file path=ppt/slides/slide8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7" name="Shape 567"/>
        <p:cNvGrpSpPr/>
        <p:nvPr/>
      </p:nvGrpSpPr>
      <p:grpSpPr>
        <a:xfrm>
          <a:off x="0" y="0"/>
          <a:ext cx="0" cy="0"/>
          <a:chOff x="0" y="0"/>
          <a:chExt cx="0" cy="0"/>
        </a:xfrm>
      </p:grpSpPr>
      <p:sp>
        <p:nvSpPr>
          <p:cNvPr id="568" name="Google Shape;568;p92"/>
          <p:cNvSpPr txBox="1"/>
          <p:nvPr>
            <p:ph type="title"/>
          </p:nvPr>
        </p:nvSpPr>
        <p:spPr>
          <a:xfrm>
            <a:off x="311700" y="64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t"/>
              <a:t>Heart Rate Wearable Monitor</a:t>
            </a:r>
            <a:endParaRPr/>
          </a:p>
        </p:txBody>
      </p:sp>
      <p:sp>
        <p:nvSpPr>
          <p:cNvPr id="569" name="Google Shape;569;p92"/>
          <p:cNvSpPr txBox="1"/>
          <p:nvPr>
            <p:ph idx="1" type="body"/>
          </p:nvPr>
        </p:nvSpPr>
        <p:spPr>
          <a:xfrm>
            <a:off x="311700" y="6190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t" sz="1600"/>
              <a:t>A heart rate monitor (HRM) is a personal monitoring device that allows one to measure/display heart rate in real time or record the heart rate for later study. </a:t>
            </a:r>
            <a:endParaRPr sz="1600"/>
          </a:p>
          <a:p>
            <a:pPr indent="0" lvl="0" marL="0" rtl="0" algn="l">
              <a:spcBef>
                <a:spcPts val="1600"/>
              </a:spcBef>
              <a:spcAft>
                <a:spcPts val="0"/>
              </a:spcAft>
              <a:buClr>
                <a:schemeClr val="dk1"/>
              </a:buClr>
              <a:buSzPts val="1100"/>
              <a:buFont typeface="Arial"/>
              <a:buNone/>
            </a:pPr>
            <a:r>
              <a:rPr lang="it" sz="1600"/>
              <a:t>Consumer heart rate monitors are designed for everyday use and do not use wires to connect and are (typically) not suitable for medical applications</a:t>
            </a:r>
            <a:endParaRPr sz="1600"/>
          </a:p>
          <a:p>
            <a:pPr indent="0" lvl="0" marL="0" rtl="0" algn="l">
              <a:spcBef>
                <a:spcPts val="1600"/>
              </a:spcBef>
              <a:spcAft>
                <a:spcPts val="0"/>
              </a:spcAft>
              <a:buClr>
                <a:schemeClr val="dk1"/>
              </a:buClr>
              <a:buSzPts val="1100"/>
              <a:buFont typeface="Arial"/>
              <a:buNone/>
            </a:pPr>
            <a:r>
              <a:rPr lang="it" sz="1600"/>
              <a:t>they commonly use electrical and/or optical measurement principles. Both types of signals can provide the same basic heart rate data, using fully automated algorithms to measure heart rate.</a:t>
            </a:r>
            <a:endParaRPr sz="1600"/>
          </a:p>
          <a:p>
            <a:pPr indent="0" lvl="0" marL="0" rtl="0" algn="l">
              <a:spcBef>
                <a:spcPts val="1600"/>
              </a:spcBef>
              <a:spcAft>
                <a:spcPts val="0"/>
              </a:spcAft>
              <a:buClr>
                <a:schemeClr val="dk1"/>
              </a:buClr>
              <a:buSzPts val="1100"/>
              <a:buFont typeface="Arial"/>
              <a:buNone/>
            </a:pPr>
            <a:r>
              <a:rPr b="1" lang="it" sz="1600"/>
              <a:t>ECG (Electrocardiography)</a:t>
            </a:r>
            <a:r>
              <a:rPr lang="it" sz="1600"/>
              <a:t> sensors measure the bio-potential generated by electrical signals that control the expansion and contraction of heart. </a:t>
            </a:r>
            <a:r>
              <a:rPr lang="it" sz="1600" u="sng">
                <a:solidFill>
                  <a:schemeClr val="hlink"/>
                </a:solidFill>
                <a:hlinkClick r:id="rId3"/>
              </a:rPr>
              <a:t>VIDEO</a:t>
            </a:r>
            <a:endParaRPr sz="1600"/>
          </a:p>
          <a:p>
            <a:pPr indent="0" lvl="0" marL="0" rtl="0" algn="l">
              <a:spcBef>
                <a:spcPts val="1600"/>
              </a:spcBef>
              <a:spcAft>
                <a:spcPts val="1600"/>
              </a:spcAft>
              <a:buNone/>
            </a:pPr>
            <a:r>
              <a:rPr b="1" lang="it" sz="1600"/>
              <a:t>PPG (Photoplethysmography)</a:t>
            </a:r>
            <a:r>
              <a:rPr lang="it" sz="1600"/>
              <a:t> sensors use a light-based technology to measure the blood volume controlled by the heart's pumping action. some devices using this technology are able to measure aslo  blood oxygen saturation (SpO2). </a:t>
            </a:r>
            <a:r>
              <a:rPr lang="it" sz="1600" u="sng">
                <a:solidFill>
                  <a:schemeClr val="hlink"/>
                </a:solidFill>
                <a:hlinkClick r:id="rId4"/>
              </a:rPr>
              <a:t>more info</a:t>
            </a:r>
            <a:endParaRPr sz="1600"/>
          </a:p>
        </p:txBody>
      </p:sp>
    </p:spTree>
  </p:cSld>
  <p:clrMapOvr>
    <a:masterClrMapping/>
  </p:clrMapOvr>
</p:sld>
</file>

<file path=ppt/slides/slide8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3" name="Shape 573"/>
        <p:cNvGrpSpPr/>
        <p:nvPr/>
      </p:nvGrpSpPr>
      <p:grpSpPr>
        <a:xfrm>
          <a:off x="0" y="0"/>
          <a:ext cx="0" cy="0"/>
          <a:chOff x="0" y="0"/>
          <a:chExt cx="0" cy="0"/>
        </a:xfrm>
      </p:grpSpPr>
      <p:sp>
        <p:nvSpPr>
          <p:cNvPr id="574" name="Google Shape;574;p93"/>
          <p:cNvSpPr txBox="1"/>
          <p:nvPr>
            <p:ph type="title"/>
          </p:nvPr>
        </p:nvSpPr>
        <p:spPr>
          <a:xfrm>
            <a:off x="311700" y="64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t"/>
              <a:t>PPG (Photoplethysmography) </a:t>
            </a:r>
            <a:endParaRPr/>
          </a:p>
        </p:txBody>
      </p:sp>
      <p:sp>
        <p:nvSpPr>
          <p:cNvPr id="575" name="Google Shape;575;p93"/>
          <p:cNvSpPr txBox="1"/>
          <p:nvPr>
            <p:ph idx="1" type="body"/>
          </p:nvPr>
        </p:nvSpPr>
        <p:spPr>
          <a:xfrm>
            <a:off x="311700" y="6190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t/>
            </a:r>
            <a:endParaRPr/>
          </a:p>
        </p:txBody>
      </p:sp>
      <p:pic>
        <p:nvPicPr>
          <p:cNvPr id="576" name="Google Shape;576;p93"/>
          <p:cNvPicPr preferRelativeResize="0"/>
          <p:nvPr/>
        </p:nvPicPr>
        <p:blipFill rotWithShape="1">
          <a:blip r:embed="rId3">
            <a:alphaModFix/>
          </a:blip>
          <a:srcRect b="0" l="0" r="8833" t="0"/>
          <a:stretch/>
        </p:blipFill>
        <p:spPr>
          <a:xfrm>
            <a:off x="-161925" y="1040750"/>
            <a:ext cx="5389599" cy="3164550"/>
          </a:xfrm>
          <a:prstGeom prst="rect">
            <a:avLst/>
          </a:prstGeom>
          <a:noFill/>
          <a:ln>
            <a:noFill/>
          </a:ln>
        </p:spPr>
      </p:pic>
      <p:pic>
        <p:nvPicPr>
          <p:cNvPr id="577" name="Google Shape;577;p93"/>
          <p:cNvPicPr preferRelativeResize="0"/>
          <p:nvPr/>
        </p:nvPicPr>
        <p:blipFill rotWithShape="1">
          <a:blip r:embed="rId4">
            <a:alphaModFix/>
          </a:blip>
          <a:srcRect b="0" l="45465" r="0" t="0"/>
          <a:stretch/>
        </p:blipFill>
        <p:spPr>
          <a:xfrm>
            <a:off x="5342969" y="1395425"/>
            <a:ext cx="3558150" cy="3571875"/>
          </a:xfrm>
          <a:prstGeom prst="rect">
            <a:avLst/>
          </a:prstGeom>
          <a:noFill/>
          <a:ln>
            <a:noFill/>
          </a:ln>
        </p:spPr>
      </p:pic>
      <p:pic>
        <p:nvPicPr>
          <p:cNvPr id="578" name="Google Shape;578;p93"/>
          <p:cNvPicPr preferRelativeResize="0"/>
          <p:nvPr/>
        </p:nvPicPr>
        <p:blipFill rotWithShape="1">
          <a:blip r:embed="rId4">
            <a:alphaModFix/>
          </a:blip>
          <a:srcRect b="49285" l="0" r="55606" t="25980"/>
          <a:stretch/>
        </p:blipFill>
        <p:spPr>
          <a:xfrm>
            <a:off x="5783475" y="583550"/>
            <a:ext cx="2896425" cy="883475"/>
          </a:xfrm>
          <a:prstGeom prst="rect">
            <a:avLst/>
          </a:prstGeom>
          <a:noFill/>
          <a:ln>
            <a:noFill/>
          </a:ln>
        </p:spPr>
      </p:pic>
    </p:spTree>
  </p:cSld>
  <p:clrMapOvr>
    <a:masterClrMapping/>
  </p:clrMapOvr>
</p:sld>
</file>

<file path=ppt/slides/slide8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2" name="Shape 582"/>
        <p:cNvGrpSpPr/>
        <p:nvPr/>
      </p:nvGrpSpPr>
      <p:grpSpPr>
        <a:xfrm>
          <a:off x="0" y="0"/>
          <a:ext cx="0" cy="0"/>
          <a:chOff x="0" y="0"/>
          <a:chExt cx="0" cy="0"/>
        </a:xfrm>
      </p:grpSpPr>
      <p:sp>
        <p:nvSpPr>
          <p:cNvPr id="583" name="Google Shape;583;p94"/>
          <p:cNvSpPr txBox="1"/>
          <p:nvPr>
            <p:ph type="title"/>
          </p:nvPr>
        </p:nvSpPr>
        <p:spPr>
          <a:xfrm>
            <a:off x="311700" y="64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t"/>
              <a:t>EEG Headset</a:t>
            </a:r>
            <a:endParaRPr/>
          </a:p>
        </p:txBody>
      </p:sp>
      <p:sp>
        <p:nvSpPr>
          <p:cNvPr id="584" name="Google Shape;584;p94"/>
          <p:cNvSpPr txBox="1"/>
          <p:nvPr>
            <p:ph idx="1" type="body"/>
          </p:nvPr>
        </p:nvSpPr>
        <p:spPr>
          <a:xfrm>
            <a:off x="311700" y="6190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t"/>
              <a:t>Electroencephalography (EEG) is a monitoring method to record the electrical activity of the brain. </a:t>
            </a:r>
            <a:endParaRPr/>
          </a:p>
          <a:p>
            <a:pPr indent="0" lvl="0" marL="0" rtl="0" algn="l">
              <a:spcBef>
                <a:spcPts val="1600"/>
              </a:spcBef>
              <a:spcAft>
                <a:spcPts val="0"/>
              </a:spcAft>
              <a:buNone/>
            </a:pPr>
            <a:r>
              <a:rPr lang="it"/>
              <a:t>Wearable EEG headsets position noninvasive electrodes along the scalp. The clinical definition of EEG is the recording of brain activity over a period of time. EEG electrodes pick up on and record the electrical activity in your brain. </a:t>
            </a:r>
            <a:endParaRPr/>
          </a:p>
          <a:p>
            <a:pPr indent="0" lvl="0" marL="0" rtl="0" algn="l">
              <a:spcBef>
                <a:spcPts val="1600"/>
              </a:spcBef>
              <a:spcAft>
                <a:spcPts val="0"/>
              </a:spcAft>
              <a:buClr>
                <a:schemeClr val="dk1"/>
              </a:buClr>
              <a:buSzPts val="1100"/>
              <a:buFont typeface="Arial"/>
              <a:buNone/>
            </a:pPr>
            <a:r>
              <a:rPr lang="it"/>
              <a:t>The collected signals are amplified and digitized </a:t>
            </a:r>
            <a:br>
              <a:rPr lang="it"/>
            </a:br>
            <a:r>
              <a:rPr lang="it"/>
              <a:t>then sent to a computer or mobile device for </a:t>
            </a:r>
            <a:br>
              <a:rPr lang="it"/>
            </a:br>
            <a:r>
              <a:rPr lang="it"/>
              <a:t>storage and data processing.</a:t>
            </a:r>
            <a:endParaRPr/>
          </a:p>
          <a:p>
            <a:pPr indent="0" lvl="0" marL="0" rtl="0" algn="l">
              <a:spcBef>
                <a:spcPts val="1600"/>
              </a:spcBef>
              <a:spcAft>
                <a:spcPts val="0"/>
              </a:spcAft>
              <a:buNone/>
            </a:pPr>
            <a:r>
              <a:rPr b="1" lang="it"/>
              <a:t>EEG Headset are used as pointing devices for </a:t>
            </a:r>
            <a:br>
              <a:rPr b="1" lang="it"/>
            </a:br>
            <a:r>
              <a:rPr b="1" lang="it"/>
              <a:t>dibale and impaired subjects</a:t>
            </a:r>
            <a:endParaRPr b="1"/>
          </a:p>
          <a:p>
            <a:pPr indent="0" lvl="0" marL="0" rtl="0" algn="l">
              <a:spcBef>
                <a:spcPts val="1600"/>
              </a:spcBef>
              <a:spcAft>
                <a:spcPts val="0"/>
              </a:spcAft>
              <a:buNone/>
            </a:pPr>
            <a:r>
              <a:rPr lang="it" sz="900" u="sng">
                <a:solidFill>
                  <a:schemeClr val="hlink"/>
                </a:solidFill>
                <a:hlinkClick r:id="rId3"/>
              </a:rPr>
              <a:t>https://www.youtube.com/watch?v=LZrat-VG4Ms&amp;ab_channel=GSMArenaOfficial</a:t>
            </a:r>
            <a:endParaRPr sz="900"/>
          </a:p>
          <a:p>
            <a:pPr indent="0" lvl="0" marL="0" rtl="0" algn="l">
              <a:spcBef>
                <a:spcPts val="1600"/>
              </a:spcBef>
              <a:spcAft>
                <a:spcPts val="0"/>
              </a:spcAft>
              <a:buClr>
                <a:schemeClr val="dk1"/>
              </a:buClr>
              <a:buSzPts val="1100"/>
              <a:buFont typeface="Arial"/>
              <a:buNone/>
            </a:pPr>
            <a:r>
              <a:t/>
            </a:r>
            <a:endParaRPr sz="900"/>
          </a:p>
          <a:p>
            <a:pPr indent="0" lvl="0" marL="0" rtl="0" algn="l">
              <a:spcBef>
                <a:spcPts val="1600"/>
              </a:spcBef>
              <a:spcAft>
                <a:spcPts val="1600"/>
              </a:spcAft>
              <a:buNone/>
            </a:pPr>
            <a:r>
              <a:t/>
            </a:r>
            <a:endParaRPr/>
          </a:p>
        </p:txBody>
      </p:sp>
      <p:pic>
        <p:nvPicPr>
          <p:cNvPr id="585" name="Google Shape;585;p94"/>
          <p:cNvPicPr preferRelativeResize="0"/>
          <p:nvPr/>
        </p:nvPicPr>
        <p:blipFill rotWithShape="1">
          <a:blip r:embed="rId4">
            <a:alphaModFix/>
          </a:blip>
          <a:srcRect b="24336" l="4030" r="0" t="16964"/>
          <a:stretch/>
        </p:blipFill>
        <p:spPr>
          <a:xfrm>
            <a:off x="5492475" y="2819950"/>
            <a:ext cx="3563026" cy="2179424"/>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LEZIONI">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