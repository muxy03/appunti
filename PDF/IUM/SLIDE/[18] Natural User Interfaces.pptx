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a4b2a4ef2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a4b2a4ef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a4b2a4ef2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a4b2a4ef2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a4b2a4ef2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a4b2a4ef2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a4b2a4ef2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a4b2a4ef2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a4b2a4ef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a4b2a4ef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a4b2a4ef2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a4b2a4ef2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a4b2a4ef2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a4b2a4ef2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a4b2a4ef2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a4b2a4ef2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a157113b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a157113b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a4b2a4ef2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a4b2a4ef2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a4b2a4ef2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a4b2a4ef2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a4b2a4ef2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a4b2a4ef2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a4b2a4ef2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a4b2a4ef2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a4b2a4ef2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a4b2a4ef2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a5fafc35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a5fafc35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TOMMASO TURCHI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interaction-design.org/literature/article/natural-user-interfaces-what-are-they-and-how-do-you-design-user-interfaces-that-feel-natur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ncbi.nlm.nih.gov/pmc/articles/PMC7303424/#:~:text=It%20was%20observed%20that%20most,drag%20and%20drop%20(30%25)."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interaction-design.org/literature/article/natural-user-interfaces-what-are-they-and-how-do-you-design-user-interfaces-that-feel-natura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hyperlink" Target="https://www.youtube.com/watch?v=LZWnGo_IsDw&amp;ab_channel=RUISV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youtube.com/watch?v=qhEt1Pd-twM&amp;ab_channel=phototrista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youtube.com/user/ceedsprojec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Natural User Interfaces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NUI Natural User Interfaces</a:t>
            </a:r>
            <a:endParaRPr/>
          </a:p>
        </p:txBody>
      </p:sp>
      <p:sp>
        <p:nvSpPr>
          <p:cNvPr id="61" name="Google Shape;61;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a:t>“Until now, we have always had to adapt to the limits of technology and conform the way we work with computers to a set of arbitrary conventions and procedures. With NUI, computing devices will adapt to our needs and preferences for the first time and humans will begin to use technology in whatever way is most comfortable and natural for us.”</a:t>
            </a:r>
            <a:endParaRPr i="1"/>
          </a:p>
          <a:p>
            <a:pPr indent="0" lvl="0" marL="0" rtl="0" algn="l">
              <a:spcBef>
                <a:spcPts val="1600"/>
              </a:spcBef>
              <a:spcAft>
                <a:spcPts val="0"/>
              </a:spcAft>
              <a:buClr>
                <a:schemeClr val="dk1"/>
              </a:buClr>
              <a:buSzPts val="1100"/>
              <a:buFont typeface="Arial"/>
              <a:buNone/>
            </a:pPr>
            <a:r>
              <a:rPr lang="it"/>
              <a:t>—Bill Gates, co-founder of the multinational technology company Microsoft</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Defining NUIs is difficult, but often when we think about user interfaces that are natural and easy to use, we think of </a:t>
            </a:r>
            <a:r>
              <a:rPr b="1" lang="it"/>
              <a:t>user interfaces where the interaction is direct and consistent with our ‘natural’ behaviour.</a:t>
            </a:r>
            <a:endParaRPr b="1"/>
          </a:p>
          <a:p>
            <a:pPr indent="0" lvl="0" marL="0" rtl="0" algn="l">
              <a:spcBef>
                <a:spcPts val="1600"/>
              </a:spcBef>
              <a:spcAft>
                <a:spcPts val="0"/>
              </a:spcAft>
              <a:buNone/>
            </a:pPr>
            <a:r>
              <a:t/>
            </a:r>
            <a:endParaRPr/>
          </a:p>
          <a:p>
            <a:pPr indent="0" lvl="0" marL="0" rtl="0" algn="l">
              <a:spcBef>
                <a:spcPts val="1600"/>
              </a:spcBef>
              <a:spcAft>
                <a:spcPts val="0"/>
              </a:spcAft>
              <a:buNone/>
            </a:pPr>
            <a:r>
              <a:rPr lang="it" sz="800"/>
              <a:t>source: </a:t>
            </a:r>
            <a:r>
              <a:rPr lang="it" sz="800" u="sng">
                <a:solidFill>
                  <a:schemeClr val="hlink"/>
                </a:solidFill>
                <a:hlinkClick r:id="rId3"/>
              </a:rPr>
              <a:t>https://www.interaction-design.org/literature/article/natural-user-interfaces-what-are-they-and-how-do-you-design-user-interfaces-that-feel-natural</a:t>
            </a:r>
            <a:endParaRPr sz="800"/>
          </a:p>
          <a:p>
            <a:pPr indent="0" lvl="0" marL="0" rtl="0" algn="l">
              <a:spcBef>
                <a:spcPts val="1600"/>
              </a:spcBef>
              <a:spcAft>
                <a:spcPts val="1600"/>
              </a:spcAft>
              <a:buNone/>
            </a:pPr>
            <a:r>
              <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Natural User Interfaces</a:t>
            </a:r>
            <a:endParaRPr/>
          </a:p>
        </p:txBody>
      </p:sp>
      <p:sp>
        <p:nvSpPr>
          <p:cNvPr id="73" name="Google Shape;73;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natural user interface, or NUI, </a:t>
            </a:r>
            <a:r>
              <a:rPr b="1" lang="it"/>
              <a:t>is a user interface that is effectively invisible</a:t>
            </a:r>
            <a:r>
              <a:rPr lang="it"/>
              <a:t>, and remains invisible as the user continuously learns increasingly complex interactions. </a:t>
            </a:r>
            <a:endParaRPr/>
          </a:p>
          <a:p>
            <a:pPr indent="0" lvl="0" marL="0" rtl="0" algn="l">
              <a:spcBef>
                <a:spcPts val="1600"/>
              </a:spcBef>
              <a:spcAft>
                <a:spcPts val="0"/>
              </a:spcAft>
              <a:buNone/>
            </a:pPr>
            <a:r>
              <a:rPr lang="it"/>
              <a:t>The word natural is used because most computer interfaces use artificial control devices whose operation has to be learned. </a:t>
            </a:r>
            <a:r>
              <a:rPr b="1" lang="it"/>
              <a:t>An NUI relies on a user being able to quickly transition from novice to expert. </a:t>
            </a:r>
            <a:endParaRPr b="1"/>
          </a:p>
          <a:p>
            <a:pPr indent="0" lvl="0" marL="0" rtl="0" algn="l">
              <a:spcBef>
                <a:spcPts val="1600"/>
              </a:spcBef>
              <a:spcAft>
                <a:spcPts val="0"/>
              </a:spcAft>
              <a:buNone/>
            </a:pPr>
            <a:r>
              <a:rPr lang="it"/>
              <a:t>While the interface requires learning, that learning is eased through design which </a:t>
            </a:r>
            <a:r>
              <a:rPr b="1" lang="it"/>
              <a:t>gives the user the feeling that they are instantly and continuously successful. </a:t>
            </a:r>
            <a:endParaRPr b="1"/>
          </a:p>
          <a:p>
            <a:pPr indent="0" lvl="0" marL="0" rtl="0" algn="l">
              <a:spcBef>
                <a:spcPts val="1600"/>
              </a:spcBef>
              <a:spcAft>
                <a:spcPts val="1600"/>
              </a:spcAft>
              <a:buNone/>
            </a:pPr>
            <a:r>
              <a:rPr lang="it"/>
              <a:t>Thus, </a:t>
            </a:r>
            <a:r>
              <a:rPr b="1" lang="it"/>
              <a:t>"natural" refers to a goal in the user experience</a:t>
            </a:r>
            <a:r>
              <a:rPr lang="it"/>
              <a:t> – that the interaction comes naturally, while interacting with the technology, rather than that the interface itself is natural.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0" name="Google Shape;80;p17"/>
          <p:cNvPicPr preferRelativeResize="0"/>
          <p:nvPr/>
        </p:nvPicPr>
        <p:blipFill>
          <a:blip r:embed="rId3">
            <a:alphaModFix/>
          </a:blip>
          <a:stretch>
            <a:fillRect/>
          </a:stretch>
        </p:blipFill>
        <p:spPr>
          <a:xfrm>
            <a:off x="731025" y="328625"/>
            <a:ext cx="7681950" cy="448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Natural User </a:t>
            </a:r>
            <a:r>
              <a:rPr lang="it"/>
              <a:t>Interfaces</a:t>
            </a:r>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NUI contrasted with the idea of an intuitive interface,</a:t>
            </a:r>
            <a:r>
              <a:rPr lang="it"/>
              <a:t> referring to one that can be used without previous learning. Several design strategies have been proposed which have met this goal to varying degrees of success.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87" name="Google Shape;87;p18"/>
          <p:cNvPicPr preferRelativeResize="0"/>
          <p:nvPr/>
        </p:nvPicPr>
        <p:blipFill>
          <a:blip r:embed="rId3">
            <a:alphaModFix/>
          </a:blip>
          <a:stretch>
            <a:fillRect/>
          </a:stretch>
        </p:blipFill>
        <p:spPr>
          <a:xfrm>
            <a:off x="213398" y="1813152"/>
            <a:ext cx="5821601" cy="2993450"/>
          </a:xfrm>
          <a:prstGeom prst="rect">
            <a:avLst/>
          </a:prstGeom>
          <a:noFill/>
          <a:ln>
            <a:noFill/>
          </a:ln>
        </p:spPr>
      </p:pic>
      <p:pic>
        <p:nvPicPr>
          <p:cNvPr id="88" name="Google Shape;88;p18"/>
          <p:cNvPicPr preferRelativeResize="0"/>
          <p:nvPr/>
        </p:nvPicPr>
        <p:blipFill>
          <a:blip r:embed="rId4">
            <a:alphaModFix/>
          </a:blip>
          <a:stretch>
            <a:fillRect/>
          </a:stretch>
        </p:blipFill>
        <p:spPr>
          <a:xfrm>
            <a:off x="5833825" y="1660750"/>
            <a:ext cx="3271125" cy="327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Natural User Interfaces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4" name="Google Shape;94;p19"/>
          <p:cNvSpPr txBox="1"/>
          <p:nvPr>
            <p:ph idx="1" type="body"/>
          </p:nvPr>
        </p:nvSpPr>
        <p:spPr>
          <a:xfrm>
            <a:off x="311700" y="5428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Some iPad gestures come naturally and intuitively—e.g., swiping with one finger to the left or right—which is all part of the ‘magic’ that took the iPad to such prominence. </a:t>
            </a:r>
            <a:endParaRPr/>
          </a:p>
          <a:p>
            <a:pPr indent="0" lvl="0" marL="0" rtl="0" algn="l">
              <a:spcBef>
                <a:spcPts val="1600"/>
              </a:spcBef>
              <a:spcAft>
                <a:spcPts val="0"/>
              </a:spcAft>
              <a:buNone/>
            </a:pPr>
            <a:r>
              <a:rPr lang="it"/>
              <a:t>When you swipe with one finger, you scroll through pages or you move content from one side of the screen to the other. The gesture itself corresponds to the action you are performing. </a:t>
            </a:r>
            <a:endParaRPr/>
          </a:p>
          <a:p>
            <a:pPr indent="0" lvl="0" marL="0" rtl="0" algn="l">
              <a:spcBef>
                <a:spcPts val="1600"/>
              </a:spcBef>
              <a:spcAft>
                <a:spcPts val="0"/>
              </a:spcAft>
              <a:buClr>
                <a:schemeClr val="dk1"/>
              </a:buClr>
              <a:buSzPts val="1100"/>
              <a:buFont typeface="Arial"/>
              <a:buNone/>
            </a:pPr>
            <a:r>
              <a:rPr lang="it"/>
              <a:t>it shows the power of the principle here—things in the ‘digital world’ behave as they do in the ‘analogue world’.</a:t>
            </a:r>
            <a:endParaRPr/>
          </a:p>
          <a:p>
            <a:pPr indent="0" lvl="0" marL="0" rtl="0" algn="l">
              <a:spcBef>
                <a:spcPts val="1600"/>
              </a:spcBef>
              <a:spcAft>
                <a:spcPts val="1600"/>
              </a:spcAft>
              <a:buNone/>
            </a:pPr>
            <a:r>
              <a:rPr lang="it"/>
              <a:t>Some gestures, though, require more learning—e.g., a four-finger swipe to the left or right. The four-finger swipe is not intuitive—it doesn’t come naturally to us. Swiping with four fingers requires you as a user to learn it as a dedicated movement, because you need an understanding of the underlying system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Natural User Interfaces</a:t>
            </a:r>
            <a:endParaRPr/>
          </a:p>
        </p:txBody>
      </p:sp>
      <p:sp>
        <p:nvSpPr>
          <p:cNvPr id="100" name="Google Shape;100;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a:t>“Voice, gesture, touch does not necessarily Natural User Interface make.”</a:t>
            </a:r>
            <a:endParaRPr i="1"/>
          </a:p>
          <a:p>
            <a:pPr indent="0" lvl="0" marL="0" rtl="0" algn="l">
              <a:spcBef>
                <a:spcPts val="1600"/>
              </a:spcBef>
              <a:spcAft>
                <a:spcPts val="0"/>
              </a:spcAft>
              <a:buClr>
                <a:schemeClr val="dk1"/>
              </a:buClr>
              <a:buSzPts val="1100"/>
              <a:buFont typeface="Arial"/>
              <a:buNone/>
            </a:pPr>
            <a:r>
              <a:rPr lang="it"/>
              <a:t>—Bill Buxton, Principal Researcher at Microsoft</a:t>
            </a:r>
            <a:endParaRPr/>
          </a:p>
          <a:p>
            <a:pPr indent="0" lvl="0" marL="0" rtl="0" algn="l">
              <a:spcBef>
                <a:spcPts val="1600"/>
              </a:spcBef>
              <a:spcAft>
                <a:spcPts val="0"/>
              </a:spcAft>
              <a:buNone/>
            </a:pPr>
            <a:r>
              <a:rPr lang="it"/>
              <a:t>Microsoft has done a lot of research into NUIs. </a:t>
            </a:r>
            <a:endParaRPr/>
          </a:p>
          <a:p>
            <a:pPr indent="0" lvl="0" marL="0" rtl="0" algn="l">
              <a:spcBef>
                <a:spcPts val="1600"/>
              </a:spcBef>
              <a:spcAft>
                <a:spcPts val="0"/>
              </a:spcAft>
              <a:buNone/>
            </a:pPr>
            <a:r>
              <a:rPr lang="it"/>
              <a:t>NUIs exploit skills that we have acquired through a lifetime of living in the world, which minimizes the cognitive load and therefore minimizes the distraction. </a:t>
            </a:r>
            <a:endParaRPr/>
          </a:p>
          <a:p>
            <a:pPr indent="0" lvl="0" marL="0" rtl="0" algn="l">
              <a:spcBef>
                <a:spcPts val="1600"/>
              </a:spcBef>
              <a:spcAft>
                <a:spcPts val="0"/>
              </a:spcAft>
              <a:buNone/>
            </a:pPr>
            <a:r>
              <a:rPr lang="it"/>
              <a:t>NUIs should always be designed with the use context in mind. No user interface can be natural in all use contexts and to all users. </a:t>
            </a:r>
            <a:endParaRPr/>
          </a:p>
          <a:p>
            <a:pPr indent="0" lvl="0" marL="0" rtl="0" algn="l">
              <a:spcBef>
                <a:spcPts val="1600"/>
              </a:spcBef>
              <a:spcAft>
                <a:spcPts val="0"/>
              </a:spcAft>
              <a:buClr>
                <a:schemeClr val="dk1"/>
              </a:buClr>
              <a:buSzPts val="1100"/>
              <a:buFont typeface="Arial"/>
              <a:buNone/>
            </a:pPr>
            <a:r>
              <a:rPr lang="it"/>
              <a:t>While gestures, voice and touch are important components of many NUIs, they will only feel natural to a user if they match her skill level and her use context.</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Natural means no learning</a:t>
            </a:r>
            <a:endParaRPr/>
          </a:p>
        </p:txBody>
      </p:sp>
      <p:sp>
        <p:nvSpPr>
          <p:cNvPr id="106" name="Google Shape;106;p21"/>
          <p:cNvSpPr txBox="1"/>
          <p:nvPr>
            <p:ph idx="1" type="body"/>
          </p:nvPr>
        </p:nvSpPr>
        <p:spPr>
          <a:xfrm>
            <a:off x="311700" y="7262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200"/>
              <a:t>Two- and 3-year-old children could not follow any prompting technique and only a minority (27%) could tap the touchscreen at an intended place. Four- to 6-year-old children could perform simple gestures like a tap and slide (57%) and follow instructions provided through animation (63%). Seven- and 8-year-old children could perform more sophisticated gestures like dragging and dropping (30%) and follow instructions provided in audio and video formats (34%). </a:t>
            </a:r>
            <a:r>
              <a:rPr lang="it" sz="1200" u="sng">
                <a:solidFill>
                  <a:schemeClr val="hlink"/>
                </a:solidFill>
                <a:hlinkClick r:id="rId3"/>
              </a:rPr>
              <a:t>source here</a:t>
            </a:r>
            <a:endParaRPr sz="1200"/>
          </a:p>
        </p:txBody>
      </p:sp>
      <p:pic>
        <p:nvPicPr>
          <p:cNvPr id="107" name="Google Shape;107;p21"/>
          <p:cNvPicPr preferRelativeResize="0"/>
          <p:nvPr/>
        </p:nvPicPr>
        <p:blipFill>
          <a:blip r:embed="rId4">
            <a:alphaModFix/>
          </a:blip>
          <a:stretch>
            <a:fillRect/>
          </a:stretch>
        </p:blipFill>
        <p:spPr>
          <a:xfrm>
            <a:off x="56553" y="1783600"/>
            <a:ext cx="9030899" cy="3037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a:t>Joshua Blake lists four guidelines for designing NUIs</a:t>
            </a:r>
            <a:endParaRPr/>
          </a:p>
        </p:txBody>
      </p:sp>
      <p:sp>
        <p:nvSpPr>
          <p:cNvPr id="113" name="Google Shape;113;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a:t>Instant expertise</a:t>
            </a:r>
            <a:endParaRPr/>
          </a:p>
          <a:p>
            <a:pPr indent="-342900" lvl="0" marL="457200" rtl="0" algn="l">
              <a:spcBef>
                <a:spcPts val="0"/>
              </a:spcBef>
              <a:spcAft>
                <a:spcPts val="0"/>
              </a:spcAft>
              <a:buSzPts val="1800"/>
              <a:buChar char="●"/>
            </a:pPr>
            <a:r>
              <a:rPr lang="it"/>
              <a:t>Progressive learning</a:t>
            </a:r>
            <a:endParaRPr/>
          </a:p>
          <a:p>
            <a:pPr indent="-342900" lvl="0" marL="457200" rtl="0" algn="l">
              <a:spcBef>
                <a:spcPts val="0"/>
              </a:spcBef>
              <a:spcAft>
                <a:spcPts val="0"/>
              </a:spcAft>
              <a:buSzPts val="1800"/>
              <a:buChar char="●"/>
            </a:pPr>
            <a:r>
              <a:rPr lang="it"/>
              <a:t>Direct interaction</a:t>
            </a:r>
            <a:endParaRPr/>
          </a:p>
          <a:p>
            <a:pPr indent="-342900" lvl="0" marL="457200" rtl="0" algn="l">
              <a:spcBef>
                <a:spcPts val="0"/>
              </a:spcBef>
              <a:spcAft>
                <a:spcPts val="0"/>
              </a:spcAft>
              <a:buSzPts val="1800"/>
              <a:buChar char="●"/>
            </a:pPr>
            <a:r>
              <a:rPr lang="it"/>
              <a:t>Low cognitive load (primarily use innate abilities and simple skills)</a:t>
            </a:r>
            <a:endParaRPr/>
          </a:p>
          <a:p>
            <a:pPr indent="0" lvl="0" marL="0" rtl="0" algn="l">
              <a:spcBef>
                <a:spcPts val="1600"/>
              </a:spcBef>
              <a:spcAft>
                <a:spcPts val="0"/>
              </a:spcAft>
              <a:buNone/>
            </a:pPr>
            <a:r>
              <a:rPr lang="it"/>
              <a:t>more info here </a:t>
            </a:r>
            <a:r>
              <a:rPr lang="it" u="sng">
                <a:solidFill>
                  <a:schemeClr val="hlink"/>
                </a:solidFill>
                <a:hlinkClick r:id="rId3"/>
              </a:rPr>
              <a:t>https://www.interaction-design.org/literature/article/natural-user-interfaces-what-are-they-and-how-do-you-design-user-interfaces-that-feel-natural</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NUI in a nutshell</a:t>
            </a:r>
            <a:endParaRPr/>
          </a:p>
        </p:txBody>
      </p:sp>
      <p:sp>
        <p:nvSpPr>
          <p:cNvPr id="119" name="Google Shape;119;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An NUI is a user interface that feels natural to use because it fits the skills and context of the user. </a:t>
            </a:r>
            <a:endParaRPr/>
          </a:p>
          <a:p>
            <a:pPr indent="-342900" lvl="0" marL="457200" rtl="0" algn="l">
              <a:spcBef>
                <a:spcPts val="1600"/>
              </a:spcBef>
              <a:spcAft>
                <a:spcPts val="0"/>
              </a:spcAft>
              <a:buSzPts val="1800"/>
              <a:buChar char="●"/>
            </a:pPr>
            <a:r>
              <a:rPr lang="it"/>
              <a:t>An NUI should take advantage of the users’ existing skills and knowledge.</a:t>
            </a:r>
            <a:endParaRPr/>
          </a:p>
          <a:p>
            <a:pPr indent="-342900" lvl="0" marL="457200" rtl="0" algn="l">
              <a:spcBef>
                <a:spcPts val="0"/>
              </a:spcBef>
              <a:spcAft>
                <a:spcPts val="0"/>
              </a:spcAft>
              <a:buSzPts val="1800"/>
              <a:buChar char="●"/>
            </a:pPr>
            <a:r>
              <a:rPr lang="it"/>
              <a:t>An NUI should have a clear learning path and allow both novice and expert users to interact in a natural way.</a:t>
            </a:r>
            <a:endParaRPr/>
          </a:p>
          <a:p>
            <a:pPr indent="-342900" lvl="0" marL="457200" rtl="0" algn="l">
              <a:spcBef>
                <a:spcPts val="0"/>
              </a:spcBef>
              <a:spcAft>
                <a:spcPts val="0"/>
              </a:spcAft>
              <a:buSzPts val="1800"/>
              <a:buChar char="●"/>
            </a:pPr>
            <a:r>
              <a:rPr lang="it"/>
              <a:t>Interaction with an NUI should be direct and fit the user’s context.</a:t>
            </a:r>
            <a:endParaRPr/>
          </a:p>
          <a:p>
            <a:pPr indent="-342900" lvl="0" marL="457200" rtl="0" algn="l">
              <a:spcBef>
                <a:spcPts val="0"/>
              </a:spcBef>
              <a:spcAft>
                <a:spcPts val="0"/>
              </a:spcAft>
              <a:buSzPts val="1800"/>
              <a:buChar char="●"/>
            </a:pPr>
            <a:r>
              <a:rPr lang="it"/>
              <a:t>Whenever possible, you should prioritize taking advantage of the user’s basic skills.</a:t>
            </a:r>
            <a:endParaRPr/>
          </a:p>
          <a:p>
            <a:pPr indent="0" lvl="0" marL="0" rtl="0" algn="l">
              <a:spcBef>
                <a:spcPts val="1600"/>
              </a:spcBef>
              <a:spcAft>
                <a:spcPts val="0"/>
              </a:spcAft>
              <a:buClr>
                <a:schemeClr val="dk1"/>
              </a:buClr>
              <a:buSzPts val="1100"/>
              <a:buFont typeface="Arial"/>
              <a:buNone/>
            </a:pPr>
            <a:r>
              <a:rPr b="1" lang="it"/>
              <a:t>great design is about satisfying needs, not outsmarting users.</a:t>
            </a:r>
            <a:endParaRPr b="1"/>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Reality Based Interfaces</a:t>
            </a:r>
            <a:endParaRPr/>
          </a:p>
        </p:txBody>
      </p:sp>
      <p:sp>
        <p:nvSpPr>
          <p:cNvPr id="125" name="Google Shape;125;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One strategy for the design of NUI is the use of a "reality user interface" ("RUI"), also known as "reality-based interfaces" (RBI) methods. </a:t>
            </a:r>
            <a:endParaRPr/>
          </a:p>
          <a:p>
            <a:pPr indent="0" lvl="0" marL="0" rtl="0" algn="l">
              <a:spcBef>
                <a:spcPts val="1600"/>
              </a:spcBef>
              <a:spcAft>
                <a:spcPts val="0"/>
              </a:spcAft>
              <a:buNone/>
            </a:pPr>
            <a:r>
              <a:rPr b="1" lang="it"/>
              <a:t>One example of an RUI strategy is to use a wearable device to render real-world objects "clickable",</a:t>
            </a:r>
            <a:r>
              <a:rPr lang="it"/>
              <a:t> i.e. so that the wearer can click on any everyday object so as to make it function as a hyperlink, thus merging cyberspace and the real world. </a:t>
            </a:r>
            <a:endParaRPr/>
          </a:p>
          <a:p>
            <a:pPr indent="0" lvl="0" marL="0" rtl="0" algn="l">
              <a:spcBef>
                <a:spcPts val="1600"/>
              </a:spcBef>
              <a:spcAft>
                <a:spcPts val="1600"/>
              </a:spcAft>
              <a:buNone/>
            </a:pPr>
            <a:r>
              <a:rPr lang="it"/>
              <a:t>Because the term "natural" is evocative of the "natural world", RBI are often confused for NUI, when in fact they are merely one means of achieving 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32" name="Google Shape;132;p25"/>
          <p:cNvPicPr preferRelativeResize="0"/>
          <p:nvPr/>
        </p:nvPicPr>
        <p:blipFill>
          <a:blip r:embed="rId3">
            <a:alphaModFix/>
          </a:blip>
          <a:stretch>
            <a:fillRect/>
          </a:stretch>
        </p:blipFill>
        <p:spPr>
          <a:xfrm>
            <a:off x="34176" y="0"/>
            <a:ext cx="4351249" cy="5143501"/>
          </a:xfrm>
          <a:prstGeom prst="rect">
            <a:avLst/>
          </a:prstGeom>
          <a:noFill/>
          <a:ln>
            <a:noFill/>
          </a:ln>
        </p:spPr>
      </p:pic>
      <p:pic>
        <p:nvPicPr>
          <p:cNvPr id="133" name="Google Shape;133;p25"/>
          <p:cNvPicPr preferRelativeResize="0"/>
          <p:nvPr/>
        </p:nvPicPr>
        <p:blipFill>
          <a:blip r:embed="rId4">
            <a:alphaModFix/>
          </a:blip>
          <a:stretch>
            <a:fillRect/>
          </a:stretch>
        </p:blipFill>
        <p:spPr>
          <a:xfrm>
            <a:off x="4422320" y="1147750"/>
            <a:ext cx="4721674" cy="2685550"/>
          </a:xfrm>
          <a:prstGeom prst="rect">
            <a:avLst/>
          </a:prstGeom>
          <a:noFill/>
          <a:ln>
            <a:noFill/>
          </a:ln>
        </p:spPr>
      </p:pic>
      <p:sp>
        <p:nvSpPr>
          <p:cNvPr id="134" name="Google Shape;134;p25"/>
          <p:cNvSpPr txBox="1"/>
          <p:nvPr/>
        </p:nvSpPr>
        <p:spPr>
          <a:xfrm>
            <a:off x="4622250" y="4137000"/>
            <a:ext cx="3170700" cy="8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5"/>
              </a:rPr>
              <a:t>https://www.youtube.com/watch?v=LZWnGo_IsDw&amp;ab_channel=RUISVR</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Natural User Interfaces </a:t>
            </a:r>
            <a:r>
              <a:rPr lang="it"/>
              <a:t>without</a:t>
            </a:r>
            <a:r>
              <a:rPr lang="it"/>
              <a:t> RBI</a:t>
            </a:r>
            <a:endParaRPr/>
          </a:p>
          <a:p>
            <a:pPr indent="0" lvl="0" marL="0" rtl="0" algn="l">
              <a:spcBef>
                <a:spcPts val="0"/>
              </a:spcBef>
              <a:spcAft>
                <a:spcPts val="0"/>
              </a:spcAft>
              <a:buNone/>
            </a:pPr>
            <a:r>
              <a:t/>
            </a:r>
            <a:endParaRPr/>
          </a:p>
        </p:txBody>
      </p:sp>
      <p:sp>
        <p:nvSpPr>
          <p:cNvPr id="140" name="Google Shape;140;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One example of a strategy for designing a NUI not based in RBI is the strict limiting of functionality and customization, so that users have very little to learn in the operation of a device. </a:t>
            </a:r>
            <a:endParaRPr/>
          </a:p>
          <a:p>
            <a:pPr indent="0" lvl="0" marL="0" rtl="0" algn="l">
              <a:spcBef>
                <a:spcPts val="1600"/>
              </a:spcBef>
              <a:spcAft>
                <a:spcPts val="0"/>
              </a:spcAft>
              <a:buClr>
                <a:schemeClr val="dk1"/>
              </a:buClr>
              <a:buSzPts val="1100"/>
              <a:buFont typeface="Arial"/>
              <a:buNone/>
            </a:pPr>
            <a:r>
              <a:rPr lang="it"/>
              <a:t>Provided that the default capabilities match the user's goals, the interface is effortless to use. </a:t>
            </a:r>
            <a:endParaRPr/>
          </a:p>
          <a:p>
            <a:pPr indent="0" lvl="0" marL="0" rtl="0" algn="l">
              <a:spcBef>
                <a:spcPts val="1600"/>
              </a:spcBef>
              <a:spcAft>
                <a:spcPts val="0"/>
              </a:spcAft>
              <a:buClr>
                <a:schemeClr val="dk1"/>
              </a:buClr>
              <a:buSzPts val="1100"/>
              <a:buFont typeface="Arial"/>
              <a:buNone/>
            </a:pPr>
            <a:r>
              <a:rPr lang="it"/>
              <a:t>This is an overarching design strategy in Apple's iOS. </a:t>
            </a:r>
            <a:r>
              <a:rPr lang="it" u="sng">
                <a:solidFill>
                  <a:schemeClr val="hlink"/>
                </a:solidFill>
                <a:hlinkClick r:id="rId3"/>
              </a:rPr>
              <a:t>https://www.youtube.com/watch?v=qhEt1Pd-twM&amp;ab_channel=phototristan</a:t>
            </a:r>
            <a:endParaRPr/>
          </a:p>
          <a:p>
            <a:pPr indent="0" lvl="0" marL="0" rtl="0" algn="l">
              <a:spcBef>
                <a:spcPts val="1600"/>
              </a:spcBef>
              <a:spcAft>
                <a:spcPts val="0"/>
              </a:spcAft>
              <a:buClr>
                <a:schemeClr val="dk1"/>
              </a:buClr>
              <a:buSzPts val="1100"/>
              <a:buFont typeface="Arial"/>
              <a:buNone/>
            </a:pPr>
            <a:r>
              <a:rPr lang="it"/>
              <a:t>Because this design is coincident with a direct-touch display, non-designers commonly misattribute the effortlessness of interacting with the device to that multi-touch display, and not to the design of the software where it actually resides.</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CEEDs project</a:t>
            </a:r>
            <a:endParaRPr/>
          </a:p>
        </p:txBody>
      </p:sp>
      <p:sp>
        <p:nvSpPr>
          <p:cNvPr id="146" name="Google Shape;146;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https://www.youtube.com/user/ceedsproject</a:t>
            </a:r>
            <a:r>
              <a:rPr lang="it"/>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