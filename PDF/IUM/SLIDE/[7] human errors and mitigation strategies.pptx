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571f6b7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6571f6b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571f6b74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571f6b7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6571f6b74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6571f6b74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6571f6b74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571f6b74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571f6b74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571f6b74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6571f6b74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6571f6b74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6571f6b74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6571f6b74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6571f6b74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6571f6b74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6571f6b74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571f6b74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6571f6b74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6571f6b74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d159517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d159517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9d159517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9d159517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9d1595174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9d1595174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9d1595174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9d1595174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9d1595174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9d1595174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9d1595174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9d1595174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06f4fb74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06f4fb74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9d1595174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9d1595174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9d1595174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9d1595174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d1595174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9d1595174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9d1595174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9d1595174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9d1595174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9d1595174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9d1595174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9d1595174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9d1595174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9d1595174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9d1595174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9d1595174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9d1595174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9d1595174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9d1595174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9d1595174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9d1595174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9d1595174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9d1595174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9d1595174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9d1595174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9d1595174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9d1595174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9d1595174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9d1595174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9d1595174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9d1595174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9d1595174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9d1595174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9d1595174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9d15951748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9d15951748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9d1595174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9d1595174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uxdesign.cc/how-to-prevent-your-users-from-making-mistakes-d641c6260b2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Human Error and Mitigation Strategies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Error</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Most industrial accidents are caused by human error:</a:t>
            </a:r>
            <a:r>
              <a:rPr lang="it"/>
              <a:t> estimates range between 75 and 95 percent. </a:t>
            </a:r>
            <a:endParaRPr/>
          </a:p>
          <a:p>
            <a:pPr indent="0" lvl="0" marL="0" rtl="0" algn="l">
              <a:spcBef>
                <a:spcPts val="1600"/>
              </a:spcBef>
              <a:spcAft>
                <a:spcPts val="0"/>
              </a:spcAft>
              <a:buNone/>
            </a:pPr>
            <a:r>
              <a:rPr lang="it"/>
              <a:t>How is it that so many people are so incompetent? </a:t>
            </a:r>
            <a:endParaRPr/>
          </a:p>
          <a:p>
            <a:pPr indent="0" lvl="0" marL="0" rtl="0" algn="l">
              <a:spcBef>
                <a:spcPts val="1600"/>
              </a:spcBef>
              <a:spcAft>
                <a:spcPts val="0"/>
              </a:spcAft>
              <a:buClr>
                <a:schemeClr val="dk1"/>
              </a:buClr>
              <a:buSzPts val="1100"/>
              <a:buFont typeface="Arial"/>
              <a:buNone/>
            </a:pPr>
            <a:r>
              <a:rPr lang="it"/>
              <a:t>Answer: </a:t>
            </a:r>
            <a:r>
              <a:rPr b="1" lang="it"/>
              <a:t>They aren’t. It’s a design problem.</a:t>
            </a:r>
            <a:endParaRPr b="1"/>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a:t>
            </a:r>
            <a:endParaRPr/>
          </a:p>
        </p:txBody>
      </p:sp>
      <p:sp>
        <p:nvSpPr>
          <p:cNvPr id="68" name="Google Shape;68;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design equipment that requires people to be fully alert and attentive for hours, or to remember archaic, confusing procedures even if they are only used infrequently, sometimes only once in a lifetime. </a:t>
            </a:r>
            <a:endParaRPr/>
          </a:p>
          <a:p>
            <a:pPr indent="0" lvl="0" marL="0" rtl="0" algn="l">
              <a:spcBef>
                <a:spcPts val="1600"/>
              </a:spcBef>
              <a:spcAft>
                <a:spcPts val="0"/>
              </a:spcAft>
              <a:buNone/>
            </a:pPr>
            <a:r>
              <a:rPr lang="it"/>
              <a:t>We put people in boring environments with nothing to do for hours on end, until suddenly they must respond quickly and accurately. </a:t>
            </a:r>
            <a:endParaRPr/>
          </a:p>
          <a:p>
            <a:pPr indent="0" lvl="0" marL="0" rtl="0" algn="l">
              <a:spcBef>
                <a:spcPts val="1600"/>
              </a:spcBef>
              <a:spcAft>
                <a:spcPts val="0"/>
              </a:spcAft>
              <a:buClr>
                <a:schemeClr val="dk1"/>
              </a:buClr>
              <a:buSzPts val="1100"/>
              <a:buFont typeface="Arial"/>
              <a:buNone/>
            </a:pPr>
            <a:r>
              <a:rPr lang="it"/>
              <a:t>Or we subject them to complex, high-workload environments, where they are continually interrupted while having to do multiple tasks simultaneously.</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a:t>
            </a:r>
            <a:endParaRPr/>
          </a:p>
        </p:txBody>
      </p:sp>
      <p:sp>
        <p:nvSpPr>
          <p:cNvPr id="74" name="Google Shape;74;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Interruptions are a common reason for error</a:t>
            </a:r>
            <a:r>
              <a:rPr lang="it"/>
              <a:t>, not helped by designs and procedures that assume full, dedicated attention yet that do not make it easy to resume operations after an interruption.</a:t>
            </a:r>
            <a:endParaRPr/>
          </a:p>
          <a:p>
            <a:pPr indent="0" lvl="0" marL="0" rtl="0" algn="l">
              <a:spcBef>
                <a:spcPts val="1600"/>
              </a:spcBef>
              <a:spcAft>
                <a:spcPts val="1600"/>
              </a:spcAft>
              <a:buNone/>
            </a:pPr>
            <a:r>
              <a:t/>
            </a:r>
            <a:endParaRPr/>
          </a:p>
        </p:txBody>
      </p:sp>
      <p:pic>
        <p:nvPicPr>
          <p:cNvPr id="75" name="Google Shape;75;p16"/>
          <p:cNvPicPr preferRelativeResize="0"/>
          <p:nvPr/>
        </p:nvPicPr>
        <p:blipFill>
          <a:blip r:embed="rId3">
            <a:alphaModFix/>
          </a:blip>
          <a:stretch>
            <a:fillRect/>
          </a:stretch>
        </p:blipFill>
        <p:spPr>
          <a:xfrm>
            <a:off x="5025100" y="2453725"/>
            <a:ext cx="4062150" cy="2369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attitude towards errors</a:t>
            </a:r>
            <a:endParaRPr/>
          </a:p>
        </p:txBody>
      </p:sp>
      <p:sp>
        <p:nvSpPr>
          <p:cNvPr id="81" name="Google Shape;81;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caught the culprit.” </a:t>
            </a:r>
            <a:endParaRPr/>
          </a:p>
          <a:p>
            <a:pPr indent="0" lvl="0" marL="0" rtl="0" algn="l">
              <a:spcBef>
                <a:spcPts val="1600"/>
              </a:spcBef>
              <a:spcAft>
                <a:spcPts val="0"/>
              </a:spcAft>
              <a:buClr>
                <a:schemeClr val="dk1"/>
              </a:buClr>
              <a:buSzPts val="1100"/>
              <a:buFont typeface="Arial"/>
              <a:buNone/>
            </a:pPr>
            <a:r>
              <a:rPr lang="it"/>
              <a:t>But it doesn’t cure the problem: the same error will occur over and over again. Instead, when an error happens, we should determine why, then redesign the product or the procedures being followed so that it will never occur again or, if it does, so that it will have minimal impact.</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ROOT CAUSE ANALYSIS</a:t>
            </a:r>
            <a:endParaRPr/>
          </a:p>
        </p:txBody>
      </p:sp>
      <p:sp>
        <p:nvSpPr>
          <p:cNvPr id="87" name="Google Shape;87;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investigate the accident until the single, underlying cause is found. </a:t>
            </a:r>
            <a:endParaRPr/>
          </a:p>
          <a:p>
            <a:pPr indent="0" lvl="0" marL="0" rtl="0" algn="l">
              <a:spcBef>
                <a:spcPts val="1600"/>
              </a:spcBef>
              <a:spcAft>
                <a:spcPts val="0"/>
              </a:spcAft>
              <a:buNone/>
            </a:pPr>
            <a:r>
              <a:rPr lang="it"/>
              <a:t>What this ought to mean is that when people have indeed made erroneous decisions or actions, we should determine what caused them to err. </a:t>
            </a:r>
            <a:endParaRPr/>
          </a:p>
          <a:p>
            <a:pPr indent="0" lvl="0" marL="0" rtl="0" algn="l">
              <a:spcBef>
                <a:spcPts val="1600"/>
              </a:spcBef>
              <a:spcAft>
                <a:spcPts val="0"/>
              </a:spcAft>
              <a:buNone/>
            </a:pPr>
            <a:r>
              <a:rPr lang="it"/>
              <a:t>This is what root cause analysis ought to be about. Alas, all too often it stops once a person is found to have acted inappropriately.</a:t>
            </a:r>
            <a:endParaRPr/>
          </a:p>
          <a:p>
            <a:pPr indent="0" lvl="0" marL="0" rtl="0" algn="l">
              <a:spcBef>
                <a:spcPts val="1600"/>
              </a:spcBef>
              <a:spcAft>
                <a:spcPts val="0"/>
              </a:spcAft>
              <a:buNone/>
            </a:pPr>
            <a:r>
              <a:rPr lang="it"/>
              <a:t>most accidents do not have a single cause: </a:t>
            </a:r>
            <a:br>
              <a:rPr lang="it"/>
            </a:br>
            <a:r>
              <a:rPr lang="it"/>
              <a:t>there are usually multiple things that went wrong</a:t>
            </a:r>
            <a:endParaRPr/>
          </a:p>
          <a:p>
            <a:pPr indent="0" lvl="0" marL="0" rtl="0" algn="l">
              <a:spcBef>
                <a:spcPts val="1600"/>
              </a:spcBef>
              <a:spcAft>
                <a:spcPts val="0"/>
              </a:spcAft>
              <a:buNone/>
            </a:pPr>
            <a:r>
              <a:rPr lang="it"/>
              <a:t>This is what James Reason has called the </a:t>
            </a:r>
            <a:br>
              <a:rPr lang="it"/>
            </a:br>
            <a:r>
              <a:rPr i="1" lang="it"/>
              <a:t>“Swiss cheese model of accidents”</a:t>
            </a:r>
            <a:endParaRPr i="1"/>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88" name="Google Shape;88;p18"/>
          <p:cNvPicPr preferRelativeResize="0"/>
          <p:nvPr/>
        </p:nvPicPr>
        <p:blipFill>
          <a:blip r:embed="rId3">
            <a:alphaModFix/>
          </a:blip>
          <a:stretch>
            <a:fillRect/>
          </a:stretch>
        </p:blipFill>
        <p:spPr>
          <a:xfrm>
            <a:off x="5849575" y="2477013"/>
            <a:ext cx="3124200" cy="2276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FIVE WHYS</a:t>
            </a:r>
            <a:endParaRPr/>
          </a:p>
        </p:txBody>
      </p:sp>
      <p:sp>
        <p:nvSpPr>
          <p:cNvPr id="94" name="Google Shape;94;p19"/>
          <p:cNvSpPr txBox="1"/>
          <p:nvPr>
            <p:ph idx="1" type="body"/>
          </p:nvPr>
        </p:nvSpPr>
        <p:spPr>
          <a:xfrm>
            <a:off x="311700" y="688275"/>
            <a:ext cx="5022300" cy="38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600"/>
              <a:t>originally developed by Sakichi Toyoda and used by the Toyota Motor Company as part of the Toyota Production System for improving quality. </a:t>
            </a:r>
            <a:endParaRPr sz="1600"/>
          </a:p>
          <a:p>
            <a:pPr indent="0" lvl="0" marL="0" rtl="0" algn="l">
              <a:spcBef>
                <a:spcPts val="1600"/>
              </a:spcBef>
              <a:spcAft>
                <a:spcPts val="0"/>
              </a:spcAft>
              <a:buNone/>
            </a:pPr>
            <a:r>
              <a:rPr lang="it" sz="1600"/>
              <a:t>Today it is widely deployed. Basically, it means that when searching for the reason, even after you have found one, do not stop: ask why that was the case.</a:t>
            </a:r>
            <a:endParaRPr sz="1600"/>
          </a:p>
          <a:p>
            <a:pPr indent="0" lvl="0" marL="0" rtl="0" algn="l">
              <a:spcBef>
                <a:spcPts val="1600"/>
              </a:spcBef>
              <a:spcAft>
                <a:spcPts val="0"/>
              </a:spcAft>
              <a:buNone/>
            </a:pPr>
            <a:r>
              <a:rPr lang="it" sz="1600"/>
              <a:t>And then ask why again. Keep asking until you have uncovered the true underlying causes. </a:t>
            </a:r>
            <a:endParaRPr sz="1600"/>
          </a:p>
          <a:p>
            <a:pPr indent="0" lvl="0" marL="0" rtl="0" algn="l">
              <a:spcBef>
                <a:spcPts val="1600"/>
              </a:spcBef>
              <a:spcAft>
                <a:spcPts val="0"/>
              </a:spcAft>
              <a:buClr>
                <a:schemeClr val="dk1"/>
              </a:buClr>
              <a:buSzPts val="1100"/>
              <a:buFont typeface="Arial"/>
              <a:buNone/>
            </a:pPr>
            <a:r>
              <a:rPr lang="it" sz="1600"/>
              <a:t>Does it take exactly five? No, but calling the procedure “Five Whys” emphasizes the need to keep going even after a reason has been found.</a:t>
            </a:r>
            <a:endParaRPr sz="1600"/>
          </a:p>
          <a:p>
            <a:pPr indent="0" lvl="0" marL="0" rtl="0" algn="l">
              <a:spcBef>
                <a:spcPts val="1600"/>
              </a:spcBef>
              <a:spcAft>
                <a:spcPts val="1600"/>
              </a:spcAft>
              <a:buNone/>
            </a:pPr>
            <a:r>
              <a:t/>
            </a:r>
            <a:endParaRPr sz="1600"/>
          </a:p>
        </p:txBody>
      </p:sp>
      <p:pic>
        <p:nvPicPr>
          <p:cNvPr id="95" name="Google Shape;95;p19"/>
          <p:cNvPicPr preferRelativeResize="0"/>
          <p:nvPr/>
        </p:nvPicPr>
        <p:blipFill>
          <a:blip r:embed="rId3">
            <a:alphaModFix/>
          </a:blip>
          <a:stretch>
            <a:fillRect/>
          </a:stretch>
        </p:blipFill>
        <p:spPr>
          <a:xfrm>
            <a:off x="5334000" y="-12"/>
            <a:ext cx="3810000" cy="494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2" name="Google Shape;102;p20"/>
          <p:cNvPicPr preferRelativeResize="0"/>
          <p:nvPr/>
        </p:nvPicPr>
        <p:blipFill>
          <a:blip r:embed="rId3">
            <a:alphaModFix/>
          </a:blip>
          <a:stretch>
            <a:fillRect/>
          </a:stretch>
        </p:blipFill>
        <p:spPr>
          <a:xfrm>
            <a:off x="0" y="180594"/>
            <a:ext cx="9144000" cy="47823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attitude toward errors</a:t>
            </a:r>
            <a:endParaRPr/>
          </a:p>
        </p:txBody>
      </p:sp>
      <p:sp>
        <p:nvSpPr>
          <p:cNvPr id="108" name="Google Shape;108;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We can’t fix problems unless people admit they exist.</a:t>
            </a:r>
            <a:r>
              <a:rPr lang="it"/>
              <a:t> </a:t>
            </a:r>
            <a:endParaRPr/>
          </a:p>
          <a:p>
            <a:pPr indent="0" lvl="0" marL="0" rtl="0" algn="l">
              <a:spcBef>
                <a:spcPts val="1600"/>
              </a:spcBef>
              <a:spcAft>
                <a:spcPts val="0"/>
              </a:spcAft>
              <a:buClr>
                <a:schemeClr val="dk1"/>
              </a:buClr>
              <a:buSzPts val="1100"/>
              <a:buFont typeface="Arial"/>
              <a:buNone/>
            </a:pPr>
            <a:r>
              <a:rPr lang="it"/>
              <a:t>When we blame people, it is then difficult to convince organizations to restructure the design to eliminate these problems.</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 do people err?</a:t>
            </a:r>
            <a:endParaRPr/>
          </a:p>
        </p:txBody>
      </p:sp>
      <p:sp>
        <p:nvSpPr>
          <p:cNvPr id="114" name="Google Shape;114;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Because the designs focus upon the requirements of the system and the machines, and not upon the requirements of people. </a:t>
            </a:r>
            <a:endParaRPr/>
          </a:p>
          <a:p>
            <a:pPr indent="0" lvl="0" marL="0" rtl="0" algn="l">
              <a:spcBef>
                <a:spcPts val="1600"/>
              </a:spcBef>
              <a:spcAft>
                <a:spcPts val="0"/>
              </a:spcAft>
              <a:buNone/>
            </a:pPr>
            <a:r>
              <a:rPr lang="it"/>
              <a:t>Most machines require precise commands and guidance, forcing people to enter numerical information perfectly.</a:t>
            </a:r>
            <a:endParaRPr/>
          </a:p>
          <a:p>
            <a:pPr indent="0" lvl="0" marL="0" rtl="0" algn="l">
              <a:spcBef>
                <a:spcPts val="1600"/>
              </a:spcBef>
              <a:spcAft>
                <a:spcPts val="0"/>
              </a:spcAft>
              <a:buClr>
                <a:schemeClr val="dk1"/>
              </a:buClr>
              <a:buSzPts val="1100"/>
              <a:buFont typeface="Arial"/>
              <a:buNone/>
            </a:pPr>
            <a:r>
              <a:rPr b="1" lang="it"/>
              <a:t>But people aren’t very good at great precision.</a:t>
            </a:r>
            <a:endParaRPr b="1"/>
          </a:p>
          <a:p>
            <a:pPr indent="0" lvl="0" marL="0" rtl="0" algn="l">
              <a:spcBef>
                <a:spcPts val="1600"/>
              </a:spcBef>
              <a:spcAft>
                <a:spcPts val="0"/>
              </a:spcAft>
              <a:buClr>
                <a:schemeClr val="dk1"/>
              </a:buClr>
              <a:buSzPts val="1100"/>
              <a:buFont typeface="Arial"/>
              <a:buNone/>
            </a:pPr>
            <a:r>
              <a:rPr lang="it"/>
              <a:t>People are creative, constructive, exploratory beings. We are particularly good at novelty, at creating new ways of doing things, and at seeing new opportunities. Dull, repetitive, precise requirements fight against these traits.</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DEFINITIONS: ERRORS</a:t>
            </a:r>
            <a:endParaRPr/>
          </a:p>
        </p:txBody>
      </p:sp>
      <p:sp>
        <p:nvSpPr>
          <p:cNvPr id="120" name="Google Shape;120;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error is defined as any deviance from “appropriate” behavior.</a:t>
            </a:r>
            <a:endParaRPr/>
          </a:p>
          <a:p>
            <a:pPr indent="0" lvl="0" marL="0" rtl="0" algn="l">
              <a:spcBef>
                <a:spcPts val="1600"/>
              </a:spcBef>
              <a:spcAft>
                <a:spcPts val="0"/>
              </a:spcAft>
              <a:buNone/>
            </a:pPr>
            <a:r>
              <a:rPr lang="it"/>
              <a:t>The word appropriate is in quotes because in many circumstances, the appropriate behavior is not known or is only determined after the fact. B t still, error is defined as deviance from the generally accepted correct or appropriate behavior.</a:t>
            </a:r>
            <a:endParaRPr/>
          </a:p>
          <a:p>
            <a:pPr indent="0" lvl="0" marL="0" rtl="0" algn="l">
              <a:spcBef>
                <a:spcPts val="1600"/>
              </a:spcBef>
              <a:spcAft>
                <a:spcPts val="0"/>
              </a:spcAft>
              <a:buNone/>
            </a:pPr>
            <a:r>
              <a:rPr b="1" lang="it"/>
              <a:t>Error is the general term for all wrong actions.</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Slips and Mistakes</a:t>
            </a:r>
            <a:endParaRPr/>
          </a:p>
        </p:txBody>
      </p:sp>
      <p:sp>
        <p:nvSpPr>
          <p:cNvPr id="126" name="Google Shape;126;p24"/>
          <p:cNvSpPr txBox="1"/>
          <p:nvPr>
            <p:ph idx="1" type="body"/>
          </p:nvPr>
        </p:nvSpPr>
        <p:spPr>
          <a:xfrm>
            <a:off x="311700" y="1152475"/>
            <a:ext cx="4846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There are two major classes of error: </a:t>
            </a:r>
            <a:endParaRPr/>
          </a:p>
          <a:p>
            <a:pPr indent="0" lvl="0" marL="0" rtl="0" algn="l">
              <a:spcBef>
                <a:spcPts val="1600"/>
              </a:spcBef>
              <a:spcAft>
                <a:spcPts val="0"/>
              </a:spcAft>
              <a:buNone/>
            </a:pPr>
            <a:r>
              <a:rPr b="1" lang="it"/>
              <a:t>slips </a:t>
            </a:r>
            <a:r>
              <a:rPr lang="it"/>
              <a:t>(lapsus)</a:t>
            </a:r>
            <a:endParaRPr/>
          </a:p>
          <a:p>
            <a:pPr indent="0" lvl="0" marL="0" rtl="0" algn="l">
              <a:spcBef>
                <a:spcPts val="1600"/>
              </a:spcBef>
              <a:spcAft>
                <a:spcPts val="0"/>
              </a:spcAft>
              <a:buNone/>
            </a:pPr>
            <a:r>
              <a:rPr b="1" lang="it"/>
              <a:t>mistakes</a:t>
            </a:r>
            <a:r>
              <a:rPr lang="it"/>
              <a:t> (errori cognitivi)</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27" name="Google Shape;127;p24"/>
          <p:cNvPicPr preferRelativeResize="0"/>
          <p:nvPr/>
        </p:nvPicPr>
        <p:blipFill>
          <a:blip r:embed="rId3">
            <a:alphaModFix/>
          </a:blip>
          <a:stretch>
            <a:fillRect/>
          </a:stretch>
        </p:blipFill>
        <p:spPr>
          <a:xfrm>
            <a:off x="5354188" y="749338"/>
            <a:ext cx="3743325" cy="3819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(lapsus)</a:t>
            </a:r>
            <a:endParaRPr/>
          </a:p>
        </p:txBody>
      </p:sp>
      <p:sp>
        <p:nvSpPr>
          <p:cNvPr id="133" name="Google Shape;133;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slip occurs when a person intends to do one action and ends up doing something else. </a:t>
            </a:r>
            <a:endParaRPr/>
          </a:p>
          <a:p>
            <a:pPr indent="0" lvl="0" marL="0" rtl="0" algn="l">
              <a:spcBef>
                <a:spcPts val="1600"/>
              </a:spcBef>
              <a:spcAft>
                <a:spcPts val="0"/>
              </a:spcAft>
              <a:buClr>
                <a:schemeClr val="dk1"/>
              </a:buClr>
              <a:buSzPts val="1100"/>
              <a:buFont typeface="Arial"/>
              <a:buNone/>
            </a:pPr>
            <a:r>
              <a:rPr lang="it"/>
              <a:t>With a slip, the action performed is not the same as the action that was intended.</a:t>
            </a:r>
            <a:endParaRPr/>
          </a:p>
          <a:p>
            <a:pPr indent="0" lvl="0" marL="0" rtl="0" algn="l">
              <a:spcBef>
                <a:spcPts val="1600"/>
              </a:spcBef>
              <a:spcAft>
                <a:spcPts val="0"/>
              </a:spcAft>
              <a:buClr>
                <a:schemeClr val="dk1"/>
              </a:buClr>
              <a:buSzPts val="1100"/>
              <a:buFont typeface="Arial"/>
              <a:buNone/>
            </a:pPr>
            <a:r>
              <a:rPr lang="it"/>
              <a:t>There are two major classes of slips: action-based and memory-lapse.</a:t>
            </a:r>
            <a:endParaRPr/>
          </a:p>
          <a:p>
            <a:pPr indent="0" lvl="0" marL="0" rtl="0" algn="l">
              <a:spcBef>
                <a:spcPts val="1600"/>
              </a:spcBef>
              <a:spcAft>
                <a:spcPts val="0"/>
              </a:spcAft>
              <a:buNone/>
            </a:pPr>
            <a:r>
              <a:rPr b="1" lang="it"/>
              <a:t>In action-based slips</a:t>
            </a:r>
            <a:r>
              <a:rPr lang="it"/>
              <a:t>, the wrong action is performed. </a:t>
            </a:r>
            <a:endParaRPr/>
          </a:p>
          <a:p>
            <a:pPr indent="0" lvl="0" marL="0" rtl="0" algn="l">
              <a:spcBef>
                <a:spcPts val="1600"/>
              </a:spcBef>
              <a:spcAft>
                <a:spcPts val="0"/>
              </a:spcAft>
              <a:buClr>
                <a:schemeClr val="dk1"/>
              </a:buClr>
              <a:buSzPts val="1100"/>
              <a:buFont typeface="Arial"/>
              <a:buNone/>
            </a:pPr>
            <a:r>
              <a:rPr b="1" lang="it"/>
              <a:t>In memory lapses</a:t>
            </a:r>
            <a:r>
              <a:rPr lang="it"/>
              <a:t>, memory fails, so the intended action is not done or its results not evaluated.</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(lapsus)</a:t>
            </a:r>
            <a:endParaRPr/>
          </a:p>
        </p:txBody>
      </p:sp>
      <p:sp>
        <p:nvSpPr>
          <p:cNvPr id="139" name="Google Shape;139;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Example of an action-based slip</a:t>
            </a:r>
            <a:r>
              <a:rPr lang="it"/>
              <a:t>. I poured some milk into my coffee and then put the coffee cup into the refrigerator. This is the correct action applied to the wrong object.</a:t>
            </a:r>
            <a:endParaRPr/>
          </a:p>
          <a:p>
            <a:pPr indent="0" lvl="0" marL="0" rtl="0" algn="l">
              <a:spcBef>
                <a:spcPts val="1600"/>
              </a:spcBef>
              <a:spcAft>
                <a:spcPts val="0"/>
              </a:spcAft>
              <a:buClr>
                <a:schemeClr val="dk1"/>
              </a:buClr>
              <a:buSzPts val="1100"/>
              <a:buFont typeface="Arial"/>
              <a:buNone/>
            </a:pPr>
            <a:r>
              <a:rPr b="1" lang="it"/>
              <a:t>Example of a memory-lapse slip.</a:t>
            </a:r>
            <a:r>
              <a:rPr lang="it"/>
              <a:t> I forget to turn off the gas burner on my stove after cooking dinner.</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None/>
            </a:pPr>
            <a:r>
              <a:t/>
            </a:r>
            <a:endParaRPr/>
          </a:p>
        </p:txBody>
      </p:sp>
      <p:sp>
        <p:nvSpPr>
          <p:cNvPr id="145" name="Google Shape;145;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mistake occurs when the wrong goal is established or the wrong plan is formed. From that point on, even if the actions are executed properly they are part of the error, because the actions themselves are inappropriate; they are part of the wrong plan. </a:t>
            </a:r>
            <a:endParaRPr/>
          </a:p>
          <a:p>
            <a:pPr indent="0" lvl="0" marL="0" rtl="0" algn="l">
              <a:spcBef>
                <a:spcPts val="1600"/>
              </a:spcBef>
              <a:spcAft>
                <a:spcPts val="0"/>
              </a:spcAft>
              <a:buClr>
                <a:schemeClr val="dk1"/>
              </a:buClr>
              <a:buSzPts val="1100"/>
              <a:buFont typeface="Arial"/>
              <a:buNone/>
            </a:pPr>
            <a:r>
              <a:rPr lang="it"/>
              <a:t>With a mistake, the action that is performed </a:t>
            </a:r>
            <a:br>
              <a:rPr lang="it"/>
            </a:br>
            <a:r>
              <a:rPr lang="it"/>
              <a:t>matches the plan: </a:t>
            </a:r>
            <a:r>
              <a:rPr b="1" lang="it"/>
              <a:t>it is the plan that is wrong</a:t>
            </a:r>
            <a:endParaRPr b="1"/>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None/>
            </a:pPr>
            <a:r>
              <a:t/>
            </a:r>
            <a:endParaRPr/>
          </a:p>
        </p:txBody>
      </p:sp>
      <p:sp>
        <p:nvSpPr>
          <p:cNvPr id="151" name="Google Shape;151;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a </a:t>
            </a:r>
            <a:r>
              <a:rPr b="1" lang="it"/>
              <a:t>rule-based mistake</a:t>
            </a:r>
            <a:r>
              <a:rPr lang="it"/>
              <a:t>, the person has appropriately diagnosed the situation, but then decided upon an erroneous course of action: the wrong rule is being followed. </a:t>
            </a:r>
            <a:endParaRPr/>
          </a:p>
          <a:p>
            <a:pPr indent="0" lvl="0" marL="0" rtl="0" algn="l">
              <a:spcBef>
                <a:spcPts val="1600"/>
              </a:spcBef>
              <a:spcAft>
                <a:spcPts val="0"/>
              </a:spcAft>
              <a:buNone/>
            </a:pPr>
            <a:r>
              <a:rPr lang="it"/>
              <a:t>In a </a:t>
            </a:r>
            <a:r>
              <a:rPr b="1" lang="it"/>
              <a:t>knowledge-based</a:t>
            </a:r>
            <a:r>
              <a:rPr lang="it"/>
              <a:t> mistake, the problem is misdiagnosed because of erroneous or incomplete knowledge. </a:t>
            </a:r>
            <a:endParaRPr b="1"/>
          </a:p>
          <a:p>
            <a:pPr indent="0" lvl="0" marL="0" rtl="0" algn="l">
              <a:spcBef>
                <a:spcPts val="1600"/>
              </a:spcBef>
              <a:spcAft>
                <a:spcPts val="0"/>
              </a:spcAft>
              <a:buClr>
                <a:schemeClr val="dk1"/>
              </a:buClr>
              <a:buSzPts val="1100"/>
              <a:buFont typeface="Arial"/>
              <a:buNone/>
            </a:pPr>
            <a:r>
              <a:rPr b="1" lang="it"/>
              <a:t>Memory-lapse</a:t>
            </a:r>
            <a:r>
              <a:rPr lang="it"/>
              <a:t> mistakes take place when there is forgetting at the stages of goals, plans, or evaluation. </a:t>
            </a:r>
            <a:r>
              <a:rPr b="1" lang="it"/>
              <a:t>(dimenticanza)</a:t>
            </a:r>
            <a:endParaRPr b="1"/>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7" name="Google Shape;157;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Example of </a:t>
            </a:r>
            <a:r>
              <a:rPr b="1" lang="it"/>
              <a:t>rule-based mistakes</a:t>
            </a:r>
            <a:r>
              <a:rPr lang="it"/>
              <a:t>.  A mechanic diagnosed a defect on a car battery but decided to do not replace the battery because still working at 50% of performances </a:t>
            </a:r>
            <a:endParaRPr/>
          </a:p>
          <a:p>
            <a:pPr indent="0" lvl="0" marL="0" rtl="0" algn="l">
              <a:spcBef>
                <a:spcPts val="1600"/>
              </a:spcBef>
              <a:spcAft>
                <a:spcPts val="0"/>
              </a:spcAft>
              <a:buClr>
                <a:schemeClr val="dk1"/>
              </a:buClr>
              <a:buSzPts val="1100"/>
              <a:buFont typeface="Arial"/>
              <a:buNone/>
            </a:pPr>
            <a:r>
              <a:rPr lang="it"/>
              <a:t>Example of </a:t>
            </a:r>
            <a:r>
              <a:rPr b="1" lang="it"/>
              <a:t>knowledge-based mistake</a:t>
            </a:r>
            <a:r>
              <a:rPr lang="it"/>
              <a:t>. Weight of fuel was computed in pounds instead of kilograms.</a:t>
            </a:r>
            <a:endParaRPr/>
          </a:p>
          <a:p>
            <a:pPr indent="0" lvl="0" marL="0" rtl="0" algn="l">
              <a:spcBef>
                <a:spcPts val="1600"/>
              </a:spcBef>
              <a:spcAft>
                <a:spcPts val="0"/>
              </a:spcAft>
              <a:buClr>
                <a:schemeClr val="dk1"/>
              </a:buClr>
              <a:buSzPts val="1100"/>
              <a:buFont typeface="Arial"/>
              <a:buNone/>
            </a:pPr>
            <a:r>
              <a:rPr lang="it"/>
              <a:t>Example of </a:t>
            </a:r>
            <a:r>
              <a:rPr b="1" lang="it"/>
              <a:t>memory-lapse mistake</a:t>
            </a:r>
            <a:r>
              <a:rPr lang="it"/>
              <a:t>. A mechanic failed to complete troubleshooting because of forget a step.</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4" name="Google Shape;164;p30"/>
          <p:cNvPicPr preferRelativeResize="0"/>
          <p:nvPr/>
        </p:nvPicPr>
        <p:blipFill>
          <a:blip r:embed="rId3">
            <a:alphaModFix/>
          </a:blip>
          <a:stretch>
            <a:fillRect/>
          </a:stretch>
        </p:blipFill>
        <p:spPr>
          <a:xfrm>
            <a:off x="1000125" y="200025"/>
            <a:ext cx="7143750" cy="4743450"/>
          </a:xfrm>
          <a:prstGeom prst="rect">
            <a:avLst/>
          </a:prstGeom>
          <a:noFill/>
          <a:ln>
            <a:noFill/>
          </a:ln>
        </p:spPr>
      </p:pic>
      <p:sp>
        <p:nvSpPr>
          <p:cNvPr id="165" name="Google Shape;165;p30"/>
          <p:cNvSpPr/>
          <p:nvPr/>
        </p:nvSpPr>
        <p:spPr>
          <a:xfrm>
            <a:off x="1369475" y="1751650"/>
            <a:ext cx="3240600" cy="469500"/>
          </a:xfrm>
          <a:prstGeom prst="rect">
            <a:avLst/>
          </a:prstGeom>
          <a:noFill/>
          <a:ln cap="flat" cmpd="sng" w="38100">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FF0000"/>
                </a:solidFill>
              </a:rPr>
              <a:t>Memory </a:t>
            </a:r>
            <a:r>
              <a:rPr b="1" lang="it" sz="1600">
                <a:solidFill>
                  <a:srgbClr val="FF0000"/>
                </a:solidFill>
              </a:rPr>
              <a:t>Slips</a:t>
            </a:r>
            <a:endParaRPr b="1" sz="1600">
              <a:solidFill>
                <a:srgbClr val="FF0000"/>
              </a:solidFill>
            </a:endParaRPr>
          </a:p>
        </p:txBody>
      </p:sp>
      <p:sp>
        <p:nvSpPr>
          <p:cNvPr id="166" name="Google Shape;166;p30"/>
          <p:cNvSpPr/>
          <p:nvPr/>
        </p:nvSpPr>
        <p:spPr>
          <a:xfrm>
            <a:off x="1369475" y="421850"/>
            <a:ext cx="3240600" cy="1283100"/>
          </a:xfrm>
          <a:prstGeom prst="rect">
            <a:avLst/>
          </a:prstGeom>
          <a:noFill/>
          <a:ln cap="flat" cmpd="sng" w="38100">
            <a:solidFill>
              <a:srgbClr val="0000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0000FF"/>
                </a:solidFill>
                <a:highlight>
                  <a:schemeClr val="lt2"/>
                </a:highlight>
              </a:rPr>
              <a:t>knowledge based and rule based Mistakes</a:t>
            </a:r>
            <a:endParaRPr b="1" sz="1600">
              <a:solidFill>
                <a:srgbClr val="0000FF"/>
              </a:solidFill>
              <a:highlight>
                <a:schemeClr val="lt2"/>
              </a:highlight>
            </a:endParaRPr>
          </a:p>
        </p:txBody>
      </p:sp>
      <p:sp>
        <p:nvSpPr>
          <p:cNvPr id="167" name="Google Shape;167;p30"/>
          <p:cNvSpPr/>
          <p:nvPr/>
        </p:nvSpPr>
        <p:spPr>
          <a:xfrm>
            <a:off x="4763475" y="1004425"/>
            <a:ext cx="3166800" cy="20769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rgbClr val="FF00FF"/>
                </a:solidFill>
              </a:rPr>
              <a:t>Mistakes</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X</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 Memory lapses</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X</a:t>
            </a:r>
            <a:endParaRPr b="1" sz="1500">
              <a:solidFill>
                <a:srgbClr val="FF00FF"/>
              </a:solidFill>
            </a:endParaRPr>
          </a:p>
          <a:p>
            <a:pPr indent="0" lvl="0" marL="0" rtl="0" algn="ctr">
              <a:spcBef>
                <a:spcPts val="0"/>
              </a:spcBef>
              <a:spcAft>
                <a:spcPts val="0"/>
              </a:spcAft>
              <a:buNone/>
            </a:pPr>
            <a:r>
              <a:rPr b="1" lang="it" sz="1500">
                <a:solidFill>
                  <a:srgbClr val="FF00FF"/>
                </a:solidFill>
              </a:rPr>
              <a:t>Slips</a:t>
            </a:r>
            <a:endParaRPr b="1" sz="1500">
              <a:solidFill>
                <a:srgbClr val="FF00FF"/>
              </a:solidFill>
            </a:endParaRPr>
          </a:p>
        </p:txBody>
      </p:sp>
      <p:sp>
        <p:nvSpPr>
          <p:cNvPr id="168" name="Google Shape;168;p30"/>
          <p:cNvSpPr/>
          <p:nvPr/>
        </p:nvSpPr>
        <p:spPr>
          <a:xfrm>
            <a:off x="1369475" y="2267850"/>
            <a:ext cx="3240600" cy="469500"/>
          </a:xfrm>
          <a:prstGeom prst="rect">
            <a:avLst/>
          </a:prstGeom>
          <a:noFill/>
          <a:ln cap="flat" cmpd="sng" w="38100">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FF0000"/>
                </a:solidFill>
              </a:rPr>
              <a:t>Action </a:t>
            </a:r>
            <a:r>
              <a:rPr b="1" lang="it" sz="1600">
                <a:solidFill>
                  <a:srgbClr val="FF0000"/>
                </a:solidFill>
              </a:rPr>
              <a:t>Slips</a:t>
            </a:r>
            <a:endParaRPr b="1" sz="160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and Mistakes</a:t>
            </a:r>
            <a:endParaRPr/>
          </a:p>
        </p:txBody>
      </p:sp>
      <p:sp>
        <p:nvSpPr>
          <p:cNvPr id="174" name="Google Shape;174;p31"/>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a:t>novices are more likely to make mistakes than slips</a:t>
            </a:r>
            <a:endParaRPr/>
          </a:p>
          <a:p>
            <a:pPr indent="-342900" lvl="0" marL="457200" rtl="0" algn="l">
              <a:spcBef>
                <a:spcPts val="0"/>
              </a:spcBef>
              <a:spcAft>
                <a:spcPts val="0"/>
              </a:spcAft>
              <a:buSzPts val="1800"/>
              <a:buChar char="●"/>
            </a:pPr>
            <a:r>
              <a:rPr lang="it"/>
              <a:t>experts are more likely to make slips and mistakes-memory lapses (dimenticanza). </a:t>
            </a:r>
            <a:endParaRPr/>
          </a:p>
          <a:p>
            <a:pPr indent="0" lvl="0" marL="0" rtl="0" algn="l">
              <a:spcBef>
                <a:spcPts val="1600"/>
              </a:spcBef>
              <a:spcAft>
                <a:spcPts val="0"/>
              </a:spcAft>
              <a:buNone/>
            </a:pPr>
            <a:r>
              <a:rPr lang="it"/>
              <a:t>Mistakes often arise from ambiguous or unclear information about the current state of a system, the lack of a good conceptual model, and inappropriate procedures. </a:t>
            </a:r>
            <a:endParaRPr/>
          </a:p>
          <a:p>
            <a:pPr indent="0" lvl="0" marL="0" rtl="0" algn="l">
              <a:spcBef>
                <a:spcPts val="1600"/>
              </a:spcBef>
              <a:spcAft>
                <a:spcPts val="0"/>
              </a:spcAft>
              <a:buNone/>
            </a:pPr>
            <a:r>
              <a:rPr lang="it"/>
              <a:t>most mistakes result from erroneous choice of goal or plan or erroneous evaluation and interpretation. </a:t>
            </a:r>
            <a:endParaRPr/>
          </a:p>
          <a:p>
            <a:pPr indent="0" lvl="0" marL="0" rtl="0" algn="l">
              <a:spcBef>
                <a:spcPts val="1600"/>
              </a:spcBef>
              <a:spcAft>
                <a:spcPts val="0"/>
              </a:spcAft>
              <a:buNone/>
            </a:pPr>
            <a:r>
              <a:rPr lang="it"/>
              <a:t>All of these come about through poor information provided by the system about the choice of goals and the means to accomplish them (plans), and poor-quality feedback about what has actually happened.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Interruptions</a:t>
            </a:r>
            <a:endParaRPr/>
          </a:p>
        </p:txBody>
      </p:sp>
      <p:sp>
        <p:nvSpPr>
          <p:cNvPr id="180" name="Google Shape;180;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A major source of error, especially memory-lapse errors, is interruption.</a:t>
            </a:r>
            <a:endParaRPr u="sng"/>
          </a:p>
          <a:p>
            <a:pPr indent="0" lvl="0" marL="0" rtl="0" algn="l">
              <a:spcBef>
                <a:spcPts val="1600"/>
              </a:spcBef>
              <a:spcAft>
                <a:spcPts val="0"/>
              </a:spcAft>
              <a:buNone/>
            </a:pPr>
            <a:r>
              <a:rPr lang="it"/>
              <a:t>When an activity is interrupted by some other event, the cost of the interruption is far greater than the loss of the time required to deal with the interruption: it is also the cost of resuming the interrupted activity. </a:t>
            </a:r>
            <a:endParaRPr/>
          </a:p>
          <a:p>
            <a:pPr indent="0" lvl="0" marL="0" rtl="0" algn="l">
              <a:spcBef>
                <a:spcPts val="1600"/>
              </a:spcBef>
              <a:spcAft>
                <a:spcPts val="0"/>
              </a:spcAft>
              <a:buClr>
                <a:schemeClr val="dk1"/>
              </a:buClr>
              <a:buSzPts val="1100"/>
              <a:buFont typeface="Arial"/>
              <a:buNone/>
            </a:pPr>
            <a:r>
              <a:rPr lang="it"/>
              <a:t>To resume, it is necessary to remember precisely the previous state of the activity: what the goal was, where one was in the action cycle, and the relevant state of the system.</a:t>
            </a:r>
            <a:endParaRPr/>
          </a:p>
          <a:p>
            <a:pPr indent="0" lvl="0" marL="0" rtl="0" algn="l">
              <a:spcBef>
                <a:spcPts val="1600"/>
              </a:spcBef>
              <a:spcAft>
                <a:spcPts val="0"/>
              </a:spcAft>
              <a:buClr>
                <a:schemeClr val="dk1"/>
              </a:buClr>
              <a:buSzPts val="1100"/>
              <a:buFont typeface="Arial"/>
              <a:buNone/>
            </a:pPr>
            <a:r>
              <a:rPr lang="it"/>
              <a:t>Most systems make it difficult to resume after an interruption.</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wrong feedbacks</a:t>
            </a:r>
            <a:endParaRPr/>
          </a:p>
        </p:txBody>
      </p:sp>
      <p:sp>
        <p:nvSpPr>
          <p:cNvPr id="186" name="Google Shape;186;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Unnecessary, annoying alarms occur in numerous situations. How do people cope? By disconnecting warning signals, silencing bells etc</a:t>
            </a:r>
            <a:endParaRPr/>
          </a:p>
          <a:p>
            <a:pPr indent="0" lvl="0" marL="0" rtl="0" algn="l">
              <a:spcBef>
                <a:spcPts val="1600"/>
              </a:spcBef>
              <a:spcAft>
                <a:spcPts val="0"/>
              </a:spcAft>
              <a:buClr>
                <a:schemeClr val="dk1"/>
              </a:buClr>
              <a:buSzPts val="1100"/>
              <a:buFont typeface="Arial"/>
              <a:buNone/>
            </a:pPr>
            <a:r>
              <a:rPr lang="it"/>
              <a:t>The problem comes after such alarms are disabled, either when people forget to restore the warning systems (there are those memory-lapse slips again), or if a different incident happens while the alarms are disconnected.</a:t>
            </a:r>
            <a:endParaRPr/>
          </a:p>
          <a:p>
            <a:pPr indent="0" lvl="0" marL="0" rtl="0" algn="l">
              <a:spcBef>
                <a:spcPts val="1600"/>
              </a:spcBef>
              <a:spcAft>
                <a:spcPts val="0"/>
              </a:spcAft>
              <a:buNone/>
            </a:pPr>
            <a:r>
              <a:rPr lang="it"/>
              <a:t>At that point, nobody notices. </a:t>
            </a:r>
            <a:endParaRPr/>
          </a:p>
          <a:p>
            <a:pPr indent="0" lvl="0" marL="0" rtl="0" algn="l">
              <a:spcBef>
                <a:spcPts val="1600"/>
              </a:spcBef>
              <a:spcAft>
                <a:spcPts val="0"/>
              </a:spcAft>
              <a:buClr>
                <a:schemeClr val="dk1"/>
              </a:buClr>
              <a:buSzPts val="1100"/>
              <a:buFont typeface="Arial"/>
              <a:buNone/>
            </a:pPr>
            <a:r>
              <a:rPr lang="it"/>
              <a:t>Warnings and safety methods must be used with care and intelligence, taking into account the tradeoffs for the people who are affected.</a:t>
            </a:r>
            <a:endParaRPr/>
          </a:p>
          <a:p>
            <a:pPr indent="0" lvl="0" marL="0" rtl="0" algn="l">
              <a:spcBef>
                <a:spcPts val="1600"/>
              </a:spcBef>
              <a:spcAft>
                <a:spcPts val="0"/>
              </a:spcAft>
              <a:buClr>
                <a:schemeClr val="dk1"/>
              </a:buClr>
              <a:buSzPts val="1100"/>
              <a:buFont typeface="Arial"/>
              <a:buNone/>
            </a:pPr>
            <a:r>
              <a:rPr b="1" lang="it"/>
              <a:t>The design of warning signals is surprisingly complex.</a:t>
            </a:r>
            <a:endParaRPr b="1"/>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Speech as feedback</a:t>
            </a:r>
            <a:endParaRPr/>
          </a:p>
        </p:txBody>
      </p:sp>
      <p:sp>
        <p:nvSpPr>
          <p:cNvPr id="192" name="Google Shape;192;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More and more of our machines present information through speech. But like all approaches, this has both strengths and weaknesses. </a:t>
            </a:r>
            <a:endParaRPr/>
          </a:p>
          <a:p>
            <a:pPr indent="0" lvl="0" marL="0" rtl="0" algn="l">
              <a:spcBef>
                <a:spcPts val="1600"/>
              </a:spcBef>
              <a:spcAft>
                <a:spcPts val="0"/>
              </a:spcAft>
              <a:buClr>
                <a:schemeClr val="dk1"/>
              </a:buClr>
              <a:buSzPts val="1100"/>
              <a:buFont typeface="Arial"/>
              <a:buNone/>
            </a:pPr>
            <a:r>
              <a:rPr lang="it"/>
              <a:t>It allows for precise information to be conveyed, especially when the person’s visual attention is directed elsewhere.</a:t>
            </a:r>
            <a:endParaRPr/>
          </a:p>
          <a:p>
            <a:pPr indent="0" lvl="0" marL="0" rtl="0" algn="l">
              <a:spcBef>
                <a:spcPts val="1600"/>
              </a:spcBef>
              <a:spcAft>
                <a:spcPts val="0"/>
              </a:spcAft>
              <a:buNone/>
            </a:pPr>
            <a:r>
              <a:rPr lang="it"/>
              <a:t>But if several speech warnings operate at the same time, or if the environment is noisy, speech warnings may not be understood. Or if conversations among the users or operators are necessary, speech warnings will interfere. </a:t>
            </a:r>
            <a:endParaRPr/>
          </a:p>
          <a:p>
            <a:pPr indent="0" lvl="0" marL="0" rtl="0" algn="l">
              <a:spcBef>
                <a:spcPts val="1600"/>
              </a:spcBef>
              <a:spcAft>
                <a:spcPts val="0"/>
              </a:spcAft>
              <a:buClr>
                <a:schemeClr val="dk1"/>
              </a:buClr>
              <a:buSzPts val="1100"/>
              <a:buFont typeface="Arial"/>
              <a:buNone/>
            </a:pPr>
            <a:r>
              <a:rPr b="1" lang="it"/>
              <a:t>Speech warning signals can be effective, but only if used intelligently.</a:t>
            </a:r>
            <a:endParaRPr b="1"/>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88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Error prevention</a:t>
            </a:r>
            <a:endParaRPr/>
          </a:p>
        </p:txBody>
      </p:sp>
      <p:sp>
        <p:nvSpPr>
          <p:cNvPr id="198" name="Google Shape;198;p35"/>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It should not be possible for one simple error to cause widespread damage. </a:t>
            </a:r>
            <a:endParaRPr/>
          </a:p>
          <a:p>
            <a:pPr indent="0" lvl="0" marL="0" rtl="0" algn="l">
              <a:spcBef>
                <a:spcPts val="1600"/>
              </a:spcBef>
              <a:spcAft>
                <a:spcPts val="0"/>
              </a:spcAft>
              <a:buClr>
                <a:schemeClr val="dk1"/>
              </a:buClr>
              <a:buSzPts val="1100"/>
              <a:buFont typeface="Arial"/>
              <a:buNone/>
            </a:pPr>
            <a:r>
              <a:rPr lang="it"/>
              <a:t>Here is what should be done:</a:t>
            </a:r>
            <a:endParaRPr/>
          </a:p>
          <a:p>
            <a:pPr indent="0" lvl="0" marL="0" rtl="0" algn="l">
              <a:spcBef>
                <a:spcPts val="1600"/>
              </a:spcBef>
              <a:spcAft>
                <a:spcPts val="0"/>
              </a:spcAft>
              <a:buClr>
                <a:schemeClr val="dk1"/>
              </a:buClr>
              <a:buSzPts val="1100"/>
              <a:buFont typeface="Arial"/>
              <a:buNone/>
            </a:pPr>
            <a:r>
              <a:rPr lang="it"/>
              <a:t>• </a:t>
            </a:r>
            <a:r>
              <a:rPr b="1" lang="it"/>
              <a:t>Understand </a:t>
            </a:r>
            <a:r>
              <a:rPr lang="it"/>
              <a:t>the causes of error and design to minimize those causes.</a:t>
            </a:r>
            <a:endParaRPr/>
          </a:p>
          <a:p>
            <a:pPr indent="0" lvl="0" marL="0" rtl="0" algn="l">
              <a:spcBef>
                <a:spcPts val="1600"/>
              </a:spcBef>
              <a:spcAft>
                <a:spcPts val="0"/>
              </a:spcAft>
              <a:buClr>
                <a:schemeClr val="dk1"/>
              </a:buClr>
              <a:buSzPts val="1100"/>
              <a:buFont typeface="Arial"/>
              <a:buNone/>
            </a:pPr>
            <a:r>
              <a:rPr lang="it"/>
              <a:t>• </a:t>
            </a:r>
            <a:r>
              <a:rPr b="1" lang="it"/>
              <a:t>Do sensibility checks.</a:t>
            </a:r>
            <a:r>
              <a:rPr lang="it"/>
              <a:t> Does the action pass the “common sense” test?</a:t>
            </a:r>
            <a:endParaRPr/>
          </a:p>
          <a:p>
            <a:pPr indent="0" lvl="0" marL="0" rtl="0" algn="l">
              <a:spcBef>
                <a:spcPts val="1600"/>
              </a:spcBef>
              <a:spcAft>
                <a:spcPts val="0"/>
              </a:spcAft>
              <a:buClr>
                <a:schemeClr val="dk1"/>
              </a:buClr>
              <a:buSzPts val="1100"/>
              <a:buFont typeface="Arial"/>
              <a:buNone/>
            </a:pPr>
            <a:r>
              <a:rPr lang="it"/>
              <a:t>• </a:t>
            </a:r>
            <a:r>
              <a:rPr b="1" lang="it"/>
              <a:t>Make it possible to reverse actions</a:t>
            </a:r>
            <a:r>
              <a:rPr lang="it"/>
              <a:t>—to “undo” them—or make it harder to do what cannot be reversed.</a:t>
            </a:r>
            <a:endParaRPr/>
          </a:p>
          <a:p>
            <a:pPr indent="0" lvl="0" marL="0" rtl="0" algn="l">
              <a:spcBef>
                <a:spcPts val="1600"/>
              </a:spcBef>
              <a:spcAft>
                <a:spcPts val="0"/>
              </a:spcAft>
              <a:buClr>
                <a:schemeClr val="dk1"/>
              </a:buClr>
              <a:buSzPts val="1100"/>
              <a:buFont typeface="Arial"/>
              <a:buNone/>
            </a:pPr>
            <a:r>
              <a:rPr lang="it"/>
              <a:t>• Make it </a:t>
            </a:r>
            <a:r>
              <a:rPr b="1" lang="it"/>
              <a:t>easier for people to discover the errors </a:t>
            </a:r>
            <a:r>
              <a:rPr lang="it"/>
              <a:t>that do occur, and make them easier to correct.</a:t>
            </a:r>
            <a:endParaRPr/>
          </a:p>
          <a:p>
            <a:pPr indent="0" lvl="0" marL="0" rtl="0" algn="l">
              <a:spcBef>
                <a:spcPts val="1600"/>
              </a:spcBef>
              <a:spcAft>
                <a:spcPts val="0"/>
              </a:spcAft>
              <a:buClr>
                <a:schemeClr val="dk1"/>
              </a:buClr>
              <a:buSzPts val="1100"/>
              <a:buFont typeface="Arial"/>
              <a:buNone/>
            </a:pPr>
            <a:r>
              <a:rPr lang="it"/>
              <a:t>• </a:t>
            </a:r>
            <a:r>
              <a:rPr b="1" lang="it"/>
              <a:t>Don’t treat the action as an error</a:t>
            </a:r>
            <a:r>
              <a:rPr lang="it"/>
              <a:t>; rather, try to help the person complete the action properly. Think of the action as an approximation to what is desired.</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ADDING CONSTRAINTS TO BLOCK ERRORS</a:t>
            </a:r>
            <a:endParaRPr/>
          </a:p>
        </p:txBody>
      </p:sp>
      <p:sp>
        <p:nvSpPr>
          <p:cNvPr id="204" name="Google Shape;204;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Prevention often involves adding specific constraints to actions. In the physical world, this can be done through clever use of shape and size (bocchettone benzina/diesel).</a:t>
            </a:r>
            <a:endParaRPr/>
          </a:p>
          <a:p>
            <a:pPr indent="0" lvl="0" marL="0" rtl="0" algn="l">
              <a:spcBef>
                <a:spcPts val="1600"/>
              </a:spcBef>
              <a:spcAft>
                <a:spcPts val="0"/>
              </a:spcAft>
              <a:buNone/>
            </a:pPr>
            <a:r>
              <a:rPr lang="it"/>
              <a:t>Electronic systems have a wide range of methods that could be used to reduce error. One is to </a:t>
            </a:r>
            <a:r>
              <a:rPr b="1" lang="it"/>
              <a:t>segregate controls</a:t>
            </a:r>
            <a:r>
              <a:rPr lang="it"/>
              <a:t>, so that easily confused controls are located far from one another. </a:t>
            </a:r>
            <a:endParaRPr/>
          </a:p>
          <a:p>
            <a:pPr indent="0" lvl="0" marL="0" rtl="0" algn="l">
              <a:spcBef>
                <a:spcPts val="1600"/>
              </a:spcBef>
              <a:spcAft>
                <a:spcPts val="0"/>
              </a:spcAft>
              <a:buNone/>
            </a:pPr>
            <a:r>
              <a:rPr lang="it"/>
              <a:t>Another is to use </a:t>
            </a:r>
            <a:r>
              <a:rPr b="1" lang="it"/>
              <a:t>separate modules</a:t>
            </a:r>
            <a:r>
              <a:rPr lang="it"/>
              <a:t>, so that any control not directly relevant to the current operation is not visible on the screen, but requires extra effort to get to.</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UNDO</a:t>
            </a:r>
            <a:endParaRPr/>
          </a:p>
        </p:txBody>
      </p:sp>
      <p:sp>
        <p:nvSpPr>
          <p:cNvPr id="210" name="Google Shape;210;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Perhaps the most powerful tool to minimize the impact of errors is the Undo command in modern electronic systems, reversing the operations performed by the previous command, wherever possible.</a:t>
            </a:r>
            <a:endParaRPr/>
          </a:p>
          <a:p>
            <a:pPr indent="0" lvl="0" marL="0" rtl="0" algn="l">
              <a:spcBef>
                <a:spcPts val="1600"/>
              </a:spcBef>
              <a:spcAft>
                <a:spcPts val="0"/>
              </a:spcAft>
              <a:buClr>
                <a:schemeClr val="dk1"/>
              </a:buClr>
              <a:buSzPts val="1100"/>
              <a:buFont typeface="Arial"/>
              <a:buNone/>
            </a:pPr>
            <a:r>
              <a:rPr lang="it"/>
              <a:t>The best systems have multiple levels of undoing, so it is possible to undo an entire sequence of actions.</a:t>
            </a:r>
            <a:endParaRPr/>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CONFIRMATION AND ERROR MESSAGES</a:t>
            </a:r>
            <a:endParaRPr/>
          </a:p>
        </p:txBody>
      </p:sp>
      <p:sp>
        <p:nvSpPr>
          <p:cNvPr id="216" name="Google Shape;216;p38"/>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Many systems try to prevent errors by requiring confirmation before a command will be executed, especially when the action will destroy something of importance.</a:t>
            </a:r>
            <a:endParaRPr/>
          </a:p>
          <a:p>
            <a:pPr indent="0" lvl="0" marL="0" rtl="0" algn="l">
              <a:spcBef>
                <a:spcPts val="1600"/>
              </a:spcBef>
              <a:spcAft>
                <a:spcPts val="0"/>
              </a:spcAft>
              <a:buNone/>
            </a:pPr>
            <a:r>
              <a:rPr lang="it"/>
              <a:t>But these requests are usually ill-timed because after requesting an operation, people are usually certain they want it done.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ctr">
              <a:spcBef>
                <a:spcPts val="1600"/>
              </a:spcBef>
              <a:spcAft>
                <a:spcPts val="0"/>
              </a:spcAft>
              <a:buNone/>
            </a:pPr>
            <a:r>
              <a:rPr b="1" lang="it"/>
              <a:t>Warning messages are surprisingly ineffective against mistakes</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17" name="Google Shape;217;p38"/>
          <p:cNvPicPr preferRelativeResize="0"/>
          <p:nvPr/>
        </p:nvPicPr>
        <p:blipFill>
          <a:blip r:embed="rId3">
            <a:alphaModFix/>
          </a:blip>
          <a:stretch>
            <a:fillRect/>
          </a:stretch>
        </p:blipFill>
        <p:spPr>
          <a:xfrm>
            <a:off x="4794198" y="2274150"/>
            <a:ext cx="4305375" cy="1861800"/>
          </a:xfrm>
          <a:prstGeom prst="rect">
            <a:avLst/>
          </a:prstGeom>
          <a:noFill/>
          <a:ln cap="flat" cmpd="sng" w="38100">
            <a:solidFill>
              <a:schemeClr val="dk2"/>
            </a:solidFill>
            <a:prstDash val="solid"/>
            <a:round/>
            <a:headEnd len="sm" w="sm" type="none"/>
            <a:tailEnd len="sm" w="sm" type="none"/>
          </a:ln>
        </p:spPr>
      </p:pic>
      <p:sp>
        <p:nvSpPr>
          <p:cNvPr id="218" name="Google Shape;218;p38"/>
          <p:cNvSpPr txBox="1"/>
          <p:nvPr/>
        </p:nvSpPr>
        <p:spPr>
          <a:xfrm>
            <a:off x="370025" y="2231950"/>
            <a:ext cx="4336800" cy="2457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it" sz="1800">
                <a:solidFill>
                  <a:schemeClr val="dk2"/>
                </a:solidFill>
              </a:rPr>
              <a:t>A better check would be a prominent display of both the action to be taken and the object, perhaps with the choice of “cancel” or “do it.” </a:t>
            </a:r>
            <a:endParaRPr sz="1800">
              <a:solidFill>
                <a:schemeClr val="dk2"/>
              </a:solidFill>
            </a:endParaRPr>
          </a:p>
          <a:p>
            <a:pPr indent="0" lvl="0" marL="0" marR="0" rtl="0" algn="l">
              <a:lnSpc>
                <a:spcPct val="115000"/>
              </a:lnSpc>
              <a:spcBef>
                <a:spcPts val="1600"/>
              </a:spcBef>
              <a:spcAft>
                <a:spcPts val="1600"/>
              </a:spcAft>
              <a:buNone/>
            </a:pPr>
            <a:r>
              <a:rPr lang="it" sz="1800">
                <a:solidFill>
                  <a:schemeClr val="dk2"/>
                </a:solidFill>
              </a:rPr>
              <a:t>The important point is making salient what the implications of the action are.</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CONFIRMATION AND ERROR MESSAGES</a:t>
            </a:r>
            <a:endParaRPr/>
          </a:p>
          <a:p>
            <a:pPr indent="0" lvl="0" marL="0" rtl="0" algn="l">
              <a:spcBef>
                <a:spcPts val="0"/>
              </a:spcBef>
              <a:spcAft>
                <a:spcPts val="0"/>
              </a:spcAft>
              <a:buClr>
                <a:schemeClr val="dk1"/>
              </a:buClr>
              <a:buSzPts val="1100"/>
              <a:buFont typeface="Arial"/>
              <a:buNone/>
            </a:pPr>
            <a:r>
              <a:t/>
            </a:r>
            <a:endParaRPr/>
          </a:p>
        </p:txBody>
      </p:sp>
      <p:sp>
        <p:nvSpPr>
          <p:cNvPr id="224" name="Google Shape;224;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What can a designer do?</a:t>
            </a:r>
            <a:endParaRPr b="1"/>
          </a:p>
          <a:p>
            <a:pPr indent="0" lvl="0" marL="0" rtl="0" algn="l">
              <a:spcBef>
                <a:spcPts val="1600"/>
              </a:spcBef>
              <a:spcAft>
                <a:spcPts val="0"/>
              </a:spcAft>
              <a:buClr>
                <a:schemeClr val="dk1"/>
              </a:buClr>
              <a:buSzPts val="1100"/>
              <a:buFont typeface="Arial"/>
              <a:buNone/>
            </a:pPr>
            <a:r>
              <a:rPr lang="it"/>
              <a:t>• Make the item being acted upon more prominent. That is, change the appearance of the actual object being acted upon to be more visible: enlarge it, or perhaps change its color.</a:t>
            </a:r>
            <a:endParaRPr/>
          </a:p>
          <a:p>
            <a:pPr indent="0" lvl="0" marL="0" rtl="0" algn="l">
              <a:spcBef>
                <a:spcPts val="1600"/>
              </a:spcBef>
              <a:spcAft>
                <a:spcPts val="0"/>
              </a:spcAft>
              <a:buClr>
                <a:schemeClr val="dk1"/>
              </a:buClr>
              <a:buSzPts val="1100"/>
              <a:buFont typeface="Arial"/>
              <a:buNone/>
            </a:pPr>
            <a:r>
              <a:rPr lang="it"/>
              <a:t>• Make the operation reversible. If the person saves the content, no harm is done except the annoyance of having to reopen the file. If the person elects Don’t Save, the system could secretly save the contents, and the next time the person opened the file, it could ask whether it should restore it to the latest condition.</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SENSIBILITY CHECKS</a:t>
            </a:r>
            <a:endParaRPr/>
          </a:p>
        </p:txBody>
      </p:sp>
      <p:sp>
        <p:nvSpPr>
          <p:cNvPr id="230" name="Google Shape;230;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Electronic systems have another advantage over mechanical ones: they can check to make sure that the requested operation is sensible.</a:t>
            </a:r>
            <a:endParaRPr/>
          </a:p>
          <a:p>
            <a:pPr indent="0" lvl="0" marL="0" rtl="0" algn="l">
              <a:spcBef>
                <a:spcPts val="1600"/>
              </a:spcBef>
              <a:spcAft>
                <a:spcPts val="0"/>
              </a:spcAft>
              <a:buNone/>
            </a:pPr>
            <a:r>
              <a:rPr i="1" lang="it"/>
              <a:t>Suppose I wanted to transfer $1,000 into a Korean bank account in won ($1,000 is roughly ₩1,000,000). But suppose I enter the Korean number into the dollar field.</a:t>
            </a:r>
            <a:endParaRPr i="1"/>
          </a:p>
          <a:p>
            <a:pPr indent="0" lvl="0" marL="0" rtl="0" algn="l">
              <a:spcBef>
                <a:spcPts val="1600"/>
              </a:spcBef>
              <a:spcAft>
                <a:spcPts val="0"/>
              </a:spcAft>
              <a:buNone/>
            </a:pPr>
            <a:r>
              <a:rPr i="1" lang="it"/>
              <a:t>Oops—I’m trying to transfer a million dollars. Intelligent systems would take note of the normal size of my transactions, querying if the amount was considerably larger than normal.</a:t>
            </a:r>
            <a:endParaRPr i="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MINIMIZING SLIPS</a:t>
            </a:r>
            <a:endParaRPr/>
          </a:p>
        </p:txBody>
      </p:sp>
      <p:sp>
        <p:nvSpPr>
          <p:cNvPr id="236" name="Google Shape;236;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most frequently occur when the </a:t>
            </a:r>
            <a:r>
              <a:rPr b="1" lang="it"/>
              <a:t>conscious mind is distracted</a:t>
            </a:r>
            <a:r>
              <a:rPr lang="it"/>
              <a:t>, either by some other event or simply because the action being performed is so well learned that it can be done automatically, without conscious attention. As a result, the person </a:t>
            </a:r>
            <a:r>
              <a:rPr b="1" lang="it"/>
              <a:t>does not pay sufficient attention to the action</a:t>
            </a:r>
            <a:r>
              <a:rPr lang="it"/>
              <a:t> or its consequences. </a:t>
            </a:r>
            <a:endParaRPr/>
          </a:p>
          <a:p>
            <a:pPr indent="0" lvl="0" marL="0" rtl="0" algn="l">
              <a:spcBef>
                <a:spcPts val="1600"/>
              </a:spcBef>
              <a:spcAft>
                <a:spcPts val="0"/>
              </a:spcAft>
              <a:buClr>
                <a:schemeClr val="dk1"/>
              </a:buClr>
              <a:buSzPts val="1100"/>
              <a:buFont typeface="Arial"/>
              <a:buNone/>
            </a:pPr>
            <a:r>
              <a:rPr lang="it"/>
              <a:t>It might therefore seem that one way to minimize slips is to ensure that people always pay close, conscious attention to the acts being done.</a:t>
            </a:r>
            <a:endParaRPr/>
          </a:p>
          <a:p>
            <a:pPr indent="0" lvl="0" marL="0" rtl="0" algn="l">
              <a:spcBef>
                <a:spcPts val="1600"/>
              </a:spcBef>
              <a:spcAft>
                <a:spcPts val="0"/>
              </a:spcAft>
              <a:buNone/>
            </a:pPr>
            <a:r>
              <a:rPr b="1" lang="it"/>
              <a:t>Bad idea!</a:t>
            </a:r>
            <a:endParaRPr b="1"/>
          </a:p>
          <a:p>
            <a:pPr indent="0" lvl="0" marL="0" rtl="0" algn="l">
              <a:spcBef>
                <a:spcPts val="1600"/>
              </a:spcBef>
              <a:spcAft>
                <a:spcPts val="0"/>
              </a:spcAft>
              <a:buNone/>
            </a:pPr>
            <a:r>
              <a:rPr b="1" lang="it"/>
              <a:t>Skilled behavior is subconscious, which means it is fast, effortless, and usually accurate.</a:t>
            </a:r>
            <a:endParaRPr b="1"/>
          </a:p>
          <a:p>
            <a:pPr indent="0" lvl="0" marL="0" rtl="0" algn="l">
              <a:spcBef>
                <a:spcPts val="1600"/>
              </a:spcBef>
              <a:spcAft>
                <a:spcPts val="0"/>
              </a:spcAft>
              <a:buClr>
                <a:schemeClr val="dk1"/>
              </a:buClr>
              <a:buSzPts val="1100"/>
              <a:buFont typeface="Arial"/>
              <a:buNone/>
            </a:pPr>
            <a:r>
              <a:t/>
            </a:r>
            <a:endParaRPr b="1"/>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MINIMIZING SLIPS</a:t>
            </a:r>
            <a:endParaRPr/>
          </a:p>
          <a:p>
            <a:pPr indent="0" lvl="0" marL="0" rtl="0" algn="l">
              <a:spcBef>
                <a:spcPts val="0"/>
              </a:spcBef>
              <a:spcAft>
                <a:spcPts val="0"/>
              </a:spcAft>
              <a:buNone/>
            </a:pPr>
            <a:r>
              <a:t/>
            </a:r>
            <a:endParaRPr/>
          </a:p>
        </p:txBody>
      </p:sp>
      <p:sp>
        <p:nvSpPr>
          <p:cNvPr id="242" name="Google Shape;242;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Many slips can be minimized by </a:t>
            </a:r>
            <a:r>
              <a:rPr b="1" lang="it"/>
              <a:t>ensuring that the actions and their controls are as dissimilar as possible</a:t>
            </a:r>
            <a:r>
              <a:rPr lang="it"/>
              <a:t>, or at least, as physically far apart as possible. </a:t>
            </a:r>
            <a:endParaRPr/>
          </a:p>
          <a:p>
            <a:pPr indent="0" lvl="0" marL="0" rtl="0" algn="l">
              <a:spcBef>
                <a:spcPts val="1600"/>
              </a:spcBef>
              <a:spcAft>
                <a:spcPts val="0"/>
              </a:spcAft>
              <a:buNone/>
            </a:pPr>
            <a:r>
              <a:rPr lang="it"/>
              <a:t>The best way of mitigating slips is to provide perceptible feedback about the nature of the action being performed, then very perceptible feedback describing the new resulting state, coupled with a mechanism that allows the error to be undone.</a:t>
            </a:r>
            <a:endParaRPr/>
          </a:p>
          <a:p>
            <a:pPr indent="0" lvl="0" marL="0" rtl="0" algn="l">
              <a:spcBef>
                <a:spcPts val="1600"/>
              </a:spcBef>
              <a:spcAft>
                <a:spcPts val="0"/>
              </a:spcAft>
              <a:buNone/>
            </a:pPr>
            <a:r>
              <a:rPr i="1" lang="it"/>
              <a:t>For example, the use of machine-readable codes has led to a dramatic reduction in the delivery of wrong medications to patients.</a:t>
            </a:r>
            <a:endParaRPr i="1"/>
          </a:p>
          <a:p>
            <a:pPr indent="0" lvl="0" marL="0" rtl="0" algn="l">
              <a:spcBef>
                <a:spcPts val="1600"/>
              </a:spcBef>
              <a:spcAft>
                <a:spcPts val="0"/>
              </a:spcAft>
              <a:buNone/>
            </a:pPr>
            <a:r>
              <a:rPr lang="it"/>
              <a:t>(These scans do increase the workload, but only slightly. Other kinds of errors are still possible, but these simple steps have already been proven worthwhile.)</a:t>
            </a:r>
            <a:endParaRPr/>
          </a:p>
          <a:p>
            <a:pPr indent="0" lvl="0" marL="0" rtl="0" algn="l">
              <a:spcBef>
                <a:spcPts val="1600"/>
              </a:spcBef>
              <a:spcAft>
                <a:spcPts val="0"/>
              </a:spcAft>
              <a:buNone/>
            </a:pPr>
            <a:r>
              <a:t/>
            </a:r>
            <a:endParaRPr i="1"/>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MINIMIZING SLIPS</a:t>
            </a:r>
            <a:endParaRPr/>
          </a:p>
          <a:p>
            <a:pPr indent="0" lvl="0" marL="0" rtl="0" algn="l">
              <a:spcBef>
                <a:spcPts val="0"/>
              </a:spcBef>
              <a:spcAft>
                <a:spcPts val="0"/>
              </a:spcAft>
              <a:buNone/>
            </a:pPr>
            <a:r>
              <a:t/>
            </a:r>
            <a:endParaRPr/>
          </a:p>
        </p:txBody>
      </p:sp>
      <p:sp>
        <p:nvSpPr>
          <p:cNvPr id="248" name="Google Shape;248;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Common engineering and design practices seem as if they are deliberately intended to cause slips. </a:t>
            </a:r>
            <a:endParaRPr/>
          </a:p>
          <a:p>
            <a:pPr indent="0" lvl="0" marL="0" rtl="0" algn="l">
              <a:spcBef>
                <a:spcPts val="1600"/>
              </a:spcBef>
              <a:spcAft>
                <a:spcPts val="0"/>
              </a:spcAft>
              <a:buNone/>
            </a:pPr>
            <a:r>
              <a:rPr lang="it"/>
              <a:t>Rows of identical controls or meters is a sure recipe for description-similarity errors. </a:t>
            </a:r>
            <a:endParaRPr/>
          </a:p>
          <a:p>
            <a:pPr indent="0" lvl="0" marL="0" rtl="0" algn="l">
              <a:spcBef>
                <a:spcPts val="1600"/>
              </a:spcBef>
              <a:spcAft>
                <a:spcPts val="0"/>
              </a:spcAft>
              <a:buNone/>
            </a:pPr>
            <a:r>
              <a:rPr lang="it"/>
              <a:t>Situations with numerous interruptions, yet where the design assumes undivided attention, are a clear enabler of memory lapses—and almost no equipment today is designed to support the numerous interruptions that so many situations entail.</a:t>
            </a:r>
            <a:endParaRPr/>
          </a:p>
          <a:p>
            <a:pPr indent="0" lvl="0" marL="0" rtl="0" algn="l">
              <a:spcBef>
                <a:spcPts val="1600"/>
              </a:spcBef>
              <a:spcAft>
                <a:spcPts val="0"/>
              </a:spcAft>
              <a:buNone/>
            </a:pPr>
            <a:r>
              <a:rPr lang="it"/>
              <a:t>Procedures should be designed so that the initial steps are as dissimilar as possible.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Error mitigation</a:t>
            </a:r>
            <a:endParaRPr/>
          </a:p>
        </p:txBody>
      </p:sp>
      <p:sp>
        <p:nvSpPr>
          <p:cNvPr id="254" name="Google Shape;254;p44"/>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Swiss cheese metaphor suggests several ways to reduce accidents:</a:t>
            </a:r>
            <a:endParaRPr/>
          </a:p>
          <a:p>
            <a:pPr indent="0" lvl="0" marL="0" rtl="0" algn="l">
              <a:spcBef>
                <a:spcPts val="1600"/>
              </a:spcBef>
              <a:spcAft>
                <a:spcPts val="0"/>
              </a:spcAft>
              <a:buClr>
                <a:schemeClr val="dk1"/>
              </a:buClr>
              <a:buSzPts val="1100"/>
              <a:buFont typeface="Arial"/>
              <a:buNone/>
            </a:pPr>
            <a:r>
              <a:rPr lang="it"/>
              <a:t>• Add more slices of cheese.</a:t>
            </a:r>
            <a:endParaRPr/>
          </a:p>
          <a:p>
            <a:pPr indent="0" lvl="0" marL="0" rtl="0" algn="l">
              <a:spcBef>
                <a:spcPts val="1600"/>
              </a:spcBef>
              <a:spcAft>
                <a:spcPts val="0"/>
              </a:spcAft>
              <a:buClr>
                <a:schemeClr val="dk1"/>
              </a:buClr>
              <a:buSzPts val="1100"/>
              <a:buFont typeface="Arial"/>
              <a:buNone/>
            </a:pPr>
            <a:r>
              <a:rPr lang="it"/>
              <a:t>• Reduce the number of holes (or make the existing holes smaller).</a:t>
            </a:r>
            <a:endParaRPr/>
          </a:p>
          <a:p>
            <a:pPr indent="0" lvl="0" marL="0" rtl="0" algn="l">
              <a:spcBef>
                <a:spcPts val="1600"/>
              </a:spcBef>
              <a:spcAft>
                <a:spcPts val="0"/>
              </a:spcAft>
              <a:buClr>
                <a:schemeClr val="dk1"/>
              </a:buClr>
              <a:buSzPts val="1100"/>
              <a:buFont typeface="Arial"/>
              <a:buNone/>
            </a:pPr>
            <a:r>
              <a:rPr lang="it"/>
              <a:t>• Alert the human operators when several holes have lined up.</a:t>
            </a:r>
            <a:endParaRPr/>
          </a:p>
          <a:p>
            <a:pPr indent="0" lvl="0" marL="0" rtl="0" algn="l">
              <a:spcBef>
                <a:spcPts val="1600"/>
              </a:spcBef>
              <a:spcAft>
                <a:spcPts val="0"/>
              </a:spcAft>
              <a:buNone/>
            </a:pPr>
            <a:r>
              <a:rPr lang="it"/>
              <a:t>Each of these has operational implications: </a:t>
            </a:r>
            <a:endParaRPr/>
          </a:p>
          <a:p>
            <a:pPr indent="0" lvl="0" marL="0" rtl="0" algn="l">
              <a:spcBef>
                <a:spcPts val="1600"/>
              </a:spcBef>
              <a:spcAft>
                <a:spcPts val="0"/>
              </a:spcAft>
              <a:buNone/>
            </a:pPr>
            <a:r>
              <a:rPr lang="it"/>
              <a:t>More slices of cheese means mores lines of defense </a:t>
            </a:r>
            <a:r>
              <a:rPr b="1" lang="it"/>
              <a:t>(more checks and control steps)</a:t>
            </a:r>
            <a:endParaRPr b="1"/>
          </a:p>
          <a:p>
            <a:pPr indent="0" lvl="0" marL="0" rtl="0" algn="l">
              <a:spcBef>
                <a:spcPts val="1600"/>
              </a:spcBef>
              <a:spcAft>
                <a:spcPts val="0"/>
              </a:spcAft>
              <a:buNone/>
            </a:pPr>
            <a:r>
              <a:rPr lang="it"/>
              <a:t>Reducing the number of critical safety points where error can occur is like reducing the number or size of the holes </a:t>
            </a:r>
            <a:r>
              <a:rPr b="1" lang="it"/>
              <a:t>(Reduce distraction and design for error mitigation)</a:t>
            </a:r>
            <a:endParaRPr b="1"/>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Principles for Dealing with Error</a:t>
            </a:r>
            <a:endParaRPr/>
          </a:p>
        </p:txBody>
      </p:sp>
      <p:sp>
        <p:nvSpPr>
          <p:cNvPr id="260" name="Google Shape;260;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are flexible, versatile, and creative. Machines are rigid, precise, and relatively fixed in their operations. There is a mismatch between the two,</a:t>
            </a:r>
            <a:endParaRPr/>
          </a:p>
          <a:p>
            <a:pPr indent="0" lvl="0" marL="0" rtl="0" algn="l">
              <a:spcBef>
                <a:spcPts val="1600"/>
              </a:spcBef>
              <a:spcAft>
                <a:spcPts val="0"/>
              </a:spcAft>
              <a:buNone/>
            </a:pPr>
            <a:r>
              <a:rPr lang="it"/>
              <a:t>Difficulties arise when we do not think of people and machines as collaborative systems, but assign whatever tasks can be automated to the machines and leave the rest to people. This ends up requiring people to behave in machine like fashion, in ways that differ from human capabilities. </a:t>
            </a:r>
            <a:endParaRPr/>
          </a:p>
          <a:p>
            <a:pPr indent="0" lvl="0" marL="0" rtl="0" algn="l">
              <a:spcBef>
                <a:spcPts val="1600"/>
              </a:spcBef>
              <a:spcAft>
                <a:spcPts val="0"/>
              </a:spcAft>
              <a:buNone/>
            </a:pPr>
            <a:r>
              <a:rPr lang="it"/>
              <a:t>We expect people to monitor machines, which means keeping alert for long periods, something we are bad at.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Principles for Dealing with Error</a:t>
            </a:r>
            <a:endParaRPr/>
          </a:p>
          <a:p>
            <a:pPr indent="0" lvl="0" marL="0" rtl="0" algn="l">
              <a:spcBef>
                <a:spcPts val="0"/>
              </a:spcBef>
              <a:spcAft>
                <a:spcPts val="0"/>
              </a:spcAft>
              <a:buNone/>
            </a:pPr>
            <a:r>
              <a:t/>
            </a:r>
            <a:endParaRPr/>
          </a:p>
        </p:txBody>
      </p:sp>
      <p:sp>
        <p:nvSpPr>
          <p:cNvPr id="266" name="Google Shape;266;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we call “human error” is often simply a human action that is inappropriate for the needs of technology. As a result, it flags a deficit in our technology. It should not be thought of as error. </a:t>
            </a:r>
            <a:endParaRPr/>
          </a:p>
          <a:p>
            <a:pPr indent="0" lvl="0" marL="0" rtl="0" algn="l">
              <a:spcBef>
                <a:spcPts val="1600"/>
              </a:spcBef>
              <a:spcAft>
                <a:spcPts val="0"/>
              </a:spcAft>
              <a:buNone/>
            </a:pPr>
            <a:r>
              <a:rPr lang="it"/>
              <a:t>We should eliminate the concept of error: instead, we should realize that people can use assistance in translating their goals and plans into the appropriate form for technology.</a:t>
            </a:r>
            <a:endParaRPr/>
          </a:p>
          <a:p>
            <a:pPr indent="0" lvl="0" marL="0" rtl="0" algn="l">
              <a:spcBef>
                <a:spcPts val="1600"/>
              </a:spcBef>
              <a:spcAft>
                <a:spcPts val="0"/>
              </a:spcAft>
              <a:buNone/>
            </a:pPr>
            <a:r>
              <a:rPr lang="it"/>
              <a:t>Therefore, the best designs take that fact as given and seek to minimize the opportunities for errors while also mitigating the consequences. Assume that every possible mishap will happen, so protect against them.</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key design principles</a:t>
            </a:r>
            <a:endParaRPr/>
          </a:p>
          <a:p>
            <a:pPr indent="0" lvl="0" marL="0" rtl="0" algn="l">
              <a:spcBef>
                <a:spcPts val="0"/>
              </a:spcBef>
              <a:spcAft>
                <a:spcPts val="0"/>
              </a:spcAft>
              <a:buNone/>
            </a:pPr>
            <a:r>
              <a:t/>
            </a:r>
            <a:endParaRPr/>
          </a:p>
        </p:txBody>
      </p:sp>
      <p:sp>
        <p:nvSpPr>
          <p:cNvPr id="272" name="Google Shape;272;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 </a:t>
            </a:r>
            <a:r>
              <a:rPr b="1" lang="it"/>
              <a:t>Put the knowledge required to operate the technology in the world. </a:t>
            </a:r>
            <a:r>
              <a:rPr lang="it"/>
              <a:t>Don’t require that all the knowledge must be in the head. Allow for efficient operation when people have learned all the requirements, when they are experts who can perform without the knowledge in the world, but make it possible for non-experts to use the knowledge in the world. This will also help experts who need to perform a rare, infrequently performed operation or return to the technology after a prolonged absence.</a:t>
            </a:r>
            <a:endParaRPr/>
          </a:p>
          <a:p>
            <a:pPr indent="0" lvl="0" marL="0" rtl="0" algn="l">
              <a:spcBef>
                <a:spcPts val="1600"/>
              </a:spcBef>
              <a:spcAft>
                <a:spcPts val="0"/>
              </a:spcAft>
              <a:buClr>
                <a:schemeClr val="dk1"/>
              </a:buClr>
              <a:buSzPts val="1100"/>
              <a:buFont typeface="Arial"/>
              <a:buNone/>
            </a:pPr>
            <a:r>
              <a:rPr lang="it"/>
              <a:t>• </a:t>
            </a:r>
            <a:r>
              <a:rPr b="1" lang="it"/>
              <a:t>Use the power of natural and artificial constraints:</a:t>
            </a:r>
            <a:r>
              <a:rPr lang="it"/>
              <a:t> physical, logical, semantic, and cultural. Exploit the power of forcing functions and natural mappings.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key design principles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8" name="Google Shape;278;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Bridge the two gulfs,</a:t>
            </a:r>
            <a:r>
              <a:rPr lang="it"/>
              <a:t> the Gulf of Execution and the Gulf of Evaluation. Make things visible, both for execution and evaluation. On the execution side, provide feedforward information: make the options readily available. On the evaluation side, provide feedback: make the results of each action apparent. Make it possible to determine the system’s status readily, easily, accurately, and in a form consistent with the person’s goals, plans, and expectations.</a:t>
            </a:r>
            <a:endParaRPr/>
          </a:p>
          <a:p>
            <a:pPr indent="0" lvl="0" marL="0" rtl="0" algn="l">
              <a:spcBef>
                <a:spcPts val="160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https://uxdesign.cc/how-to-prevent-your-users-from-making-mistakes-d641c6260b29</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