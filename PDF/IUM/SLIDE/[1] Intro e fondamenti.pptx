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Lst>
  <p:sldSz cy="5143500" cx="9144000"/>
  <p:notesSz cx="6858000" cy="9144000"/>
  <p:embeddedFontLst>
    <p:embeddedFont>
      <p:font typeface="Roboto"/>
      <p:regular r:id="rId50"/>
      <p:bold r:id="rId51"/>
      <p:italic r:id="rId52"/>
      <p:boldItalic r:id="rId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oboto-bold.fntdata"/><Relationship Id="rId50" Type="http://schemas.openxmlformats.org/officeDocument/2006/relationships/font" Target="fonts/Roboto-regular.fntdata"/><Relationship Id="rId53" Type="http://schemas.openxmlformats.org/officeDocument/2006/relationships/font" Target="fonts/Roboto-boldItalic.fntdata"/><Relationship Id="rId52" Type="http://schemas.openxmlformats.org/officeDocument/2006/relationships/font" Target="fonts/Roboto-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60510df36f_0_5:notes"/>
          <p:cNvSpPr txBox="1"/>
          <p:nvPr>
            <p:ph idx="1" type="body"/>
          </p:nvPr>
        </p:nvSpPr>
        <p:spPr>
          <a:xfrm>
            <a:off x="686098" y="4343703"/>
            <a:ext cx="5485800" cy="4113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g60510df36f_0_5:notes"/>
          <p:cNvSpPr/>
          <p:nvPr>
            <p:ph idx="2" type="sldImg"/>
          </p:nvPr>
        </p:nvSpPr>
        <p:spPr>
          <a:xfrm>
            <a:off x="428625" y="686405"/>
            <a:ext cx="6000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60510df36f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60510df36f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60b059840c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60b059840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93dda30a2c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93dda30a2c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93dda30a2c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93dda30a2c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93dda30a2c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93dda30a2c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93dda30a2c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93dda30a2c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968a078d50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968a078d50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93dda30a2c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93dda30a2c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93dda30a2c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93dda30a2c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93dda30a2c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93dda30a2c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93dda30a2c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93dda30a2c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93dda30a2c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93dda30a2c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93dda30a2c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93dda30a2c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93dda30a2c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93dda30a2c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93dda30a2c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93dda30a2c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93dda30a2c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93dda30a2c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93dda30a2c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93dda30a2c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93dda30a2c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93dda30a2c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60510df36f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60510df36f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93dda30a2c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93dda30a2c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93dda30a2c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93dda30a2c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93dda30a2c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93dda30a2c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93dda30a2c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93dda30a2c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93dda30a2c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93dda30a2c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93dda30a2c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93dda30a2c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01f5305a66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01f5305a66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93dda30a2c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93dda30a2c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01f5305a66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01f5305a66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93dda30a2c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93dda30a2c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93dda30a2c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93dda30a2c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60510df36f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60510df36f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93dda30a2c_0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93dda30a2c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93dda30a2c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93dda30a2c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60510df36f_0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60510df36f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93dda30a2c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93dda30a2c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60510df36f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60510df36f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93dda30a2c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93dda30a2c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60510df36f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60510df36f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93dda30a2c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93dda30a2c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60510df36f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60510df36f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60510df36f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60510df36f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60510df36f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60510df36f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4"/>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 name="Google Shape;23;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9" name="Google Shape;39;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 name="Google Shape;40;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1" name="Google Shape;41;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4" name="Google Shape;44;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8" name="Google Shape;48;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64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6190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it"/>
              <a:t>‹#›</a:t>
            </a:fld>
            <a:endParaRPr/>
          </a:p>
        </p:txBody>
      </p:sp>
      <p:sp>
        <p:nvSpPr>
          <p:cNvPr id="9" name="Google Shape;9;p1"/>
          <p:cNvSpPr txBox="1"/>
          <p:nvPr/>
        </p:nvSpPr>
        <p:spPr>
          <a:xfrm>
            <a:off x="558425" y="4834400"/>
            <a:ext cx="8031300" cy="33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it" sz="1000">
                <a:solidFill>
                  <a:schemeClr val="dk1"/>
                </a:solidFill>
              </a:rPr>
              <a:t>DANIELE MAZZEI - </a:t>
            </a:r>
            <a:r>
              <a:rPr lang="it" sz="1000"/>
              <a:t>IUM </a:t>
            </a:r>
            <a:r>
              <a:rPr lang="it" sz="1000"/>
              <a:t>24-25</a:t>
            </a:r>
            <a:r>
              <a:rPr lang="it"/>
              <a:t> </a:t>
            </a:r>
            <a:r>
              <a:rPr lang="it" sz="700"/>
              <a:t>(</a:t>
            </a:r>
            <a:r>
              <a:rPr lang="it" sz="700"/>
              <a:t>all rights reserved)</a:t>
            </a:r>
            <a:endParaRPr sz="700"/>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classroom.google.com/c/NzEzMDU2NjIzOTk2?cjc=twr3pf5" TargetMode="External"/><Relationship Id="rId4" Type="http://schemas.openxmlformats.org/officeDocument/2006/relationships/hyperlink" Target="https://classroom.google.com/c/NzEzMDU2NjIzOTk2?cjc=twr3pf5"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www.slideshare.net/rpolillo/facile-da-usare-una-moderna-introduzione-allingegneria-dellusabilit" TargetMode="External"/><Relationship Id="rId4" Type="http://schemas.openxmlformats.org/officeDocument/2006/relationships/hyperlink" Target="https://www.usability.gov/" TargetMode="External"/><Relationship Id="rId5" Type="http://schemas.openxmlformats.org/officeDocument/2006/relationships/hyperlink" Target="https://interaction-design.org/" TargetMode="External"/><Relationship Id="rId6" Type="http://schemas.openxmlformats.org/officeDocument/2006/relationships/hyperlink" Target="https://github.com/danielemazzei/Appunti-PI-UNIPI" TargetMode="External"/><Relationship Id="rId7"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0.png"/><Relationship Id="rId4" Type="http://schemas.openxmlformats.org/officeDocument/2006/relationships/hyperlink" Target="http://cherryhappygirl.blogspot.com/2017/05/product-designer-vs-ux-designerwhich.html"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1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14.png"/><Relationship Id="rId4" Type="http://schemas.openxmlformats.org/officeDocument/2006/relationships/hyperlink" Target="https://blog.prototypr.io/why-you-shouldnt-skip-your-wireframing-1f7a70d5c125"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1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6.png"/><Relationship Id="rId4" Type="http://schemas.openxmlformats.org/officeDocument/2006/relationships/hyperlink" Target="https://www.crayondata.com/blog/the-difference-between-ui-and-ux/"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1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it" sz="4400"/>
              <a:t>IUM Interazione Uomo Macchina A.A. 24/25</a:t>
            </a:r>
            <a:endParaRPr sz="4400"/>
          </a:p>
        </p:txBody>
      </p:sp>
      <p:sp>
        <p:nvSpPr>
          <p:cNvPr id="56" name="Google Shape;56;p1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it"/>
              <a:t>DANIELE MAZZEI</a:t>
            </a:r>
            <a:endParaRPr/>
          </a:p>
          <a:p>
            <a:pPr indent="0" lvl="0" marL="0" rtl="0" algn="ctr">
              <a:spcBef>
                <a:spcPts val="0"/>
              </a:spcBef>
              <a:spcAft>
                <a:spcPts val="0"/>
              </a:spcAft>
              <a:buNone/>
            </a:pPr>
            <a:r>
              <a:rPr lang="it"/>
              <a:t>ROBERTO FIGLIE’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idx="1" type="body"/>
          </p:nvPr>
        </p:nvSpPr>
        <p:spPr>
          <a:xfrm>
            <a:off x="311700" y="619075"/>
            <a:ext cx="8520600" cy="4190100"/>
          </a:xfrm>
          <a:prstGeom prst="rect">
            <a:avLst/>
          </a:prstGeom>
          <a:noFill/>
          <a:ln>
            <a:noFill/>
          </a:ln>
        </p:spPr>
        <p:txBody>
          <a:bodyPr anchorCtr="0" anchor="t" bIns="45700" lIns="91425" spcFirstLastPara="1" rIns="91425" wrap="square" tIns="45700">
            <a:noAutofit/>
          </a:bodyPr>
          <a:lstStyle/>
          <a:p>
            <a:pPr indent="-171450" lvl="0" marL="171450" marR="0" rtl="0" algn="l">
              <a:lnSpc>
                <a:spcPct val="90000"/>
              </a:lnSpc>
              <a:spcBef>
                <a:spcPts val="0"/>
              </a:spcBef>
              <a:spcAft>
                <a:spcPts val="0"/>
              </a:spcAft>
              <a:buClr>
                <a:schemeClr val="dk1"/>
              </a:buClr>
              <a:buSzPts val="2100"/>
              <a:buFont typeface="Arial"/>
              <a:buChar char="•"/>
            </a:pPr>
            <a:r>
              <a:rPr b="0" i="0" lang="it" sz="2100" u="none" cap="none" strike="noStrike">
                <a:solidFill>
                  <a:schemeClr val="dk1"/>
                </a:solidFill>
                <a:latin typeface="Calibri"/>
                <a:ea typeface="Calibri"/>
                <a:cs typeface="Calibri"/>
                <a:sym typeface="Calibri"/>
              </a:rPr>
              <a:t>Da</a:t>
            </a:r>
            <a:r>
              <a:rPr b="0" i="0" lang="it" sz="2100" u="none" cap="none" strike="noStrike">
                <a:solidFill>
                  <a:schemeClr val="dk1"/>
                </a:solidFill>
                <a:latin typeface="Calibri"/>
                <a:ea typeface="Calibri"/>
                <a:cs typeface="Calibri"/>
                <a:sym typeface="Calibri"/>
              </a:rPr>
              <a:t>niele Mazzei</a:t>
            </a:r>
            <a:endParaRPr/>
          </a:p>
          <a:p>
            <a:pPr indent="-171450" lvl="1" marL="514350" marR="0" rtl="0" algn="l">
              <a:lnSpc>
                <a:spcPct val="90000"/>
              </a:lnSpc>
              <a:spcBef>
                <a:spcPts val="375"/>
              </a:spcBef>
              <a:spcAft>
                <a:spcPts val="0"/>
              </a:spcAft>
              <a:buClr>
                <a:schemeClr val="dk1"/>
              </a:buClr>
              <a:buSzPts val="1800"/>
              <a:buFont typeface="Arial"/>
              <a:buChar char="•"/>
            </a:pPr>
            <a:r>
              <a:rPr lang="it" sz="1800">
                <a:solidFill>
                  <a:schemeClr val="dk1"/>
                </a:solidFill>
                <a:latin typeface="Calibri"/>
                <a:ea typeface="Calibri"/>
                <a:cs typeface="Calibri"/>
                <a:sym typeface="Calibri"/>
              </a:rPr>
              <a:t>Computer science department room 362E</a:t>
            </a:r>
            <a:endParaRPr sz="1800">
              <a:solidFill>
                <a:schemeClr val="dk1"/>
              </a:solidFill>
              <a:latin typeface="Calibri"/>
              <a:ea typeface="Calibri"/>
              <a:cs typeface="Calibri"/>
              <a:sym typeface="Calibri"/>
            </a:endParaRPr>
          </a:p>
          <a:p>
            <a:pPr indent="-171450" lvl="1" marL="514350" marR="0" rtl="0" algn="l">
              <a:lnSpc>
                <a:spcPct val="90000"/>
              </a:lnSpc>
              <a:spcBef>
                <a:spcPts val="375"/>
              </a:spcBef>
              <a:spcAft>
                <a:spcPts val="0"/>
              </a:spcAft>
              <a:buClr>
                <a:schemeClr val="dk1"/>
              </a:buClr>
              <a:buSzPts val="1800"/>
              <a:buFont typeface="Arial"/>
              <a:buChar char="•"/>
            </a:pPr>
            <a:r>
              <a:rPr lang="it" sz="1800">
                <a:solidFill>
                  <a:schemeClr val="dk1"/>
                </a:solidFill>
                <a:latin typeface="Calibri"/>
                <a:ea typeface="Calibri"/>
                <a:cs typeface="Calibri"/>
                <a:sym typeface="Calibri"/>
              </a:rPr>
              <a:t>daniele.mazzei@unipi.it</a:t>
            </a:r>
            <a:endParaRPr sz="1800">
              <a:solidFill>
                <a:schemeClr val="dk1"/>
              </a:solidFill>
              <a:latin typeface="Calibri"/>
              <a:ea typeface="Calibri"/>
              <a:cs typeface="Calibri"/>
              <a:sym typeface="Calibri"/>
            </a:endParaRPr>
          </a:p>
          <a:p>
            <a:pPr indent="-171450" lvl="1" marL="514350" marR="0" rtl="0" algn="l">
              <a:lnSpc>
                <a:spcPct val="90000"/>
              </a:lnSpc>
              <a:spcBef>
                <a:spcPts val="375"/>
              </a:spcBef>
              <a:spcAft>
                <a:spcPts val="0"/>
              </a:spcAft>
              <a:buClr>
                <a:schemeClr val="dk1"/>
              </a:buClr>
              <a:buSzPts val="1800"/>
              <a:buFont typeface="Calibri"/>
              <a:buChar char="•"/>
            </a:pPr>
            <a:r>
              <a:rPr lang="it" sz="1800">
                <a:solidFill>
                  <a:schemeClr val="dk1"/>
                </a:solidFill>
                <a:latin typeface="Calibri"/>
                <a:ea typeface="Calibri"/>
                <a:cs typeface="Calibri"/>
                <a:sym typeface="Calibri"/>
              </a:rPr>
              <a:t>Student Meetings on request, book via email</a:t>
            </a:r>
            <a:endParaRPr>
              <a:solidFill>
                <a:schemeClr val="dk1"/>
              </a:solidFill>
              <a:latin typeface="Calibri"/>
              <a:ea typeface="Calibri"/>
              <a:cs typeface="Calibri"/>
              <a:sym typeface="Calibri"/>
            </a:endParaRPr>
          </a:p>
          <a:p>
            <a:pPr indent="-152400" lvl="0" marL="171450" marR="0" rtl="0" algn="l">
              <a:lnSpc>
                <a:spcPct val="90000"/>
              </a:lnSpc>
              <a:spcBef>
                <a:spcPts val="375"/>
              </a:spcBef>
              <a:spcAft>
                <a:spcPts val="0"/>
              </a:spcAft>
              <a:buClr>
                <a:schemeClr val="dk1"/>
              </a:buClr>
              <a:buSzPts val="1800"/>
              <a:buFont typeface="Calibri"/>
              <a:buChar char="•"/>
            </a:pPr>
            <a:r>
              <a:rPr lang="it">
                <a:solidFill>
                  <a:schemeClr val="dk1"/>
                </a:solidFill>
                <a:latin typeface="Calibri"/>
                <a:ea typeface="Calibri"/>
                <a:cs typeface="Calibri"/>
                <a:sym typeface="Calibri"/>
              </a:rPr>
              <a:t>Roberto Figliè</a:t>
            </a:r>
            <a:endParaRPr>
              <a:solidFill>
                <a:schemeClr val="dk1"/>
              </a:solidFill>
              <a:latin typeface="Calibri"/>
              <a:ea typeface="Calibri"/>
              <a:cs typeface="Calibri"/>
              <a:sym typeface="Calibri"/>
            </a:endParaRPr>
          </a:p>
          <a:p>
            <a:pPr indent="-171450" lvl="1" marL="514350" rtl="0" algn="l">
              <a:lnSpc>
                <a:spcPct val="90000"/>
              </a:lnSpc>
              <a:spcBef>
                <a:spcPts val="375"/>
              </a:spcBef>
              <a:spcAft>
                <a:spcPts val="0"/>
              </a:spcAft>
              <a:buClr>
                <a:schemeClr val="dk1"/>
              </a:buClr>
              <a:buSzPts val="1800"/>
              <a:buFont typeface="Arial"/>
              <a:buChar char="•"/>
            </a:pPr>
            <a:r>
              <a:rPr lang="it" sz="1800">
                <a:solidFill>
                  <a:schemeClr val="dk1"/>
                </a:solidFill>
                <a:latin typeface="Calibri"/>
                <a:ea typeface="Calibri"/>
                <a:cs typeface="Calibri"/>
                <a:sym typeface="Calibri"/>
              </a:rPr>
              <a:t>roberto.figlie@phd.unipi.it</a:t>
            </a:r>
            <a:endParaRPr sz="1800">
              <a:solidFill>
                <a:schemeClr val="dk1"/>
              </a:solidFill>
              <a:latin typeface="Calibri"/>
              <a:ea typeface="Calibri"/>
              <a:cs typeface="Calibri"/>
              <a:sym typeface="Calibri"/>
            </a:endParaRPr>
          </a:p>
          <a:p>
            <a:pPr indent="0" lvl="0" marL="0" rtl="0" algn="l">
              <a:lnSpc>
                <a:spcPct val="90000"/>
              </a:lnSpc>
              <a:spcBef>
                <a:spcPts val="375"/>
              </a:spcBef>
              <a:spcAft>
                <a:spcPts val="0"/>
              </a:spcAft>
              <a:buNone/>
            </a:pPr>
            <a:r>
              <a:t/>
            </a:r>
            <a:endParaRPr>
              <a:solidFill>
                <a:schemeClr val="dk1"/>
              </a:solidFill>
              <a:latin typeface="Calibri"/>
              <a:ea typeface="Calibri"/>
              <a:cs typeface="Calibri"/>
              <a:sym typeface="Calibri"/>
            </a:endParaRPr>
          </a:p>
          <a:p>
            <a:pPr indent="0" lvl="0" marL="0" rtl="0" algn="l">
              <a:lnSpc>
                <a:spcPct val="90000"/>
              </a:lnSpc>
              <a:spcBef>
                <a:spcPts val="375"/>
              </a:spcBef>
              <a:spcAft>
                <a:spcPts val="0"/>
              </a:spcAft>
              <a:buNone/>
            </a:pPr>
            <a:r>
              <a:rPr lang="it" u="sng">
                <a:solidFill>
                  <a:schemeClr val="hlink"/>
                </a:solidFill>
                <a:latin typeface="Calibri"/>
                <a:ea typeface="Calibri"/>
                <a:cs typeface="Calibri"/>
                <a:sym typeface="Calibri"/>
                <a:hlinkClick r:id="rId3"/>
              </a:rPr>
              <a:t>GOOGLE CLASSROOM</a:t>
            </a:r>
            <a:r>
              <a:rPr lang="it" sz="1800" u="sng">
                <a:solidFill>
                  <a:schemeClr val="hlink"/>
                </a:solidFill>
                <a:latin typeface="Calibri"/>
                <a:ea typeface="Calibri"/>
                <a:cs typeface="Calibri"/>
                <a:sym typeface="Calibri"/>
                <a:hlinkClick r:id="rId4"/>
              </a:rPr>
              <a:t> </a:t>
            </a:r>
            <a:r>
              <a:rPr lang="it">
                <a:solidFill>
                  <a:schemeClr val="dk1"/>
                </a:solidFill>
                <a:latin typeface="Calibri"/>
                <a:ea typeface="Calibri"/>
                <a:cs typeface="Calibri"/>
                <a:sym typeface="Calibri"/>
              </a:rPr>
              <a:t>   </a:t>
            </a:r>
            <a:endParaRPr>
              <a:solidFill>
                <a:schemeClr val="dk1"/>
              </a:solidFill>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rPr lang="it" sz="4500">
                <a:solidFill>
                  <a:schemeClr val="dk1"/>
                </a:solidFill>
                <a:highlight>
                  <a:srgbClr val="FFFFFF"/>
                </a:highlight>
                <a:latin typeface="Roboto"/>
                <a:ea typeface="Roboto"/>
                <a:cs typeface="Roboto"/>
                <a:sym typeface="Roboto"/>
              </a:rPr>
              <a:t>code: twr3pf5</a:t>
            </a:r>
            <a:endParaRPr sz="4500">
              <a:solidFill>
                <a:schemeClr val="dk1"/>
              </a:solidFill>
              <a:highlight>
                <a:srgbClr val="FFFFFF"/>
              </a:highlight>
              <a:latin typeface="Roboto"/>
              <a:ea typeface="Roboto"/>
              <a:cs typeface="Roboto"/>
              <a:sym typeface="Roboto"/>
            </a:endParaRPr>
          </a:p>
          <a:p>
            <a:pPr indent="0" lvl="0" marL="0" rtl="0" algn="l">
              <a:lnSpc>
                <a:spcPct val="90000"/>
              </a:lnSpc>
              <a:spcBef>
                <a:spcPts val="375"/>
              </a:spcBef>
              <a:spcAft>
                <a:spcPts val="0"/>
              </a:spcAft>
              <a:buNone/>
            </a:pPr>
            <a:r>
              <a:t/>
            </a:r>
            <a:endParaRPr>
              <a:solidFill>
                <a:schemeClr val="dk1"/>
              </a:solidFill>
              <a:latin typeface="Calibri"/>
              <a:ea typeface="Calibri"/>
              <a:cs typeface="Calibri"/>
              <a:sym typeface="Calibri"/>
            </a:endParaRPr>
          </a:p>
        </p:txBody>
      </p:sp>
      <p:sp>
        <p:nvSpPr>
          <p:cNvPr id="62" name="Google Shape;62;p14"/>
          <p:cNvSpPr txBox="1"/>
          <p:nvPr>
            <p:ph type="title"/>
          </p:nvPr>
        </p:nvSpPr>
        <p:spPr>
          <a:xfrm>
            <a:off x="311700" y="64025"/>
            <a:ext cx="8520600" cy="5727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1"/>
              </a:buClr>
              <a:buSzPts val="3300"/>
              <a:buFont typeface="Calibri"/>
              <a:buNone/>
            </a:pPr>
            <a:r>
              <a:rPr b="0" i="0" lang="it" sz="3300" u="none" cap="none" strike="noStrike">
                <a:solidFill>
                  <a:schemeClr val="dk1"/>
                </a:solidFill>
                <a:latin typeface="Calibri"/>
                <a:ea typeface="Calibri"/>
                <a:cs typeface="Calibri"/>
                <a:sym typeface="Calibri"/>
              </a:rPr>
              <a:t>Who, When and Where</a:t>
            </a:r>
            <a:endParaRPr/>
          </a:p>
        </p:txBody>
      </p:sp>
      <p:sp>
        <p:nvSpPr>
          <p:cNvPr id="63" name="Google Shape;63;p14"/>
          <p:cNvSpPr txBox="1"/>
          <p:nvPr>
            <p:ph idx="12" type="sldNum"/>
          </p:nvPr>
        </p:nvSpPr>
        <p:spPr>
          <a:xfrm>
            <a:off x="8472458" y="4663217"/>
            <a:ext cx="548700" cy="3936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it">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Books and other material </a:t>
            </a:r>
            <a:endParaRPr/>
          </a:p>
        </p:txBody>
      </p:sp>
      <p:sp>
        <p:nvSpPr>
          <p:cNvPr id="69" name="Google Shape;69;p15"/>
          <p:cNvSpPr txBox="1"/>
          <p:nvPr>
            <p:ph idx="1" type="body"/>
          </p:nvPr>
        </p:nvSpPr>
        <p:spPr>
          <a:xfrm>
            <a:off x="311700" y="636725"/>
            <a:ext cx="69483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it" u="sng"/>
              <a:t>La caffettiera del masochista. Il design degli oggetti quotidiani – Donald A. Norman</a:t>
            </a:r>
            <a:endParaRPr u="sng"/>
          </a:p>
          <a:p>
            <a:pPr indent="-317500" lvl="1" marL="914400" rtl="0" algn="l">
              <a:spcBef>
                <a:spcPts val="0"/>
              </a:spcBef>
              <a:spcAft>
                <a:spcPts val="0"/>
              </a:spcAft>
              <a:buSzPts val="1400"/>
              <a:buChar char="○"/>
            </a:pPr>
            <a:r>
              <a:rPr lang="it"/>
              <a:t>[english] The Design of Everyday Things</a:t>
            </a:r>
            <a:endParaRPr b="1" sz="2300">
              <a:solidFill>
                <a:srgbClr val="111111"/>
              </a:solidFill>
            </a:endParaRPr>
          </a:p>
          <a:p>
            <a:pPr indent="-342900" lvl="0" marL="457200" rtl="0" algn="l">
              <a:spcBef>
                <a:spcPts val="1600"/>
              </a:spcBef>
              <a:spcAft>
                <a:spcPts val="0"/>
              </a:spcAft>
              <a:buSzPts val="1800"/>
              <a:buChar char="●"/>
            </a:pPr>
            <a:r>
              <a:rPr lang="it"/>
              <a:t>Facile da usare - Una moderna introduzione all'ingegneria dell'usabilità - </a:t>
            </a:r>
            <a:r>
              <a:rPr lang="it" u="sng">
                <a:solidFill>
                  <a:schemeClr val="hlink"/>
                </a:solidFill>
                <a:hlinkClick r:id="rId3"/>
              </a:rPr>
              <a:t>Free </a:t>
            </a:r>
            <a:r>
              <a:rPr lang="it"/>
              <a:t>su SlideShare</a:t>
            </a:r>
            <a:endParaRPr/>
          </a:p>
          <a:p>
            <a:pPr indent="-342900" lvl="0" marL="457200" rtl="0" algn="l">
              <a:spcBef>
                <a:spcPts val="1600"/>
              </a:spcBef>
              <a:spcAft>
                <a:spcPts val="0"/>
              </a:spcAft>
              <a:buSzPts val="1800"/>
              <a:buChar char="●"/>
            </a:pPr>
            <a:r>
              <a:rPr lang="it"/>
              <a:t>Watkinson, M. (2013). The ten principles behind great customer experiences. Pearson UK</a:t>
            </a:r>
            <a:endParaRPr/>
          </a:p>
          <a:p>
            <a:pPr indent="-342900" lvl="0" marL="457200" rtl="0" algn="l">
              <a:spcBef>
                <a:spcPts val="1600"/>
              </a:spcBef>
              <a:spcAft>
                <a:spcPts val="0"/>
              </a:spcAft>
              <a:buSzPts val="1800"/>
              <a:buChar char="●"/>
            </a:pPr>
            <a:r>
              <a:rPr lang="it"/>
              <a:t>Web: </a:t>
            </a:r>
            <a:r>
              <a:rPr lang="it" sz="1100" u="sng">
                <a:solidFill>
                  <a:schemeClr val="hlink"/>
                </a:solidFill>
                <a:hlinkClick r:id="rId4"/>
              </a:rPr>
              <a:t>https://www.usability.gov/</a:t>
            </a:r>
            <a:r>
              <a:rPr lang="it"/>
              <a:t> and </a:t>
            </a:r>
            <a:r>
              <a:rPr lang="it" sz="1100" u="sng">
                <a:solidFill>
                  <a:schemeClr val="hlink"/>
                </a:solidFill>
                <a:hlinkClick r:id="rId5"/>
              </a:rPr>
              <a:t>https://interaction-design.org</a:t>
            </a:r>
            <a:endParaRPr/>
          </a:p>
          <a:p>
            <a:pPr indent="-342900" lvl="0" marL="457200" rtl="0" algn="l">
              <a:spcBef>
                <a:spcPts val="1600"/>
              </a:spcBef>
              <a:spcAft>
                <a:spcPts val="0"/>
              </a:spcAft>
              <a:buSzPts val="1800"/>
              <a:buChar char="●"/>
            </a:pPr>
            <a:r>
              <a:rPr lang="it"/>
              <a:t>Classroom GDrive for Slides</a:t>
            </a:r>
            <a:endParaRPr/>
          </a:p>
          <a:p>
            <a:pPr indent="-342900" lvl="0" marL="457200" rtl="0" algn="l">
              <a:spcBef>
                <a:spcPts val="0"/>
              </a:spcBef>
              <a:spcAft>
                <a:spcPts val="0"/>
              </a:spcAft>
              <a:buSzPts val="1800"/>
              <a:buChar char="●"/>
            </a:pPr>
            <a:r>
              <a:rPr lang="it"/>
              <a:t>Dispense (ITA, non complete) </a:t>
            </a:r>
            <a:r>
              <a:rPr lang="it" u="sng">
                <a:solidFill>
                  <a:schemeClr val="hlink"/>
                </a:solidFill>
                <a:hlinkClick r:id="rId6"/>
              </a:rPr>
              <a:t>QUI</a:t>
            </a:r>
            <a:endParaRPr/>
          </a:p>
          <a:p>
            <a:pPr indent="0" lvl="0" marL="0" rtl="0" algn="l">
              <a:spcBef>
                <a:spcPts val="1600"/>
              </a:spcBef>
              <a:spcAft>
                <a:spcPts val="1600"/>
              </a:spcAft>
              <a:buNone/>
            </a:pPr>
            <a:r>
              <a:t/>
            </a:r>
            <a:endParaRPr/>
          </a:p>
        </p:txBody>
      </p:sp>
      <p:pic>
        <p:nvPicPr>
          <p:cNvPr id="70" name="Google Shape;70;p15"/>
          <p:cNvPicPr preferRelativeResize="0"/>
          <p:nvPr/>
        </p:nvPicPr>
        <p:blipFill>
          <a:blip r:embed="rId7">
            <a:alphaModFix/>
          </a:blip>
          <a:stretch>
            <a:fillRect/>
          </a:stretch>
        </p:blipFill>
        <p:spPr>
          <a:xfrm>
            <a:off x="7260000" y="1088625"/>
            <a:ext cx="1790700" cy="278815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it"/>
              <a:t>INTRO</a:t>
            </a:r>
            <a:endParaRPr/>
          </a:p>
          <a:p>
            <a:pPr indent="0" lvl="0" marL="0" rtl="0" algn="ctr">
              <a:spcBef>
                <a:spcPts val="0"/>
              </a:spcBef>
              <a:spcAft>
                <a:spcPts val="0"/>
              </a:spcAft>
              <a:buNone/>
            </a:pPr>
            <a:r>
              <a:rPr lang="it"/>
              <a:t>UNA NUOVA ERA</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Una nuova era</a:t>
            </a:r>
            <a:endParaRPr/>
          </a:p>
        </p:txBody>
      </p:sp>
      <p:sp>
        <p:nvSpPr>
          <p:cNvPr id="81" name="Google Shape;81;p17"/>
          <p:cNvSpPr txBox="1"/>
          <p:nvPr>
            <p:ph idx="1" type="body"/>
          </p:nvPr>
        </p:nvSpPr>
        <p:spPr>
          <a:xfrm>
            <a:off x="311700" y="619075"/>
            <a:ext cx="3525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Negli ultimi anni il ruolo degli informatici è decisamente cambiato. </a:t>
            </a:r>
            <a:endParaRPr/>
          </a:p>
          <a:p>
            <a:pPr indent="0" lvl="0" marL="0" rtl="0" algn="l">
              <a:spcBef>
                <a:spcPts val="1600"/>
              </a:spcBef>
              <a:spcAft>
                <a:spcPts val="1600"/>
              </a:spcAft>
              <a:buNone/>
            </a:pPr>
            <a:r>
              <a:rPr lang="it"/>
              <a:t>Per anni l'informatico è stato chiuso in uno sgabuzzino ad interagire in solitudine con una tastiera, bevendo bibite gassate mentre qualcuno gli diceva che cosa serviva (o almeno era convinto di sapere cosa servisse) all'azienda per crescere.</a:t>
            </a:r>
            <a:endParaRPr/>
          </a:p>
        </p:txBody>
      </p:sp>
      <p:pic>
        <p:nvPicPr>
          <p:cNvPr id="82" name="Google Shape;82;p17"/>
          <p:cNvPicPr preferRelativeResize="0"/>
          <p:nvPr/>
        </p:nvPicPr>
        <p:blipFill>
          <a:blip r:embed="rId3">
            <a:alphaModFix/>
          </a:blip>
          <a:stretch>
            <a:fillRect/>
          </a:stretch>
        </p:blipFill>
        <p:spPr>
          <a:xfrm>
            <a:off x="4132100" y="742950"/>
            <a:ext cx="4876800" cy="36576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Obiettivo</a:t>
            </a:r>
            <a:r>
              <a:rPr lang="it"/>
              <a:t> del corso</a:t>
            </a:r>
            <a:endParaRPr/>
          </a:p>
        </p:txBody>
      </p:sp>
      <p:sp>
        <p:nvSpPr>
          <p:cNvPr id="88" name="Google Shape;88;p18"/>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Questo corso è una trattazione adattata per informatici delle teorie di </a:t>
            </a:r>
            <a:r>
              <a:rPr b="1" lang="it"/>
              <a:t>human computer (HCI) e human machine interaction (HMI) </a:t>
            </a:r>
            <a:r>
              <a:rPr lang="it"/>
              <a:t>[interazione uomo-computer e interazione uomo-macchina]. </a:t>
            </a:r>
            <a:endParaRPr/>
          </a:p>
          <a:p>
            <a:pPr indent="0" lvl="0" marL="0" rtl="0" algn="l">
              <a:spcBef>
                <a:spcPts val="1600"/>
              </a:spcBef>
              <a:spcAft>
                <a:spcPts val="0"/>
              </a:spcAft>
              <a:buNone/>
            </a:pPr>
            <a:r>
              <a:rPr lang="it"/>
              <a:t>L'obiettivo di questo corso è quindi quello di fornire agli studenti del corso di laurea in Informatica </a:t>
            </a:r>
            <a:r>
              <a:rPr lang="it" u="sng"/>
              <a:t>gli strumenti necessari a comprendere e gestire il processo di sviluppo delle interfacce e dei prodotti interattivi.</a:t>
            </a:r>
            <a:r>
              <a:rPr lang="it"/>
              <a:t> </a:t>
            </a:r>
            <a:endParaRPr/>
          </a:p>
          <a:p>
            <a:pPr indent="0" lvl="0" marL="0" rtl="0" algn="l">
              <a:spcBef>
                <a:spcPts val="1600"/>
              </a:spcBef>
              <a:spcAft>
                <a:spcPts val="0"/>
              </a:spcAft>
              <a:buNone/>
            </a:pPr>
            <a:r>
              <a:rPr lang="it"/>
              <a:t>Questo corso ambisce a spostare l'informatico dal suo tipico ruolo di sviluppatore elevandolo quindi a progettista (o al minimo contributore) non solo del “codice” ma dell'intero prodotto.</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9"/>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Progettare l’interazione</a:t>
            </a:r>
            <a:endParaRPr/>
          </a:p>
        </p:txBody>
      </p:sp>
      <p:sp>
        <p:nvSpPr>
          <p:cNvPr id="94" name="Google Shape;94;p19"/>
          <p:cNvSpPr txBox="1"/>
          <p:nvPr>
            <p:ph idx="1" type="body"/>
          </p:nvPr>
        </p:nvSpPr>
        <p:spPr>
          <a:xfrm>
            <a:off x="311700" y="619075"/>
            <a:ext cx="55803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Questo corso è ispirato alla teoria dell'interazione sviluppata dal Prof. Donald Norman ed in particolare, le dispense sono in parte un adattamento didattico del libro “La caffettiera del masochista” di Donald Norman, pubblicato in Italia da Giunti e disponibile in lingua originale come “The design of everyday things, D. Norman”. </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pic>
        <p:nvPicPr>
          <p:cNvPr id="95" name="Google Shape;95;p19"/>
          <p:cNvPicPr preferRelativeResize="0"/>
          <p:nvPr/>
        </p:nvPicPr>
        <p:blipFill>
          <a:blip r:embed="rId3">
            <a:alphaModFix/>
          </a:blip>
          <a:stretch>
            <a:fillRect/>
          </a:stretch>
        </p:blipFill>
        <p:spPr>
          <a:xfrm>
            <a:off x="6090873" y="581225"/>
            <a:ext cx="2941175" cy="42528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0"/>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Progettare l’interazione</a:t>
            </a:r>
            <a:endParaRPr/>
          </a:p>
          <a:p>
            <a:pPr indent="0" lvl="0" marL="0" rtl="0" algn="l">
              <a:spcBef>
                <a:spcPts val="0"/>
              </a:spcBef>
              <a:spcAft>
                <a:spcPts val="0"/>
              </a:spcAft>
              <a:buNone/>
            </a:pPr>
            <a:r>
              <a:t/>
            </a:r>
            <a:endParaRPr/>
          </a:p>
        </p:txBody>
      </p:sp>
      <p:sp>
        <p:nvSpPr>
          <p:cNvPr id="101" name="Google Shape;101;p20"/>
          <p:cNvSpPr txBox="1"/>
          <p:nvPr>
            <p:ph idx="1" type="body"/>
          </p:nvPr>
        </p:nvSpPr>
        <p:spPr>
          <a:xfrm>
            <a:off x="311700" y="619075"/>
            <a:ext cx="3765000" cy="351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Nel corso verranno trattati anche aspetti relativi all'Internet delle cose e alle interazioni con robot e altri sistemi “smart”. </a:t>
            </a:r>
            <a:endParaRPr/>
          </a:p>
          <a:p>
            <a:pPr indent="0" lvl="0" marL="0" rtl="0" algn="l">
              <a:spcBef>
                <a:spcPts val="1600"/>
              </a:spcBef>
              <a:spcAft>
                <a:spcPts val="0"/>
              </a:spcAft>
              <a:buClr>
                <a:schemeClr val="dk1"/>
              </a:buClr>
              <a:buSzPts val="1100"/>
              <a:buFont typeface="Arial"/>
              <a:buNone/>
            </a:pPr>
            <a:r>
              <a:rPr lang="it"/>
              <a:t>Questi aspetti legati all'interazione con oggetti smart sono anch'essi ispirati agli studi di Norman e sono ampiamente trattati nel libro “Il Computer Invisibile, D. Norman”, pubblicato in Italia da Apogeo.</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pic>
        <p:nvPicPr>
          <p:cNvPr id="102" name="Google Shape;102;p20"/>
          <p:cNvPicPr preferRelativeResize="0"/>
          <p:nvPr/>
        </p:nvPicPr>
        <p:blipFill>
          <a:blip r:embed="rId3">
            <a:alphaModFix/>
          </a:blip>
          <a:stretch>
            <a:fillRect/>
          </a:stretch>
        </p:blipFill>
        <p:spPr>
          <a:xfrm>
            <a:off x="4165050" y="575600"/>
            <a:ext cx="4876800" cy="38671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1"/>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Progettare l’interazione</a:t>
            </a:r>
            <a:endParaRPr/>
          </a:p>
          <a:p>
            <a:pPr indent="0" lvl="0" marL="0" rtl="0" algn="l">
              <a:spcBef>
                <a:spcPts val="0"/>
              </a:spcBef>
              <a:spcAft>
                <a:spcPts val="0"/>
              </a:spcAft>
              <a:buNone/>
            </a:pPr>
            <a:r>
              <a:t/>
            </a:r>
            <a:endParaRPr/>
          </a:p>
        </p:txBody>
      </p:sp>
      <p:sp>
        <p:nvSpPr>
          <p:cNvPr id="108" name="Google Shape;108;p21"/>
          <p:cNvSpPr txBox="1"/>
          <p:nvPr>
            <p:ph idx="1" type="body"/>
          </p:nvPr>
        </p:nvSpPr>
        <p:spPr>
          <a:xfrm>
            <a:off x="311700" y="619075"/>
            <a:ext cx="53202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Per quanto riguarda invece Usabilità e Dispositivi per l’Interazione è consigliato il libro “Human-Computer Interaction, I fondamenti dell'interazione tra persone e tecnologie”, L. Gamberini, Pearson.</a:t>
            </a:r>
            <a:endParaRPr/>
          </a:p>
          <a:p>
            <a:pPr indent="0" lvl="0" marL="0" rtl="0" algn="l">
              <a:spcBef>
                <a:spcPts val="1600"/>
              </a:spcBef>
              <a:spcAft>
                <a:spcPts val="1600"/>
              </a:spcAft>
              <a:buNone/>
            </a:pPr>
            <a:r>
              <a:rPr lang="it"/>
              <a:t> </a:t>
            </a:r>
            <a:endParaRPr/>
          </a:p>
        </p:txBody>
      </p:sp>
      <p:pic>
        <p:nvPicPr>
          <p:cNvPr id="109" name="Google Shape;109;p21"/>
          <p:cNvPicPr preferRelativeResize="0"/>
          <p:nvPr/>
        </p:nvPicPr>
        <p:blipFill>
          <a:blip r:embed="rId3">
            <a:alphaModFix/>
          </a:blip>
          <a:stretch>
            <a:fillRect/>
          </a:stretch>
        </p:blipFill>
        <p:spPr>
          <a:xfrm>
            <a:off x="6087900" y="448700"/>
            <a:ext cx="2857500" cy="40671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2"/>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Il Prodotto</a:t>
            </a:r>
            <a:endParaRPr/>
          </a:p>
        </p:txBody>
      </p:sp>
      <p:sp>
        <p:nvSpPr>
          <p:cNvPr id="115" name="Google Shape;115;p22"/>
          <p:cNvSpPr txBox="1"/>
          <p:nvPr>
            <p:ph idx="1" type="body"/>
          </p:nvPr>
        </p:nvSpPr>
        <p:spPr>
          <a:xfrm>
            <a:off x="311700" y="619075"/>
            <a:ext cx="8520600" cy="385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Nel corso parlerò spesso di prodotto, business, acquisto e altri termini legati al mondo della vendita, dell'economia e del mercato. </a:t>
            </a:r>
            <a:endParaRPr/>
          </a:p>
          <a:p>
            <a:pPr indent="0" lvl="0" marL="0" rtl="0" algn="l">
              <a:spcBef>
                <a:spcPts val="1600"/>
              </a:spcBef>
              <a:spcAft>
                <a:spcPts val="0"/>
              </a:spcAft>
              <a:buClr>
                <a:schemeClr val="dk1"/>
              </a:buClr>
              <a:buSzPts val="1100"/>
              <a:buFont typeface="Arial"/>
              <a:buNone/>
            </a:pPr>
            <a:r>
              <a:rPr lang="it"/>
              <a:t>Questo </a:t>
            </a:r>
            <a:r>
              <a:rPr lang="it"/>
              <a:t>perché</a:t>
            </a:r>
            <a:r>
              <a:rPr lang="it"/>
              <a:t> l'informatico deve sviluppare una consapevolezza fondamentale per il suo lavoro:</a:t>
            </a:r>
            <a:endParaRPr/>
          </a:p>
          <a:p>
            <a:pPr indent="0" lvl="0" marL="0" rtl="0" algn="l">
              <a:spcBef>
                <a:spcPts val="1600"/>
              </a:spcBef>
              <a:spcAft>
                <a:spcPts val="0"/>
              </a:spcAft>
              <a:buClr>
                <a:schemeClr val="dk1"/>
              </a:buClr>
              <a:buSzPts val="1100"/>
              <a:buFont typeface="Arial"/>
              <a:buNone/>
            </a:pPr>
            <a:r>
              <a:rPr b="1" lang="it"/>
              <a:t>Un prodotto che nessuno compra è un prodotto inutile</a:t>
            </a:r>
            <a:endParaRPr b="1"/>
          </a:p>
          <a:p>
            <a:pPr indent="0" lvl="0" marL="0" rtl="0" algn="l">
              <a:spcBef>
                <a:spcPts val="1600"/>
              </a:spcBef>
              <a:spcAft>
                <a:spcPts val="0"/>
              </a:spcAft>
              <a:buClr>
                <a:schemeClr val="dk1"/>
              </a:buClr>
              <a:buSzPts val="1100"/>
              <a:buFont typeface="Arial"/>
              <a:buNone/>
            </a:pPr>
            <a:r>
              <a:rPr lang="it"/>
              <a:t>Non importa quanto geniale sia il codice che avete scritto o rivoluzionario il sistema che avete implementato, se non vi curerete di far si che questo artefatto venga apprezzato e quindi utilizzato dalle persone la vostra creazione, geniale o stupida che sia, morirà dentro il vostro computer.</a:t>
            </a:r>
            <a:endParaRPr/>
          </a:p>
          <a:p>
            <a:pPr indent="0" lvl="0" marL="0" rtl="0" algn="l">
              <a:spcBef>
                <a:spcPts val="1600"/>
              </a:spcBef>
              <a:spcAft>
                <a:spcPts val="16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it"/>
              <a:t>Progettare l'Interazione fra Uomo e Macchina</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Design</a:t>
            </a:r>
            <a:endParaRPr/>
          </a:p>
        </p:txBody>
      </p:sp>
      <p:sp>
        <p:nvSpPr>
          <p:cNvPr id="126" name="Google Shape;126;p24"/>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La rivoluzione tecnologica degli ultimi anni ha portato a parlare molto di User Experience Design, User Interface Design, Interaction Design etc.</a:t>
            </a:r>
            <a:endParaRPr/>
          </a:p>
          <a:p>
            <a:pPr indent="0" lvl="0" marL="0" rtl="0" algn="l">
              <a:spcBef>
                <a:spcPts val="1600"/>
              </a:spcBef>
              <a:spcAft>
                <a:spcPts val="0"/>
              </a:spcAft>
              <a:buClr>
                <a:schemeClr val="dk1"/>
              </a:buClr>
              <a:buSzPts val="1100"/>
              <a:buFont typeface="Arial"/>
              <a:buNone/>
            </a:pPr>
            <a:r>
              <a:rPr b="1" lang="it"/>
              <a:t>Cosa si intende con il termine Design?</a:t>
            </a:r>
            <a:endParaRPr b="1"/>
          </a:p>
          <a:p>
            <a:pPr indent="0" lvl="0" marL="0" rtl="0" algn="l">
              <a:spcBef>
                <a:spcPts val="1600"/>
              </a:spcBef>
              <a:spcAft>
                <a:spcPts val="0"/>
              </a:spcAft>
              <a:buClr>
                <a:schemeClr val="dk1"/>
              </a:buClr>
              <a:buSzPts val="1100"/>
              <a:buFont typeface="Arial"/>
              <a:buNone/>
            </a:pPr>
            <a:r>
              <a:rPr b="1" lang="it" sz="1300"/>
              <a:t>Da Treccani.it:</a:t>
            </a:r>
            <a:r>
              <a:rPr lang="it" sz="1300"/>
              <a:t> design s. ingl. [propr. «disegno, progetto», dal fr. dessein, che a sua volta è dall’ital. disegno], usato in ital. al masch. – </a:t>
            </a:r>
            <a:r>
              <a:rPr lang="it" sz="1300" u="sng"/>
              <a:t>Nella produzione industriale, progettazione</a:t>
            </a:r>
            <a:r>
              <a:rPr lang="it" sz="1300"/>
              <a:t> (detta più precisamente industrial design) che mira a conciliare i requisiti tecnici, funzionali ed economici degli oggetti prodotti in serie, </a:t>
            </a:r>
            <a:r>
              <a:rPr lang="it" sz="1300" u="sng"/>
              <a:t>così che la forma che ne risulta è la sintesi di tale attività progettuale</a:t>
            </a:r>
            <a:r>
              <a:rPr lang="it" sz="1300"/>
              <a:t>; quando la forma dell’oggetto viene elaborata indipendentemente dalla progettazione vera e propria, si parla più propriam. di styling design. </a:t>
            </a:r>
            <a:endParaRPr sz="1300"/>
          </a:p>
          <a:p>
            <a:pPr indent="0" lvl="0" marL="0" rtl="0" algn="l">
              <a:spcBef>
                <a:spcPts val="1600"/>
              </a:spcBef>
              <a:spcAft>
                <a:spcPts val="16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Design</a:t>
            </a:r>
            <a:endParaRPr/>
          </a:p>
        </p:txBody>
      </p:sp>
      <p:sp>
        <p:nvSpPr>
          <p:cNvPr id="132" name="Google Shape;132;p25"/>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it" sz="1400"/>
              <a:t>In Italiano tendiamo quindi ad usare il termine design per riferirci sia al processo di progettazione che al risultato stesso di questo processo</a:t>
            </a:r>
            <a:endParaRPr b="1" sz="1400"/>
          </a:p>
          <a:p>
            <a:pPr indent="-311150" lvl="0" marL="457200" rtl="0" algn="l">
              <a:spcBef>
                <a:spcPts val="1600"/>
              </a:spcBef>
              <a:spcAft>
                <a:spcPts val="0"/>
              </a:spcAft>
              <a:buSzPts val="1300"/>
              <a:buChar char="●"/>
            </a:pPr>
            <a:r>
              <a:rPr b="1" lang="it" sz="1300"/>
              <a:t>Processo:</a:t>
            </a:r>
            <a:r>
              <a:rPr lang="it" sz="1300"/>
              <a:t> </a:t>
            </a:r>
            <a:r>
              <a:rPr i="1" lang="it" sz="1300"/>
              <a:t>“E' stato avviato il design dell'interfaccia grafica”</a:t>
            </a:r>
            <a:endParaRPr i="1" sz="1300"/>
          </a:p>
          <a:p>
            <a:pPr indent="-311150" lvl="0" marL="457200" rtl="0" algn="l">
              <a:spcBef>
                <a:spcPts val="0"/>
              </a:spcBef>
              <a:spcAft>
                <a:spcPts val="0"/>
              </a:spcAft>
              <a:buSzPts val="1300"/>
              <a:buChar char="●"/>
            </a:pPr>
            <a:r>
              <a:rPr b="1" lang="it" sz="1300"/>
              <a:t>Risultato del processo:</a:t>
            </a:r>
            <a:r>
              <a:rPr lang="it" sz="1300"/>
              <a:t> </a:t>
            </a:r>
            <a:r>
              <a:rPr i="1" lang="it" sz="1300"/>
              <a:t>“Ecco il design dell'interfaccia grafica pronto per essere implementato”</a:t>
            </a:r>
            <a:endParaRPr i="1" sz="1300"/>
          </a:p>
          <a:p>
            <a:pPr indent="0" lvl="0" marL="0" rtl="0" algn="l">
              <a:spcBef>
                <a:spcPts val="1600"/>
              </a:spcBef>
              <a:spcAft>
                <a:spcPts val="0"/>
              </a:spcAft>
              <a:buClr>
                <a:schemeClr val="dk1"/>
              </a:buClr>
              <a:buSzPts val="1100"/>
              <a:buFont typeface="Arial"/>
              <a:buNone/>
            </a:pPr>
            <a:r>
              <a:rPr i="1" lang="it" sz="1400"/>
              <a:t>Per design si intende quindi sia il processo di progettazione e pianificazione che l'output stesso di questo processo</a:t>
            </a:r>
            <a:endParaRPr i="1" sz="1400"/>
          </a:p>
          <a:p>
            <a:pPr indent="0" lvl="0" marL="0" rtl="0" algn="l">
              <a:spcBef>
                <a:spcPts val="1600"/>
              </a:spcBef>
              <a:spcAft>
                <a:spcPts val="0"/>
              </a:spcAft>
              <a:buClr>
                <a:schemeClr val="dk1"/>
              </a:buClr>
              <a:buSzPts val="1100"/>
              <a:buFont typeface="Arial"/>
              <a:buNone/>
            </a:pPr>
            <a:r>
              <a:rPr lang="it" sz="1300"/>
              <a:t> </a:t>
            </a:r>
            <a:endParaRPr sz="1300"/>
          </a:p>
          <a:p>
            <a:pPr indent="0" lvl="0" marL="0" rtl="0" algn="l">
              <a:spcBef>
                <a:spcPts val="1600"/>
              </a:spcBef>
              <a:spcAft>
                <a:spcPts val="16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Può un informatico diventare designer?</a:t>
            </a:r>
            <a:endParaRPr/>
          </a:p>
        </p:txBody>
      </p:sp>
      <p:sp>
        <p:nvSpPr>
          <p:cNvPr id="138" name="Google Shape;138;p26"/>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E' importante notare che nel mondo del design, ed in particolare nel design industriale, si approccia alla risoluzione dei problemi e alla progettazione con una forma mentis molto diversa rispetto a quella “computazionale” tipica del mondo informatico. </a:t>
            </a:r>
            <a:endParaRPr/>
          </a:p>
          <a:p>
            <a:pPr indent="0" lvl="0" marL="0" rtl="0" algn="l">
              <a:spcBef>
                <a:spcPts val="1600"/>
              </a:spcBef>
              <a:spcAft>
                <a:spcPts val="0"/>
              </a:spcAft>
              <a:buClr>
                <a:schemeClr val="dk1"/>
              </a:buClr>
              <a:buSzPts val="1100"/>
              <a:buFont typeface="Arial"/>
              <a:buNone/>
            </a:pPr>
            <a:r>
              <a:rPr lang="it"/>
              <a:t>Nel 2006 Jeannette Wing, direttrice del Dipartimento di informatica della </a:t>
            </a:r>
            <a:r>
              <a:rPr lang="it"/>
              <a:t>Carnegie</a:t>
            </a:r>
            <a:r>
              <a:rPr lang="it"/>
              <a:t> Mellon University, formulò la seguente definizione di </a:t>
            </a:r>
            <a:r>
              <a:rPr b="1" lang="it"/>
              <a:t>Pensiero Computazionale:</a:t>
            </a:r>
            <a:endParaRPr b="1"/>
          </a:p>
          <a:p>
            <a:pPr indent="0" lvl="0" marL="0" rtl="0" algn="l">
              <a:spcBef>
                <a:spcPts val="1600"/>
              </a:spcBef>
              <a:spcAft>
                <a:spcPts val="1600"/>
              </a:spcAft>
              <a:buNone/>
            </a:pPr>
            <a:r>
              <a:rPr i="1" lang="it"/>
              <a:t>il pensiero computazionale è un processo di formulazione di problemi e di soluzioni in una forma che sia eseguibile da un agente che processi informazioni.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Il pensiero computazionale</a:t>
            </a:r>
            <a:endParaRPr/>
          </a:p>
        </p:txBody>
      </p:sp>
      <p:sp>
        <p:nvSpPr>
          <p:cNvPr id="144" name="Google Shape;144;p27"/>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Il </a:t>
            </a:r>
            <a:r>
              <a:rPr lang="it"/>
              <a:t>Computational Thinking non consiste semplicemente nel saper programmare, ma nel </a:t>
            </a:r>
            <a:r>
              <a:rPr lang="it" u="sng"/>
              <a:t>pensare a diversi livelli di astrazione</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0"/>
              </a:spcAft>
              <a:buNone/>
            </a:pPr>
            <a:r>
              <a:rPr lang="it"/>
              <a:t>Il pensiero computazionale è quindi un processo mentale che consente di risolvere problemi di varia natura seguendo metodi e strumenti specifici, pianificando una strategia; abitua al rigore e quindi rende possibili gli atti creativi. </a:t>
            </a:r>
            <a:endParaRPr/>
          </a:p>
          <a:p>
            <a:pPr indent="0" lvl="0" marL="0" rtl="0" algn="l">
              <a:spcBef>
                <a:spcPts val="1600"/>
              </a:spcBef>
              <a:spcAft>
                <a:spcPts val="0"/>
              </a:spcAft>
              <a:buClr>
                <a:schemeClr val="dk1"/>
              </a:buClr>
              <a:buSzPts val="1100"/>
              <a:buFont typeface="Arial"/>
              <a:buNone/>
            </a:pPr>
            <a:r>
              <a:rPr lang="it"/>
              <a:t>Permette di interagire con persone e strumenti, di fruire delle potenzialità delle macchine quali oggetti capaci di compensare le lentezze o l’imprecisione dell’uomo, se ben programmati.</a:t>
            </a:r>
            <a:endParaRPr/>
          </a:p>
          <a:p>
            <a:pPr indent="0" lvl="0" marL="0" rtl="0" algn="l">
              <a:spcBef>
                <a:spcPts val="1600"/>
              </a:spcBef>
              <a:spcAft>
                <a:spcPts val="160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8"/>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Pensiero computazionale vs Design</a:t>
            </a:r>
            <a:endParaRPr/>
          </a:p>
        </p:txBody>
      </p:sp>
      <p:sp>
        <p:nvSpPr>
          <p:cNvPr id="150" name="Google Shape;150;p28"/>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Come tutte le scienze, ha i suoi fondamenti formali nel linguaggio matematico e ha a che fare con oggetti del mondo reale. Il pensiero computazionale è infatti basato sulla </a:t>
            </a:r>
            <a:r>
              <a:rPr lang="it" u="sng"/>
              <a:t>suddivisione di un problema in sotto-problemi così da poter giungere ad una formalizzazione del problema sotto forma di algoritmo (serie di passi). </a:t>
            </a:r>
            <a:endParaRPr u="sng"/>
          </a:p>
          <a:p>
            <a:pPr indent="0" lvl="0" marL="0" rtl="0" algn="l">
              <a:spcBef>
                <a:spcPts val="1600"/>
              </a:spcBef>
              <a:spcAft>
                <a:spcPts val="0"/>
              </a:spcAft>
              <a:buNone/>
            </a:pPr>
            <a:r>
              <a:rPr lang="it"/>
              <a:t>Nel mondo del design invece, la progettazione è tipicamente affrontata in maniera globale. </a:t>
            </a:r>
            <a:endParaRPr/>
          </a:p>
          <a:p>
            <a:pPr indent="0" lvl="0" marL="0" rtl="0" algn="l">
              <a:spcBef>
                <a:spcPts val="1600"/>
              </a:spcBef>
              <a:spcAft>
                <a:spcPts val="0"/>
              </a:spcAft>
              <a:buClr>
                <a:schemeClr val="dk1"/>
              </a:buClr>
              <a:buSzPts val="1100"/>
              <a:buFont typeface="Arial"/>
              <a:buNone/>
            </a:pPr>
            <a:r>
              <a:rPr lang="it"/>
              <a:t>L'obiettivo</a:t>
            </a:r>
            <a:r>
              <a:rPr lang="it"/>
              <a:t> principale del design di prodotto non è necessariamente quello di trovare una soluzione al problema specifico ma è piuttosto quello di </a:t>
            </a:r>
            <a:r>
              <a:rPr b="1" lang="it"/>
              <a:t>comprendere il problema nel suo insieme</a:t>
            </a:r>
            <a:endParaRPr b="1"/>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9"/>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Pensiero Computazionale vs Design</a:t>
            </a:r>
            <a:endParaRPr/>
          </a:p>
          <a:p>
            <a:pPr indent="0" lvl="0" marL="0" rtl="0" algn="l">
              <a:spcBef>
                <a:spcPts val="0"/>
              </a:spcBef>
              <a:spcAft>
                <a:spcPts val="0"/>
              </a:spcAft>
              <a:buNone/>
            </a:pPr>
            <a:r>
              <a:t/>
            </a:r>
            <a:endParaRPr/>
          </a:p>
        </p:txBody>
      </p:sp>
      <p:sp>
        <p:nvSpPr>
          <p:cNvPr id="156" name="Google Shape;156;p29"/>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Nel mondo del design il primo passo è sempre quello di capire </a:t>
            </a:r>
            <a:r>
              <a:rPr b="1" lang="it"/>
              <a:t>perchè il problema esiste</a:t>
            </a:r>
            <a:r>
              <a:rPr lang="it"/>
              <a:t> e solo dopo aver appurato che l'origine di un problema non può essere eliminata o mitigata ci si adopera per cercare di risolverlo nello specifico. </a:t>
            </a:r>
            <a:endParaRPr/>
          </a:p>
          <a:p>
            <a:pPr indent="0" lvl="0" marL="0" rtl="0" algn="l">
              <a:spcBef>
                <a:spcPts val="1600"/>
              </a:spcBef>
              <a:spcAft>
                <a:spcPts val="0"/>
              </a:spcAft>
              <a:buClr>
                <a:schemeClr val="dk1"/>
              </a:buClr>
              <a:buSzPts val="1100"/>
              <a:buFont typeface="Arial"/>
              <a:buNone/>
            </a:pPr>
            <a:r>
              <a:rPr lang="it"/>
              <a:t>Viceversa, l'informatico medio non appena si trova davanti ad un problema, apre il proprio editor di testo e inizia a scrivere un algoritmo per cercare di risolverlo senza neanche chiedersi se il problema che si sta affrontando esiste veramente</a:t>
            </a:r>
            <a:endParaRPr/>
          </a:p>
          <a:p>
            <a:pPr indent="0" lvl="0" marL="0" rtl="0" algn="l">
              <a:spcBef>
                <a:spcPts val="1600"/>
              </a:spcBef>
              <a:spcAft>
                <a:spcPts val="160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30"/>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Il problema esiste veramente?</a:t>
            </a:r>
            <a:endParaRPr/>
          </a:p>
        </p:txBody>
      </p:sp>
      <p:sp>
        <p:nvSpPr>
          <p:cNvPr id="162" name="Google Shape;162;p30"/>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George Berkeley, un filosofo irlandese del '700 sosteneva che </a:t>
            </a:r>
            <a:r>
              <a:rPr i="1" lang="it"/>
              <a:t>gli oggetti esistono solo in quanto percepiti</a:t>
            </a:r>
            <a:r>
              <a:rPr lang="it"/>
              <a:t>. Dunque, </a:t>
            </a:r>
            <a:r>
              <a:rPr lang="it" u="sng"/>
              <a:t>se un albero cade in una foresta e nessuno lo sente, non fa rumore.</a:t>
            </a:r>
            <a:endParaRPr/>
          </a:p>
          <a:p>
            <a:pPr indent="0" lvl="0" marL="0" rtl="0" algn="l">
              <a:spcBef>
                <a:spcPts val="1600"/>
              </a:spcBef>
              <a:spcAft>
                <a:spcPts val="0"/>
              </a:spcAft>
              <a:buNone/>
            </a:pPr>
            <a:r>
              <a:rPr lang="it"/>
              <a:t>S</a:t>
            </a:r>
            <a:r>
              <a:rPr lang="it"/>
              <a:t>e un problema non è percepito da un utente allora quel problema non esiste. </a:t>
            </a:r>
            <a:endParaRPr/>
          </a:p>
          <a:p>
            <a:pPr indent="0" lvl="0" marL="0" rtl="0" algn="l">
              <a:spcBef>
                <a:spcPts val="1600"/>
              </a:spcBef>
              <a:spcAft>
                <a:spcPts val="0"/>
              </a:spcAft>
              <a:buClr>
                <a:schemeClr val="dk1"/>
              </a:buClr>
              <a:buSzPts val="1100"/>
              <a:buFont typeface="Arial"/>
              <a:buNone/>
            </a:pPr>
            <a:r>
              <a:rPr lang="it" u="sng"/>
              <a:t>Nel design dell'interazione l'obiettivo primo è quindi quello di avere un utente soddisfatto non un software teoricamente perfetto or super-ricco di funzionalità.</a:t>
            </a:r>
            <a:endParaRPr u="sng"/>
          </a:p>
          <a:p>
            <a:pPr indent="0" lvl="0" marL="0" rtl="0" algn="l">
              <a:spcBef>
                <a:spcPts val="1600"/>
              </a:spcBef>
              <a:spcAft>
                <a:spcPts val="1600"/>
              </a:spcAft>
              <a:buNone/>
            </a:pPr>
            <a:r>
              <a:t/>
            </a:r>
            <a:endParaRPr/>
          </a:p>
        </p:txBody>
      </p:sp>
      <p:pic>
        <p:nvPicPr>
          <p:cNvPr id="163" name="Google Shape;163;p30"/>
          <p:cNvPicPr preferRelativeResize="0"/>
          <p:nvPr/>
        </p:nvPicPr>
        <p:blipFill>
          <a:blip r:embed="rId3">
            <a:alphaModFix/>
          </a:blip>
          <a:stretch>
            <a:fillRect/>
          </a:stretch>
        </p:blipFill>
        <p:spPr>
          <a:xfrm>
            <a:off x="5597350" y="2986996"/>
            <a:ext cx="3488850" cy="19624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1"/>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L’utente è il vostro nuovo capo</a:t>
            </a:r>
            <a:endParaRPr/>
          </a:p>
        </p:txBody>
      </p:sp>
      <p:sp>
        <p:nvSpPr>
          <p:cNvPr id="169" name="Google Shape;169;p31"/>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Questo può portare a situazioni che dal punto di vista informatico sono percepite come assurde. </a:t>
            </a:r>
            <a:endParaRPr/>
          </a:p>
          <a:p>
            <a:pPr indent="0" lvl="0" marL="0" rtl="0" algn="l">
              <a:spcBef>
                <a:spcPts val="1600"/>
              </a:spcBef>
              <a:spcAft>
                <a:spcPts val="0"/>
              </a:spcAft>
              <a:buClr>
                <a:schemeClr val="dk1"/>
              </a:buClr>
              <a:buSzPts val="1100"/>
              <a:buFont typeface="Arial"/>
              <a:buNone/>
            </a:pPr>
            <a:r>
              <a:rPr lang="it"/>
              <a:t>Nel design di prodotto ci si trova infatti spesso costretti a </a:t>
            </a:r>
            <a:r>
              <a:rPr lang="it" u="sng"/>
              <a:t>modificare i requirement e le specifiche di prodotto per andare in contro alle esigenze degli utenti </a:t>
            </a:r>
            <a:r>
              <a:rPr lang="it"/>
              <a:t>e sacrificando funzionalità tecniche e qualità dell'implementazione software.</a:t>
            </a:r>
            <a:endParaRPr/>
          </a:p>
          <a:p>
            <a:pPr indent="0" lvl="0" marL="0" rtl="0" algn="l">
              <a:spcBef>
                <a:spcPts val="1600"/>
              </a:spcBef>
              <a:spcAft>
                <a:spcPts val="0"/>
              </a:spcAft>
              <a:buClr>
                <a:schemeClr val="dk1"/>
              </a:buClr>
              <a:buSzPts val="1100"/>
              <a:buFont typeface="Arial"/>
              <a:buNone/>
            </a:pPr>
            <a:r>
              <a:rPr lang="it"/>
              <a:t>Trovare il corretto bilanciamento fra esperienza utente, funzionalità e qualità tecnica è la parte più complessa dell'intero processo di sviluppo prodotto. </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2"/>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L’utente è il vostro nuovo capo</a:t>
            </a:r>
            <a:endParaRPr/>
          </a:p>
          <a:p>
            <a:pPr indent="0" lvl="0" marL="0" rtl="0" algn="l">
              <a:spcBef>
                <a:spcPts val="0"/>
              </a:spcBef>
              <a:spcAft>
                <a:spcPts val="0"/>
              </a:spcAft>
              <a:buNone/>
            </a:pPr>
            <a:r>
              <a:t/>
            </a:r>
            <a:endParaRPr/>
          </a:p>
        </p:txBody>
      </p:sp>
      <p:sp>
        <p:nvSpPr>
          <p:cNvPr id="175" name="Google Shape;175;p32"/>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Questo processo antropocentrico di adattamento del software alle esigenze dell'utente piuttosto che al virtuosismo tecnico è spesso vissuto dalla maggior parte degli informatici come un'assurda violenza. </a:t>
            </a:r>
            <a:endParaRPr/>
          </a:p>
          <a:p>
            <a:pPr indent="0" lvl="0" marL="0" rtl="0" algn="l">
              <a:spcBef>
                <a:spcPts val="1600"/>
              </a:spcBef>
              <a:spcAft>
                <a:spcPts val="0"/>
              </a:spcAft>
              <a:buClr>
                <a:schemeClr val="dk1"/>
              </a:buClr>
              <a:buSzPts val="1100"/>
              <a:buFont typeface="Arial"/>
              <a:buNone/>
            </a:pPr>
            <a:r>
              <a:rPr lang="it"/>
              <a:t>Per questo motivo è molto importante che gli informatici studino i principi del design, perché il mondo del design antropocentrico è per i tecnici tipicamente molto complicato da metabolizzare in quanto distante dal pensiero computazionale.</a:t>
            </a:r>
            <a:endParaRPr/>
          </a:p>
          <a:p>
            <a:pPr indent="0" lvl="0" marL="0" rtl="0" algn="l">
              <a:spcBef>
                <a:spcPts val="1600"/>
              </a:spcBef>
              <a:spcAft>
                <a:spcPts val="0"/>
              </a:spcAft>
              <a:buNone/>
            </a:pPr>
            <a:r>
              <a:rPr b="1" lang="it"/>
              <a:t>E' importante evidenziare che design dell'interazione e pensiero computazionale non sono mutualmente esclusivi, anzi!</a:t>
            </a:r>
            <a:r>
              <a:rPr lang="it"/>
              <a:t> </a:t>
            </a:r>
            <a:endParaRPr/>
          </a:p>
          <a:p>
            <a:pPr indent="0" lvl="0" marL="0" rtl="0" algn="l">
              <a:spcBef>
                <a:spcPts val="1600"/>
              </a:spcBef>
              <a:spcAft>
                <a:spcPts val="0"/>
              </a:spcAft>
              <a:buClr>
                <a:schemeClr val="dk1"/>
              </a:buClr>
              <a:buSzPts val="1100"/>
              <a:buFont typeface="Arial"/>
              <a:buNone/>
            </a:pPr>
            <a:r>
              <a:rPr lang="it"/>
              <a:t>E' nell'unione dei due e nell'integrazione dei due processi di studio e progettazione che nascono prodotti di successo e software di qualità.</a:t>
            </a:r>
            <a:endParaRPr/>
          </a:p>
          <a:p>
            <a:pPr indent="0" lvl="0" marL="0" rtl="0" algn="l">
              <a:spcBef>
                <a:spcPts val="1600"/>
              </a:spcBef>
              <a:spcAft>
                <a:spcPts val="160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3"/>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1600"/>
              </a:spcBef>
              <a:spcAft>
                <a:spcPts val="1600"/>
              </a:spcAft>
              <a:buNone/>
            </a:pPr>
            <a:r>
              <a:rPr b="1" i="1" lang="it"/>
              <a:t>“If we want users to like our software, we should design it to behave like a likeable person: respectful, generous and helpful.”</a:t>
            </a:r>
            <a:r>
              <a:rPr lang="it"/>
              <a:t> </a:t>
            </a:r>
            <a:br>
              <a:rPr lang="it"/>
            </a:br>
            <a:r>
              <a:rPr lang="it"/>
              <a:t>— Alan Cooper, software designer and programmer (Widely recognized as the “Father of Visual Basic")</a:t>
            </a:r>
            <a:endParaRPr/>
          </a:p>
        </p:txBody>
      </p:sp>
      <p:pic>
        <p:nvPicPr>
          <p:cNvPr id="181" name="Google Shape;181;p33"/>
          <p:cNvPicPr preferRelativeResize="0"/>
          <p:nvPr/>
        </p:nvPicPr>
        <p:blipFill>
          <a:blip r:embed="rId3">
            <a:alphaModFix/>
          </a:blip>
          <a:stretch>
            <a:fillRect/>
          </a:stretch>
        </p:blipFill>
        <p:spPr>
          <a:xfrm>
            <a:off x="6345771" y="2330625"/>
            <a:ext cx="2652975" cy="21688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Interaction Design</a:t>
            </a:r>
            <a:endParaRPr/>
          </a:p>
        </p:txBody>
      </p:sp>
      <p:sp>
        <p:nvSpPr>
          <p:cNvPr id="187" name="Google Shape;187;p34"/>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Il mondo della progettazione è diventato talmente ampio e variegato che il termine design da solo ormai non ha quasi più significato. Esistono varie sotto discipline del design e con queste numerose professioni, metodi di lavoro, scuole di pensiero e altrettante immancabili faide e lotte fra fazioni.</a:t>
            </a:r>
            <a:endParaRPr/>
          </a:p>
          <a:p>
            <a:pPr indent="0" lvl="0" marL="0" rtl="0" algn="l">
              <a:spcBef>
                <a:spcPts val="1600"/>
              </a:spcBef>
              <a:spcAft>
                <a:spcPts val="0"/>
              </a:spcAft>
              <a:buClr>
                <a:schemeClr val="dk1"/>
              </a:buClr>
              <a:buSzPts val="1100"/>
              <a:buFont typeface="Arial"/>
              <a:buNone/>
            </a:pPr>
            <a:r>
              <a:rPr lang="it"/>
              <a:t>Un informatico può fare a meno di conoscere al completo il mondo del design ma non può esimersi da possedere i rudimenti base del “design dell'interazione”.</a:t>
            </a:r>
            <a:endParaRPr/>
          </a:p>
          <a:p>
            <a:pPr indent="0" lvl="0" marL="0" rtl="0" algn="l">
              <a:spcBef>
                <a:spcPts val="1600"/>
              </a:spcBef>
              <a:spcAft>
                <a:spcPts val="0"/>
              </a:spcAft>
              <a:buClr>
                <a:schemeClr val="dk1"/>
              </a:buClr>
              <a:buSzPts val="1100"/>
              <a:buFont typeface="Arial"/>
              <a:buNone/>
            </a:pPr>
            <a:r>
              <a:rPr b="1" lang="it"/>
              <a:t>Interaction design, o progettazione dell'interazione, è l'attività di progettazione dell'interazione che avviene tra esseri umani e oggetti in generale. </a:t>
            </a:r>
            <a:endParaRPr b="1"/>
          </a:p>
          <a:p>
            <a:pPr indent="0" lvl="0" marL="0" rtl="0" algn="l">
              <a:spcBef>
                <a:spcPts val="1600"/>
              </a:spcBef>
              <a:spcAft>
                <a:spcPts val="160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Interaction Design</a:t>
            </a:r>
            <a:endParaRPr/>
          </a:p>
        </p:txBody>
      </p:sp>
      <p:sp>
        <p:nvSpPr>
          <p:cNvPr id="193" name="Google Shape;193;p35"/>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L'obiettivo principale dell'interaction design è quello di </a:t>
            </a:r>
            <a:r>
              <a:rPr lang="it" u="sng"/>
              <a:t>rendere macchine, servizi e sistemi usabili</a:t>
            </a:r>
            <a:r>
              <a:rPr lang="it"/>
              <a:t> dagli utenti per cui sono stati pensati e realizzati e non solamente dai propri creatori. </a:t>
            </a:r>
            <a:endParaRPr/>
          </a:p>
          <a:p>
            <a:pPr indent="0" lvl="0" marL="0" rtl="0" algn="l">
              <a:spcBef>
                <a:spcPts val="1600"/>
              </a:spcBef>
              <a:spcAft>
                <a:spcPts val="0"/>
              </a:spcAft>
              <a:buNone/>
            </a:pPr>
            <a:r>
              <a:rPr lang="it"/>
              <a:t>All'interno di un processo di interaction design, si investigano l'uso che verrà fatto dell'artefatto e il target a cui esso si rivolge. Questo significa che le questioni legate agli utenti guidano il processo più di quanto non facciano le questioni tecniche. </a:t>
            </a:r>
            <a:endParaRPr/>
          </a:p>
          <a:p>
            <a:pPr indent="0" lvl="0" marL="0" rtl="0" algn="l">
              <a:spcBef>
                <a:spcPts val="1600"/>
              </a:spcBef>
              <a:spcAft>
                <a:spcPts val="0"/>
              </a:spcAft>
              <a:buNone/>
            </a:pPr>
            <a:r>
              <a:rPr lang="it"/>
              <a:t>Gli sviluppatori devono </a:t>
            </a:r>
            <a:r>
              <a:rPr lang="it" u="sng"/>
              <a:t>mettere al centro del processo di sviluppo i bisogni degli utenti</a:t>
            </a:r>
            <a:r>
              <a:rPr lang="it"/>
              <a:t>, arrivando a realizzare un prodotto più appropriato e maggiormente usabile. </a:t>
            </a:r>
            <a:endParaRPr/>
          </a:p>
          <a:p>
            <a:pPr indent="0" lvl="0" marL="0" rtl="0" algn="l">
              <a:spcBef>
                <a:spcPts val="1600"/>
              </a:spcBef>
              <a:spcAft>
                <a:spcPts val="1600"/>
              </a:spcAft>
              <a:buNone/>
            </a:pPr>
            <a:r>
              <a:rPr lang="it"/>
              <a:t>Le forze trainanti lo sviluppo di un prodotto dovrebbero essere quindi gli utenti reali e i loro bisogni e non solo le tecnologie.</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Human Machine e Human Computer Interaction</a:t>
            </a:r>
            <a:endParaRPr/>
          </a:p>
        </p:txBody>
      </p:sp>
      <p:sp>
        <p:nvSpPr>
          <p:cNvPr id="199" name="Google Shape;199;p36"/>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Nel nostro caso ci focalizzeremo sull'interazione </a:t>
            </a:r>
            <a:r>
              <a:rPr lang="it"/>
              <a:t>tra</a:t>
            </a:r>
            <a:r>
              <a:rPr lang="it"/>
              <a:t> uomo e sistemi informatici e quindi andremo a lavorare nel campo dell'interazione uomo-macchina e uomo-computer (in Inglese HMI Human-Machine Interaction e HCI Human Computer Interaction). </a:t>
            </a:r>
            <a:endParaRPr/>
          </a:p>
          <a:p>
            <a:pPr indent="0" lvl="0" marL="0" rtl="0" algn="l">
              <a:spcBef>
                <a:spcPts val="1600"/>
              </a:spcBef>
              <a:spcAft>
                <a:spcPts val="1600"/>
              </a:spcAft>
              <a:buNone/>
            </a:pPr>
            <a:r>
              <a:rPr lang="it"/>
              <a:t>L'obiettivo principale del HMI e HCI design è quindi rendere possibile e facilitare al massimo, per un essere umano, l'uso e l'interazione con sistemi del mondo IT (Information Technology) quali, calcolatori, dispositivi mobili, servizi web etc.</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Interaction Design</a:t>
            </a:r>
            <a:endParaRPr/>
          </a:p>
        </p:txBody>
      </p:sp>
      <p:sp>
        <p:nvSpPr>
          <p:cNvPr id="205" name="Google Shape;205;p37"/>
          <p:cNvSpPr txBox="1"/>
          <p:nvPr>
            <p:ph idx="1" type="body"/>
          </p:nvPr>
        </p:nvSpPr>
        <p:spPr>
          <a:xfrm>
            <a:off x="311700" y="619075"/>
            <a:ext cx="48240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sz="1700"/>
              <a:t>Sotto discipline:</a:t>
            </a:r>
            <a:endParaRPr sz="1600"/>
          </a:p>
          <a:p>
            <a:pPr indent="-336550" lvl="0" marL="457200" rtl="0" algn="l">
              <a:spcBef>
                <a:spcPts val="1600"/>
              </a:spcBef>
              <a:spcAft>
                <a:spcPts val="0"/>
              </a:spcAft>
              <a:buSzPts val="1700"/>
              <a:buChar char="●"/>
            </a:pPr>
            <a:r>
              <a:rPr lang="it" sz="1700"/>
              <a:t>design di prodotto</a:t>
            </a:r>
            <a:endParaRPr sz="1700"/>
          </a:p>
          <a:p>
            <a:pPr indent="-336550" lvl="0" marL="457200" rtl="0" algn="l">
              <a:spcBef>
                <a:spcPts val="0"/>
              </a:spcBef>
              <a:spcAft>
                <a:spcPts val="0"/>
              </a:spcAft>
              <a:buSzPts val="1700"/>
              <a:buChar char="●"/>
            </a:pPr>
            <a:r>
              <a:rPr lang="it" sz="1700"/>
              <a:t>design dell'esperienza utente (UX design)</a:t>
            </a:r>
            <a:endParaRPr sz="1700"/>
          </a:p>
          <a:p>
            <a:pPr indent="-336550" lvl="0" marL="457200" rtl="0" algn="l">
              <a:spcBef>
                <a:spcPts val="0"/>
              </a:spcBef>
              <a:spcAft>
                <a:spcPts val="0"/>
              </a:spcAft>
              <a:buSzPts val="1700"/>
              <a:buChar char="●"/>
            </a:pPr>
            <a:r>
              <a:rPr lang="it" sz="1700"/>
              <a:t>design dell'interfaccia (UI Design)</a:t>
            </a:r>
            <a:endParaRPr sz="1700"/>
          </a:p>
        </p:txBody>
      </p:sp>
      <p:grpSp>
        <p:nvGrpSpPr>
          <p:cNvPr id="206" name="Google Shape;206;p37"/>
          <p:cNvGrpSpPr/>
          <p:nvPr/>
        </p:nvGrpSpPr>
        <p:grpSpPr>
          <a:xfrm>
            <a:off x="5534775" y="1163575"/>
            <a:ext cx="3577200" cy="3577200"/>
            <a:chOff x="5892500" y="1287475"/>
            <a:chExt cx="3577200" cy="3577200"/>
          </a:xfrm>
        </p:grpSpPr>
        <p:sp>
          <p:nvSpPr>
            <p:cNvPr id="207" name="Google Shape;207;p37"/>
            <p:cNvSpPr/>
            <p:nvPr/>
          </p:nvSpPr>
          <p:spPr>
            <a:xfrm>
              <a:off x="5892500" y="1287475"/>
              <a:ext cx="3577200" cy="35772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Interaction</a:t>
              </a:r>
              <a:endParaRPr/>
            </a:p>
            <a:p>
              <a:pPr indent="0" lvl="0" marL="0" rtl="0" algn="ctr">
                <a:spcBef>
                  <a:spcPts val="0"/>
                </a:spcBef>
                <a:spcAft>
                  <a:spcPts val="0"/>
                </a:spcAft>
                <a:buNone/>
              </a:pPr>
              <a:r>
                <a:rPr lang="it"/>
                <a:t>Design</a:t>
              </a:r>
              <a:endParaRPr/>
            </a:p>
          </p:txBody>
        </p:sp>
        <p:sp>
          <p:nvSpPr>
            <p:cNvPr id="208" name="Google Shape;208;p37"/>
            <p:cNvSpPr/>
            <p:nvPr/>
          </p:nvSpPr>
          <p:spPr>
            <a:xfrm>
              <a:off x="6964538" y="1324000"/>
              <a:ext cx="1433100" cy="1433100"/>
            </a:xfrm>
            <a:prstGeom prst="ellipse">
              <a:avLst/>
            </a:prstGeom>
            <a:solidFill>
              <a:srgbClr val="FFFF0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Product Design</a:t>
              </a:r>
              <a:endParaRPr/>
            </a:p>
          </p:txBody>
        </p:sp>
        <p:sp>
          <p:nvSpPr>
            <p:cNvPr id="209" name="Google Shape;209;p37"/>
            <p:cNvSpPr/>
            <p:nvPr/>
          </p:nvSpPr>
          <p:spPr>
            <a:xfrm>
              <a:off x="7796000" y="2985700"/>
              <a:ext cx="1433100" cy="1433100"/>
            </a:xfrm>
            <a:prstGeom prst="ellipse">
              <a:avLst/>
            </a:prstGeom>
            <a:solidFill>
              <a:srgbClr val="FF000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UI</a:t>
              </a:r>
              <a:endParaRPr/>
            </a:p>
            <a:p>
              <a:pPr indent="0" lvl="0" marL="0" rtl="0" algn="ctr">
                <a:spcBef>
                  <a:spcPts val="0"/>
                </a:spcBef>
                <a:spcAft>
                  <a:spcPts val="0"/>
                </a:spcAft>
                <a:buNone/>
              </a:pPr>
              <a:r>
                <a:rPr lang="it"/>
                <a:t>Design</a:t>
              </a:r>
              <a:endParaRPr/>
            </a:p>
          </p:txBody>
        </p:sp>
        <p:sp>
          <p:nvSpPr>
            <p:cNvPr id="210" name="Google Shape;210;p37"/>
            <p:cNvSpPr/>
            <p:nvPr/>
          </p:nvSpPr>
          <p:spPr>
            <a:xfrm>
              <a:off x="6133075" y="2985700"/>
              <a:ext cx="1433100" cy="1433100"/>
            </a:xfrm>
            <a:prstGeom prst="ellipse">
              <a:avLst/>
            </a:prstGeom>
            <a:solidFill>
              <a:srgbClr val="00FF0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UX</a:t>
              </a:r>
              <a:endParaRPr/>
            </a:p>
            <a:p>
              <a:pPr indent="0" lvl="0" marL="0" rtl="0" algn="ctr">
                <a:spcBef>
                  <a:spcPts val="0"/>
                </a:spcBef>
                <a:spcAft>
                  <a:spcPts val="0"/>
                </a:spcAft>
                <a:buNone/>
              </a:pPr>
              <a:r>
                <a:rPr lang="it"/>
                <a:t>Design</a:t>
              </a:r>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8"/>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Design di Prodotto</a:t>
            </a:r>
            <a:endParaRPr/>
          </a:p>
        </p:txBody>
      </p:sp>
      <p:sp>
        <p:nvSpPr>
          <p:cNvPr id="216" name="Google Shape;216;p38"/>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E’</a:t>
            </a:r>
            <a:r>
              <a:rPr lang="it"/>
              <a:t> un processo strategico di risoluzione dei problemi che guida l'innovazione e porta a una migliore qualità della vita attraverso prodotti, sistemi, servizi ed esperienze innovative </a:t>
            </a:r>
            <a:r>
              <a:rPr b="1" lang="it" sz="1000"/>
              <a:t>(Definizione ufficiale di disegno industriale, coniata nel 2015 dalla World Design Organization)</a:t>
            </a:r>
            <a:r>
              <a:rPr b="1" lang="it" sz="1200"/>
              <a:t>.</a:t>
            </a:r>
            <a:r>
              <a:rPr lang="it"/>
              <a:t> </a:t>
            </a:r>
            <a:endParaRPr/>
          </a:p>
          <a:p>
            <a:pPr indent="0" lvl="0" marL="0" rtl="0" algn="l">
              <a:spcBef>
                <a:spcPts val="1600"/>
              </a:spcBef>
              <a:spcAft>
                <a:spcPts val="0"/>
              </a:spcAft>
              <a:buClr>
                <a:schemeClr val="dk1"/>
              </a:buClr>
              <a:buSzPts val="1100"/>
              <a:buFont typeface="Arial"/>
              <a:buNone/>
            </a:pPr>
            <a:r>
              <a:rPr lang="it"/>
              <a:t>NB: Spesso design di prodotto e design industriale sono utilizzati in modo intercambiabile </a:t>
            </a:r>
            <a:endParaRPr/>
          </a:p>
          <a:p>
            <a:pPr indent="0" lvl="0" marL="0" rtl="0" algn="l">
              <a:spcBef>
                <a:spcPts val="1600"/>
              </a:spcBef>
              <a:spcAft>
                <a:spcPts val="0"/>
              </a:spcAft>
              <a:buNone/>
            </a:pPr>
            <a:r>
              <a:rPr lang="it" u="sng"/>
              <a:t>Nel design di prodotto si progettano quindi beni e servizi il cui </a:t>
            </a:r>
            <a:r>
              <a:rPr lang="it" u="sng"/>
              <a:t>obiettivo</a:t>
            </a:r>
            <a:r>
              <a:rPr lang="it" u="sng"/>
              <a:t> principale è quello di essere utilizzati da quanti più utenti possibili migliorandone la vita.</a:t>
            </a:r>
            <a:r>
              <a:rPr lang="it"/>
              <a:t> </a:t>
            </a:r>
            <a:endParaRPr/>
          </a:p>
          <a:p>
            <a:pPr indent="0" lvl="0" marL="0" rtl="0" algn="l">
              <a:spcBef>
                <a:spcPts val="1600"/>
              </a:spcBef>
              <a:spcAft>
                <a:spcPts val="0"/>
              </a:spcAft>
              <a:buClr>
                <a:schemeClr val="dk1"/>
              </a:buClr>
              <a:buSzPts val="1100"/>
              <a:buFont typeface="Arial"/>
              <a:buNone/>
            </a:pPr>
            <a:r>
              <a:rPr lang="it"/>
              <a:t>Il designer di prodotto è quindi colui che inventa un nuovo modo o un nuovo oggetto per fare cose che fino a ieri non si potevano fare o si facevano in maniera più complicata.</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0"/>
              </a:spcAft>
              <a:buClr>
                <a:schemeClr val="dk1"/>
              </a:buClr>
              <a:buSzPts val="1100"/>
              <a:buFont typeface="Arial"/>
              <a:buNone/>
            </a:pPr>
            <a:r>
              <a:rPr lang="it"/>
              <a:t>Il design di prodotto è quindi il punto di partenza dei processi di innovazione e rappresenta quindi il punto di partenza del percorso di design dell'interazione che stiamo esplorando.</a:t>
            </a:r>
            <a:endParaRPr/>
          </a:p>
          <a:p>
            <a:pPr indent="0" lvl="0" marL="0" rtl="0" algn="l">
              <a:spcBef>
                <a:spcPts val="1600"/>
              </a:spcBef>
              <a:spcAft>
                <a:spcPts val="160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9"/>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L’inventore</a:t>
            </a:r>
            <a:endParaRPr/>
          </a:p>
        </p:txBody>
      </p:sp>
      <p:sp>
        <p:nvSpPr>
          <p:cNvPr id="222" name="Google Shape;222;p39"/>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it"/>
              <a:t>L'inventore (designer) del prodotto si focalizza su un problema da risolvere e inventa un prodotto che grazie alle sue caratteristiche tecniche permette di risolvere il problema.</a:t>
            </a:r>
            <a:endParaRPr/>
          </a:p>
        </p:txBody>
      </p:sp>
      <p:pic>
        <p:nvPicPr>
          <p:cNvPr id="223" name="Google Shape;223;p39"/>
          <p:cNvPicPr preferRelativeResize="0"/>
          <p:nvPr/>
        </p:nvPicPr>
        <p:blipFill>
          <a:blip r:embed="rId3">
            <a:alphaModFix/>
          </a:blip>
          <a:stretch>
            <a:fillRect/>
          </a:stretch>
        </p:blipFill>
        <p:spPr>
          <a:xfrm>
            <a:off x="1047750" y="1674525"/>
            <a:ext cx="7162274" cy="3183225"/>
          </a:xfrm>
          <a:prstGeom prst="rect">
            <a:avLst/>
          </a:prstGeom>
          <a:noFill/>
          <a:ln>
            <a:noFill/>
          </a:ln>
        </p:spPr>
      </p:pic>
      <p:sp>
        <p:nvSpPr>
          <p:cNvPr id="224" name="Google Shape;224;p39"/>
          <p:cNvSpPr txBox="1"/>
          <p:nvPr/>
        </p:nvSpPr>
        <p:spPr>
          <a:xfrm>
            <a:off x="7039575" y="4784025"/>
            <a:ext cx="2069100" cy="611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it" sz="700" u="sng">
                <a:hlinkClick r:id="rId4"/>
              </a:rPr>
              <a:t>http://cherryhappygirl.blogspot.com/2017/05/product-designer-vs-ux-designerwhich.html</a:t>
            </a:r>
            <a:endParaRPr b="1" sz="10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40"/>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40"/>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231" name="Google Shape;231;p40"/>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41"/>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Progettiamo Spotify</a:t>
            </a:r>
            <a:endParaRPr/>
          </a:p>
        </p:txBody>
      </p:sp>
      <p:sp>
        <p:nvSpPr>
          <p:cNvPr id="237" name="Google Shape;237;p41"/>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SzPts val="1800"/>
              <a:buChar char="●"/>
            </a:pPr>
            <a:r>
              <a:rPr b="1" lang="it"/>
              <a:t>Nome prodotto:</a:t>
            </a:r>
            <a:r>
              <a:rPr lang="it"/>
              <a:t> Spotify</a:t>
            </a:r>
            <a:endParaRPr/>
          </a:p>
          <a:p>
            <a:pPr indent="-342900" lvl="0" marL="457200" marR="0" rtl="0" algn="l">
              <a:lnSpc>
                <a:spcPct val="115000"/>
              </a:lnSpc>
              <a:spcBef>
                <a:spcPts val="0"/>
              </a:spcBef>
              <a:spcAft>
                <a:spcPts val="0"/>
              </a:spcAft>
              <a:buSzPts val="1800"/>
              <a:buChar char="●"/>
            </a:pPr>
            <a:r>
              <a:rPr b="1" lang="it"/>
              <a:t>Problema a cui assolve:</a:t>
            </a:r>
            <a:r>
              <a:rPr lang="it"/>
              <a:t> </a:t>
            </a:r>
            <a:endParaRPr/>
          </a:p>
          <a:p>
            <a:pPr indent="-342900" lvl="0" marL="457200" marR="0" rtl="0" algn="l">
              <a:lnSpc>
                <a:spcPct val="115000"/>
              </a:lnSpc>
              <a:spcBef>
                <a:spcPts val="0"/>
              </a:spcBef>
              <a:spcAft>
                <a:spcPts val="0"/>
              </a:spcAft>
              <a:buSzPts val="1800"/>
              <a:buChar char="●"/>
            </a:pPr>
            <a:r>
              <a:rPr b="1" lang="it"/>
              <a:t>Tipologia di prodotto:</a:t>
            </a:r>
            <a:r>
              <a:rPr lang="it"/>
              <a:t> </a:t>
            </a:r>
            <a:endParaRPr/>
          </a:p>
          <a:p>
            <a:pPr indent="-342900" lvl="0" marL="457200" marR="0" rtl="0" algn="l">
              <a:lnSpc>
                <a:spcPct val="115000"/>
              </a:lnSpc>
              <a:spcBef>
                <a:spcPts val="0"/>
              </a:spcBef>
              <a:spcAft>
                <a:spcPts val="0"/>
              </a:spcAft>
              <a:buSzPts val="1800"/>
              <a:buChar char="●"/>
            </a:pPr>
            <a:r>
              <a:rPr b="1" lang="it"/>
              <a:t>Funzionalità Principale:</a:t>
            </a:r>
            <a:r>
              <a:rPr lang="it"/>
              <a:t> </a:t>
            </a:r>
            <a:endParaRPr/>
          </a:p>
          <a:p>
            <a:pPr indent="-342900" lvl="0" marL="457200" marR="0" rtl="0" algn="l">
              <a:lnSpc>
                <a:spcPct val="115000"/>
              </a:lnSpc>
              <a:spcBef>
                <a:spcPts val="0"/>
              </a:spcBef>
              <a:spcAft>
                <a:spcPts val="0"/>
              </a:spcAft>
              <a:buSzPts val="1800"/>
              <a:buChar char="●"/>
            </a:pPr>
            <a:r>
              <a:rPr b="1" lang="it"/>
              <a:t>Soluzioni esistenti simili (competitor):</a:t>
            </a:r>
            <a:r>
              <a:rPr lang="it"/>
              <a:t> </a:t>
            </a:r>
            <a:endParaRPr/>
          </a:p>
          <a:p>
            <a:pPr indent="-342900" lvl="0" marL="457200" marR="0" rtl="0" algn="l">
              <a:lnSpc>
                <a:spcPct val="115000"/>
              </a:lnSpc>
              <a:spcBef>
                <a:spcPts val="0"/>
              </a:spcBef>
              <a:spcAft>
                <a:spcPts val="0"/>
              </a:spcAft>
              <a:buSzPts val="1800"/>
              <a:buChar char="●"/>
            </a:pPr>
            <a:r>
              <a:rPr b="1" lang="it"/>
              <a:t>Soluzione:</a:t>
            </a:r>
            <a:r>
              <a:rPr lang="it"/>
              <a:t> </a:t>
            </a:r>
            <a:endParaRPr/>
          </a:p>
          <a:p>
            <a:pPr indent="-342900" lvl="0" marL="457200" marR="0" rtl="0" algn="l">
              <a:lnSpc>
                <a:spcPct val="115000"/>
              </a:lnSpc>
              <a:spcBef>
                <a:spcPts val="0"/>
              </a:spcBef>
              <a:spcAft>
                <a:spcPts val="0"/>
              </a:spcAft>
              <a:buSzPts val="1800"/>
              <a:buChar char="●"/>
            </a:pPr>
            <a:r>
              <a:rPr b="1" lang="it"/>
              <a:t>Requisiti per l’utilizzo:</a:t>
            </a:r>
            <a:r>
              <a:rPr lang="it"/>
              <a:t>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42"/>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Progettiamo Spotify</a:t>
            </a:r>
            <a:endParaRPr/>
          </a:p>
        </p:txBody>
      </p:sp>
      <p:sp>
        <p:nvSpPr>
          <p:cNvPr id="243" name="Google Shape;243;p42"/>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SzPts val="1800"/>
              <a:buChar char="●"/>
            </a:pPr>
            <a:r>
              <a:rPr b="1" lang="it"/>
              <a:t>Nome prodotto:</a:t>
            </a:r>
            <a:r>
              <a:rPr lang="it"/>
              <a:t> Spotify</a:t>
            </a:r>
            <a:endParaRPr/>
          </a:p>
          <a:p>
            <a:pPr indent="-342900" lvl="0" marL="457200" marR="0" rtl="0" algn="l">
              <a:lnSpc>
                <a:spcPct val="115000"/>
              </a:lnSpc>
              <a:spcBef>
                <a:spcPts val="0"/>
              </a:spcBef>
              <a:spcAft>
                <a:spcPts val="0"/>
              </a:spcAft>
              <a:buSzPts val="1800"/>
              <a:buChar char="●"/>
            </a:pPr>
            <a:r>
              <a:rPr b="1" lang="it"/>
              <a:t>Problema a cui assolve:</a:t>
            </a:r>
            <a:r>
              <a:rPr lang="it"/>
              <a:t> Ascoltare musica senza possederla;</a:t>
            </a:r>
            <a:endParaRPr/>
          </a:p>
          <a:p>
            <a:pPr indent="-342900" lvl="0" marL="457200" marR="0" rtl="0" algn="l">
              <a:lnSpc>
                <a:spcPct val="115000"/>
              </a:lnSpc>
              <a:spcBef>
                <a:spcPts val="0"/>
              </a:spcBef>
              <a:spcAft>
                <a:spcPts val="0"/>
              </a:spcAft>
              <a:buSzPts val="1800"/>
              <a:buChar char="●"/>
            </a:pPr>
            <a:r>
              <a:rPr b="1" lang="it"/>
              <a:t>Tipologia di prodotto:</a:t>
            </a:r>
            <a:r>
              <a:rPr lang="it"/>
              <a:t> Servizio basato su Internet;</a:t>
            </a:r>
            <a:endParaRPr/>
          </a:p>
          <a:p>
            <a:pPr indent="-342900" lvl="0" marL="457200" marR="0" rtl="0" algn="l">
              <a:lnSpc>
                <a:spcPct val="115000"/>
              </a:lnSpc>
              <a:spcBef>
                <a:spcPts val="0"/>
              </a:spcBef>
              <a:spcAft>
                <a:spcPts val="0"/>
              </a:spcAft>
              <a:buSzPts val="1800"/>
              <a:buChar char="●"/>
            </a:pPr>
            <a:r>
              <a:rPr b="1" lang="it"/>
              <a:t>Funzionalità Principale:</a:t>
            </a:r>
            <a:r>
              <a:rPr lang="it"/>
              <a:t> Consentire l’ascolto di qualunque brano, su qualsiasi piattaforma senza richiedere l’acquisto di un supporto fisico e dei diritti d’autore;</a:t>
            </a:r>
            <a:endParaRPr/>
          </a:p>
          <a:p>
            <a:pPr indent="-342900" lvl="0" marL="457200" marR="0" rtl="0" algn="l">
              <a:lnSpc>
                <a:spcPct val="115000"/>
              </a:lnSpc>
              <a:spcBef>
                <a:spcPts val="0"/>
              </a:spcBef>
              <a:spcAft>
                <a:spcPts val="0"/>
              </a:spcAft>
              <a:buSzPts val="1800"/>
              <a:buChar char="●"/>
            </a:pPr>
            <a:r>
              <a:rPr b="1" lang="it"/>
              <a:t>Soluzioni esistenti simili (competitor):</a:t>
            </a:r>
            <a:r>
              <a:rPr lang="it"/>
              <a:t> Noleggio/prestito CD e altri supporti fisici, download di musica pirata;</a:t>
            </a:r>
            <a:endParaRPr/>
          </a:p>
          <a:p>
            <a:pPr indent="-342900" lvl="0" marL="457200" marR="0" rtl="0" algn="l">
              <a:lnSpc>
                <a:spcPct val="115000"/>
              </a:lnSpc>
              <a:spcBef>
                <a:spcPts val="0"/>
              </a:spcBef>
              <a:spcAft>
                <a:spcPts val="0"/>
              </a:spcAft>
              <a:buSzPts val="1800"/>
              <a:buChar char="●"/>
            </a:pPr>
            <a:r>
              <a:rPr b="1" lang="it"/>
              <a:t>Soluzione:</a:t>
            </a:r>
            <a:r>
              <a:rPr lang="it"/>
              <a:t> Servizio di streaming basato su business model “freemium” che di fatto rappresenta un jukebox con brani pressoché illimitati;</a:t>
            </a:r>
            <a:endParaRPr/>
          </a:p>
          <a:p>
            <a:pPr indent="-342900" lvl="0" marL="457200" marR="0" rtl="0" algn="l">
              <a:lnSpc>
                <a:spcPct val="115000"/>
              </a:lnSpc>
              <a:spcBef>
                <a:spcPts val="0"/>
              </a:spcBef>
              <a:spcAft>
                <a:spcPts val="0"/>
              </a:spcAft>
              <a:buSzPts val="1800"/>
              <a:buChar char="●"/>
            </a:pPr>
            <a:r>
              <a:rPr b="1" lang="it"/>
              <a:t>Requisiti per l’utilizzo:</a:t>
            </a:r>
            <a:r>
              <a:rPr lang="it"/>
              <a:t> PC o smartphone o tablet, Connessione internet.</a:t>
            </a:r>
            <a:endParaRPr/>
          </a:p>
          <a:p>
            <a:pPr indent="0" lvl="0" marL="0" rtl="0" algn="l">
              <a:spcBef>
                <a:spcPts val="1600"/>
              </a:spcBef>
              <a:spcAft>
                <a:spcPts val="160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43"/>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249" name="Google Shape;249;p43"/>
          <p:cNvPicPr preferRelativeResize="0"/>
          <p:nvPr/>
        </p:nvPicPr>
        <p:blipFill>
          <a:blip r:embed="rId3">
            <a:alphaModFix/>
          </a:blip>
          <a:stretch>
            <a:fillRect/>
          </a:stretch>
        </p:blipFill>
        <p:spPr>
          <a:xfrm>
            <a:off x="1243853" y="0"/>
            <a:ext cx="6656295" cy="51435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4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E quindi?.....</a:t>
            </a:r>
            <a:endParaRPr/>
          </a:p>
        </p:txBody>
      </p:sp>
      <p:sp>
        <p:nvSpPr>
          <p:cNvPr id="255" name="Google Shape;255;p44"/>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E' chiaro però che questo nuovo prodotto potrebbe essere realizzato in tanti modi e che sarà proprio il modo in cui viene costruito a decretarne il successo o il fallimento del prodotto. </a:t>
            </a:r>
            <a:endParaRPr/>
          </a:p>
          <a:p>
            <a:pPr indent="0" lvl="0" marL="0" rtl="0" algn="l">
              <a:spcBef>
                <a:spcPts val="1600"/>
              </a:spcBef>
              <a:spcAft>
                <a:spcPts val="1600"/>
              </a:spcAft>
              <a:buNone/>
            </a:pPr>
            <a:r>
              <a:rPr lang="it"/>
              <a:t>Questo </a:t>
            </a:r>
            <a:r>
              <a:rPr lang="it"/>
              <a:t>perché</a:t>
            </a:r>
            <a:r>
              <a:rPr lang="it"/>
              <a:t> </a:t>
            </a:r>
            <a:r>
              <a:rPr lang="it" u="sng"/>
              <a:t>non basta un'idea per fare un prodotto di successo</a:t>
            </a:r>
            <a:r>
              <a:rPr lang="it"/>
              <a:t>, ci vuole un lungo e complicato processo di progettazione che vada oltre l'idea e metta al centro l'utente, i suoi bisogni e le sue aspettative.</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4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User Experience Designer (UX Designer)</a:t>
            </a:r>
            <a:endParaRPr/>
          </a:p>
        </p:txBody>
      </p:sp>
      <p:sp>
        <p:nvSpPr>
          <p:cNvPr id="261" name="Google Shape;261;p45"/>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UX Designing is completely related to </a:t>
            </a:r>
            <a:r>
              <a:rPr lang="it" u="sng"/>
              <a:t>how the product feels</a:t>
            </a:r>
            <a:r>
              <a:rPr lang="it"/>
              <a:t> and completely different from traditional graphic design. </a:t>
            </a:r>
            <a:endParaRPr/>
          </a:p>
          <a:p>
            <a:pPr indent="0" lvl="0" marL="0" rtl="0" algn="l">
              <a:spcBef>
                <a:spcPts val="1600"/>
              </a:spcBef>
              <a:spcAft>
                <a:spcPts val="0"/>
              </a:spcAft>
              <a:buNone/>
            </a:pPr>
            <a:r>
              <a:rPr lang="it"/>
              <a:t>UX design focuses on </a:t>
            </a:r>
            <a:r>
              <a:rPr lang="it" u="sng"/>
              <a:t>the logic and structure behind the elements</a:t>
            </a:r>
            <a:r>
              <a:rPr lang="it"/>
              <a:t> you actually interact with on any web or mobile application or any software. </a:t>
            </a:r>
            <a:endParaRPr/>
          </a:p>
          <a:p>
            <a:pPr indent="0" lvl="0" marL="0" rtl="0" algn="l">
              <a:spcBef>
                <a:spcPts val="1600"/>
              </a:spcBef>
              <a:spcAft>
                <a:spcPts val="0"/>
              </a:spcAft>
              <a:buNone/>
            </a:pPr>
            <a:r>
              <a:rPr lang="it"/>
              <a:t>The UX designers through different approaches to solving the </a:t>
            </a:r>
            <a:r>
              <a:rPr lang="it" u="sng"/>
              <a:t>user-specific problem and completely user-centric</a:t>
            </a:r>
            <a:r>
              <a:rPr lang="it"/>
              <a:t>. </a:t>
            </a:r>
            <a:endParaRPr/>
          </a:p>
          <a:p>
            <a:pPr indent="0" lvl="0" marL="0" rtl="0" algn="l">
              <a:spcBef>
                <a:spcPts val="1600"/>
              </a:spcBef>
              <a:spcAft>
                <a:spcPts val="1600"/>
              </a:spcAft>
              <a:buNone/>
            </a:pPr>
            <a:r>
              <a:rPr lang="it"/>
              <a:t>The UX designers use a variety of tools and methods to understand information architecture, human factors and end users by competitive analysis and user interviews by building user persona, wireframe the product for UI design and the flow of the application.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4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User Experience Designer (UX Design)</a:t>
            </a:r>
            <a:endParaRPr/>
          </a:p>
          <a:p>
            <a:pPr indent="0" lvl="0" marL="0" rtl="0" algn="l">
              <a:spcBef>
                <a:spcPts val="0"/>
              </a:spcBef>
              <a:spcAft>
                <a:spcPts val="0"/>
              </a:spcAft>
              <a:buNone/>
            </a:pPr>
            <a:r>
              <a:t/>
            </a:r>
            <a:endParaRPr/>
          </a:p>
        </p:txBody>
      </p:sp>
      <p:sp>
        <p:nvSpPr>
          <p:cNvPr id="267" name="Google Shape;267;p46"/>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Il </a:t>
            </a:r>
            <a:r>
              <a:rPr b="1" lang="it"/>
              <a:t>design dell'esperienza utente</a:t>
            </a:r>
            <a:r>
              <a:rPr lang="it"/>
              <a:t> è il processo volto ad </a:t>
            </a:r>
            <a:r>
              <a:rPr lang="it" u="sng"/>
              <a:t>aumentare la soddisfazione e la fedeltà del cliente migliorando l'usabilità</a:t>
            </a:r>
            <a:r>
              <a:rPr lang="it"/>
              <a:t>, la facilità d'uso e il piacere fornito nell'interazione tra il cliente e il prodotto. </a:t>
            </a:r>
            <a:endParaRPr/>
          </a:p>
          <a:p>
            <a:pPr indent="0" lvl="0" marL="0" rtl="0" algn="l">
              <a:spcBef>
                <a:spcPts val="1600"/>
              </a:spcBef>
              <a:spcAft>
                <a:spcPts val="1600"/>
              </a:spcAft>
              <a:buNone/>
            </a:pPr>
            <a:r>
              <a:rPr lang="it"/>
              <a:t>La progettazione dell'esperienza utente comprende la tradizionale progettazione dell'interazione uomo-macchina e la </a:t>
            </a:r>
            <a:r>
              <a:rPr lang="it" u="sng"/>
              <a:t>estende integrandola con tutti gli aspetti di business, marketing e sviluppo prodotto </a:t>
            </a:r>
            <a:r>
              <a:rPr lang="it"/>
              <a:t>necessari per garantire il successo del prodotto e/o servizio.</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4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UX Designer</a:t>
            </a:r>
            <a:endParaRPr/>
          </a:p>
        </p:txBody>
      </p:sp>
      <p:sp>
        <p:nvSpPr>
          <p:cNvPr id="273" name="Google Shape;273;p47"/>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Lo UX Designer ha quindi l'obiettivo di f</a:t>
            </a:r>
            <a:r>
              <a:rPr lang="it" u="sng"/>
              <a:t>ar vivere all'utente del suo prodotto la miglior esperienza possibile</a:t>
            </a:r>
            <a:r>
              <a:rPr lang="it"/>
              <a:t>, evitando quindi che l'oggetto induca nell'utente sensazioni di frustrazione e delusione.</a:t>
            </a:r>
            <a:endParaRPr/>
          </a:p>
          <a:p>
            <a:pPr indent="0" lvl="0" marL="0" rtl="0" algn="l">
              <a:spcBef>
                <a:spcPts val="1600"/>
              </a:spcBef>
              <a:spcAft>
                <a:spcPts val="0"/>
              </a:spcAft>
              <a:buClr>
                <a:schemeClr val="dk1"/>
              </a:buClr>
              <a:buSzPts val="1100"/>
              <a:buFont typeface="Arial"/>
              <a:buNone/>
            </a:pPr>
            <a:r>
              <a:rPr lang="it"/>
              <a:t>Spesso si tende a dire che si “progetta l'esperienza utente”. In realtà è impossibile progettare l'esperienza utente perchè ogni utente è diverso dall'altro ed è quindi illusorio pensare che chiunque durante l'utilizzo del prodotto si comporti alla stessa maniera e in particolare si comporti esattamente come il progettista ha ipotizzato.</a:t>
            </a:r>
            <a:endParaRPr/>
          </a:p>
          <a:p>
            <a:pPr indent="0" lvl="0" marL="0" rtl="0" algn="l">
              <a:spcBef>
                <a:spcPts val="1600"/>
              </a:spcBef>
              <a:spcAft>
                <a:spcPts val="1600"/>
              </a:spcAft>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8"/>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User Experience</a:t>
            </a:r>
            <a:endParaRPr/>
          </a:p>
        </p:txBody>
      </p:sp>
      <p:sp>
        <p:nvSpPr>
          <p:cNvPr id="279" name="Google Shape;279;p48"/>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1600"/>
              </a:spcBef>
              <a:spcAft>
                <a:spcPts val="0"/>
              </a:spcAft>
              <a:buClr>
                <a:schemeClr val="dk1"/>
              </a:buClr>
              <a:buSzPts val="1100"/>
              <a:buFont typeface="Arial"/>
              <a:buNone/>
            </a:pPr>
            <a:r>
              <a:rPr lang="it"/>
              <a:t>“</a:t>
            </a:r>
            <a:r>
              <a:rPr i="1" lang="it"/>
              <a:t>every product that is used by someone has a user experience: newspapers, ketchup bottles, reclining armchairs, cardigan sweaters.”</a:t>
            </a:r>
            <a:r>
              <a:rPr lang="it"/>
              <a:t> (Garrett, 2003)</a:t>
            </a:r>
            <a:endParaRPr/>
          </a:p>
          <a:p>
            <a:pPr indent="0" lvl="0" marL="0" rtl="0" algn="l">
              <a:spcBef>
                <a:spcPts val="1600"/>
              </a:spcBef>
              <a:spcAft>
                <a:spcPts val="0"/>
              </a:spcAft>
              <a:buNone/>
            </a:pPr>
            <a:r>
              <a:t/>
            </a:r>
            <a:endParaRPr/>
          </a:p>
          <a:p>
            <a:pPr indent="0" lvl="0" marL="0" rtl="0" algn="l">
              <a:spcBef>
                <a:spcPts val="1600"/>
              </a:spcBef>
              <a:spcAft>
                <a:spcPts val="0"/>
              </a:spcAft>
              <a:buClr>
                <a:schemeClr val="dk1"/>
              </a:buClr>
              <a:buSzPts val="1100"/>
              <a:buFont typeface="Arial"/>
              <a:buNone/>
            </a:pPr>
            <a:r>
              <a:rPr lang="it" u="sng"/>
              <a:t>You can’t design a user experience, only design for a user experience</a:t>
            </a:r>
            <a:endParaRPr u="sng"/>
          </a:p>
          <a:p>
            <a:pPr indent="0" lvl="0" marL="0" rtl="0" algn="l">
              <a:spcBef>
                <a:spcPts val="1600"/>
              </a:spcBef>
              <a:spcAft>
                <a:spcPts val="1600"/>
              </a:spcAft>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49"/>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UX Design</a:t>
            </a:r>
            <a:endParaRPr/>
          </a:p>
        </p:txBody>
      </p:sp>
      <p:sp>
        <p:nvSpPr>
          <p:cNvPr id="285" name="Google Shape;285;p49"/>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it"/>
              <a:t>Come vedremo nei capitoli successivi, lo studio e la progettazione dell'esperienza utente partono sempre dalla analisi e comprensione delle esigenze dell'utente e non dalle specifiche funzionali di prodotto.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50"/>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User Interface designer (UI design)</a:t>
            </a:r>
            <a:endParaRPr/>
          </a:p>
        </p:txBody>
      </p:sp>
      <p:sp>
        <p:nvSpPr>
          <p:cNvPr id="291" name="Google Shape;291;p50"/>
          <p:cNvSpPr txBox="1"/>
          <p:nvPr>
            <p:ph idx="1" type="body"/>
          </p:nvPr>
        </p:nvSpPr>
        <p:spPr>
          <a:xfrm>
            <a:off x="311700" y="619075"/>
            <a:ext cx="5586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Il Design dell'interazione ha come focus il modo in cui le persone interagiscono con la tecnologia, lo scopo è migliorare la loro comprensione di ciò che si può fare, ciò che succede e ciò che è appena successo, basandosi su principi psicologici, tecnici ed estetici.</a:t>
            </a:r>
            <a:endParaRPr/>
          </a:p>
          <a:p>
            <a:pPr indent="0" lvl="0" marL="0" rtl="0" algn="l">
              <a:spcBef>
                <a:spcPts val="1600"/>
              </a:spcBef>
              <a:spcAft>
                <a:spcPts val="0"/>
              </a:spcAft>
              <a:buClr>
                <a:schemeClr val="dk1"/>
              </a:buClr>
              <a:buSzPts val="1100"/>
              <a:buFont typeface="Arial"/>
              <a:buNone/>
            </a:pPr>
            <a:r>
              <a:rPr lang="it" u="sng"/>
              <a:t>Dallo studio della UX si crea quindi uno schema di interazione che poi viene passato allo UI Designer che ha il compito di progettare l'interfaccia utente al fine di abilitare l'esperienza progettata.</a:t>
            </a:r>
            <a:endParaRPr u="sng"/>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pic>
        <p:nvPicPr>
          <p:cNvPr id="292" name="Google Shape;292;p50"/>
          <p:cNvPicPr preferRelativeResize="0"/>
          <p:nvPr/>
        </p:nvPicPr>
        <p:blipFill rotWithShape="1">
          <a:blip r:embed="rId3">
            <a:alphaModFix/>
          </a:blip>
          <a:srcRect b="9779" l="10113" r="12504" t="0"/>
          <a:stretch/>
        </p:blipFill>
        <p:spPr>
          <a:xfrm>
            <a:off x="5781875" y="753500"/>
            <a:ext cx="3285925" cy="3892776"/>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51"/>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User Interface designer (UI designer)</a:t>
            </a:r>
            <a:endParaRPr/>
          </a:p>
          <a:p>
            <a:pPr indent="0" lvl="0" marL="0" rtl="0" algn="l">
              <a:spcBef>
                <a:spcPts val="0"/>
              </a:spcBef>
              <a:spcAft>
                <a:spcPts val="0"/>
              </a:spcAft>
              <a:buNone/>
            </a:pPr>
            <a:r>
              <a:t/>
            </a:r>
            <a:endParaRPr/>
          </a:p>
        </p:txBody>
      </p:sp>
      <p:sp>
        <p:nvSpPr>
          <p:cNvPr id="298" name="Google Shape;298;p51"/>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Lo UI designer non costruisce quindi l'interfaccia utente, nei team numerosi questa figura è spesso un progettista grafico e non un informatico. </a:t>
            </a:r>
            <a:endParaRPr/>
          </a:p>
          <a:p>
            <a:pPr indent="0" lvl="0" marL="0" rtl="0" algn="l">
              <a:spcBef>
                <a:spcPts val="1600"/>
              </a:spcBef>
              <a:spcAft>
                <a:spcPts val="0"/>
              </a:spcAft>
              <a:buClr>
                <a:schemeClr val="dk1"/>
              </a:buClr>
              <a:buSzPts val="1100"/>
              <a:buFont typeface="Arial"/>
              <a:buNone/>
            </a:pPr>
            <a:r>
              <a:rPr lang="it" u="sng"/>
              <a:t>L'obiettivo</a:t>
            </a:r>
            <a:r>
              <a:rPr lang="it" u="sng"/>
              <a:t> dello UI designer è quello di progettare l'aspetto estetico e la struttura dell'interfaccia </a:t>
            </a:r>
            <a:r>
              <a:rPr lang="it"/>
              <a:t>così che questa durante l'utilizzo induca l'utente nel seguire l'esperienza che è stata per lui progettata.</a:t>
            </a:r>
            <a:endParaRPr/>
          </a:p>
          <a:p>
            <a:pPr indent="0" lvl="0" marL="0" rtl="0" algn="l">
              <a:spcBef>
                <a:spcPts val="1600"/>
              </a:spcBef>
              <a:spcAft>
                <a:spcPts val="0"/>
              </a:spcAft>
              <a:buClr>
                <a:schemeClr val="dk1"/>
              </a:buClr>
              <a:buSzPts val="1100"/>
              <a:buFont typeface="Arial"/>
              <a:buNone/>
            </a:pPr>
            <a:r>
              <a:rPr lang="it"/>
              <a:t>Lo UI designer produce quindi un wireframe, una bozza grafica, dell'interfaccia e una serie di linee guida che poi </a:t>
            </a:r>
            <a:r>
              <a:rPr lang="it"/>
              <a:t>verranno</a:t>
            </a:r>
            <a:r>
              <a:rPr lang="it"/>
              <a:t> seguite dagli sviluppatori (UI developer o Front-end developer) per implementare la reale interfaccia del prodotto o servizio</a:t>
            </a:r>
            <a:endParaRPr/>
          </a:p>
          <a:p>
            <a:pPr indent="0" lvl="0" marL="0" rtl="0" algn="l">
              <a:spcBef>
                <a:spcPts val="1600"/>
              </a:spcBef>
              <a:spcAft>
                <a:spcPts val="1600"/>
              </a:spcAft>
              <a:buNone/>
            </a:pPr>
            <a: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52"/>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User Interface designer (UI designer)</a:t>
            </a:r>
            <a:endParaRPr/>
          </a:p>
        </p:txBody>
      </p:sp>
      <p:sp>
        <p:nvSpPr>
          <p:cNvPr id="304" name="Google Shape;304;p52"/>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UI Designer is in charge of giving </a:t>
            </a:r>
            <a:r>
              <a:rPr lang="it" u="sng"/>
              <a:t>the art of feeling</a:t>
            </a:r>
            <a:r>
              <a:rPr lang="it"/>
              <a:t> the project to end-client.</a:t>
            </a:r>
            <a:endParaRPr/>
          </a:p>
          <a:p>
            <a:pPr indent="0" lvl="0" marL="0" rtl="0" algn="l">
              <a:spcBef>
                <a:spcPts val="1600"/>
              </a:spcBef>
              <a:spcAft>
                <a:spcPts val="0"/>
              </a:spcAft>
              <a:buClr>
                <a:schemeClr val="dk1"/>
              </a:buClr>
              <a:buSzPts val="1100"/>
              <a:buFont typeface="Arial"/>
              <a:buNone/>
            </a:pPr>
            <a:r>
              <a:rPr lang="it"/>
              <a:t>He/she need to think in shapes, surfaces, shading, consistency, visual appearance of the project in view of the UX provided. </a:t>
            </a:r>
            <a:endParaRPr/>
          </a:p>
          <a:p>
            <a:pPr indent="0" lvl="0" marL="0" rtl="0" algn="l">
              <a:spcBef>
                <a:spcPts val="1600"/>
              </a:spcBef>
              <a:spcAft>
                <a:spcPts val="0"/>
              </a:spcAft>
              <a:buClr>
                <a:schemeClr val="dk1"/>
              </a:buClr>
              <a:buSzPts val="1100"/>
              <a:buFont typeface="Arial"/>
              <a:buNone/>
            </a:pPr>
            <a:r>
              <a:rPr lang="it"/>
              <a:t>He/she need to have the capacity to clear the questions of Front-end (UI) developer on the off chance that he/she incorporates any new components available in the market and ought to have the capacity to furnish the developer with its asset or documentation. </a:t>
            </a:r>
            <a:endParaRPr/>
          </a:p>
          <a:p>
            <a:pPr indent="0" lvl="0" marL="0" rtl="0" algn="l">
              <a:spcBef>
                <a:spcPts val="1600"/>
              </a:spcBef>
              <a:spcAft>
                <a:spcPts val="0"/>
              </a:spcAft>
              <a:buClr>
                <a:schemeClr val="dk1"/>
              </a:buClr>
              <a:buSzPts val="1100"/>
              <a:buFont typeface="Arial"/>
              <a:buNone/>
            </a:pPr>
            <a:r>
              <a:rPr lang="it"/>
              <a:t>His/her duty is likewise to make design guidelines in view of which encourage developers or visual planners will work.</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53"/>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53"/>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311" name="Google Shape;311;p53"/>
          <p:cNvPicPr preferRelativeResize="0"/>
          <p:nvPr/>
        </p:nvPicPr>
        <p:blipFill>
          <a:blip r:embed="rId3">
            <a:alphaModFix/>
          </a:blip>
          <a:stretch>
            <a:fillRect/>
          </a:stretch>
        </p:blipFill>
        <p:spPr>
          <a:xfrm>
            <a:off x="1318900" y="0"/>
            <a:ext cx="6480499" cy="5005925"/>
          </a:xfrm>
          <a:prstGeom prst="rect">
            <a:avLst/>
          </a:prstGeom>
          <a:noFill/>
          <a:ln>
            <a:noFill/>
          </a:ln>
        </p:spPr>
      </p:pic>
      <p:sp>
        <p:nvSpPr>
          <p:cNvPr id="312" name="Google Shape;312;p53"/>
          <p:cNvSpPr txBox="1"/>
          <p:nvPr/>
        </p:nvSpPr>
        <p:spPr>
          <a:xfrm>
            <a:off x="0" y="4581625"/>
            <a:ext cx="2380500" cy="53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1100"/>
              <a:t>immagine tratta da </a:t>
            </a:r>
            <a:r>
              <a:rPr lang="it" sz="800" u="sng">
                <a:solidFill>
                  <a:schemeClr val="hlink"/>
                </a:solidFill>
                <a:hlinkClick r:id="rId4"/>
              </a:rPr>
              <a:t>https://blog.prototypr.io/why-you-shouldnt-skip-your-wireframing-1f7a70d5c125</a:t>
            </a:r>
            <a:endParaRPr sz="11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5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User Interface design vs User Experience design</a:t>
            </a:r>
            <a:endParaRPr/>
          </a:p>
        </p:txBody>
      </p:sp>
      <p:pic>
        <p:nvPicPr>
          <p:cNvPr id="318" name="Google Shape;318;p54"/>
          <p:cNvPicPr preferRelativeResize="0"/>
          <p:nvPr/>
        </p:nvPicPr>
        <p:blipFill>
          <a:blip r:embed="rId3">
            <a:alphaModFix/>
          </a:blip>
          <a:stretch>
            <a:fillRect/>
          </a:stretch>
        </p:blipFill>
        <p:spPr>
          <a:xfrm>
            <a:off x="1857362" y="614350"/>
            <a:ext cx="5429276" cy="4071950"/>
          </a:xfrm>
          <a:prstGeom prst="rect">
            <a:avLst/>
          </a:prstGeom>
          <a:noFill/>
          <a:ln>
            <a:noFill/>
          </a:ln>
        </p:spPr>
      </p:pic>
      <p:sp>
        <p:nvSpPr>
          <p:cNvPr id="319" name="Google Shape;319;p54"/>
          <p:cNvSpPr txBox="1"/>
          <p:nvPr>
            <p:ph idx="1" type="body"/>
          </p:nvPr>
        </p:nvSpPr>
        <p:spPr>
          <a:xfrm>
            <a:off x="-50700" y="4621550"/>
            <a:ext cx="8588400" cy="3309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b="1" lang="it" sz="1200"/>
              <a:t>source: https://nzdigital.co.nz/ui-and-ux/</a:t>
            </a:r>
            <a:endParaRPr b="1" sz="12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5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Front-end Developer (UI Developer)</a:t>
            </a:r>
            <a:endParaRPr/>
          </a:p>
        </p:txBody>
      </p:sp>
      <p:sp>
        <p:nvSpPr>
          <p:cNvPr id="325" name="Google Shape;325;p55"/>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They ought to have the creation expertise to have the capacity to transform the UI and UX configuration given into the HTML, CSS, JavaScript,... [other languages] that arrangements with the marvels of program compatibilities. </a:t>
            </a:r>
            <a:endParaRPr/>
          </a:p>
          <a:p>
            <a:pPr indent="0" lvl="0" marL="0" rtl="0" algn="l">
              <a:spcBef>
                <a:spcPts val="1600"/>
              </a:spcBef>
              <a:spcAft>
                <a:spcPts val="0"/>
              </a:spcAft>
              <a:buNone/>
            </a:pPr>
            <a:r>
              <a:rPr lang="it"/>
              <a:t>This requires profound information of how modern rendering framework works and ought to have the capacity to </a:t>
            </a:r>
            <a:r>
              <a:rPr lang="it" u="sng"/>
              <a:t>execute the UI Design into the functional product.</a:t>
            </a:r>
            <a:endParaRPr u="sng"/>
          </a:p>
          <a:p>
            <a:pPr indent="0" lvl="0" marL="0" rtl="0" algn="l">
              <a:spcBef>
                <a:spcPts val="1600"/>
              </a:spcBef>
              <a:spcAft>
                <a:spcPts val="1600"/>
              </a:spcAft>
              <a:buNone/>
            </a:pPr>
            <a:r>
              <a:rPr lang="it"/>
              <a:t>The real assignment of Front-end engineer is to furnish the last outcome with all connection streams portrayed in the UI Design by UI Designer.</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5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56"/>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332" name="Google Shape;332;p56"/>
          <p:cNvPicPr preferRelativeResize="0"/>
          <p:nvPr/>
        </p:nvPicPr>
        <p:blipFill>
          <a:blip r:embed="rId3">
            <a:alphaModFix/>
          </a:blip>
          <a:stretch>
            <a:fillRect/>
          </a:stretch>
        </p:blipFill>
        <p:spPr>
          <a:xfrm>
            <a:off x="98100" y="-42050"/>
            <a:ext cx="8893500" cy="5002607"/>
          </a:xfrm>
          <a:prstGeom prst="rect">
            <a:avLst/>
          </a:prstGeom>
          <a:noFill/>
          <a:ln>
            <a:noFill/>
          </a:ln>
        </p:spPr>
      </p:pic>
      <p:sp>
        <p:nvSpPr>
          <p:cNvPr id="333" name="Google Shape;333;p56"/>
          <p:cNvSpPr txBox="1"/>
          <p:nvPr/>
        </p:nvSpPr>
        <p:spPr>
          <a:xfrm>
            <a:off x="0" y="4556350"/>
            <a:ext cx="6393600" cy="35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1100" u="sng">
                <a:solidFill>
                  <a:schemeClr val="hlink"/>
                </a:solidFill>
                <a:hlinkClick r:id="rId4"/>
              </a:rPr>
              <a:t>https://www.crayondata.com/blog/the-difference-between-ui-and-ux/</a:t>
            </a:r>
            <a:endParaRPr/>
          </a:p>
        </p:txBody>
      </p:sp>
    </p:spTree>
  </p:cSld>
  <p:clrMapOvr>
    <a:masterClrMapping/>
  </p:clrMapOvr>
</p:sld>
</file>

<file path=ppt/theme/theme1.xml><?xml version="1.0" encoding="utf-8"?>
<a:theme xmlns:a="http://schemas.openxmlformats.org/drawingml/2006/main" xmlns:r="http://schemas.openxmlformats.org/officeDocument/2006/relationships" name="LEZIONI">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