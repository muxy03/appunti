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Lora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Lora-bold.fntdata"/><Relationship Id="rId10" Type="http://schemas.openxmlformats.org/officeDocument/2006/relationships/slide" Target="slides/slide5.xml"/><Relationship Id="rId21" Type="http://schemas.openxmlformats.org/officeDocument/2006/relationships/font" Target="fonts/Lora-regular.fntdata"/><Relationship Id="rId13" Type="http://schemas.openxmlformats.org/officeDocument/2006/relationships/slide" Target="slides/slide8.xml"/><Relationship Id="rId24" Type="http://schemas.openxmlformats.org/officeDocument/2006/relationships/font" Target="fonts/Lora-boldItalic.fntdata"/><Relationship Id="rId12" Type="http://schemas.openxmlformats.org/officeDocument/2006/relationships/slide" Target="slides/slide7.xml"/><Relationship Id="rId23" Type="http://schemas.openxmlformats.org/officeDocument/2006/relationships/font" Target="fonts/Lor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60510df36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60510df36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93f85b31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93f85b31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93f85b310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93f85b31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96f79df61d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96f79df61d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93f85b310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93f85b310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a48f6af8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a48f6af8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93f85b310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93f85b310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93f85b310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93f85b310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93f85b310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93f85b310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96f79df61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96f79df61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96f79df61d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96f79df61d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96f79df61d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96f79df61d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60510df36f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60510df36f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96f79df61d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96f79df61d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96f79df61d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96f79df61d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558425" y="4834400"/>
            <a:ext cx="80313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1"/>
                </a:solidFill>
              </a:rPr>
              <a:t>DANIELE MAZZEI - </a:t>
            </a:r>
            <a:r>
              <a:rPr lang="it" sz="1000"/>
              <a:t>PROGRAMMAZIONE INTERFACCE 24-25</a:t>
            </a:r>
            <a:r>
              <a:rPr lang="it"/>
              <a:t> </a:t>
            </a:r>
            <a:r>
              <a:rPr lang="it" sz="700"/>
              <a:t>(</a:t>
            </a:r>
            <a:r>
              <a:rPr lang="it" sz="700"/>
              <a:t>all rights reserved)</a:t>
            </a:r>
            <a:endParaRPr sz="7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 Interfacce utente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 interfacce utente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619075"/>
            <a:ext cx="4815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Un'interfaccia è qualcosa che sta fra due facce.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E' il punto di contatto fra due sistemi che tentano di comunicare.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Le interfacce possono far comunicare due macchine fra loro oppure possono far comunicare l’uomo con la macchina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it"/>
              <a:t>Lo strumento è ciò che fa qualcosa, l’interfaccia è ciò che serve per guidarlo nell'esecuzione dell'azione. </a:t>
            </a:r>
            <a:endParaRPr/>
          </a:p>
        </p:txBody>
      </p:sp>
      <p:grpSp>
        <p:nvGrpSpPr>
          <p:cNvPr id="63" name="Google Shape;63;p14"/>
          <p:cNvGrpSpPr/>
          <p:nvPr/>
        </p:nvGrpSpPr>
        <p:grpSpPr>
          <a:xfrm>
            <a:off x="5167374" y="772925"/>
            <a:ext cx="3754502" cy="3606228"/>
            <a:chOff x="-113077" y="-110850"/>
            <a:chExt cx="2967751" cy="2821775"/>
          </a:xfrm>
        </p:grpSpPr>
        <p:pic>
          <p:nvPicPr>
            <p:cNvPr id="64" name="Google Shape;64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3875" y="94025"/>
              <a:ext cx="2462701" cy="24627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14"/>
            <p:cNvSpPr/>
            <p:nvPr/>
          </p:nvSpPr>
          <p:spPr>
            <a:xfrm rot="2569911">
              <a:off x="-144306" y="478819"/>
              <a:ext cx="2007358" cy="695662"/>
            </a:xfrm>
            <a:prstGeom prst="ellipse">
              <a:avLst/>
            </a:prstGeom>
            <a:noFill/>
            <a:ln cap="flat" cmpd="sng" w="9525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 rot="2570296">
              <a:off x="1409574" y="1633794"/>
              <a:ext cx="1394700" cy="695662"/>
            </a:xfrm>
            <a:prstGeom prst="ellipse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1903675" y="1274700"/>
              <a:ext cx="793500" cy="21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700">
                  <a:solidFill>
                    <a:srgbClr val="FF0000"/>
                  </a:solidFill>
                </a:rPr>
                <a:t>INTERFACCIA</a:t>
              </a:r>
              <a:endParaRPr sz="700">
                <a:solidFill>
                  <a:srgbClr val="FF0000"/>
                </a:solidFill>
              </a:endParaRPr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909200" y="212550"/>
              <a:ext cx="793500" cy="21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700">
                  <a:solidFill>
                    <a:srgbClr val="00FF00"/>
                  </a:solidFill>
                </a:rPr>
                <a:t>STRUMENTO</a:t>
              </a:r>
              <a:endParaRPr sz="700">
                <a:solidFill>
                  <a:srgbClr val="00FF00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Le interfacce utente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Quando parliamo di Interfaccia Utente (User Interface o UI) intendiamo lo spazio di un sistema dove avviene l'interazione fra uomo-macchina.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Tipicamente, si parla di UI </a:t>
            </a:r>
            <a:br>
              <a:rPr lang="it"/>
            </a:br>
            <a:r>
              <a:rPr lang="it"/>
              <a:t>in ambito informatico e </a:t>
            </a:r>
            <a:br>
              <a:rPr lang="it"/>
            </a:br>
            <a:r>
              <a:rPr lang="it"/>
              <a:t>tecnologico e quindi le </a:t>
            </a:r>
            <a:br>
              <a:rPr lang="it"/>
            </a:br>
            <a:r>
              <a:rPr lang="it"/>
              <a:t>interfacce utente sono </a:t>
            </a:r>
            <a:br>
              <a:rPr lang="it"/>
            </a:br>
            <a:r>
              <a:rPr lang="it"/>
              <a:t>comunemente identificate </a:t>
            </a:r>
            <a:br>
              <a:rPr lang="it"/>
            </a:br>
            <a:r>
              <a:rPr lang="it"/>
              <a:t>come sistemi atti a mettere </a:t>
            </a:r>
            <a:br>
              <a:rPr lang="it"/>
            </a:br>
            <a:r>
              <a:rPr lang="it"/>
              <a:t>in comunicazione l'uomo </a:t>
            </a:r>
            <a:br>
              <a:rPr lang="it"/>
            </a:br>
            <a:r>
              <a:rPr lang="it"/>
              <a:t>computer, sistemi </a:t>
            </a:r>
            <a:br>
              <a:rPr lang="it"/>
            </a:br>
            <a:r>
              <a:rPr lang="it"/>
              <a:t>informatici e oggetti </a:t>
            </a:r>
            <a:br>
              <a:rPr lang="it"/>
            </a:br>
            <a:r>
              <a:rPr lang="it"/>
              <a:t>intelligenti.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1050" y="1626400"/>
            <a:ext cx="5754500" cy="322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Le interfacce utente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500">
                <a:solidFill>
                  <a:srgbClr val="333333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“User interfaces are a mapping from the sensory, cognitive, and social human world to these collections of functions exposed by a computer program.” </a:t>
            </a:r>
            <a:endParaRPr i="1" sz="1500">
              <a:solidFill>
                <a:srgbClr val="333333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 sz="1600">
                <a:solidFill>
                  <a:srgbClr val="333333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Amy J. Ko, </a:t>
            </a:r>
            <a:r>
              <a:rPr lang="it" sz="1600">
                <a:solidFill>
                  <a:srgbClr val="333333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Washington</a:t>
            </a:r>
            <a:r>
              <a:rPr lang="it" sz="1600">
                <a:solidFill>
                  <a:srgbClr val="333333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it" sz="1600">
                <a:solidFill>
                  <a:srgbClr val="333333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university</a:t>
            </a:r>
            <a:endParaRPr i="1" sz="1500">
              <a:solidFill>
                <a:srgbClr val="333333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 sz="600">
              <a:solidFill>
                <a:srgbClr val="333333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 sz="600">
              <a:solidFill>
                <a:srgbClr val="333333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Le interfacce utente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L'obiettivo primario dell'interazione fra uomo e macchina è quello di consentire all'utente di controllare e far funzionare la macchina in modo efficace.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L'interfaccia deve quindi essere progettata per semplificare l'interazione fra l'uomo e la macchina rendendo così l'esperienza d'uso piacevole e prolifica.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L'interazione fra uomo e macchina</a:t>
            </a:r>
            <a:br>
              <a:rPr lang="it"/>
            </a:br>
            <a:r>
              <a:rPr lang="it"/>
              <a:t> deve sempre essere facile, </a:t>
            </a:r>
            <a:br>
              <a:rPr lang="it"/>
            </a:br>
            <a:r>
              <a:rPr lang="it"/>
              <a:t>efficiente e divertente così da</a:t>
            </a:r>
            <a:br>
              <a:rPr lang="it"/>
            </a:br>
            <a:r>
              <a:rPr lang="it"/>
              <a:t>massimizzare la User Experience </a:t>
            </a:r>
            <a:br>
              <a:rPr lang="it"/>
            </a:br>
            <a:r>
              <a:rPr lang="it"/>
              <a:t>del prodotto.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 rotWithShape="1">
          <a:blip r:embed="rId3">
            <a:alphaModFix/>
          </a:blip>
          <a:srcRect b="12429" l="0" r="0" t="9937"/>
          <a:stretch/>
        </p:blipFill>
        <p:spPr>
          <a:xfrm>
            <a:off x="3981025" y="2271500"/>
            <a:ext cx="5119775" cy="248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188" y="0"/>
            <a:ext cx="38576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Le interfacce utente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Un'interfaccia ben progettata consente all'utente di controllare l'apparato richiedendo uno sforzo fisico e cognitivo minimo.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buona interfaccia massimizza inoltre </a:t>
            </a:r>
            <a:br>
              <a:rPr lang="it"/>
            </a:br>
            <a:r>
              <a:rPr lang="it"/>
              <a:t>la quantità di informazioni utili trasferite </a:t>
            </a:r>
            <a:br>
              <a:rPr lang="it"/>
            </a:br>
            <a:r>
              <a:rPr lang="it"/>
              <a:t>all'utente durante l'interazione evitando </a:t>
            </a:r>
            <a:br>
              <a:rPr lang="it"/>
            </a:br>
            <a:r>
              <a:rPr lang="it"/>
              <a:t>un sovraccarico informativo che </a:t>
            </a:r>
            <a:br>
              <a:rPr lang="it"/>
            </a:br>
            <a:r>
              <a:rPr lang="it"/>
              <a:t>provocherebbe nell'utente confusione e </a:t>
            </a:r>
            <a:br>
              <a:rPr lang="it"/>
            </a:br>
            <a:r>
              <a:rPr lang="it"/>
              <a:t>quindi frustrazione.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1697" y="1443700"/>
            <a:ext cx="4338224" cy="3180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Le interfacce utente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it"/>
              <a:t>Per questo motivo, la progettazione di un'interfaccia è per definizione un'attività interdisciplinare che va oltre la programmazione grafica e abbraccia la psicologia, le neuroscienze, il design e la fisica.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Le interfacce utente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User interfaces are composed of one or more layers including a human-machine interface (HMI) interfaces machines with physical input hardware such a keyboards, mice, game pads and output hardware such as computer monitors, speakers, and printers.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/>
              <a:t>A device that implements a HMI is called a human interface device (HID). </a:t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0988" y="2534506"/>
            <a:ext cx="2314575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274" y="2534506"/>
            <a:ext cx="2866472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/>
          <p:nvPr/>
        </p:nvSpPr>
        <p:spPr>
          <a:xfrm>
            <a:off x="3758100" y="3066444"/>
            <a:ext cx="939600" cy="9078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/>
          <p:nvPr/>
        </p:nvSpPr>
        <p:spPr>
          <a:xfrm>
            <a:off x="6242275" y="3110244"/>
            <a:ext cx="1226100" cy="8202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7532125" y="3086394"/>
            <a:ext cx="939600" cy="8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000"/>
              <a:t>HMI</a:t>
            </a:r>
            <a:endParaRPr b="1" sz="3000"/>
          </a:p>
        </p:txBody>
      </p:sp>
      <p:sp>
        <p:nvSpPr>
          <p:cNvPr id="120" name="Google Shape;120;p21"/>
          <p:cNvSpPr txBox="1"/>
          <p:nvPr/>
        </p:nvSpPr>
        <p:spPr>
          <a:xfrm>
            <a:off x="1273925" y="4082844"/>
            <a:ext cx="939600" cy="8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000"/>
              <a:t>HID</a:t>
            </a:r>
            <a:endParaRPr b="1" sz="3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Le interfacce utente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 interfacce utente sono tipicamente organizzate sulla base dei sensi che utilizzano per stabilire l'interazione fra umano e macchina. Gli umani possiedono cinque sensi (Tatto, Vista, Udito, Olfatto e Gusto).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porta ad identificare cinque categorie di interfacce possibili, più una sesta che è legata al </a:t>
            </a:r>
            <a:r>
              <a:rPr lang="it"/>
              <a:t>cosiddetto</a:t>
            </a:r>
            <a:r>
              <a:rPr lang="it"/>
              <a:t> senso dell'orientamento (balance in inglese) che però non è considerato un senso vero e proprio nella fisiologia umana.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Possiamo quindi organizzare le interfacce in 6 categorie: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Tactile UI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Visual UI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Auditory UI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Olfactory UI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Gustatory UI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Equilibrial UI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maggior parte delle interfacce utente utilizza però più di un senso umano per stabilire il collegamento.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Le interfacce che usano più di un senso sono dette </a:t>
            </a:r>
            <a:r>
              <a:rPr b="1" lang="it"/>
              <a:t>CUI</a:t>
            </a:r>
            <a:r>
              <a:rPr lang="it"/>
              <a:t> o Composite User Interface.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Le più comuni e note CUI sono chiaramente le famose </a:t>
            </a:r>
            <a:r>
              <a:rPr b="1" lang="it"/>
              <a:t>GUI </a:t>
            </a:r>
            <a:r>
              <a:rPr lang="it"/>
              <a:t>o Graphical User Interface, le quali sono composte da interfacce grafiche (visual) e tattili (tactile).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 ad una GUI andiamo ad aggiungere anche il suono otteniamo una </a:t>
            </a:r>
            <a:r>
              <a:rPr b="1" lang="it"/>
              <a:t>MUI </a:t>
            </a:r>
            <a:r>
              <a:rPr lang="it"/>
              <a:t>o Multimedia User Interface.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it"/>
              <a:t>Estendere le interfacce con più canali (sensi) non è sempre una buona idea</a:t>
            </a:r>
            <a:endParaRPr b="1"/>
          </a:p>
        </p:txBody>
      </p:sp>
      <p:pic>
        <p:nvPicPr>
          <p:cNvPr id="139" name="Google Shape;139;p24"/>
          <p:cNvPicPr preferRelativeResize="0"/>
          <p:nvPr/>
        </p:nvPicPr>
        <p:blipFill rotWithShape="1">
          <a:blip r:embed="rId3">
            <a:alphaModFix/>
          </a:blip>
          <a:srcRect b="68202" l="39587" r="40260" t="5466"/>
          <a:stretch/>
        </p:blipFill>
        <p:spPr>
          <a:xfrm>
            <a:off x="2843513" y="1064350"/>
            <a:ext cx="3456979" cy="3810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user interface (UI)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11700" y="619075"/>
            <a:ext cx="8520600" cy="21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There are three broad categories of CUI: </a:t>
            </a:r>
            <a:r>
              <a:rPr b="1" lang="it" sz="1300"/>
              <a:t>standard, virtual and augmented.</a:t>
            </a:r>
            <a:r>
              <a:rPr lang="it" sz="1300"/>
              <a:t> 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it" sz="1300"/>
              <a:t>Standard</a:t>
            </a:r>
            <a:r>
              <a:rPr lang="it" sz="1300"/>
              <a:t> composite user interfaces use standard human interface devices like keyboards, mice, and computer monitors. 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 sz="1300"/>
              <a:t>When the CUI blocks out the real world to create a </a:t>
            </a:r>
            <a:r>
              <a:rPr b="1" lang="it" sz="1300"/>
              <a:t>virtual reality</a:t>
            </a:r>
            <a:r>
              <a:rPr lang="it" sz="1300"/>
              <a:t>, the CUI is </a:t>
            </a:r>
            <a:r>
              <a:rPr b="1" lang="it" sz="1300"/>
              <a:t>virtual </a:t>
            </a:r>
            <a:r>
              <a:rPr lang="it" sz="1300"/>
              <a:t>and uses a virtual reality interface. 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it" sz="1300"/>
              <a:t>When the CUI does not block out the real world and creates </a:t>
            </a:r>
            <a:r>
              <a:rPr b="1" lang="it" sz="1300"/>
              <a:t>augmented reality</a:t>
            </a:r>
            <a:r>
              <a:rPr lang="it" sz="1300"/>
              <a:t>, the CUI is </a:t>
            </a:r>
            <a:r>
              <a:rPr b="1" lang="it" sz="1300"/>
              <a:t>augmented </a:t>
            </a:r>
            <a:r>
              <a:rPr lang="it" sz="1300"/>
              <a:t>and uses an augmented reality interface. </a:t>
            </a:r>
            <a:endParaRPr sz="1300"/>
          </a:p>
        </p:txBody>
      </p:sp>
      <p:grpSp>
        <p:nvGrpSpPr>
          <p:cNvPr id="146" name="Google Shape;146;p25"/>
          <p:cNvGrpSpPr/>
          <p:nvPr/>
        </p:nvGrpSpPr>
        <p:grpSpPr>
          <a:xfrm>
            <a:off x="397824" y="2917902"/>
            <a:ext cx="8476915" cy="2138890"/>
            <a:chOff x="93025" y="1539025"/>
            <a:chExt cx="8852251" cy="2294700"/>
          </a:xfrm>
        </p:grpSpPr>
        <p:pic>
          <p:nvPicPr>
            <p:cNvPr id="147" name="Google Shape;147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97798" y="1539025"/>
              <a:ext cx="3147478" cy="17847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911194" y="1539025"/>
              <a:ext cx="2797762" cy="17847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2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3025" y="1539035"/>
              <a:ext cx="2699687" cy="17847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25"/>
            <p:cNvSpPr txBox="1"/>
            <p:nvPr/>
          </p:nvSpPr>
          <p:spPr>
            <a:xfrm>
              <a:off x="617713" y="3441325"/>
              <a:ext cx="1650300" cy="39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/>
                <a:t>Standard</a:t>
              </a:r>
              <a:endParaRPr/>
            </a:p>
          </p:txBody>
        </p:sp>
        <p:sp>
          <p:nvSpPr>
            <p:cNvPr id="151" name="Google Shape;151;p25"/>
            <p:cNvSpPr txBox="1"/>
            <p:nvPr/>
          </p:nvSpPr>
          <p:spPr>
            <a:xfrm>
              <a:off x="3484925" y="3401325"/>
              <a:ext cx="1650300" cy="39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/>
                <a:t>Virtual</a:t>
              </a:r>
              <a:endParaRPr/>
            </a:p>
          </p:txBody>
        </p:sp>
        <p:sp>
          <p:nvSpPr>
            <p:cNvPr id="152" name="Google Shape;152;p25"/>
            <p:cNvSpPr txBox="1"/>
            <p:nvPr/>
          </p:nvSpPr>
          <p:spPr>
            <a:xfrm>
              <a:off x="6546388" y="3441325"/>
              <a:ext cx="1650300" cy="39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/>
                <a:t>Augmented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341325" y="71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41325" y="626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 CUI possono essere anche classificate tramite il numero di sensi che utilizzano.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Ad esempio, lo </a:t>
            </a:r>
            <a:r>
              <a:rPr b="1" lang="it"/>
              <a:t>Smell-O-Vision</a:t>
            </a:r>
            <a:r>
              <a:rPr lang="it"/>
              <a:t> è una CUI standard 3S, cioè è un’interfaccia di tipo standard che nell'utilizzo coinvolge 3 sensi dell'utente (Visione, Udito e Olfatto).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Se si aggiungesse un quarto senso (per esempio le poltrone mobili dei cinema 4D) diventerebbe 4S.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Quando un'interfaccia utente interagisce con tutti i sensi umani viene chiamata </a:t>
            </a:r>
            <a:r>
              <a:rPr b="1" lang="it"/>
              <a:t>Qualia Interface</a:t>
            </a:r>
            <a:r>
              <a:rPr lang="it"/>
              <a:t>. il termine Qualia interface deriva dalla teoria filosofica dei Qualia (https://it.wikipedia.org/wiki/Qualia).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it"/>
              <a:t>Il </a:t>
            </a:r>
            <a:r>
              <a:rPr lang="it"/>
              <a:t>Microsoft</a:t>
            </a:r>
            <a:r>
              <a:rPr lang="it"/>
              <a:t> Reactable è </a:t>
            </a:r>
            <a:r>
              <a:rPr lang="it"/>
              <a:t>un interessante</a:t>
            </a:r>
            <a:r>
              <a:rPr lang="it"/>
              <a:t> esempio di interfaccia aumentata 3S (MUI)</a:t>
            </a:r>
            <a:endParaRPr/>
          </a:p>
        </p:txBody>
      </p:sp>
      <p:pic>
        <p:nvPicPr>
          <p:cNvPr id="165" name="Google Shape;16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4728" y="1261176"/>
            <a:ext cx="4914552" cy="3097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EZIONI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