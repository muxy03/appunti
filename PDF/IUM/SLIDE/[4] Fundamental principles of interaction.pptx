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47.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2" Type="http://schemas.openxmlformats.org/officeDocument/2006/relationships/slide" Target="slides/slide47.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 name="Shape 51"/>
        <p:cNvGrpSpPr/>
        <p:nvPr/>
      </p:nvGrpSpPr>
      <p:grpSpPr>
        <a:xfrm>
          <a:off x="0" y="0"/>
          <a:ext cx="0" cy="0"/>
          <a:chOff x="0" y="0"/>
          <a:chExt cx="0" cy="0"/>
        </a:xfrm>
      </p:grpSpPr>
      <p:sp>
        <p:nvSpPr>
          <p:cNvPr id="52" name="Google Shape;52;g3402528822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 name="Google Shape;53;g3402528822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402528822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402528822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9949474cd9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9949474cd9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402528822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402528822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402528822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3402528822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402528822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402528822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3402528822_0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3402528822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402528822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3402528822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402528822_0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3402528822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402528822_0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3402528822_0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402528822_0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3402528822_0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402528822_0_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3402528822_0_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3402528822_0_1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3402528822_0_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402528822_0_1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3402528822_0_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402528822_0_1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402528822_0_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603ad3109d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603ad3109d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3402528822_0_1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 name="Google Shape;155;g3402528822_0_1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402528822_0_1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3402528822_0_1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3402528822_0_1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3402528822_0_1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3402528822_0_2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3402528822_0_2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9949474cd9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9949474cd9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603ad3109d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603ad3109d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3402528822_0_1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5" name="Google Shape;195;g3402528822_0_1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3402528822_0_1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3402528822_0_1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3402528822_0_1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7" name="Google Shape;207;g3402528822_0_1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603ad3109d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4" name="Google Shape;214;g603ad3109d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603ad3109d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9" name="Google Shape;219;g603ad3109d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3402528822_0_1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5" name="Google Shape;225;g3402528822_0_1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3402528822_0_1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0" name="Google Shape;230;g3402528822_0_1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3402528822_0_1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8" name="Google Shape;238;g3402528822_0_1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3402528822_0_1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4" name="Google Shape;244;g3402528822_0_1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3402528822_0_2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0" name="Google Shape;250;g3402528822_0_2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3402528822_0_2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5" name="Google Shape;255;g3402528822_0_2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3402528822_0_2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2" name="Google Shape;262;g3402528822_0_2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3402528822_0_2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8" name="Google Shape;268;g3402528822_0_2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3402528822_0_2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4" name="Google Shape;274;g3402528822_0_2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3402528822_0_2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0" name="Google Shape;280;g3402528822_0_2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3402528822_0_2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7" name="Google Shape;287;g3402528822_0_2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g603ad3109d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4" name="Google Shape;294;g603ad3109d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g3402528822_0_2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1" name="Google Shape;301;g3402528822_0_2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g3402528822_0_2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6" name="Google Shape;306;g3402528822_0_2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g3402528822_0_2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2" name="Google Shape;312;g3402528822_0_2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g3402528822_0_2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0" name="Google Shape;320;g3402528822_0_2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g9949474cd9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7" name="Google Shape;327;g9949474cd9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g3402528822_0_2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3" name="Google Shape;333;g3402528822_0_2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g3402528822_0_2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9" name="Google Shape;339;g3402528822_0_2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g603ad3109d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5" name="Google Shape;345;g603ad3109d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
        <p:nvSpPr>
          <p:cNvPr id="11" name="Google Shape;11;p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2" name="Google Shape;12;p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4" name="Shape 14"/>
        <p:cNvGrpSpPr/>
        <p:nvPr/>
      </p:nvGrpSpPr>
      <p:grpSpPr>
        <a:xfrm>
          <a:off x="0" y="0"/>
          <a:ext cx="0" cy="0"/>
          <a:chOff x="0" y="0"/>
          <a:chExt cx="0" cy="0"/>
        </a:xfrm>
      </p:grpSpPr>
      <p:sp>
        <p:nvSpPr>
          <p:cNvPr id="15" name="Google Shape;15;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6" name="Google Shape;16;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 name="Shape 17"/>
        <p:cNvGrpSpPr/>
        <p:nvPr/>
      </p:nvGrpSpPr>
      <p:grpSpPr>
        <a:xfrm>
          <a:off x="0" y="0"/>
          <a:ext cx="0" cy="0"/>
          <a:chOff x="0" y="0"/>
          <a:chExt cx="0" cy="0"/>
        </a:xfrm>
      </p:grpSpPr>
      <p:sp>
        <p:nvSpPr>
          <p:cNvPr id="18" name="Google Shape;18;p4"/>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9" name="Google Shape;19;p4"/>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20" name="Google Shape;20;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1" name="Shape 21"/>
        <p:cNvGrpSpPr/>
        <p:nvPr/>
      </p:nvGrpSpPr>
      <p:grpSpPr>
        <a:xfrm>
          <a:off x="0" y="0"/>
          <a:ext cx="0" cy="0"/>
          <a:chOff x="0" y="0"/>
          <a:chExt cx="0" cy="0"/>
        </a:xfrm>
      </p:grpSpPr>
      <p:sp>
        <p:nvSpPr>
          <p:cNvPr id="22" name="Google Shape;22;p5"/>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3" name="Google Shape;23;p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4" name="Google Shape;24;p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5" name="Google Shape;25;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6" name="Shape 26"/>
        <p:cNvGrpSpPr/>
        <p:nvPr/>
      </p:nvGrpSpPr>
      <p:grpSpPr>
        <a:xfrm>
          <a:off x="0" y="0"/>
          <a:ext cx="0" cy="0"/>
          <a:chOff x="0" y="0"/>
          <a:chExt cx="0" cy="0"/>
        </a:xfrm>
      </p:grpSpPr>
      <p:sp>
        <p:nvSpPr>
          <p:cNvPr id="27" name="Google Shape;27;p6"/>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8" name="Google Shape;28;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9" name="Shape 29"/>
        <p:cNvGrpSpPr/>
        <p:nvPr/>
      </p:nvGrpSpPr>
      <p:grpSpPr>
        <a:xfrm>
          <a:off x="0" y="0"/>
          <a:ext cx="0" cy="0"/>
          <a:chOff x="0" y="0"/>
          <a:chExt cx="0" cy="0"/>
        </a:xfrm>
      </p:grpSpPr>
      <p:sp>
        <p:nvSpPr>
          <p:cNvPr id="30" name="Google Shape;30;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1" name="Google Shape;31;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2" name="Google Shape;32;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3" name="Shape 33"/>
        <p:cNvGrpSpPr/>
        <p:nvPr/>
      </p:nvGrpSpPr>
      <p:grpSpPr>
        <a:xfrm>
          <a:off x="0" y="0"/>
          <a:ext cx="0" cy="0"/>
          <a:chOff x="0" y="0"/>
          <a:chExt cx="0" cy="0"/>
        </a:xfrm>
      </p:grpSpPr>
      <p:sp>
        <p:nvSpPr>
          <p:cNvPr id="34" name="Google Shape;34;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5" name="Google Shape;35;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6" name="Shape 36"/>
        <p:cNvGrpSpPr/>
        <p:nvPr/>
      </p:nvGrpSpPr>
      <p:grpSpPr>
        <a:xfrm>
          <a:off x="0" y="0"/>
          <a:ext cx="0" cy="0"/>
          <a:chOff x="0" y="0"/>
          <a:chExt cx="0" cy="0"/>
        </a:xfrm>
      </p:grpSpPr>
      <p:sp>
        <p:nvSpPr>
          <p:cNvPr id="37" name="Google Shape;37;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9" name="Google Shape;39;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0" name="Google Shape;40;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41" name="Google Shape;41;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2" name="Shape 42"/>
        <p:cNvGrpSpPr/>
        <p:nvPr/>
      </p:nvGrpSpPr>
      <p:grpSpPr>
        <a:xfrm>
          <a:off x="0" y="0"/>
          <a:ext cx="0" cy="0"/>
          <a:chOff x="0" y="0"/>
          <a:chExt cx="0" cy="0"/>
        </a:xfrm>
      </p:grpSpPr>
      <p:sp>
        <p:nvSpPr>
          <p:cNvPr id="43" name="Google Shape;43;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4" name="Google Shape;44;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5" name="Shape 45"/>
        <p:cNvGrpSpPr/>
        <p:nvPr/>
      </p:nvGrpSpPr>
      <p:grpSpPr>
        <a:xfrm>
          <a:off x="0" y="0"/>
          <a:ext cx="0" cy="0"/>
          <a:chOff x="0" y="0"/>
          <a:chExt cx="0" cy="0"/>
        </a:xfrm>
      </p:grpSpPr>
      <p:sp>
        <p:nvSpPr>
          <p:cNvPr id="46" name="Google Shape;46;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7" name="Google Shape;47;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48" name="Google Shape;48;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9" name="Shape 49"/>
        <p:cNvGrpSpPr/>
        <p:nvPr/>
      </p:nvGrpSpPr>
      <p:grpSpPr>
        <a:xfrm>
          <a:off x="0" y="0"/>
          <a:ext cx="0" cy="0"/>
          <a:chOff x="0" y="0"/>
          <a:chExt cx="0" cy="0"/>
        </a:xfrm>
      </p:grpSpPr>
      <p:sp>
        <p:nvSpPr>
          <p:cNvPr id="50" name="Google Shape;50;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64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6190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it"/>
              <a:t>‹#›</a:t>
            </a:fld>
            <a:endParaRPr/>
          </a:p>
        </p:txBody>
      </p:sp>
      <p:sp>
        <p:nvSpPr>
          <p:cNvPr id="9" name="Google Shape;9;p1"/>
          <p:cNvSpPr txBox="1"/>
          <p:nvPr/>
        </p:nvSpPr>
        <p:spPr>
          <a:xfrm>
            <a:off x="558425" y="4834400"/>
            <a:ext cx="8031300" cy="338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it" sz="1000">
                <a:solidFill>
                  <a:schemeClr val="dk1"/>
                </a:solidFill>
              </a:rPr>
              <a:t>DANIELE MAZZEI - </a:t>
            </a:r>
            <a:r>
              <a:rPr lang="it" sz="1000"/>
              <a:t>IUM</a:t>
            </a:r>
            <a:r>
              <a:rPr lang="it" sz="1000"/>
              <a:t> 24-25</a:t>
            </a:r>
            <a:r>
              <a:rPr lang="it"/>
              <a:t> </a:t>
            </a:r>
            <a:r>
              <a:rPr lang="it" sz="700"/>
              <a:t>(</a:t>
            </a:r>
            <a:r>
              <a:rPr lang="it" sz="700"/>
              <a:t>all rights reserved)</a:t>
            </a:r>
            <a:endParaRPr sz="700"/>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hyperlink" Target="https://www.youtube.com/playlist?list=PLAwxTw4SYaPlr4Uq3RoYuwlDADp0WQdGl"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hyperlink" Target="https://www.youtube.com/watch?v=LTE-v4RzRHs&amp;list=PLJOFJ3Ok_idv_6hQGNt23xVXuQwKFmfxG&amp;index=8&amp;ab_channel=NNgroup"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2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hyperlink" Target="https://www.youtube.com/watch?v=NK1Zb_5VxuM&amp;ab_channel=Interaction-Design.org" TargetMode="External"/><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9.png"/><Relationship Id="rId4" Type="http://schemas.openxmlformats.org/officeDocument/2006/relationships/image" Target="../media/image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hyperlink" Target="https://www.youtube.com/watch?v=UtulTXJLGOI&amp;ab_channel=LeahGreis"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1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1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11.png"/><Relationship Id="rId4" Type="http://schemas.openxmlformats.org/officeDocument/2006/relationships/image" Target="../media/image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10.png"/><Relationship Id="rId4" Type="http://schemas.openxmlformats.org/officeDocument/2006/relationships/image" Target="../media/image8.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1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23.png"/><Relationship Id="rId4" Type="http://schemas.openxmlformats.org/officeDocument/2006/relationships/hyperlink" Target="https://www.slideshare.net/cxpartners/psychology-for-designers-or-3-predictions-from-psychology-for-the-future-of-web-design-by-mrjoe/27-mrjoe51015_2025mental_model30This_is_the"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20.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18.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image" Target="../media/image22.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image" Target="../media/image17.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hyperlink" Target="https://www.youtube.com/watch?v=shSCUNxtn18&amp;ab_channel=LeahGreis" TargetMode="Externa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 Id="rId3" Type="http://schemas.openxmlformats.org/officeDocument/2006/relationships/hyperlink" Target="https://www.vimar.com/it/it/cronotermostato-touch-screen-wi-fi-da-parete-02911-video-guida-a-11721152.html" TargetMode="External"/><Relationship Id="rId4" Type="http://schemas.openxmlformats.org/officeDocument/2006/relationships/hyperlink" Target="https://www.youtube.com/watch?v=dHKD-9uI24I" TargetMode="External"/><Relationship Id="rId5" Type="http://schemas.openxmlformats.org/officeDocument/2006/relationships/hyperlink" Target="https://www.youtube.com/watch?v=5yJOyKr4GBA" TargetMode="Externa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 Id="rId3" Type="http://schemas.openxmlformats.org/officeDocument/2006/relationships/hyperlink" Target="https://uxdesign.cc/introducing-mercury-os-f4de45a04289"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 name="Shape 54"/>
        <p:cNvGrpSpPr/>
        <p:nvPr/>
      </p:nvGrpSpPr>
      <p:grpSpPr>
        <a:xfrm>
          <a:off x="0" y="0"/>
          <a:ext cx="0" cy="0"/>
          <a:chOff x="0" y="0"/>
          <a:chExt cx="0" cy="0"/>
        </a:xfrm>
      </p:grpSpPr>
      <p:sp>
        <p:nvSpPr>
          <p:cNvPr id="55" name="Google Shape;55;p1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it"/>
              <a:t>Fundamental</a:t>
            </a:r>
            <a:r>
              <a:rPr lang="it"/>
              <a:t> principles of interaction</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Life is made of experiences</a:t>
            </a:r>
            <a:endParaRPr/>
          </a:p>
        </p:txBody>
      </p:sp>
      <p:sp>
        <p:nvSpPr>
          <p:cNvPr id="61" name="Google Shape;61;p14"/>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Great designers produce pleasurable </a:t>
            </a:r>
            <a:r>
              <a:rPr b="1" lang="it"/>
              <a:t>experiences</a:t>
            </a:r>
            <a:r>
              <a:rPr lang="it"/>
              <a:t>. Engineers tend not to like it; it is too subjective. But…</a:t>
            </a:r>
            <a:endParaRPr/>
          </a:p>
          <a:p>
            <a:pPr indent="0" lvl="0" marL="0" rtl="0" algn="l">
              <a:spcBef>
                <a:spcPts val="1600"/>
              </a:spcBef>
              <a:spcAft>
                <a:spcPts val="0"/>
              </a:spcAft>
              <a:buClr>
                <a:schemeClr val="dk1"/>
              </a:buClr>
              <a:buSzPts val="1100"/>
              <a:buFont typeface="Arial"/>
              <a:buNone/>
            </a:pPr>
            <a:r>
              <a:rPr i="1" lang="it"/>
              <a:t>“when I ask them about their favorite automobile or test equipment, they will smile delightedly as they discuss the fit and finish, the sensation of power during acceleration, their ease of control while shifting or steering, or the wonderful feel of the knobs and switches on the instrument.”</a:t>
            </a:r>
            <a:r>
              <a:rPr lang="it"/>
              <a:t> </a:t>
            </a:r>
            <a:r>
              <a:rPr b="1" lang="it"/>
              <a:t>Those are experiences! (D. Norman)</a:t>
            </a:r>
            <a:endParaRPr b="1"/>
          </a:p>
          <a:p>
            <a:pPr indent="0" lvl="0" marL="0" rtl="0" algn="l">
              <a:spcBef>
                <a:spcPts val="1600"/>
              </a:spcBef>
              <a:spcAft>
                <a:spcPts val="1600"/>
              </a:spcAft>
              <a:buNone/>
            </a:pPr>
            <a:r>
              <a:rPr lang="it"/>
              <a:t>Experience is critical, for it determines </a:t>
            </a:r>
            <a:r>
              <a:rPr b="1" lang="it"/>
              <a:t>how fondly people remember their interactions</a:t>
            </a:r>
            <a:r>
              <a:rPr lang="it"/>
              <a:t>. Was the overall experience positive, or was it frustrating and confusing?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15"/>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Donald Norman video course playlist </a:t>
            </a:r>
            <a:r>
              <a:rPr lang="it" u="sng">
                <a:solidFill>
                  <a:schemeClr val="hlink"/>
                </a:solidFill>
                <a:hlinkClick r:id="rId3"/>
              </a:rPr>
              <a:t>https://www.youtube.com/playlist?list=PLAwxTw4SYaPlr4Uq3RoYuwlDADp0WQdGl</a:t>
            </a:r>
            <a:endParaRPr/>
          </a:p>
          <a:p>
            <a:pPr indent="0" lvl="0" marL="0" rtl="0" algn="l">
              <a:spcBef>
                <a:spcPts val="1600"/>
              </a:spcBef>
              <a:spcAft>
                <a:spcPts val="160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Cognition and emotion</a:t>
            </a:r>
            <a:endParaRPr/>
          </a:p>
        </p:txBody>
      </p:sp>
      <p:sp>
        <p:nvSpPr>
          <p:cNvPr id="73" name="Google Shape;73;p16"/>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When our home technology behaves in an uninterpretable fashion we can become confused, frustrated, and even angry—</a:t>
            </a:r>
            <a:r>
              <a:rPr b="1" lang="it"/>
              <a:t>all strong negative emotions.</a:t>
            </a:r>
            <a:r>
              <a:rPr lang="it"/>
              <a:t> </a:t>
            </a:r>
            <a:endParaRPr/>
          </a:p>
          <a:p>
            <a:pPr indent="0" lvl="0" marL="0" rtl="0" algn="l">
              <a:spcBef>
                <a:spcPts val="1600"/>
              </a:spcBef>
              <a:spcAft>
                <a:spcPts val="0"/>
              </a:spcAft>
              <a:buClr>
                <a:schemeClr val="dk1"/>
              </a:buClr>
              <a:buSzPts val="1100"/>
              <a:buFont typeface="Arial"/>
              <a:buNone/>
            </a:pPr>
            <a:r>
              <a:rPr lang="it"/>
              <a:t>When there is understanding it can lead to a feeling of control, of mastery, and of satisfaction or even pride — </a:t>
            </a:r>
            <a:r>
              <a:rPr b="1" lang="it"/>
              <a:t>all strong positive emotions. </a:t>
            </a:r>
            <a:endParaRPr b="1"/>
          </a:p>
          <a:p>
            <a:pPr indent="0" lvl="0" marL="0" rtl="0" algn="l">
              <a:spcBef>
                <a:spcPts val="1600"/>
              </a:spcBef>
              <a:spcAft>
                <a:spcPts val="0"/>
              </a:spcAft>
              <a:buClr>
                <a:schemeClr val="dk1"/>
              </a:buClr>
              <a:buSzPts val="1100"/>
              <a:buFont typeface="Arial"/>
              <a:buNone/>
            </a:pPr>
            <a:r>
              <a:rPr lang="it"/>
              <a:t>Cognition and emotion are tightly intertwined, which means that the designers must design with both in mind.</a:t>
            </a:r>
            <a:endParaRPr/>
          </a:p>
          <a:p>
            <a:pPr indent="0" lvl="0" marL="0" rtl="0" algn="l">
              <a:spcBef>
                <a:spcPts val="1600"/>
              </a:spcBef>
              <a:spcAft>
                <a:spcPts val="0"/>
              </a:spcAft>
              <a:buClr>
                <a:schemeClr val="dk1"/>
              </a:buClr>
              <a:buSzPts val="1100"/>
              <a:buFont typeface="Arial"/>
              <a:buNone/>
            </a:pPr>
            <a:r>
              <a:rPr lang="it" u="sng">
                <a:solidFill>
                  <a:schemeClr val="hlink"/>
                </a:solidFill>
                <a:hlinkClick r:id="rId3"/>
              </a:rPr>
              <a:t>https://www.youtube.com/watch?v=LTE-v4RzRHs&amp;list=PLJOFJ3Ok_idv_6hQGNt23xVXuQwKFmfxG&amp;index=8&amp;ab_channel=NNgroup</a:t>
            </a:r>
            <a:r>
              <a:rPr lang="it"/>
              <a:t> </a:t>
            </a:r>
            <a:endParaRPr/>
          </a:p>
          <a:p>
            <a:pPr indent="0" lvl="0" marL="0" rtl="0" algn="l">
              <a:spcBef>
                <a:spcPts val="1600"/>
              </a:spcBef>
              <a:spcAft>
                <a:spcPts val="160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7"/>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Discoverability </a:t>
            </a:r>
            <a:endParaRPr/>
          </a:p>
        </p:txBody>
      </p:sp>
      <p:sp>
        <p:nvSpPr>
          <p:cNvPr id="79" name="Google Shape;79;p17"/>
          <p:cNvSpPr txBox="1"/>
          <p:nvPr>
            <p:ph idx="1" type="body"/>
          </p:nvPr>
        </p:nvSpPr>
        <p:spPr>
          <a:xfrm>
            <a:off x="311700" y="619075"/>
            <a:ext cx="8520600" cy="424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When we interact with a product, </a:t>
            </a:r>
            <a:r>
              <a:rPr b="1" lang="it"/>
              <a:t>we need to figure out how to work it.</a:t>
            </a:r>
            <a:r>
              <a:rPr lang="it"/>
              <a:t> This means </a:t>
            </a:r>
            <a:r>
              <a:rPr b="1" lang="it"/>
              <a:t>discovering </a:t>
            </a:r>
            <a:r>
              <a:rPr lang="it"/>
              <a:t>what it does, how it works, and what operations are possible.</a:t>
            </a:r>
            <a:endParaRPr/>
          </a:p>
          <a:p>
            <a:pPr indent="0" lvl="0" marL="0" rtl="0" algn="l">
              <a:spcBef>
                <a:spcPts val="1600"/>
              </a:spcBef>
              <a:spcAft>
                <a:spcPts val="0"/>
              </a:spcAft>
              <a:buClr>
                <a:schemeClr val="dk1"/>
              </a:buClr>
              <a:buSzPts val="1100"/>
              <a:buFont typeface="Arial"/>
              <a:buNone/>
            </a:pPr>
            <a:r>
              <a:rPr lang="it"/>
              <a:t>Discoverability results from appropriate application of 6</a:t>
            </a:r>
            <a:r>
              <a:rPr b="1" lang="it"/>
              <a:t> fundamental psychological principles: </a:t>
            </a:r>
            <a:endParaRPr b="1"/>
          </a:p>
          <a:p>
            <a:pPr indent="-342900" lvl="0" marL="457200" rtl="0" algn="l">
              <a:spcBef>
                <a:spcPts val="1600"/>
              </a:spcBef>
              <a:spcAft>
                <a:spcPts val="0"/>
              </a:spcAft>
              <a:buSzPts val="1800"/>
              <a:buChar char="●"/>
            </a:pPr>
            <a:r>
              <a:rPr b="1" lang="it"/>
              <a:t>affordances</a:t>
            </a:r>
            <a:endParaRPr b="1"/>
          </a:p>
          <a:p>
            <a:pPr indent="-342900" lvl="0" marL="457200" rtl="0" algn="l">
              <a:spcBef>
                <a:spcPts val="0"/>
              </a:spcBef>
              <a:spcAft>
                <a:spcPts val="0"/>
              </a:spcAft>
              <a:buSzPts val="1800"/>
              <a:buChar char="●"/>
            </a:pPr>
            <a:r>
              <a:rPr b="1" lang="it"/>
              <a:t>signifiers</a:t>
            </a:r>
            <a:endParaRPr b="1"/>
          </a:p>
          <a:p>
            <a:pPr indent="-342900" lvl="0" marL="457200" rtl="0" algn="l">
              <a:spcBef>
                <a:spcPts val="0"/>
              </a:spcBef>
              <a:spcAft>
                <a:spcPts val="0"/>
              </a:spcAft>
              <a:buSzPts val="1800"/>
              <a:buChar char="●"/>
            </a:pPr>
            <a:r>
              <a:rPr b="1" lang="it"/>
              <a:t>constraints</a:t>
            </a:r>
            <a:endParaRPr b="1"/>
          </a:p>
          <a:p>
            <a:pPr indent="-342900" lvl="0" marL="457200" rtl="0" algn="l">
              <a:spcBef>
                <a:spcPts val="0"/>
              </a:spcBef>
              <a:spcAft>
                <a:spcPts val="0"/>
              </a:spcAft>
              <a:buSzPts val="1800"/>
              <a:buChar char="●"/>
            </a:pPr>
            <a:r>
              <a:rPr b="1" lang="it"/>
              <a:t>mappings</a:t>
            </a:r>
            <a:endParaRPr b="1"/>
          </a:p>
          <a:p>
            <a:pPr indent="-342900" lvl="0" marL="457200" rtl="0" algn="l">
              <a:spcBef>
                <a:spcPts val="0"/>
              </a:spcBef>
              <a:spcAft>
                <a:spcPts val="0"/>
              </a:spcAft>
              <a:buSzPts val="1800"/>
              <a:buChar char="●"/>
            </a:pPr>
            <a:r>
              <a:rPr b="1" lang="it"/>
              <a:t>feedback </a:t>
            </a:r>
            <a:endParaRPr b="1"/>
          </a:p>
          <a:p>
            <a:pPr indent="-342900" lvl="0" marL="457200" rtl="0" algn="l">
              <a:spcBef>
                <a:spcPts val="0"/>
              </a:spcBef>
              <a:spcAft>
                <a:spcPts val="0"/>
              </a:spcAft>
              <a:buSzPts val="1800"/>
              <a:buChar char="●"/>
            </a:pPr>
            <a:r>
              <a:rPr b="1" lang="it"/>
              <a:t>conceptual model of the system</a:t>
            </a:r>
            <a:endParaRPr/>
          </a:p>
          <a:p>
            <a:pPr indent="0" lvl="0" marL="0" rtl="0" algn="l">
              <a:spcBef>
                <a:spcPts val="1600"/>
              </a:spcBef>
              <a:spcAft>
                <a:spcPts val="0"/>
              </a:spcAft>
              <a:buClr>
                <a:schemeClr val="dk1"/>
              </a:buClr>
              <a:buSzPts val="1100"/>
              <a:buFont typeface="Arial"/>
              <a:buNone/>
            </a:pPr>
            <a:r>
              <a:t/>
            </a:r>
            <a:endParaRPr/>
          </a:p>
          <a:p>
            <a:pPr indent="0" lvl="0" marL="0" rtl="0" algn="l">
              <a:spcBef>
                <a:spcPts val="1600"/>
              </a:spcBef>
              <a:spcAft>
                <a:spcPts val="0"/>
              </a:spcAft>
              <a:buClr>
                <a:schemeClr val="dk1"/>
              </a:buClr>
              <a:buSzPts val="1100"/>
              <a:buFont typeface="Arial"/>
              <a:buNone/>
            </a:pPr>
            <a:r>
              <a:t/>
            </a:r>
            <a:endParaRPr/>
          </a:p>
          <a:p>
            <a:pPr indent="0" lvl="0" marL="0" rtl="0" algn="l">
              <a:spcBef>
                <a:spcPts val="1600"/>
              </a:spcBef>
              <a:spcAft>
                <a:spcPts val="160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8"/>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it"/>
              <a:t>AFFORDANCES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9"/>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Affordances</a:t>
            </a:r>
            <a:endParaRPr/>
          </a:p>
        </p:txBody>
      </p:sp>
      <p:sp>
        <p:nvSpPr>
          <p:cNvPr id="90" name="Google Shape;90;p19"/>
          <p:cNvSpPr txBox="1"/>
          <p:nvPr>
            <p:ph idx="1" type="body"/>
          </p:nvPr>
        </p:nvSpPr>
        <p:spPr>
          <a:xfrm>
            <a:off x="311700" y="752850"/>
            <a:ext cx="87783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The term </a:t>
            </a:r>
            <a:r>
              <a:rPr b="1" lang="it"/>
              <a:t>affordance </a:t>
            </a:r>
            <a:r>
              <a:rPr lang="it"/>
              <a:t>refers to </a:t>
            </a:r>
            <a:r>
              <a:rPr b="1" lang="it"/>
              <a:t>the relationship</a:t>
            </a:r>
            <a:r>
              <a:rPr lang="it"/>
              <a:t> between a physical object and a person. </a:t>
            </a:r>
            <a:endParaRPr/>
          </a:p>
          <a:p>
            <a:pPr indent="0" lvl="0" marL="0" rtl="0" algn="l">
              <a:spcBef>
                <a:spcPts val="1600"/>
              </a:spcBef>
              <a:spcAft>
                <a:spcPts val="0"/>
              </a:spcAft>
              <a:buNone/>
            </a:pPr>
            <a:r>
              <a:rPr b="1" lang="it"/>
              <a:t>An affordance is a relationship between the properties of an object and the capabilities of the agent that determine just how the object could possibly be used.</a:t>
            </a:r>
            <a:r>
              <a:rPr lang="it"/>
              <a:t> </a:t>
            </a:r>
            <a:endParaRPr/>
          </a:p>
          <a:p>
            <a:pPr indent="0" lvl="0" marL="0" rtl="0" algn="l">
              <a:spcBef>
                <a:spcPts val="1600"/>
              </a:spcBef>
              <a:spcAft>
                <a:spcPts val="0"/>
              </a:spcAft>
              <a:buNone/>
            </a:pPr>
            <a:r>
              <a:rPr lang="it"/>
              <a:t>A chair affords (“is for”) support and, therefore, affords sitting. </a:t>
            </a:r>
            <a:endParaRPr/>
          </a:p>
          <a:p>
            <a:pPr indent="0" lvl="0" marL="0" rtl="0" algn="l">
              <a:spcBef>
                <a:spcPts val="1600"/>
              </a:spcBef>
              <a:spcAft>
                <a:spcPts val="1600"/>
              </a:spcAft>
              <a:buNone/>
            </a:pPr>
            <a:r>
              <a:t/>
            </a:r>
            <a:endParaRPr/>
          </a:p>
        </p:txBody>
      </p:sp>
      <p:pic>
        <p:nvPicPr>
          <p:cNvPr id="91" name="Google Shape;91;p19"/>
          <p:cNvPicPr preferRelativeResize="0"/>
          <p:nvPr/>
        </p:nvPicPr>
        <p:blipFill>
          <a:blip r:embed="rId3">
            <a:alphaModFix/>
          </a:blip>
          <a:stretch>
            <a:fillRect/>
          </a:stretch>
        </p:blipFill>
        <p:spPr>
          <a:xfrm>
            <a:off x="2225401" y="3161376"/>
            <a:ext cx="4693200" cy="17971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20"/>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Affordances are relationships</a:t>
            </a:r>
            <a:endParaRPr/>
          </a:p>
          <a:p>
            <a:pPr indent="0" lvl="0" marL="0" rtl="0" algn="l">
              <a:spcBef>
                <a:spcPts val="0"/>
              </a:spcBef>
              <a:spcAft>
                <a:spcPts val="0"/>
              </a:spcAft>
              <a:buClr>
                <a:schemeClr val="dk1"/>
              </a:buClr>
              <a:buSzPts val="1100"/>
              <a:buFont typeface="Arial"/>
              <a:buNone/>
            </a:pPr>
            <a:r>
              <a:t/>
            </a:r>
            <a:endParaRPr/>
          </a:p>
        </p:txBody>
      </p:sp>
      <p:sp>
        <p:nvSpPr>
          <p:cNvPr id="97" name="Google Shape;97;p20"/>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We are used to thinking that properties are associated with objects. </a:t>
            </a:r>
            <a:endParaRPr/>
          </a:p>
          <a:p>
            <a:pPr indent="0" lvl="0" marL="0" rtl="0" algn="l">
              <a:spcBef>
                <a:spcPts val="1600"/>
              </a:spcBef>
              <a:spcAft>
                <a:spcPts val="0"/>
              </a:spcAft>
              <a:buClr>
                <a:schemeClr val="dk1"/>
              </a:buClr>
              <a:buSzPts val="1100"/>
              <a:buFont typeface="Arial"/>
              <a:buNone/>
            </a:pPr>
            <a:r>
              <a:rPr lang="it"/>
              <a:t>But </a:t>
            </a:r>
            <a:r>
              <a:rPr b="1" lang="it"/>
              <a:t>affordance is not a property. </a:t>
            </a:r>
            <a:endParaRPr b="1"/>
          </a:p>
          <a:p>
            <a:pPr indent="0" lvl="0" marL="0" rtl="0" algn="l">
              <a:spcBef>
                <a:spcPts val="1600"/>
              </a:spcBef>
              <a:spcAft>
                <a:spcPts val="0"/>
              </a:spcAft>
              <a:buClr>
                <a:schemeClr val="dk1"/>
              </a:buClr>
              <a:buSzPts val="1100"/>
              <a:buFont typeface="Arial"/>
              <a:buNone/>
            </a:pPr>
            <a:r>
              <a:rPr lang="it"/>
              <a:t>An </a:t>
            </a:r>
            <a:r>
              <a:rPr b="1" lang="it"/>
              <a:t>affordance is a relationship.</a:t>
            </a:r>
            <a:r>
              <a:rPr lang="it"/>
              <a:t> </a:t>
            </a:r>
            <a:endParaRPr/>
          </a:p>
          <a:p>
            <a:pPr indent="0" lvl="0" marL="0" rtl="0" algn="l">
              <a:spcBef>
                <a:spcPts val="1600"/>
              </a:spcBef>
              <a:spcAft>
                <a:spcPts val="0"/>
              </a:spcAft>
              <a:buClr>
                <a:schemeClr val="dk1"/>
              </a:buClr>
              <a:buSzPts val="1100"/>
              <a:buFont typeface="Arial"/>
              <a:buNone/>
            </a:pPr>
            <a:r>
              <a:rPr lang="it"/>
              <a:t>Whether an affordance exists depends upon the properties of both the object and the agent.</a:t>
            </a:r>
            <a:endParaRPr/>
          </a:p>
          <a:p>
            <a:pPr indent="0" lvl="0" marL="0" rtl="0" algn="l">
              <a:spcBef>
                <a:spcPts val="1600"/>
              </a:spcBef>
              <a:spcAft>
                <a:spcPts val="160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21"/>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Affordances are relationships</a:t>
            </a:r>
            <a:endParaRPr/>
          </a:p>
        </p:txBody>
      </p:sp>
      <p:sp>
        <p:nvSpPr>
          <p:cNvPr id="103" name="Google Shape;103;p21"/>
          <p:cNvSpPr txBox="1"/>
          <p:nvPr>
            <p:ph idx="1" type="body"/>
          </p:nvPr>
        </p:nvSpPr>
        <p:spPr>
          <a:xfrm>
            <a:off x="311700" y="1152475"/>
            <a:ext cx="51024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Most chairs can also be carried by a single person (they afford lifting), but some can only be lifted by a strong person. </a:t>
            </a:r>
            <a:br>
              <a:rPr lang="it"/>
            </a:br>
            <a:r>
              <a:rPr lang="it"/>
              <a:t>If young or relatively weak people cannot lift a chair, then for these people, the chair does not have that affordance, it does not afford lifting.</a:t>
            </a:r>
            <a:endParaRPr/>
          </a:p>
          <a:p>
            <a:pPr indent="0" lvl="0" marL="0" rtl="0" algn="l">
              <a:spcBef>
                <a:spcPts val="1600"/>
              </a:spcBef>
              <a:spcAft>
                <a:spcPts val="0"/>
              </a:spcAft>
              <a:buClr>
                <a:schemeClr val="dk1"/>
              </a:buClr>
              <a:buSzPts val="1100"/>
              <a:buFont typeface="Arial"/>
              <a:buNone/>
            </a:pPr>
            <a:r>
              <a:t/>
            </a:r>
            <a:endParaRPr/>
          </a:p>
          <a:p>
            <a:pPr indent="0" lvl="0" marL="0" rtl="0" algn="l">
              <a:spcBef>
                <a:spcPts val="1600"/>
              </a:spcBef>
              <a:spcAft>
                <a:spcPts val="1600"/>
              </a:spcAft>
              <a:buNone/>
            </a:pPr>
            <a:r>
              <a:rPr lang="it" u="sng">
                <a:solidFill>
                  <a:schemeClr val="hlink"/>
                </a:solidFill>
                <a:hlinkClick r:id="rId3"/>
              </a:rPr>
              <a:t>https://www.youtube.com/watch?v=NK1Zb_5VxuM&amp;ab_channel=Interaction-Design.org</a:t>
            </a:r>
            <a:r>
              <a:rPr lang="it"/>
              <a:t> </a:t>
            </a:r>
            <a:endParaRPr/>
          </a:p>
        </p:txBody>
      </p:sp>
      <p:pic>
        <p:nvPicPr>
          <p:cNvPr id="104" name="Google Shape;104;p21"/>
          <p:cNvPicPr preferRelativeResize="0"/>
          <p:nvPr/>
        </p:nvPicPr>
        <p:blipFill rotWithShape="1">
          <a:blip r:embed="rId4">
            <a:alphaModFix/>
          </a:blip>
          <a:srcRect b="23989" l="18041" r="33222" t="0"/>
          <a:stretch/>
        </p:blipFill>
        <p:spPr>
          <a:xfrm>
            <a:off x="6202450" y="1598688"/>
            <a:ext cx="2818574" cy="25239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22"/>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Anti-affordance</a:t>
            </a:r>
            <a:endParaRPr/>
          </a:p>
        </p:txBody>
      </p:sp>
      <p:sp>
        <p:nvSpPr>
          <p:cNvPr id="110" name="Google Shape;110;p22"/>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anti-affordance -&gt; the prevention of interaction. </a:t>
            </a:r>
            <a:endParaRPr/>
          </a:p>
          <a:p>
            <a:pPr indent="0" lvl="0" marL="0" rtl="0" algn="l">
              <a:spcBef>
                <a:spcPts val="1600"/>
              </a:spcBef>
              <a:spcAft>
                <a:spcPts val="1600"/>
              </a:spcAft>
              <a:buNone/>
            </a:pPr>
            <a:r>
              <a:t/>
            </a:r>
            <a:endParaRPr/>
          </a:p>
        </p:txBody>
      </p:sp>
      <p:pic>
        <p:nvPicPr>
          <p:cNvPr id="111" name="Google Shape;111;p22"/>
          <p:cNvPicPr preferRelativeResize="0"/>
          <p:nvPr/>
        </p:nvPicPr>
        <p:blipFill>
          <a:blip r:embed="rId3">
            <a:alphaModFix/>
          </a:blip>
          <a:stretch>
            <a:fillRect/>
          </a:stretch>
        </p:blipFill>
        <p:spPr>
          <a:xfrm>
            <a:off x="4572009" y="2090234"/>
            <a:ext cx="4588275" cy="30532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23"/>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Affordances</a:t>
            </a:r>
            <a:endParaRPr/>
          </a:p>
        </p:txBody>
      </p:sp>
      <p:sp>
        <p:nvSpPr>
          <p:cNvPr id="117" name="Google Shape;117;p23"/>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To be effective, affordances and anti-affordances have to be: </a:t>
            </a:r>
            <a:r>
              <a:rPr b="1" lang="it"/>
              <a:t>discoverable and perceivable</a:t>
            </a:r>
            <a:r>
              <a:rPr lang="it"/>
              <a:t>. </a:t>
            </a:r>
            <a:endParaRPr/>
          </a:p>
          <a:p>
            <a:pPr indent="0" lvl="0" marL="0" rtl="0" algn="l">
              <a:spcBef>
                <a:spcPts val="1600"/>
              </a:spcBef>
              <a:spcAft>
                <a:spcPts val="0"/>
              </a:spcAft>
              <a:buClr>
                <a:schemeClr val="dk1"/>
              </a:buClr>
              <a:buSzPts val="1100"/>
              <a:buFont typeface="Arial"/>
              <a:buNone/>
            </a:pPr>
            <a:r>
              <a:rPr lang="it"/>
              <a:t>This poses a difficulty with glass. The reason we like glass is its relative invisibility, but this aspect, so useful in the normal window, also hides its anti-affordance property of blocking passage. </a:t>
            </a:r>
            <a:endParaRPr/>
          </a:p>
          <a:p>
            <a:pPr indent="0" lvl="0" marL="0" rtl="0" algn="l">
              <a:spcBef>
                <a:spcPts val="1600"/>
              </a:spcBef>
              <a:spcAft>
                <a:spcPts val="0"/>
              </a:spcAft>
              <a:buClr>
                <a:schemeClr val="dk1"/>
              </a:buClr>
              <a:buSzPts val="1100"/>
              <a:buFont typeface="Arial"/>
              <a:buNone/>
            </a:pPr>
            <a:r>
              <a:rPr lang="it"/>
              <a:t>As a result, birds often try to fly through windows.</a:t>
            </a:r>
            <a:endParaRPr/>
          </a:p>
          <a:p>
            <a:pPr indent="0" lvl="0" marL="0" rtl="0" algn="l">
              <a:spcBef>
                <a:spcPts val="1600"/>
              </a:spcBef>
              <a:spcAft>
                <a:spcPts val="160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24"/>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it"/>
              <a:t>SIGNIFIERS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25"/>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Signifiers</a:t>
            </a:r>
            <a:endParaRPr/>
          </a:p>
        </p:txBody>
      </p:sp>
      <p:sp>
        <p:nvSpPr>
          <p:cNvPr id="128" name="Google Shape;128;p25"/>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Designers have practical problems. </a:t>
            </a:r>
            <a:endParaRPr/>
          </a:p>
          <a:p>
            <a:pPr indent="0" lvl="0" marL="0" rtl="0" algn="l">
              <a:spcBef>
                <a:spcPts val="1600"/>
              </a:spcBef>
              <a:spcAft>
                <a:spcPts val="0"/>
              </a:spcAft>
              <a:buClr>
                <a:schemeClr val="dk1"/>
              </a:buClr>
              <a:buSzPts val="1100"/>
              <a:buFont typeface="Arial"/>
              <a:buNone/>
            </a:pPr>
            <a:r>
              <a:rPr lang="it"/>
              <a:t>They need to know how to design things to make them understandable. </a:t>
            </a:r>
            <a:endParaRPr/>
          </a:p>
          <a:p>
            <a:pPr indent="0" lvl="0" marL="0" rtl="0" algn="l">
              <a:spcBef>
                <a:spcPts val="1600"/>
              </a:spcBef>
              <a:spcAft>
                <a:spcPts val="0"/>
              </a:spcAft>
              <a:buClr>
                <a:schemeClr val="dk1"/>
              </a:buClr>
              <a:buSzPts val="1100"/>
              <a:buFont typeface="Arial"/>
              <a:buNone/>
            </a:pPr>
            <a:r>
              <a:rPr lang="it"/>
              <a:t>They soon discovered that when working with the graphical designs for electronic displays, they needed a way to designate which parts could be touched, slided upward, downward, or sideways, or tapped upon.</a:t>
            </a:r>
            <a:endParaRPr/>
          </a:p>
          <a:p>
            <a:pPr indent="0" lvl="0" marL="0" rtl="0" algn="l">
              <a:spcBef>
                <a:spcPts val="1600"/>
              </a:spcBef>
              <a:spcAft>
                <a:spcPts val="1600"/>
              </a:spcAft>
              <a:buNone/>
            </a:pPr>
            <a:r>
              <a:t/>
            </a:r>
            <a:endParaRPr/>
          </a:p>
        </p:txBody>
      </p:sp>
      <p:pic>
        <p:nvPicPr>
          <p:cNvPr id="129" name="Google Shape;129;p25"/>
          <p:cNvPicPr preferRelativeResize="0"/>
          <p:nvPr/>
        </p:nvPicPr>
        <p:blipFill>
          <a:blip r:embed="rId3">
            <a:alphaModFix/>
          </a:blip>
          <a:stretch>
            <a:fillRect/>
          </a:stretch>
        </p:blipFill>
        <p:spPr>
          <a:xfrm>
            <a:off x="5446925" y="2724325"/>
            <a:ext cx="3697075" cy="20788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6"/>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Signifiers</a:t>
            </a:r>
            <a:endParaRPr/>
          </a:p>
        </p:txBody>
      </p:sp>
      <p:sp>
        <p:nvSpPr>
          <p:cNvPr id="135" name="Google Shape;135;p26"/>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How could designers describe what they were doing? </a:t>
            </a:r>
            <a:endParaRPr/>
          </a:p>
          <a:p>
            <a:pPr indent="0" lvl="0" marL="0" rtl="0" algn="l">
              <a:spcBef>
                <a:spcPts val="1600"/>
              </a:spcBef>
              <a:spcAft>
                <a:spcPts val="0"/>
              </a:spcAft>
              <a:buNone/>
            </a:pPr>
            <a:r>
              <a:rPr lang="it"/>
              <a:t>There was no word that fit, so they took the closest existing word: </a:t>
            </a:r>
            <a:r>
              <a:rPr b="1" lang="it"/>
              <a:t>affordance</a:t>
            </a:r>
            <a:r>
              <a:rPr lang="it"/>
              <a:t>. </a:t>
            </a:r>
            <a:endParaRPr/>
          </a:p>
          <a:p>
            <a:pPr indent="0" lvl="0" marL="0" rtl="0" algn="l">
              <a:spcBef>
                <a:spcPts val="1600"/>
              </a:spcBef>
              <a:spcAft>
                <a:spcPts val="0"/>
              </a:spcAft>
              <a:buNone/>
            </a:pPr>
            <a:r>
              <a:rPr i="1" lang="it"/>
              <a:t>“I put an affordance there”</a:t>
            </a:r>
            <a:r>
              <a:rPr lang="it"/>
              <a:t> to describe why they displayed a circle on a screen to indicate where the person should touch, whether by mouse or by finger. </a:t>
            </a:r>
            <a:endParaRPr/>
          </a:p>
          <a:p>
            <a:pPr indent="0" lvl="0" marL="0" rtl="0" algn="l">
              <a:spcBef>
                <a:spcPts val="1600"/>
              </a:spcBef>
              <a:spcAft>
                <a:spcPts val="0"/>
              </a:spcAft>
              <a:buClr>
                <a:schemeClr val="dk1"/>
              </a:buClr>
              <a:buSzPts val="1100"/>
              <a:buFont typeface="Arial"/>
              <a:buNone/>
            </a:pPr>
            <a:r>
              <a:rPr b="1" lang="it"/>
              <a:t>NO </a:t>
            </a:r>
            <a:r>
              <a:rPr lang="it"/>
              <a:t>-&gt; that is not an affordance! That is a way of communicating where the touch should be. </a:t>
            </a:r>
            <a:endParaRPr/>
          </a:p>
          <a:p>
            <a:pPr indent="0" lvl="0" marL="0" rtl="0" algn="l">
              <a:spcBef>
                <a:spcPts val="1600"/>
              </a:spcBef>
              <a:spcAft>
                <a:spcPts val="0"/>
              </a:spcAft>
              <a:buClr>
                <a:schemeClr val="dk1"/>
              </a:buClr>
              <a:buSzPts val="1100"/>
              <a:buFont typeface="Arial"/>
              <a:buNone/>
            </a:pPr>
            <a:r>
              <a:rPr lang="it"/>
              <a:t>You are communicating </a:t>
            </a:r>
            <a:r>
              <a:rPr b="1" lang="it"/>
              <a:t>where </a:t>
            </a:r>
            <a:r>
              <a:rPr lang="it"/>
              <a:t>to do the touching!</a:t>
            </a:r>
            <a:endParaRPr/>
          </a:p>
          <a:p>
            <a:pPr indent="0" lvl="0" marL="0" rtl="0" algn="l">
              <a:spcBef>
                <a:spcPts val="1600"/>
              </a:spcBef>
              <a:spcAft>
                <a:spcPts val="1600"/>
              </a:spcAft>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7"/>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Signifiers</a:t>
            </a:r>
            <a:endParaRPr/>
          </a:p>
        </p:txBody>
      </p:sp>
      <p:sp>
        <p:nvSpPr>
          <p:cNvPr id="141" name="Google Shape;141;p27"/>
          <p:cNvSpPr txBox="1"/>
          <p:nvPr>
            <p:ph idx="1" type="body"/>
          </p:nvPr>
        </p:nvSpPr>
        <p:spPr>
          <a:xfrm>
            <a:off x="311700" y="1152475"/>
            <a:ext cx="63207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it" u="sng"/>
              <a:t>The </a:t>
            </a:r>
            <a:r>
              <a:rPr b="1" lang="it" u="sng"/>
              <a:t>affordance of touching exists on the entire screen</a:t>
            </a:r>
            <a:r>
              <a:rPr lang="it"/>
              <a:t>: </a:t>
            </a:r>
            <a:endParaRPr/>
          </a:p>
          <a:p>
            <a:pPr indent="0" lvl="0" marL="0" rtl="0" algn="l">
              <a:spcBef>
                <a:spcPts val="1600"/>
              </a:spcBef>
              <a:spcAft>
                <a:spcPts val="0"/>
              </a:spcAft>
              <a:buClr>
                <a:schemeClr val="dk1"/>
              </a:buClr>
              <a:buSzPts val="1100"/>
              <a:buFont typeface="Arial"/>
              <a:buNone/>
            </a:pPr>
            <a:r>
              <a:rPr lang="it"/>
              <a:t>That’s not the same thing as saying </a:t>
            </a:r>
            <a:r>
              <a:rPr b="1" lang="it"/>
              <a:t>what </a:t>
            </a:r>
            <a:r>
              <a:rPr lang="it"/>
              <a:t>action is possible.</a:t>
            </a:r>
            <a:endParaRPr/>
          </a:p>
          <a:p>
            <a:pPr indent="0" lvl="0" marL="0" rtl="0" algn="l">
              <a:spcBef>
                <a:spcPts val="1600"/>
              </a:spcBef>
              <a:spcAft>
                <a:spcPts val="0"/>
              </a:spcAft>
              <a:buNone/>
            </a:pPr>
            <a:r>
              <a:t/>
            </a:r>
            <a:endParaRPr/>
          </a:p>
          <a:p>
            <a:pPr indent="0" lvl="0" marL="0" rtl="0" algn="l">
              <a:spcBef>
                <a:spcPts val="1600"/>
              </a:spcBef>
              <a:spcAft>
                <a:spcPts val="0"/>
              </a:spcAft>
              <a:buNone/>
            </a:pPr>
            <a:r>
              <a:rPr lang="it"/>
              <a:t>Affordances determine </a:t>
            </a:r>
            <a:r>
              <a:rPr b="1" lang="it"/>
              <a:t>what </a:t>
            </a:r>
            <a:r>
              <a:rPr lang="it"/>
              <a:t>actions are possible. </a:t>
            </a:r>
            <a:endParaRPr/>
          </a:p>
          <a:p>
            <a:pPr indent="0" lvl="0" marL="0" rtl="0" algn="l">
              <a:spcBef>
                <a:spcPts val="1600"/>
              </a:spcBef>
              <a:spcAft>
                <a:spcPts val="0"/>
              </a:spcAft>
              <a:buClr>
                <a:schemeClr val="dk1"/>
              </a:buClr>
              <a:buSzPts val="1100"/>
              <a:buFont typeface="Arial"/>
              <a:buNone/>
            </a:pPr>
            <a:r>
              <a:rPr b="1" lang="it" u="sng"/>
              <a:t>Signifiers </a:t>
            </a:r>
            <a:r>
              <a:rPr lang="it" u="sng"/>
              <a:t>communicate </a:t>
            </a:r>
            <a:r>
              <a:rPr b="1" lang="it" u="sng"/>
              <a:t>where </a:t>
            </a:r>
            <a:r>
              <a:rPr lang="it" u="sng"/>
              <a:t>the action should take place.</a:t>
            </a:r>
            <a:endParaRPr u="sng"/>
          </a:p>
          <a:p>
            <a:pPr indent="0" lvl="0" marL="0" rtl="0" algn="l">
              <a:spcBef>
                <a:spcPts val="1600"/>
              </a:spcBef>
              <a:spcAft>
                <a:spcPts val="1600"/>
              </a:spcAft>
              <a:buNone/>
            </a:pPr>
            <a:r>
              <a:t/>
            </a:r>
            <a:endParaRPr/>
          </a:p>
        </p:txBody>
      </p:sp>
      <p:pic>
        <p:nvPicPr>
          <p:cNvPr id="142" name="Google Shape;142;p27"/>
          <p:cNvPicPr preferRelativeResize="0"/>
          <p:nvPr/>
        </p:nvPicPr>
        <p:blipFill>
          <a:blip r:embed="rId3">
            <a:alphaModFix/>
          </a:blip>
          <a:stretch>
            <a:fillRect/>
          </a:stretch>
        </p:blipFill>
        <p:spPr>
          <a:xfrm>
            <a:off x="6832475" y="747900"/>
            <a:ext cx="2152662" cy="3820976"/>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8"/>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Signifiers</a:t>
            </a:r>
            <a:endParaRPr/>
          </a:p>
        </p:txBody>
      </p:sp>
      <p:sp>
        <p:nvSpPr>
          <p:cNvPr id="148" name="Google Shape;148;p28"/>
          <p:cNvSpPr txBox="1"/>
          <p:nvPr>
            <p:ph idx="1" type="body"/>
          </p:nvPr>
        </p:nvSpPr>
        <p:spPr>
          <a:xfrm>
            <a:off x="311700" y="1152475"/>
            <a:ext cx="63207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it" u="sng"/>
              <a:t>The </a:t>
            </a:r>
            <a:r>
              <a:rPr b="1" lang="it" u="sng">
                <a:highlight>
                  <a:srgbClr val="00FF00"/>
                </a:highlight>
              </a:rPr>
              <a:t>affordance </a:t>
            </a:r>
            <a:r>
              <a:rPr b="1" lang="it" u="sng"/>
              <a:t>of touching exists on the entire screen</a:t>
            </a:r>
            <a:r>
              <a:rPr lang="it"/>
              <a:t>: </a:t>
            </a:r>
            <a:endParaRPr/>
          </a:p>
          <a:p>
            <a:pPr indent="0" lvl="0" marL="0" rtl="0" algn="l">
              <a:spcBef>
                <a:spcPts val="1600"/>
              </a:spcBef>
              <a:spcAft>
                <a:spcPts val="0"/>
              </a:spcAft>
              <a:buClr>
                <a:schemeClr val="dk1"/>
              </a:buClr>
              <a:buSzPts val="1100"/>
              <a:buFont typeface="Arial"/>
              <a:buNone/>
            </a:pPr>
            <a:r>
              <a:rPr lang="it"/>
              <a:t>That’s not the same thing as saying </a:t>
            </a:r>
            <a:r>
              <a:rPr b="1" lang="it"/>
              <a:t>what </a:t>
            </a:r>
            <a:r>
              <a:rPr lang="it"/>
              <a:t>action is possible.</a:t>
            </a:r>
            <a:endParaRPr/>
          </a:p>
          <a:p>
            <a:pPr indent="0" lvl="0" marL="0" rtl="0" algn="l">
              <a:spcBef>
                <a:spcPts val="1600"/>
              </a:spcBef>
              <a:spcAft>
                <a:spcPts val="0"/>
              </a:spcAft>
              <a:buNone/>
            </a:pPr>
            <a:r>
              <a:t/>
            </a:r>
            <a:endParaRPr/>
          </a:p>
          <a:p>
            <a:pPr indent="0" lvl="0" marL="0" rtl="0" algn="l">
              <a:spcBef>
                <a:spcPts val="1600"/>
              </a:spcBef>
              <a:spcAft>
                <a:spcPts val="0"/>
              </a:spcAft>
              <a:buNone/>
            </a:pPr>
            <a:r>
              <a:rPr lang="it"/>
              <a:t>Affordances determine </a:t>
            </a:r>
            <a:r>
              <a:rPr b="1" lang="it"/>
              <a:t>what </a:t>
            </a:r>
            <a:r>
              <a:rPr lang="it"/>
              <a:t>actions are possible. </a:t>
            </a:r>
            <a:endParaRPr/>
          </a:p>
          <a:p>
            <a:pPr indent="0" lvl="0" marL="0" rtl="0" algn="l">
              <a:spcBef>
                <a:spcPts val="1600"/>
              </a:spcBef>
              <a:spcAft>
                <a:spcPts val="0"/>
              </a:spcAft>
              <a:buClr>
                <a:schemeClr val="dk1"/>
              </a:buClr>
              <a:buSzPts val="1100"/>
              <a:buFont typeface="Arial"/>
              <a:buNone/>
            </a:pPr>
            <a:r>
              <a:rPr b="1" lang="it" u="sng">
                <a:highlight>
                  <a:srgbClr val="FF0000"/>
                </a:highlight>
              </a:rPr>
              <a:t>Signifiers </a:t>
            </a:r>
            <a:r>
              <a:rPr lang="it" u="sng"/>
              <a:t>communicate </a:t>
            </a:r>
            <a:r>
              <a:rPr b="1" lang="it" u="sng"/>
              <a:t>where </a:t>
            </a:r>
            <a:r>
              <a:rPr lang="it" u="sng"/>
              <a:t>the action should take place.</a:t>
            </a:r>
            <a:endParaRPr u="sng"/>
          </a:p>
          <a:p>
            <a:pPr indent="0" lvl="0" marL="0" rtl="0" algn="l">
              <a:spcBef>
                <a:spcPts val="1600"/>
              </a:spcBef>
              <a:spcAft>
                <a:spcPts val="1600"/>
              </a:spcAft>
              <a:buNone/>
            </a:pPr>
            <a:r>
              <a:t/>
            </a:r>
            <a:endParaRPr/>
          </a:p>
        </p:txBody>
      </p:sp>
      <p:pic>
        <p:nvPicPr>
          <p:cNvPr id="149" name="Google Shape;149;p28"/>
          <p:cNvPicPr preferRelativeResize="0"/>
          <p:nvPr/>
        </p:nvPicPr>
        <p:blipFill>
          <a:blip r:embed="rId3">
            <a:alphaModFix/>
          </a:blip>
          <a:stretch>
            <a:fillRect/>
          </a:stretch>
        </p:blipFill>
        <p:spPr>
          <a:xfrm>
            <a:off x="6832475" y="747900"/>
            <a:ext cx="2152662" cy="3820976"/>
          </a:xfrm>
          <a:prstGeom prst="rect">
            <a:avLst/>
          </a:prstGeom>
          <a:noFill/>
          <a:ln>
            <a:noFill/>
          </a:ln>
        </p:spPr>
      </p:pic>
      <p:sp>
        <p:nvSpPr>
          <p:cNvPr id="150" name="Google Shape;150;p28"/>
          <p:cNvSpPr/>
          <p:nvPr/>
        </p:nvSpPr>
        <p:spPr>
          <a:xfrm>
            <a:off x="6845825" y="755000"/>
            <a:ext cx="2152800" cy="3821100"/>
          </a:xfrm>
          <a:prstGeom prst="rect">
            <a:avLst/>
          </a:prstGeom>
          <a:solidFill>
            <a:srgbClr val="11FF00">
              <a:alpha val="28960"/>
            </a:srgbClr>
          </a:solidFill>
          <a:ln cap="flat" cmpd="sng" w="28575">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it">
                <a:solidFill>
                  <a:schemeClr val="lt1"/>
                </a:solidFill>
              </a:rPr>
              <a:t>Affordance</a:t>
            </a:r>
            <a:endParaRPr b="1">
              <a:solidFill>
                <a:schemeClr val="lt1"/>
              </a:solidFill>
            </a:endParaRPr>
          </a:p>
        </p:txBody>
      </p:sp>
      <p:sp>
        <p:nvSpPr>
          <p:cNvPr id="151" name="Google Shape;151;p28"/>
          <p:cNvSpPr/>
          <p:nvPr/>
        </p:nvSpPr>
        <p:spPr>
          <a:xfrm>
            <a:off x="6897475" y="3974175"/>
            <a:ext cx="1827900" cy="572700"/>
          </a:xfrm>
          <a:prstGeom prst="rect">
            <a:avLst/>
          </a:prstGeom>
          <a:solidFill>
            <a:srgbClr val="FF0000">
              <a:alpha val="49730"/>
            </a:srgbClr>
          </a:solid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it">
                <a:solidFill>
                  <a:schemeClr val="lt1"/>
                </a:solidFill>
              </a:rPr>
              <a:t>S</a:t>
            </a:r>
            <a:r>
              <a:rPr b="1" lang="it">
                <a:solidFill>
                  <a:schemeClr val="lt1"/>
                </a:solidFill>
              </a:rPr>
              <a:t>ignifier</a:t>
            </a:r>
            <a:endParaRPr b="1">
              <a:solidFill>
                <a:schemeClr val="lt1"/>
              </a:solidFill>
            </a:endParaRPr>
          </a:p>
        </p:txBody>
      </p:sp>
      <p:sp>
        <p:nvSpPr>
          <p:cNvPr id="152" name="Google Shape;152;p28"/>
          <p:cNvSpPr/>
          <p:nvPr/>
        </p:nvSpPr>
        <p:spPr>
          <a:xfrm>
            <a:off x="8725375" y="3974175"/>
            <a:ext cx="273300" cy="572700"/>
          </a:xfrm>
          <a:prstGeom prst="rect">
            <a:avLst/>
          </a:prstGeom>
          <a:solidFill>
            <a:srgbClr val="FF0000">
              <a:alpha val="49730"/>
            </a:srgbClr>
          </a:solid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it">
                <a:solidFill>
                  <a:schemeClr val="lt1"/>
                </a:solidFill>
              </a:rPr>
              <a:t>S</a:t>
            </a:r>
            <a:endParaRPr b="1">
              <a:solidFill>
                <a:schemeClr val="lt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29"/>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Signifiers</a:t>
            </a:r>
            <a:endParaRPr/>
          </a:p>
        </p:txBody>
      </p:sp>
      <p:sp>
        <p:nvSpPr>
          <p:cNvPr id="158" name="Google Shape;158;p29"/>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Signifiers can be </a:t>
            </a:r>
            <a:r>
              <a:rPr b="1" lang="it"/>
              <a:t>deliberate </a:t>
            </a:r>
            <a:r>
              <a:rPr lang="it"/>
              <a:t>and </a:t>
            </a:r>
            <a:r>
              <a:rPr b="1" lang="it"/>
              <a:t>intentional</a:t>
            </a:r>
            <a:r>
              <a:rPr lang="it"/>
              <a:t>, such as the sign push on a door</a:t>
            </a:r>
            <a:endParaRPr/>
          </a:p>
          <a:p>
            <a:pPr indent="0" lvl="0" marL="0" rtl="0" algn="l">
              <a:spcBef>
                <a:spcPts val="1600"/>
              </a:spcBef>
              <a:spcAft>
                <a:spcPts val="0"/>
              </a:spcAft>
              <a:buClr>
                <a:schemeClr val="dk1"/>
              </a:buClr>
              <a:buSzPts val="1100"/>
              <a:buFont typeface="Arial"/>
              <a:buNone/>
            </a:pPr>
            <a:r>
              <a:rPr lang="it"/>
              <a:t>they may also be </a:t>
            </a:r>
            <a:r>
              <a:rPr b="1" lang="it"/>
              <a:t>accidental </a:t>
            </a:r>
            <a:r>
              <a:rPr lang="it"/>
              <a:t>and </a:t>
            </a:r>
            <a:r>
              <a:rPr b="1" lang="it"/>
              <a:t>unintentional</a:t>
            </a:r>
            <a:r>
              <a:rPr lang="it"/>
              <a:t>, such as our use of the visible trail made by previous people walking through a field or over a snow-covered terrain to determine the best path.</a:t>
            </a:r>
            <a:endParaRPr/>
          </a:p>
          <a:p>
            <a:pPr indent="0" lvl="0" marL="0" rtl="0" algn="l">
              <a:spcBef>
                <a:spcPts val="1600"/>
              </a:spcBef>
              <a:spcAft>
                <a:spcPts val="1600"/>
              </a:spcAft>
              <a:buNone/>
            </a:pPr>
            <a:r>
              <a:t/>
            </a:r>
            <a:endParaRPr/>
          </a:p>
        </p:txBody>
      </p:sp>
      <p:pic>
        <p:nvPicPr>
          <p:cNvPr id="159" name="Google Shape;159;p29"/>
          <p:cNvPicPr preferRelativeResize="0"/>
          <p:nvPr/>
        </p:nvPicPr>
        <p:blipFill>
          <a:blip r:embed="rId3">
            <a:alphaModFix/>
          </a:blip>
          <a:stretch>
            <a:fillRect/>
          </a:stretch>
        </p:blipFill>
        <p:spPr>
          <a:xfrm>
            <a:off x="429950" y="3137050"/>
            <a:ext cx="3241475" cy="1823324"/>
          </a:xfrm>
          <a:prstGeom prst="rect">
            <a:avLst/>
          </a:prstGeom>
          <a:noFill/>
          <a:ln>
            <a:noFill/>
          </a:ln>
        </p:spPr>
      </p:pic>
      <p:pic>
        <p:nvPicPr>
          <p:cNvPr id="160" name="Google Shape;160;p29"/>
          <p:cNvPicPr preferRelativeResize="0"/>
          <p:nvPr/>
        </p:nvPicPr>
        <p:blipFill rotWithShape="1">
          <a:blip r:embed="rId4">
            <a:alphaModFix/>
          </a:blip>
          <a:srcRect b="12549" l="0" r="0" t="0"/>
          <a:stretch/>
        </p:blipFill>
        <p:spPr>
          <a:xfrm>
            <a:off x="5524500" y="2061500"/>
            <a:ext cx="3619500" cy="30820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30"/>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Signifiers</a:t>
            </a:r>
            <a:endParaRPr/>
          </a:p>
        </p:txBody>
      </p:sp>
      <p:sp>
        <p:nvSpPr>
          <p:cNvPr id="166" name="Google Shape;166;p30"/>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Affordances represent the possibilities in the world for how an agent can interact with something. Some affordances are perceivable, others are invisible. </a:t>
            </a:r>
            <a:endParaRPr/>
          </a:p>
          <a:p>
            <a:pPr indent="0" lvl="0" marL="0" rtl="0" algn="l">
              <a:spcBef>
                <a:spcPts val="1600"/>
              </a:spcBef>
              <a:spcAft>
                <a:spcPts val="0"/>
              </a:spcAft>
              <a:buClr>
                <a:schemeClr val="dk1"/>
              </a:buClr>
              <a:buSzPts val="1100"/>
              <a:buFont typeface="Arial"/>
              <a:buNone/>
            </a:pPr>
            <a:r>
              <a:rPr lang="it"/>
              <a:t>Signifiers are signals. Some signifiers are signs, labels, and drawings placed in the world</a:t>
            </a:r>
            <a:endParaRPr/>
          </a:p>
          <a:p>
            <a:pPr indent="0" lvl="0" marL="0" rtl="0" algn="l">
              <a:spcBef>
                <a:spcPts val="1600"/>
              </a:spcBef>
              <a:spcAft>
                <a:spcPts val="0"/>
              </a:spcAft>
              <a:buNone/>
            </a:pPr>
            <a:r>
              <a:rPr lang="it"/>
              <a:t>Some signifiers are simply the perceived affordances, such as the handle of a door</a:t>
            </a:r>
            <a:endParaRPr/>
          </a:p>
          <a:p>
            <a:pPr indent="0" lvl="0" marL="0" rtl="0" algn="l">
              <a:spcBef>
                <a:spcPts val="1600"/>
              </a:spcBef>
              <a:spcAft>
                <a:spcPts val="1600"/>
              </a:spcAft>
              <a:buNone/>
            </a:pPr>
            <a:r>
              <a:rPr lang="it" u="sng"/>
              <a:t>Note that some perceived affordances may not be real</a:t>
            </a:r>
            <a:endParaRPr u="sng"/>
          </a:p>
        </p:txBody>
      </p:sp>
      <p:pic>
        <p:nvPicPr>
          <p:cNvPr id="167" name="Google Shape;167;p30"/>
          <p:cNvPicPr preferRelativeResize="0"/>
          <p:nvPr/>
        </p:nvPicPr>
        <p:blipFill>
          <a:blip r:embed="rId3">
            <a:alphaModFix/>
          </a:blip>
          <a:stretch>
            <a:fillRect/>
          </a:stretch>
        </p:blipFill>
        <p:spPr>
          <a:xfrm>
            <a:off x="6067413" y="3219450"/>
            <a:ext cx="3076575" cy="192405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31"/>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Signifiers</a:t>
            </a:r>
            <a:endParaRPr/>
          </a:p>
        </p:txBody>
      </p:sp>
      <p:sp>
        <p:nvSpPr>
          <p:cNvPr id="173" name="Google Shape;173;p31"/>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u="sng"/>
              <a:t>In design, signifiers are more important than affordances, for they communicate how to use the design</a:t>
            </a:r>
            <a:endParaRPr u="sng"/>
          </a:p>
          <a:p>
            <a:pPr indent="0" lvl="0" marL="0" rtl="0" algn="l">
              <a:spcBef>
                <a:spcPts val="1600"/>
              </a:spcBef>
              <a:spcAft>
                <a:spcPts val="1600"/>
              </a:spcAft>
              <a:buNone/>
            </a:pPr>
            <a:r>
              <a:t/>
            </a:r>
            <a:endParaRPr u="sng"/>
          </a:p>
        </p:txBody>
      </p:sp>
      <p:pic>
        <p:nvPicPr>
          <p:cNvPr id="174" name="Google Shape;174;p31"/>
          <p:cNvPicPr preferRelativeResize="0"/>
          <p:nvPr/>
        </p:nvPicPr>
        <p:blipFill>
          <a:blip r:embed="rId3">
            <a:alphaModFix/>
          </a:blip>
          <a:stretch>
            <a:fillRect/>
          </a:stretch>
        </p:blipFill>
        <p:spPr>
          <a:xfrm>
            <a:off x="6249725" y="1651600"/>
            <a:ext cx="2647950" cy="325755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32"/>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Perceiving affordances and signifiers </a:t>
            </a:r>
            <a:endParaRPr/>
          </a:p>
        </p:txBody>
      </p:sp>
      <p:sp>
        <p:nvSpPr>
          <p:cNvPr id="180" name="Google Shape;180;p32"/>
          <p:cNvSpPr txBox="1"/>
          <p:nvPr>
            <p:ph idx="1" type="body"/>
          </p:nvPr>
        </p:nvSpPr>
        <p:spPr>
          <a:xfrm>
            <a:off x="311700" y="1152475"/>
            <a:ext cx="8520600" cy="3876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it"/>
              <a:t>But how does one go from the perception of an affordance to understanding the potential action?</a:t>
            </a:r>
            <a:endParaRPr b="1"/>
          </a:p>
          <a:p>
            <a:pPr indent="0" lvl="0" marL="0" rtl="0" algn="l">
              <a:spcBef>
                <a:spcPts val="1600"/>
              </a:spcBef>
              <a:spcAft>
                <a:spcPts val="0"/>
              </a:spcAft>
              <a:buClr>
                <a:schemeClr val="dk1"/>
              </a:buClr>
              <a:buSzPts val="1100"/>
              <a:buFont typeface="Arial"/>
              <a:buNone/>
            </a:pPr>
            <a:r>
              <a:rPr lang="it" u="sng"/>
              <a:t>In many cases, through conventions</a:t>
            </a:r>
            <a:r>
              <a:rPr lang="it"/>
              <a:t>.</a:t>
            </a:r>
            <a:endParaRPr/>
          </a:p>
          <a:p>
            <a:pPr indent="0" lvl="0" marL="0" rtl="0" algn="l">
              <a:spcBef>
                <a:spcPts val="1600"/>
              </a:spcBef>
              <a:spcAft>
                <a:spcPts val="0"/>
              </a:spcAft>
              <a:buNone/>
            </a:pPr>
            <a:r>
              <a:rPr lang="it"/>
              <a:t>A doorknob has the perceived affordance of graspability. But knowing that it is the doorknob that is used to open and close doors is learned: it is a cultural aspect of the design that knobs, handles, and bars, when placed on doors, are intended to enable the opening and shutting of those doors. The same devices on fixed walls would have a different interpretation: they might offer support, for example, but certainly not the possibility of opening the wall. </a:t>
            </a:r>
            <a:endParaRPr/>
          </a:p>
          <a:p>
            <a:pPr indent="0" lvl="0" marL="0" rtl="0" algn="l">
              <a:spcBef>
                <a:spcPts val="1600"/>
              </a:spcBef>
              <a:spcAft>
                <a:spcPts val="0"/>
              </a:spcAft>
              <a:buClr>
                <a:schemeClr val="dk1"/>
              </a:buClr>
              <a:buSzPts val="1100"/>
              <a:buFont typeface="Arial"/>
              <a:buNone/>
            </a:pPr>
            <a:r>
              <a:rPr lang="it" u="sng"/>
              <a:t>The interpretation of a perceived affordance is a cultural convention.</a:t>
            </a:r>
            <a:endParaRPr u="sng"/>
          </a:p>
          <a:p>
            <a:pPr indent="0" lvl="0" marL="0" rtl="0" algn="l">
              <a:spcBef>
                <a:spcPts val="1600"/>
              </a:spcBef>
              <a:spcAft>
                <a:spcPts val="1600"/>
              </a:spcAft>
              <a:buNone/>
            </a:pPr>
            <a:r>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33"/>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33"/>
          <p:cNvSpPr txBox="1"/>
          <p:nvPr>
            <p:ph idx="1" type="body"/>
          </p:nvPr>
        </p:nvSpPr>
        <p:spPr>
          <a:xfrm>
            <a:off x="437500" y="5968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u="sng">
                <a:solidFill>
                  <a:schemeClr val="hlink"/>
                </a:solidFill>
                <a:hlinkClick r:id="rId3"/>
              </a:rPr>
              <a:t>https://www.youtube.com/watch?v=UtulTXJLGOI&amp;ab_channel=LeahGreis</a:t>
            </a:r>
            <a:endParaRPr/>
          </a:p>
          <a:p>
            <a:pPr indent="0" lvl="0" marL="0" rtl="0" algn="l">
              <a:spcBef>
                <a:spcPts val="1600"/>
              </a:spcBef>
              <a:spcAft>
                <a:spcPts val="1600"/>
              </a:spcAft>
              <a:buNone/>
            </a:pPr>
            <a:r>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pic>
        <p:nvPicPr>
          <p:cNvPr id="191" name="Google Shape;191;p34"/>
          <p:cNvPicPr preferRelativeResize="0"/>
          <p:nvPr/>
        </p:nvPicPr>
        <p:blipFill>
          <a:blip r:embed="rId3">
            <a:alphaModFix/>
          </a:blip>
          <a:stretch>
            <a:fillRect/>
          </a:stretch>
        </p:blipFill>
        <p:spPr>
          <a:xfrm>
            <a:off x="152400" y="152400"/>
            <a:ext cx="3630317" cy="4838701"/>
          </a:xfrm>
          <a:prstGeom prst="rect">
            <a:avLst/>
          </a:prstGeom>
          <a:noFill/>
          <a:ln>
            <a:noFill/>
          </a:ln>
        </p:spPr>
      </p:pic>
      <p:pic>
        <p:nvPicPr>
          <p:cNvPr id="192" name="Google Shape;192;p34"/>
          <p:cNvPicPr preferRelativeResize="0"/>
          <p:nvPr/>
        </p:nvPicPr>
        <p:blipFill rotWithShape="1">
          <a:blip r:embed="rId3">
            <a:alphaModFix/>
          </a:blip>
          <a:srcRect b="49998" l="14530" r="48162" t="29735"/>
          <a:stretch/>
        </p:blipFill>
        <p:spPr>
          <a:xfrm>
            <a:off x="3840950" y="152400"/>
            <a:ext cx="5257974" cy="380697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35"/>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it"/>
              <a:t>MAPPING</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36"/>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Mapping</a:t>
            </a:r>
            <a:endParaRPr/>
          </a:p>
        </p:txBody>
      </p:sp>
      <p:sp>
        <p:nvSpPr>
          <p:cNvPr id="203" name="Google Shape;203;p36"/>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u="sng"/>
              <a:t>Mapping means the relationship between the elements of two sets of things.</a:t>
            </a:r>
            <a:endParaRPr u="sng"/>
          </a:p>
          <a:p>
            <a:pPr indent="0" lvl="0" marL="0" rtl="0" algn="l">
              <a:spcBef>
                <a:spcPts val="1600"/>
              </a:spcBef>
              <a:spcAft>
                <a:spcPts val="0"/>
              </a:spcAft>
              <a:buNone/>
            </a:pPr>
            <a:r>
              <a:rPr lang="it"/>
              <a:t>Mapping is an important concept in the design and layout of controls and displays. When the mapping uses spatial correspondence between the layout of the controls and the devices being controlled, it is easy to determine how to use them.</a:t>
            </a:r>
            <a:endParaRPr/>
          </a:p>
          <a:p>
            <a:pPr indent="0" lvl="0" marL="0" rtl="0" algn="l">
              <a:spcBef>
                <a:spcPts val="1600"/>
              </a:spcBef>
              <a:spcAft>
                <a:spcPts val="0"/>
              </a:spcAft>
              <a:buNone/>
            </a:pPr>
            <a:r>
              <a:rPr lang="it"/>
              <a:t>Natural mapping (taking advantage of spatial analogies) leads to immediate understanding.</a:t>
            </a:r>
            <a:endParaRPr/>
          </a:p>
          <a:p>
            <a:pPr indent="0" lvl="0" marL="0" rtl="0" algn="l">
              <a:spcBef>
                <a:spcPts val="1600"/>
              </a:spcBef>
              <a:spcAft>
                <a:spcPts val="0"/>
              </a:spcAft>
              <a:buNone/>
            </a:pPr>
            <a:r>
              <a:t/>
            </a:r>
            <a:endParaRPr/>
          </a:p>
          <a:p>
            <a:pPr indent="0" lvl="0" marL="0" rtl="0" algn="l">
              <a:spcBef>
                <a:spcPts val="1600"/>
              </a:spcBef>
              <a:spcAft>
                <a:spcPts val="1600"/>
              </a:spcAft>
              <a:buNone/>
            </a:pPr>
            <a:r>
              <a:t/>
            </a:r>
            <a:endParaRPr/>
          </a:p>
        </p:txBody>
      </p:sp>
      <p:pic>
        <p:nvPicPr>
          <p:cNvPr id="204" name="Google Shape;204;p36"/>
          <p:cNvPicPr preferRelativeResize="0"/>
          <p:nvPr/>
        </p:nvPicPr>
        <p:blipFill>
          <a:blip r:embed="rId3">
            <a:alphaModFix/>
          </a:blip>
          <a:stretch>
            <a:fillRect/>
          </a:stretch>
        </p:blipFill>
        <p:spPr>
          <a:xfrm>
            <a:off x="4379150" y="2849300"/>
            <a:ext cx="4764850" cy="229420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37"/>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Mapping</a:t>
            </a:r>
            <a:endParaRPr/>
          </a:p>
        </p:txBody>
      </p:sp>
      <p:sp>
        <p:nvSpPr>
          <p:cNvPr id="210" name="Google Shape;210;p37"/>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Some natural mappings are cultural or biological, as in the universal standard that moving the hand up signifies more, moving it down signifies less, which is why </a:t>
            </a:r>
            <a:r>
              <a:rPr lang="it" u="sng"/>
              <a:t>it is appropriate to use vertical position to represent intensity or amount.</a:t>
            </a:r>
            <a:endParaRPr u="sng"/>
          </a:p>
          <a:p>
            <a:pPr indent="0" lvl="0" marL="0" rtl="0" algn="l">
              <a:spcBef>
                <a:spcPts val="1600"/>
              </a:spcBef>
              <a:spcAft>
                <a:spcPts val="0"/>
              </a:spcAft>
              <a:buNone/>
            </a:pPr>
            <a:r>
              <a:rPr lang="it" u="sng"/>
              <a:t>Note that there are many mappings that feel “natural” but in fact are specific to a particular culture.</a:t>
            </a:r>
            <a:endParaRPr u="sng"/>
          </a:p>
          <a:p>
            <a:pPr indent="0" lvl="0" marL="0" rtl="0" algn="l">
              <a:spcBef>
                <a:spcPts val="1600"/>
              </a:spcBef>
              <a:spcAft>
                <a:spcPts val="0"/>
              </a:spcAft>
              <a:buClr>
                <a:schemeClr val="dk1"/>
              </a:buClr>
              <a:buSzPts val="1100"/>
              <a:buFont typeface="Arial"/>
              <a:buNone/>
            </a:pPr>
            <a:r>
              <a:t/>
            </a:r>
            <a:endParaRPr/>
          </a:p>
          <a:p>
            <a:pPr indent="0" lvl="0" marL="0" rtl="0" algn="l">
              <a:spcBef>
                <a:spcPts val="1600"/>
              </a:spcBef>
              <a:spcAft>
                <a:spcPts val="1600"/>
              </a:spcAft>
              <a:buNone/>
            </a:pPr>
            <a:r>
              <a:t/>
            </a:r>
            <a:endParaRPr/>
          </a:p>
        </p:txBody>
      </p:sp>
      <p:pic>
        <p:nvPicPr>
          <p:cNvPr id="211" name="Google Shape;211;p37"/>
          <p:cNvPicPr preferRelativeResize="0"/>
          <p:nvPr/>
        </p:nvPicPr>
        <p:blipFill>
          <a:blip r:embed="rId3">
            <a:alphaModFix/>
          </a:blip>
          <a:stretch>
            <a:fillRect/>
          </a:stretch>
        </p:blipFill>
        <p:spPr>
          <a:xfrm>
            <a:off x="3600450" y="2476500"/>
            <a:ext cx="5543550" cy="243840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pic>
        <p:nvPicPr>
          <p:cNvPr id="216" name="Google Shape;216;p38"/>
          <p:cNvPicPr preferRelativeResize="0"/>
          <p:nvPr/>
        </p:nvPicPr>
        <p:blipFill rotWithShape="1">
          <a:blip r:embed="rId3">
            <a:alphaModFix/>
          </a:blip>
          <a:srcRect b="0" l="14276" r="11252" t="0"/>
          <a:stretch/>
        </p:blipFill>
        <p:spPr>
          <a:xfrm>
            <a:off x="142650" y="98400"/>
            <a:ext cx="4803076" cy="4838701"/>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pic>
        <p:nvPicPr>
          <p:cNvPr id="221" name="Google Shape;221;p39"/>
          <p:cNvPicPr preferRelativeResize="0"/>
          <p:nvPr/>
        </p:nvPicPr>
        <p:blipFill rotWithShape="1">
          <a:blip r:embed="rId3">
            <a:alphaModFix/>
          </a:blip>
          <a:srcRect b="0" l="14276" r="11252" t="0"/>
          <a:stretch/>
        </p:blipFill>
        <p:spPr>
          <a:xfrm>
            <a:off x="142650" y="98400"/>
            <a:ext cx="4803076" cy="4838701"/>
          </a:xfrm>
          <a:prstGeom prst="rect">
            <a:avLst/>
          </a:prstGeom>
          <a:noFill/>
          <a:ln>
            <a:noFill/>
          </a:ln>
        </p:spPr>
      </p:pic>
      <p:pic>
        <p:nvPicPr>
          <p:cNvPr id="222" name="Google Shape;222;p39"/>
          <p:cNvPicPr preferRelativeResize="0"/>
          <p:nvPr/>
        </p:nvPicPr>
        <p:blipFill rotWithShape="1">
          <a:blip r:embed="rId4">
            <a:alphaModFix/>
          </a:blip>
          <a:srcRect b="21172" l="0" r="0" t="0"/>
          <a:stretch/>
        </p:blipFill>
        <p:spPr>
          <a:xfrm>
            <a:off x="5098125" y="1491238"/>
            <a:ext cx="3893476" cy="2053025"/>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40"/>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it"/>
              <a:t>FEEDBACK</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41"/>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Feedback</a:t>
            </a:r>
            <a:endParaRPr/>
          </a:p>
        </p:txBody>
      </p:sp>
      <p:sp>
        <p:nvSpPr>
          <p:cNvPr id="233" name="Google Shape;233;p41"/>
          <p:cNvSpPr txBox="1"/>
          <p:nvPr>
            <p:ph idx="1" type="body"/>
          </p:nvPr>
        </p:nvSpPr>
        <p:spPr>
          <a:xfrm>
            <a:off x="311700" y="791875"/>
            <a:ext cx="5317500" cy="3777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Ever watch people at an elevator repeatedly push the Up button, or repeatedly push the pedestrian button at a street crossing? </a:t>
            </a:r>
            <a:endParaRPr/>
          </a:p>
          <a:p>
            <a:pPr indent="0" lvl="0" marL="0" rtl="0" algn="l">
              <a:spcBef>
                <a:spcPts val="1600"/>
              </a:spcBef>
              <a:spcAft>
                <a:spcPts val="0"/>
              </a:spcAft>
              <a:buNone/>
            </a:pPr>
            <a:r>
              <a:rPr lang="it" u="sng"/>
              <a:t>What is missing in these cases is feedback:</a:t>
            </a:r>
            <a:r>
              <a:rPr lang="it"/>
              <a:t> some way of letting you know that the system is working on your request.</a:t>
            </a:r>
            <a:endParaRPr/>
          </a:p>
          <a:p>
            <a:pPr indent="0" lvl="0" marL="0" rtl="0" algn="l">
              <a:spcBef>
                <a:spcPts val="1600"/>
              </a:spcBef>
              <a:spcAft>
                <a:spcPts val="0"/>
              </a:spcAft>
              <a:buClr>
                <a:schemeClr val="dk1"/>
              </a:buClr>
              <a:buSzPts val="1100"/>
              <a:buFont typeface="Arial"/>
              <a:buNone/>
            </a:pPr>
            <a:r>
              <a:rPr lang="it"/>
              <a:t>Feedback: communicating the results of an action</a:t>
            </a:r>
            <a:endParaRPr/>
          </a:p>
          <a:p>
            <a:pPr indent="0" lvl="0" marL="0" rtl="0" algn="l">
              <a:spcBef>
                <a:spcPts val="1600"/>
              </a:spcBef>
              <a:spcAft>
                <a:spcPts val="1600"/>
              </a:spcAft>
              <a:buNone/>
            </a:pPr>
            <a:r>
              <a:t/>
            </a:r>
            <a:endParaRPr/>
          </a:p>
        </p:txBody>
      </p:sp>
      <p:pic>
        <p:nvPicPr>
          <p:cNvPr id="234" name="Google Shape;234;p41"/>
          <p:cNvPicPr preferRelativeResize="0"/>
          <p:nvPr/>
        </p:nvPicPr>
        <p:blipFill>
          <a:blip r:embed="rId3">
            <a:alphaModFix/>
          </a:blip>
          <a:stretch>
            <a:fillRect/>
          </a:stretch>
        </p:blipFill>
        <p:spPr>
          <a:xfrm>
            <a:off x="6639471" y="96225"/>
            <a:ext cx="1534600" cy="2345450"/>
          </a:xfrm>
          <a:prstGeom prst="rect">
            <a:avLst/>
          </a:prstGeom>
          <a:noFill/>
          <a:ln>
            <a:noFill/>
          </a:ln>
        </p:spPr>
      </p:pic>
      <p:pic>
        <p:nvPicPr>
          <p:cNvPr id="235" name="Google Shape;235;p41"/>
          <p:cNvPicPr preferRelativeResize="0"/>
          <p:nvPr/>
        </p:nvPicPr>
        <p:blipFill>
          <a:blip r:embed="rId4">
            <a:alphaModFix/>
          </a:blip>
          <a:stretch>
            <a:fillRect/>
          </a:stretch>
        </p:blipFill>
        <p:spPr>
          <a:xfrm>
            <a:off x="5901025" y="2497850"/>
            <a:ext cx="3011509" cy="2493249"/>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42"/>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Feedback</a:t>
            </a:r>
            <a:endParaRPr/>
          </a:p>
        </p:txBody>
      </p:sp>
      <p:sp>
        <p:nvSpPr>
          <p:cNvPr id="241" name="Google Shape;241;p42"/>
          <p:cNvSpPr txBox="1"/>
          <p:nvPr>
            <p:ph idx="1" type="body"/>
          </p:nvPr>
        </p:nvSpPr>
        <p:spPr>
          <a:xfrm>
            <a:off x="311700" y="619075"/>
            <a:ext cx="8520600" cy="3892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it"/>
              <a:t>Feedback must be immediate</a:t>
            </a:r>
            <a:endParaRPr/>
          </a:p>
          <a:p>
            <a:pPr indent="0" lvl="0" marL="0" rtl="0" algn="l">
              <a:spcBef>
                <a:spcPts val="1600"/>
              </a:spcBef>
              <a:spcAft>
                <a:spcPts val="0"/>
              </a:spcAft>
              <a:buNone/>
            </a:pPr>
            <a:r>
              <a:rPr lang="it"/>
              <a:t>even a delay of a tenth of a second can be disconcerting. If the delay is too long, people often give up, going off to do other activities. </a:t>
            </a:r>
            <a:endParaRPr/>
          </a:p>
          <a:p>
            <a:pPr indent="0" lvl="0" marL="0" rtl="0" algn="l">
              <a:spcBef>
                <a:spcPts val="1600"/>
              </a:spcBef>
              <a:spcAft>
                <a:spcPts val="0"/>
              </a:spcAft>
              <a:buClr>
                <a:schemeClr val="dk1"/>
              </a:buClr>
              <a:buSzPts val="1100"/>
              <a:buFont typeface="Arial"/>
              <a:buNone/>
            </a:pPr>
            <a:r>
              <a:rPr lang="it" u="sng"/>
              <a:t>Feedback must also be informative.</a:t>
            </a:r>
            <a:endParaRPr u="sng"/>
          </a:p>
          <a:p>
            <a:pPr indent="0" lvl="0" marL="0" rtl="0" algn="l">
              <a:spcBef>
                <a:spcPts val="1600"/>
              </a:spcBef>
              <a:spcAft>
                <a:spcPts val="0"/>
              </a:spcAft>
              <a:buNone/>
            </a:pPr>
            <a:r>
              <a:rPr b="1" lang="it"/>
              <a:t>Poor feedback can be worse than no feedback at all,</a:t>
            </a:r>
            <a:r>
              <a:rPr lang="it"/>
              <a:t> because it is distracting, uninformative, and in many cases irritating and anxiety-provoking. </a:t>
            </a:r>
            <a:endParaRPr/>
          </a:p>
          <a:p>
            <a:pPr indent="0" lvl="0" marL="0" rtl="0" algn="l">
              <a:spcBef>
                <a:spcPts val="1600"/>
              </a:spcBef>
              <a:spcAft>
                <a:spcPts val="0"/>
              </a:spcAft>
              <a:buNone/>
            </a:pPr>
            <a:r>
              <a:rPr i="1" lang="it"/>
              <a:t>“My dishwasher likes to beep at three a.m. to tell me that the wash is done, defeating my goal of having it work in the middle of the night so as not to disturb anyone”</a:t>
            </a:r>
            <a:endParaRPr i="1"/>
          </a:p>
          <a:p>
            <a:pPr indent="0" lvl="0" marL="0" rtl="0" algn="l">
              <a:spcBef>
                <a:spcPts val="1600"/>
              </a:spcBef>
              <a:spcAft>
                <a:spcPts val="0"/>
              </a:spcAft>
              <a:buClr>
                <a:schemeClr val="dk1"/>
              </a:buClr>
              <a:buSzPts val="1100"/>
              <a:buFont typeface="Arial"/>
              <a:buNone/>
            </a:pPr>
            <a:r>
              <a:t/>
            </a:r>
            <a:endParaRPr/>
          </a:p>
          <a:p>
            <a:pPr indent="0" lvl="0" marL="0" rtl="0" algn="l">
              <a:spcBef>
                <a:spcPts val="1600"/>
              </a:spcBef>
              <a:spcAft>
                <a:spcPts val="1600"/>
              </a:spcAft>
              <a:buNone/>
            </a:pPr>
            <a:r>
              <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43"/>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Feedback</a:t>
            </a:r>
            <a:endParaRPr/>
          </a:p>
        </p:txBody>
      </p:sp>
      <p:sp>
        <p:nvSpPr>
          <p:cNvPr id="247" name="Google Shape;247;p43"/>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Too many announcements cause people to ignore all of them, or wherever possible, disable all of them, which means that critical and important ones are apt to be missed. </a:t>
            </a:r>
            <a:endParaRPr/>
          </a:p>
          <a:p>
            <a:pPr indent="0" lvl="0" marL="0" rtl="0" algn="l">
              <a:spcBef>
                <a:spcPts val="1600"/>
              </a:spcBef>
              <a:spcAft>
                <a:spcPts val="0"/>
              </a:spcAft>
              <a:buNone/>
            </a:pPr>
            <a:r>
              <a:rPr lang="it"/>
              <a:t>Feedback is essential, but not when it gets in the way of other things, including a calm and relaxing environment.</a:t>
            </a:r>
            <a:endParaRPr/>
          </a:p>
          <a:p>
            <a:pPr indent="0" lvl="0" marL="0" rtl="0" algn="l">
              <a:spcBef>
                <a:spcPts val="1600"/>
              </a:spcBef>
              <a:spcAft>
                <a:spcPts val="0"/>
              </a:spcAft>
              <a:buClr>
                <a:schemeClr val="dk1"/>
              </a:buClr>
              <a:buSzPts val="1100"/>
              <a:buFont typeface="Arial"/>
              <a:buNone/>
            </a:pPr>
            <a:r>
              <a:rPr lang="it" u="sng"/>
              <a:t>Notifications</a:t>
            </a:r>
            <a:r>
              <a:rPr lang="it" u="sng"/>
              <a:t> become useless!</a:t>
            </a:r>
            <a:endParaRPr u="sng"/>
          </a:p>
          <a:p>
            <a:pPr indent="0" lvl="0" marL="0" rtl="0" algn="l">
              <a:spcBef>
                <a:spcPts val="1600"/>
              </a:spcBef>
              <a:spcAft>
                <a:spcPts val="1600"/>
              </a:spcAft>
              <a:buNone/>
            </a:pPr>
            <a:r>
              <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44"/>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it"/>
              <a:t>CONCEPTUAL MODEL</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45"/>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Conceptual Model</a:t>
            </a:r>
            <a:endParaRPr/>
          </a:p>
        </p:txBody>
      </p:sp>
      <p:sp>
        <p:nvSpPr>
          <p:cNvPr id="258" name="Google Shape;258;p45"/>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A conceptual model is </a:t>
            </a:r>
            <a:r>
              <a:rPr lang="it" u="sng"/>
              <a:t>an explanation, usually highly simplified, of how something works.</a:t>
            </a:r>
            <a:r>
              <a:rPr lang="it"/>
              <a:t> It doesn’t have to be complete or even accurate as long as it is useful. </a:t>
            </a:r>
            <a:endParaRPr/>
          </a:p>
          <a:p>
            <a:pPr indent="0" lvl="0" marL="0" rtl="0" algn="l">
              <a:spcBef>
                <a:spcPts val="1600"/>
              </a:spcBef>
              <a:spcAft>
                <a:spcPts val="0"/>
              </a:spcAft>
              <a:buNone/>
            </a:pPr>
            <a:r>
              <a:rPr lang="it"/>
              <a:t>The files, folders, and icons you see displayed on a computer screen help people create the conceptual model of documents and folders inside the computer, or of apps or applications residing on the screen, waiting to be summoned. </a:t>
            </a:r>
            <a:endParaRPr/>
          </a:p>
          <a:p>
            <a:pPr indent="0" lvl="0" marL="0" rtl="0" algn="l">
              <a:spcBef>
                <a:spcPts val="1600"/>
              </a:spcBef>
              <a:spcAft>
                <a:spcPts val="0"/>
              </a:spcAft>
              <a:buClr>
                <a:schemeClr val="dk1"/>
              </a:buClr>
              <a:buSzPts val="1100"/>
              <a:buFont typeface="Arial"/>
              <a:buNone/>
            </a:pPr>
            <a:r>
              <a:rPr lang="it"/>
              <a:t>In fact, there are no folders inside the computer, those are effective </a:t>
            </a:r>
            <a:br>
              <a:rPr lang="it"/>
            </a:br>
            <a:r>
              <a:rPr lang="it"/>
              <a:t>conceptualizations designed to make </a:t>
            </a:r>
            <a:br>
              <a:rPr lang="it"/>
            </a:br>
            <a:r>
              <a:rPr lang="it"/>
              <a:t>them easier to use.</a:t>
            </a:r>
            <a:endParaRPr/>
          </a:p>
          <a:p>
            <a:pPr indent="0" lvl="0" marL="0" rtl="0" algn="l">
              <a:spcBef>
                <a:spcPts val="1600"/>
              </a:spcBef>
              <a:spcAft>
                <a:spcPts val="1600"/>
              </a:spcAft>
              <a:buNone/>
            </a:pPr>
            <a:r>
              <a:t/>
            </a:r>
            <a:endParaRPr/>
          </a:p>
        </p:txBody>
      </p:sp>
      <p:pic>
        <p:nvPicPr>
          <p:cNvPr id="259" name="Google Shape;259;p45"/>
          <p:cNvPicPr preferRelativeResize="0"/>
          <p:nvPr/>
        </p:nvPicPr>
        <p:blipFill>
          <a:blip r:embed="rId3">
            <a:alphaModFix/>
          </a:blip>
          <a:stretch>
            <a:fillRect/>
          </a:stretch>
        </p:blipFill>
        <p:spPr>
          <a:xfrm>
            <a:off x="4754925" y="3117775"/>
            <a:ext cx="4389075" cy="2025725"/>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46"/>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Conceptual Model</a:t>
            </a:r>
            <a:endParaRPr/>
          </a:p>
          <a:p>
            <a:pPr indent="0" lvl="0" marL="0" rtl="0" algn="l">
              <a:spcBef>
                <a:spcPts val="0"/>
              </a:spcBef>
              <a:spcAft>
                <a:spcPts val="0"/>
              </a:spcAft>
              <a:buNone/>
            </a:pPr>
            <a:r>
              <a:t/>
            </a:r>
            <a:endParaRPr/>
          </a:p>
        </p:txBody>
      </p:sp>
      <p:sp>
        <p:nvSpPr>
          <p:cNvPr id="265" name="Google Shape;265;p46"/>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u="sng"/>
              <a:t>Simplified models are valuable only as long as the assumptions that support them hold true.</a:t>
            </a:r>
            <a:endParaRPr u="sng"/>
          </a:p>
          <a:p>
            <a:pPr indent="0" lvl="0" marL="0" rtl="0" algn="l">
              <a:spcBef>
                <a:spcPts val="1600"/>
              </a:spcBef>
              <a:spcAft>
                <a:spcPts val="0"/>
              </a:spcAft>
              <a:buNone/>
            </a:pPr>
            <a:r>
              <a:rPr lang="it"/>
              <a:t>Cloud Storage Sync: files appear to be on the device. But in fact, in many cases the actual material is “in the cloud”. </a:t>
            </a:r>
            <a:endParaRPr/>
          </a:p>
          <a:p>
            <a:pPr indent="0" lvl="0" marL="0" rtl="0" algn="l">
              <a:spcBef>
                <a:spcPts val="1600"/>
              </a:spcBef>
              <a:spcAft>
                <a:spcPts val="0"/>
              </a:spcAft>
              <a:buNone/>
            </a:pPr>
            <a:r>
              <a:rPr lang="it"/>
              <a:t>The conceptual model is of one coherent storage available on all the user’s devices.</a:t>
            </a:r>
            <a:endParaRPr/>
          </a:p>
          <a:p>
            <a:pPr indent="0" lvl="0" marL="0" rtl="0" algn="l">
              <a:spcBef>
                <a:spcPts val="1600"/>
              </a:spcBef>
              <a:spcAft>
                <a:spcPts val="0"/>
              </a:spcAft>
              <a:buNone/>
            </a:pPr>
            <a:r>
              <a:rPr lang="it"/>
              <a:t>This simplified model is helpful for normal usage, but if the network connection to the cloud services is interrupted, the result can be confusing. </a:t>
            </a:r>
            <a:endParaRPr/>
          </a:p>
          <a:p>
            <a:pPr indent="0" lvl="0" marL="0" rtl="0" algn="l">
              <a:spcBef>
                <a:spcPts val="1600"/>
              </a:spcBef>
              <a:spcAft>
                <a:spcPts val="0"/>
              </a:spcAft>
              <a:buNone/>
            </a:pPr>
            <a:r>
              <a:rPr lang="it"/>
              <a:t>Files are still shown on users device screen, but users can no longer open save it</a:t>
            </a:r>
            <a:endParaRPr/>
          </a:p>
          <a:p>
            <a:pPr indent="0" lvl="0" marL="0" rtl="0" algn="l">
              <a:spcBef>
                <a:spcPts val="1600"/>
              </a:spcBef>
              <a:spcAft>
                <a:spcPts val="0"/>
              </a:spcAft>
              <a:buClr>
                <a:schemeClr val="dk1"/>
              </a:buClr>
              <a:buSzPts val="1100"/>
              <a:buFont typeface="Arial"/>
              <a:buNone/>
            </a:pPr>
            <a:r>
              <a:t/>
            </a:r>
            <a:endParaRPr/>
          </a:p>
          <a:p>
            <a:pPr indent="0" lvl="0" marL="0" rtl="0" algn="l">
              <a:spcBef>
                <a:spcPts val="1600"/>
              </a:spcBef>
              <a:spcAft>
                <a:spcPts val="1600"/>
              </a:spcAft>
              <a:buNone/>
            </a:pPr>
            <a:r>
              <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47"/>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Mental </a:t>
            </a:r>
            <a:r>
              <a:rPr lang="it"/>
              <a:t>Model</a:t>
            </a:r>
            <a:endParaRPr/>
          </a:p>
          <a:p>
            <a:pPr indent="0" lvl="0" marL="0" rtl="0" algn="l">
              <a:spcBef>
                <a:spcPts val="0"/>
              </a:spcBef>
              <a:spcAft>
                <a:spcPts val="0"/>
              </a:spcAft>
              <a:buNone/>
            </a:pPr>
            <a:r>
              <a:t/>
            </a:r>
            <a:endParaRPr/>
          </a:p>
        </p:txBody>
      </p:sp>
      <p:sp>
        <p:nvSpPr>
          <p:cNvPr id="271" name="Google Shape;271;p47"/>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it"/>
              <a:t>Mental models</a:t>
            </a:r>
            <a:r>
              <a:rPr lang="it"/>
              <a:t>, are the conceptual models in people’s minds that represent their understanding of how things work. </a:t>
            </a:r>
            <a:endParaRPr/>
          </a:p>
          <a:p>
            <a:pPr indent="0" lvl="0" marL="0" rtl="0" algn="l">
              <a:spcBef>
                <a:spcPts val="1600"/>
              </a:spcBef>
              <a:spcAft>
                <a:spcPts val="0"/>
              </a:spcAft>
              <a:buNone/>
            </a:pPr>
            <a:r>
              <a:rPr lang="it"/>
              <a:t>Different people may hold different mental models of the same item. </a:t>
            </a:r>
            <a:endParaRPr/>
          </a:p>
          <a:p>
            <a:pPr indent="0" lvl="0" marL="0" rtl="0" algn="l">
              <a:spcBef>
                <a:spcPts val="1600"/>
              </a:spcBef>
              <a:spcAft>
                <a:spcPts val="0"/>
              </a:spcAft>
              <a:buClr>
                <a:schemeClr val="dk1"/>
              </a:buClr>
              <a:buSzPts val="1100"/>
              <a:buFont typeface="Arial"/>
              <a:buNone/>
            </a:pPr>
            <a:r>
              <a:rPr lang="it"/>
              <a:t>Indeed, a single person might have multiple models of the same item, each dealing with a different aspect of its operation: the models can even be in conflict.</a:t>
            </a:r>
            <a:endParaRPr/>
          </a:p>
          <a:p>
            <a:pPr indent="0" lvl="0" marL="0" rtl="0" algn="l">
              <a:spcBef>
                <a:spcPts val="1600"/>
              </a:spcBef>
              <a:spcAft>
                <a:spcPts val="1600"/>
              </a:spcAft>
              <a:buNone/>
            </a:pPr>
            <a:r>
              <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48"/>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Conceptual Model</a:t>
            </a:r>
            <a:endParaRPr/>
          </a:p>
          <a:p>
            <a:pPr indent="0" lvl="0" marL="0" rtl="0" algn="l">
              <a:spcBef>
                <a:spcPts val="0"/>
              </a:spcBef>
              <a:spcAft>
                <a:spcPts val="0"/>
              </a:spcAft>
              <a:buNone/>
            </a:pPr>
            <a:r>
              <a:t/>
            </a:r>
            <a:endParaRPr/>
          </a:p>
        </p:txBody>
      </p:sp>
      <p:sp>
        <p:nvSpPr>
          <p:cNvPr id="277" name="Google Shape;277;p48"/>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Conceptual models are often inferred from the device itself. </a:t>
            </a:r>
            <a:endParaRPr/>
          </a:p>
          <a:p>
            <a:pPr indent="0" lvl="0" marL="0" rtl="0" algn="l">
              <a:spcBef>
                <a:spcPts val="1600"/>
              </a:spcBef>
              <a:spcAft>
                <a:spcPts val="0"/>
              </a:spcAft>
              <a:buNone/>
            </a:pPr>
            <a:r>
              <a:rPr lang="it"/>
              <a:t>Some models are passed on from person to person. Some come from manuals. </a:t>
            </a:r>
            <a:endParaRPr/>
          </a:p>
          <a:p>
            <a:pPr indent="0" lvl="0" marL="0" rtl="0" algn="l">
              <a:spcBef>
                <a:spcPts val="1600"/>
              </a:spcBef>
              <a:spcAft>
                <a:spcPts val="0"/>
              </a:spcAft>
              <a:buClr>
                <a:schemeClr val="dk1"/>
              </a:buClr>
              <a:buSzPts val="1100"/>
              <a:buFont typeface="Arial"/>
              <a:buNone/>
            </a:pPr>
            <a:r>
              <a:rPr lang="it"/>
              <a:t>Usually the device itself offers very little assistance, so the model is constructed by experience. Quite often these models are erroneous, and therefore lead to difficulties in using the device.</a:t>
            </a:r>
            <a:endParaRPr/>
          </a:p>
          <a:p>
            <a:pPr indent="0" lvl="0" marL="0" rtl="0" algn="l">
              <a:spcBef>
                <a:spcPts val="1600"/>
              </a:spcBef>
              <a:spcAft>
                <a:spcPts val="0"/>
              </a:spcAft>
              <a:buClr>
                <a:schemeClr val="dk1"/>
              </a:buClr>
              <a:buSzPts val="1100"/>
              <a:buFont typeface="Arial"/>
              <a:buNone/>
            </a:pPr>
            <a:r>
              <a:t/>
            </a:r>
            <a:endParaRPr/>
          </a:p>
          <a:p>
            <a:pPr indent="0" lvl="0" marL="0" rtl="0" algn="l">
              <a:spcBef>
                <a:spcPts val="1600"/>
              </a:spcBef>
              <a:spcAft>
                <a:spcPts val="1600"/>
              </a:spcAft>
              <a:buNone/>
            </a:pPr>
            <a:r>
              <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49"/>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pic>
        <p:nvPicPr>
          <p:cNvPr id="283" name="Google Shape;283;p49"/>
          <p:cNvPicPr preferRelativeResize="0"/>
          <p:nvPr/>
        </p:nvPicPr>
        <p:blipFill>
          <a:blip r:embed="rId3">
            <a:alphaModFix/>
          </a:blip>
          <a:stretch>
            <a:fillRect/>
          </a:stretch>
        </p:blipFill>
        <p:spPr>
          <a:xfrm>
            <a:off x="1143000" y="0"/>
            <a:ext cx="6857999" cy="5143500"/>
          </a:xfrm>
          <a:prstGeom prst="rect">
            <a:avLst/>
          </a:prstGeom>
          <a:noFill/>
          <a:ln>
            <a:noFill/>
          </a:ln>
        </p:spPr>
      </p:pic>
      <p:sp>
        <p:nvSpPr>
          <p:cNvPr id="284" name="Google Shape;284;p49"/>
          <p:cNvSpPr txBox="1"/>
          <p:nvPr>
            <p:ph idx="1" type="body"/>
          </p:nvPr>
        </p:nvSpPr>
        <p:spPr>
          <a:xfrm>
            <a:off x="7372875" y="4012100"/>
            <a:ext cx="1666500" cy="5727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it" sz="700" u="sng">
                <a:solidFill>
                  <a:schemeClr val="hlink"/>
                </a:solidFill>
                <a:hlinkClick r:id="rId4"/>
              </a:rPr>
              <a:t>https://www.slideshare.net/cxpartners/psychology-for-designers-or-3-predictions-from-psychology-for-the-future-of-web-design-by-mrjoe/27-mrjoe51015_2025mental_model30This_is_the</a:t>
            </a:r>
            <a:endParaRPr sz="700"/>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50"/>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Conceptual Model</a:t>
            </a:r>
            <a:endParaRPr/>
          </a:p>
          <a:p>
            <a:pPr indent="0" lvl="0" marL="0" rtl="0" algn="l">
              <a:spcBef>
                <a:spcPts val="0"/>
              </a:spcBef>
              <a:spcAft>
                <a:spcPts val="0"/>
              </a:spcAft>
              <a:buNone/>
            </a:pPr>
            <a:r>
              <a:t/>
            </a:r>
            <a:endParaRPr/>
          </a:p>
        </p:txBody>
      </p:sp>
      <p:sp>
        <p:nvSpPr>
          <p:cNvPr id="290" name="Google Shape;290;p50"/>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pic>
        <p:nvPicPr>
          <p:cNvPr id="291" name="Google Shape;291;p50"/>
          <p:cNvPicPr preferRelativeResize="0"/>
          <p:nvPr/>
        </p:nvPicPr>
        <p:blipFill rotWithShape="1">
          <a:blip r:embed="rId3">
            <a:alphaModFix/>
          </a:blip>
          <a:srcRect b="19266" l="4490" r="4608" t="16511"/>
          <a:stretch/>
        </p:blipFill>
        <p:spPr>
          <a:xfrm>
            <a:off x="2693875" y="797988"/>
            <a:ext cx="4329425" cy="3058575"/>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51"/>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Conceptual Model</a:t>
            </a:r>
            <a:endParaRPr/>
          </a:p>
          <a:p>
            <a:pPr indent="0" lvl="0" marL="0" rtl="0" algn="l">
              <a:spcBef>
                <a:spcPts val="0"/>
              </a:spcBef>
              <a:spcAft>
                <a:spcPts val="0"/>
              </a:spcAft>
              <a:buNone/>
            </a:pPr>
            <a:r>
              <a:t/>
            </a:r>
            <a:endParaRPr/>
          </a:p>
        </p:txBody>
      </p:sp>
      <p:sp>
        <p:nvSpPr>
          <p:cNvPr id="297" name="Google Shape;297;p51"/>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pic>
        <p:nvPicPr>
          <p:cNvPr id="298" name="Google Shape;298;p51"/>
          <p:cNvPicPr preferRelativeResize="0"/>
          <p:nvPr/>
        </p:nvPicPr>
        <p:blipFill>
          <a:blip r:embed="rId3">
            <a:alphaModFix/>
          </a:blip>
          <a:stretch>
            <a:fillRect/>
          </a:stretch>
        </p:blipFill>
        <p:spPr>
          <a:xfrm>
            <a:off x="2495550" y="943713"/>
            <a:ext cx="4152900" cy="2905125"/>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52"/>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it"/>
              <a:t>SYSTEM IMAGE</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53"/>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System Image</a:t>
            </a:r>
            <a:endParaRPr/>
          </a:p>
        </p:txBody>
      </p:sp>
      <p:sp>
        <p:nvSpPr>
          <p:cNvPr id="309" name="Google Shape;309;p53"/>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u="sng"/>
              <a:t>People create mental models of themselves, others, the environment, and the things with which they interact. </a:t>
            </a:r>
            <a:endParaRPr u="sng"/>
          </a:p>
          <a:p>
            <a:pPr indent="0" lvl="0" marL="0" rtl="0" algn="l">
              <a:spcBef>
                <a:spcPts val="1600"/>
              </a:spcBef>
              <a:spcAft>
                <a:spcPts val="0"/>
              </a:spcAft>
              <a:buClr>
                <a:schemeClr val="dk1"/>
              </a:buClr>
              <a:buSzPts val="1100"/>
              <a:buFont typeface="Arial"/>
              <a:buNone/>
            </a:pPr>
            <a:r>
              <a:rPr lang="it"/>
              <a:t>These are </a:t>
            </a:r>
            <a:r>
              <a:rPr lang="it" u="sng"/>
              <a:t>conceptual models formed through experience</a:t>
            </a:r>
            <a:r>
              <a:rPr lang="it"/>
              <a:t>, training, and instruction.</a:t>
            </a:r>
            <a:endParaRPr/>
          </a:p>
          <a:p>
            <a:pPr indent="0" lvl="0" marL="0" rtl="0" algn="l">
              <a:spcBef>
                <a:spcPts val="1600"/>
              </a:spcBef>
              <a:spcAft>
                <a:spcPts val="0"/>
              </a:spcAft>
              <a:buClr>
                <a:schemeClr val="dk1"/>
              </a:buClr>
              <a:buSzPts val="1100"/>
              <a:buFont typeface="Arial"/>
              <a:buNone/>
            </a:pPr>
            <a:r>
              <a:rPr lang="it"/>
              <a:t>These models serve as guides to help achieve our goals and in understanding the world.</a:t>
            </a:r>
            <a:endParaRPr/>
          </a:p>
          <a:p>
            <a:pPr indent="0" lvl="0" marL="0" rtl="0" algn="l">
              <a:spcBef>
                <a:spcPts val="1600"/>
              </a:spcBef>
              <a:spcAft>
                <a:spcPts val="1600"/>
              </a:spcAft>
              <a:buNone/>
            </a:pPr>
            <a:r>
              <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54"/>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System Image</a:t>
            </a:r>
            <a:endParaRPr/>
          </a:p>
          <a:p>
            <a:pPr indent="0" lvl="0" marL="0" rtl="0" algn="l">
              <a:spcBef>
                <a:spcPts val="0"/>
              </a:spcBef>
              <a:spcAft>
                <a:spcPts val="0"/>
              </a:spcAft>
              <a:buNone/>
            </a:pPr>
            <a:r>
              <a:t/>
            </a:r>
            <a:endParaRPr/>
          </a:p>
        </p:txBody>
      </p:sp>
      <p:sp>
        <p:nvSpPr>
          <p:cNvPr id="315" name="Google Shape;315;p54"/>
          <p:cNvSpPr txBox="1"/>
          <p:nvPr>
            <p:ph idx="1" type="body"/>
          </p:nvPr>
        </p:nvSpPr>
        <p:spPr>
          <a:xfrm>
            <a:off x="311700" y="810850"/>
            <a:ext cx="5596200" cy="3115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i="1" lang="it"/>
              <a:t>How do we form an appropriate conceptual model for the devices we interact with? </a:t>
            </a:r>
            <a:endParaRPr i="1"/>
          </a:p>
          <a:p>
            <a:pPr indent="0" lvl="0" marL="0" rtl="0" algn="l">
              <a:spcBef>
                <a:spcPts val="1600"/>
              </a:spcBef>
              <a:spcAft>
                <a:spcPts val="0"/>
              </a:spcAft>
              <a:buNone/>
            </a:pPr>
            <a:r>
              <a:rPr lang="it"/>
              <a:t>We cannot talk to the designer, so </a:t>
            </a:r>
            <a:r>
              <a:rPr b="1" lang="it"/>
              <a:t>we rely upon whatever information is available</a:t>
            </a:r>
            <a:r>
              <a:rPr lang="it"/>
              <a:t> to us: what the device looks like, what we know from using similar things in the past, what was told to us in the sales literature, by salespeople and advertisements, by articles we may have read, by the product website and instruction manuals. </a:t>
            </a:r>
            <a:endParaRPr/>
          </a:p>
          <a:p>
            <a:pPr indent="0" lvl="0" marL="0" rtl="0" algn="l">
              <a:spcBef>
                <a:spcPts val="1600"/>
              </a:spcBef>
              <a:spcAft>
                <a:spcPts val="1600"/>
              </a:spcAft>
              <a:buNone/>
            </a:pPr>
            <a:r>
              <a:t/>
            </a:r>
            <a:endParaRPr/>
          </a:p>
        </p:txBody>
      </p:sp>
      <p:pic>
        <p:nvPicPr>
          <p:cNvPr id="316" name="Google Shape;316;p54"/>
          <p:cNvPicPr preferRelativeResize="0"/>
          <p:nvPr/>
        </p:nvPicPr>
        <p:blipFill>
          <a:blip r:embed="rId3">
            <a:alphaModFix/>
          </a:blip>
          <a:stretch>
            <a:fillRect/>
          </a:stretch>
        </p:blipFill>
        <p:spPr>
          <a:xfrm>
            <a:off x="5669000" y="1663775"/>
            <a:ext cx="3355977" cy="2516974"/>
          </a:xfrm>
          <a:prstGeom prst="rect">
            <a:avLst/>
          </a:prstGeom>
          <a:noFill/>
          <a:ln>
            <a:noFill/>
          </a:ln>
        </p:spPr>
      </p:pic>
      <p:sp>
        <p:nvSpPr>
          <p:cNvPr id="317" name="Google Shape;317;p54"/>
          <p:cNvSpPr txBox="1"/>
          <p:nvPr/>
        </p:nvSpPr>
        <p:spPr>
          <a:xfrm>
            <a:off x="311700" y="4210875"/>
            <a:ext cx="8796900" cy="572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None/>
            </a:pPr>
            <a:r>
              <a:rPr lang="it" sz="1800">
                <a:solidFill>
                  <a:schemeClr val="dk2"/>
                </a:solidFill>
              </a:rPr>
              <a:t>C</a:t>
            </a:r>
            <a:r>
              <a:rPr lang="it" sz="1800">
                <a:solidFill>
                  <a:schemeClr val="dk2"/>
                </a:solidFill>
              </a:rPr>
              <a:t>ombined information available to us is the </a:t>
            </a:r>
            <a:r>
              <a:rPr b="1" lang="it" sz="1800">
                <a:solidFill>
                  <a:schemeClr val="dk2"/>
                </a:solidFill>
              </a:rPr>
              <a:t>system image</a:t>
            </a:r>
            <a:r>
              <a:rPr lang="it" sz="1800">
                <a:solidFill>
                  <a:schemeClr val="dk2"/>
                </a:solidFill>
              </a:rPr>
              <a:t>. </a:t>
            </a:r>
            <a:endParaRPr sz="1800">
              <a:solidFill>
                <a:schemeClr val="dk2"/>
              </a:solidFill>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55"/>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System Image</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
        <p:nvSpPr>
          <p:cNvPr id="323" name="Google Shape;323;p55"/>
          <p:cNvSpPr txBox="1"/>
          <p:nvPr>
            <p:ph idx="1" type="body"/>
          </p:nvPr>
        </p:nvSpPr>
        <p:spPr>
          <a:xfrm>
            <a:off x="311700" y="722025"/>
            <a:ext cx="5827200" cy="3846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u="sng"/>
              <a:t>When the system image is incoherent or inappropriate, then the user cannot easily use the device.</a:t>
            </a:r>
            <a:r>
              <a:rPr lang="it"/>
              <a:t> If it is incomplete or contradictory, there will be trouble.</a:t>
            </a:r>
            <a:endParaRPr/>
          </a:p>
          <a:p>
            <a:pPr indent="0" lvl="0" marL="0" rtl="0" algn="l">
              <a:spcBef>
                <a:spcPts val="1600"/>
              </a:spcBef>
              <a:spcAft>
                <a:spcPts val="0"/>
              </a:spcAft>
              <a:buClr>
                <a:schemeClr val="dk1"/>
              </a:buClr>
              <a:buSzPts val="1100"/>
              <a:buFont typeface="Arial"/>
              <a:buNone/>
            </a:pPr>
            <a:r>
              <a:rPr lang="it"/>
              <a:t>The designer’s conceptual model is the designer’s conception of the product, occupying one vertex of the triangle. After sale the product itself is no longer with the designer, so it is isolated as a second vertex, perhaps on the user’s kitchen or wall. </a:t>
            </a:r>
            <a:endParaRPr/>
          </a:p>
          <a:p>
            <a:pPr indent="0" lvl="0" marL="0" rtl="0" algn="l">
              <a:spcBef>
                <a:spcPts val="1600"/>
              </a:spcBef>
              <a:spcAft>
                <a:spcPts val="0"/>
              </a:spcAft>
              <a:buClr>
                <a:schemeClr val="dk1"/>
              </a:buClr>
              <a:buSzPts val="1100"/>
              <a:buFont typeface="Arial"/>
              <a:buNone/>
            </a:pPr>
            <a:r>
              <a:rPr lang="it"/>
              <a:t>The system image is what can be perceived from the physical structure that has been built</a:t>
            </a:r>
            <a:endParaRPr/>
          </a:p>
          <a:p>
            <a:pPr indent="0" lvl="0" marL="0" rtl="0" algn="l">
              <a:spcBef>
                <a:spcPts val="1600"/>
              </a:spcBef>
              <a:spcAft>
                <a:spcPts val="1600"/>
              </a:spcAft>
              <a:buNone/>
            </a:pPr>
            <a:r>
              <a:t/>
            </a:r>
            <a:endParaRPr/>
          </a:p>
        </p:txBody>
      </p:sp>
      <p:pic>
        <p:nvPicPr>
          <p:cNvPr id="324" name="Google Shape;324;p55"/>
          <p:cNvPicPr preferRelativeResize="0"/>
          <p:nvPr/>
        </p:nvPicPr>
        <p:blipFill>
          <a:blip r:embed="rId3">
            <a:alphaModFix/>
          </a:blip>
          <a:stretch>
            <a:fillRect/>
          </a:stretch>
        </p:blipFill>
        <p:spPr>
          <a:xfrm>
            <a:off x="6059150" y="1355175"/>
            <a:ext cx="3028000" cy="3011000"/>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56"/>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56"/>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it" u="sng">
                <a:solidFill>
                  <a:schemeClr val="hlink"/>
                </a:solidFill>
                <a:hlinkClick r:id="rId3"/>
              </a:rPr>
              <a:t>https://www.youtube.com/watch?v=shSCUNxtn18&amp;ab_channel=LeahGreis</a:t>
            </a:r>
            <a:r>
              <a:rPr lang="it"/>
              <a:t> </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57"/>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sz="1800">
                <a:solidFill>
                  <a:schemeClr val="dk2"/>
                </a:solidFill>
              </a:rPr>
              <a:t>Example: System image of a smart Thermostat</a:t>
            </a:r>
            <a:endParaRPr/>
          </a:p>
        </p:txBody>
      </p:sp>
      <p:sp>
        <p:nvSpPr>
          <p:cNvPr id="336" name="Google Shape;336;p57"/>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Vimar Wifi </a:t>
            </a:r>
            <a:r>
              <a:rPr lang="it" u="sng">
                <a:solidFill>
                  <a:schemeClr val="hlink"/>
                </a:solidFill>
                <a:hlinkClick r:id="rId3"/>
              </a:rPr>
              <a:t>https://www.vimar.com/it/it/cronotermostato-touch-screen-wi-fi-da-parete-02911-video-guida-a-11721152.html</a:t>
            </a:r>
            <a:endParaRPr/>
          </a:p>
          <a:p>
            <a:pPr indent="0" lvl="0" marL="0" rtl="0" algn="l">
              <a:spcBef>
                <a:spcPts val="1600"/>
              </a:spcBef>
              <a:spcAft>
                <a:spcPts val="0"/>
              </a:spcAft>
              <a:buNone/>
            </a:pPr>
            <a:r>
              <a:rPr lang="it"/>
              <a:t>NEST </a:t>
            </a:r>
            <a:r>
              <a:rPr lang="it" sz="1100" u="sng">
                <a:solidFill>
                  <a:schemeClr val="hlink"/>
                </a:solidFill>
                <a:hlinkClick r:id="rId4"/>
              </a:rPr>
              <a:t>https://www.youtube.com/watch?v=dHKD-9uI24I</a:t>
            </a:r>
            <a:endParaRPr/>
          </a:p>
          <a:p>
            <a:pPr indent="0" lvl="0" marL="0" rtl="0" algn="l">
              <a:spcBef>
                <a:spcPts val="1600"/>
              </a:spcBef>
              <a:spcAft>
                <a:spcPts val="0"/>
              </a:spcAft>
              <a:buNone/>
            </a:pPr>
            <a:r>
              <a:t/>
            </a:r>
            <a:endParaRPr/>
          </a:p>
          <a:p>
            <a:pPr indent="0" lvl="0" marL="0" rtl="0" algn="l">
              <a:spcBef>
                <a:spcPts val="1600"/>
              </a:spcBef>
              <a:spcAft>
                <a:spcPts val="1600"/>
              </a:spcAft>
              <a:buNone/>
            </a:pPr>
            <a:r>
              <a:rPr lang="it"/>
              <a:t>:) </a:t>
            </a:r>
            <a:r>
              <a:rPr lang="it" sz="1100" u="sng">
                <a:solidFill>
                  <a:schemeClr val="accent5"/>
                </a:solidFill>
                <a:hlinkClick r:id="rId5">
                  <a:extLst>
                    <a:ext uri="{A12FA001-AC4F-418D-AE19-62706E023703}">
                      <ahyp:hlinkClr val="tx"/>
                    </a:ext>
                  </a:extLst>
                </a:hlinkClick>
              </a:rPr>
              <a:t>https://www.youtube.com/watch?v=5yJOyKr4GBA</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58"/>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Changing</a:t>
            </a:r>
            <a:r>
              <a:rPr lang="it"/>
              <a:t> Conventions</a:t>
            </a:r>
            <a:endParaRPr/>
          </a:p>
        </p:txBody>
      </p:sp>
      <p:sp>
        <p:nvSpPr>
          <p:cNvPr id="342" name="Google Shape;342;p58"/>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People invariably object and complain whenever a new approach is introduced into an existing array of products and systems. </a:t>
            </a:r>
            <a:endParaRPr/>
          </a:p>
          <a:p>
            <a:pPr indent="0" lvl="0" marL="0" rtl="0" algn="l">
              <a:spcBef>
                <a:spcPts val="1600"/>
              </a:spcBef>
              <a:spcAft>
                <a:spcPts val="0"/>
              </a:spcAft>
              <a:buNone/>
            </a:pPr>
            <a:r>
              <a:rPr lang="it" u="sng"/>
              <a:t>Conventions are violated -&gt; new learning is required.</a:t>
            </a:r>
            <a:r>
              <a:rPr lang="it"/>
              <a:t> </a:t>
            </a:r>
            <a:endParaRPr/>
          </a:p>
          <a:p>
            <a:pPr indent="0" lvl="0" marL="0" rtl="0" algn="l">
              <a:spcBef>
                <a:spcPts val="1600"/>
              </a:spcBef>
              <a:spcAft>
                <a:spcPts val="0"/>
              </a:spcAft>
              <a:buNone/>
            </a:pPr>
            <a:r>
              <a:rPr lang="it"/>
              <a:t>The merits of the new system are irrelevant: it is the change that is upsetting.</a:t>
            </a:r>
            <a:endParaRPr/>
          </a:p>
          <a:p>
            <a:pPr indent="0" lvl="0" marL="0" rtl="0" algn="l">
              <a:spcBef>
                <a:spcPts val="1600"/>
              </a:spcBef>
              <a:spcAft>
                <a:spcPts val="0"/>
              </a:spcAft>
              <a:buNone/>
            </a:pPr>
            <a:r>
              <a:rPr b="1" lang="it"/>
              <a:t>Consistency in design is virtuous. </a:t>
            </a:r>
            <a:endParaRPr b="1"/>
          </a:p>
          <a:p>
            <a:pPr indent="0" lvl="0" marL="0" rtl="0" algn="l">
              <a:spcBef>
                <a:spcPts val="1600"/>
              </a:spcBef>
              <a:spcAft>
                <a:spcPts val="0"/>
              </a:spcAft>
              <a:buNone/>
            </a:pPr>
            <a:r>
              <a:rPr lang="it"/>
              <a:t>If a new way of doing things is only slightly better than the old, it is better to be consistent. But if there is to be a change, everybody has to change. </a:t>
            </a:r>
            <a:endParaRPr/>
          </a:p>
          <a:p>
            <a:pPr indent="0" lvl="0" marL="0" rtl="0" algn="l">
              <a:spcBef>
                <a:spcPts val="1600"/>
              </a:spcBef>
              <a:spcAft>
                <a:spcPts val="0"/>
              </a:spcAft>
              <a:buNone/>
            </a:pPr>
            <a:r>
              <a:rPr b="1" lang="it"/>
              <a:t>NB: Mixed systems are confusing to everyone!</a:t>
            </a:r>
            <a:endParaRPr b="1"/>
          </a:p>
          <a:p>
            <a:pPr indent="0" lvl="0" marL="0" rtl="0" algn="l">
              <a:spcBef>
                <a:spcPts val="1600"/>
              </a:spcBef>
              <a:spcAft>
                <a:spcPts val="0"/>
              </a:spcAft>
              <a:buClr>
                <a:schemeClr val="dk1"/>
              </a:buClr>
              <a:buSzPts val="1100"/>
              <a:buFont typeface="Arial"/>
              <a:buNone/>
            </a:pPr>
            <a:r>
              <a:t/>
            </a:r>
            <a:endParaRPr/>
          </a:p>
          <a:p>
            <a:pPr indent="0" lvl="0" marL="0" rtl="0" algn="l">
              <a:spcBef>
                <a:spcPts val="1600"/>
              </a:spcBef>
              <a:spcAft>
                <a:spcPts val="1600"/>
              </a:spcAft>
              <a:buNone/>
            </a:pPr>
            <a:r>
              <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59"/>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Rethinking OS</a:t>
            </a:r>
            <a:endParaRPr/>
          </a:p>
        </p:txBody>
      </p:sp>
      <p:sp>
        <p:nvSpPr>
          <p:cNvPr id="348" name="Google Shape;348;p59"/>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it" sz="1100" u="sng">
                <a:solidFill>
                  <a:schemeClr val="hlink"/>
                </a:solidFill>
                <a:hlinkClick r:id="rId3"/>
              </a:rPr>
              <a:t>https://uxdesign.cc/introducing-mercury-os-f4de45a04289</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LEZIONI">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