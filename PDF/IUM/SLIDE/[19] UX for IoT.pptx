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obo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regular.fntdata"/><Relationship Id="rId47" Type="http://schemas.openxmlformats.org/officeDocument/2006/relationships/slide" Target="slides/slide42.xml"/><Relationship Id="rId49"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Italic.fntdata"/><Relationship Id="rId5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6be98ec24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6be98ec24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75dd0b959e_0_4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75dd0b959e_0_4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6be98ec24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6be98ec24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75dd0b959e_0_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75dd0b959e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75dd0b959e_0_2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75dd0b959e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75dd0b959e_0_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75dd0b959e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75dd0b959e_0_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75dd0b959e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75dd0b959e_0_5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75dd0b959e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75dd0b959e_0_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75dd0b959e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75dd0b959e_0_7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75dd0b959e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20d50168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20d50168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75dd0b959e_0_1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75dd0b959e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75dd0b959e_0_1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75dd0b959e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75dd0b959e_0_1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75dd0b959e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75dd0b959e_0_1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75dd0b959e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20d50168c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20d50168c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75dd0b959e_0_1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75dd0b959e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b49e063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b49e063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75dd0b959e_0_1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75dd0b959e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75dd0b959e_0_18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75dd0b959e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75dd0b959e_0_1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75dd0b959e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75dd0b959e_0_20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75dd0b959e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75dd0b959e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75dd0b959e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75dd0b959e_0_2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75dd0b959e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6be98ec24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6be98ec24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6be98ec24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6be98ec24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6be98ec24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6be98ec24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6be98ec249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6be98ec24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6be98ec24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6be98ec24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6be98ec24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6be98ec24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6be98ec24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6be98ec24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6be98ec24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6be98ec24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6be98ec249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6be98ec249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6be98ec24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6be98ec24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75dd0b959e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75dd0b959e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6be98ec24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6be98ec249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6be98ec249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6be98ec249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6be98ec249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6be98ec249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75dd0b959e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75dd0b959e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75dd0b959e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75dd0b959e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6be98ec249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6be98ec249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p13"/>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lvl1pPr lvl="0" rtl="0" algn="l">
              <a:lnSpc>
                <a:spcPct val="85000"/>
              </a:lnSpc>
              <a:spcBef>
                <a:spcPts val="0"/>
              </a:spcBef>
              <a:spcAft>
                <a:spcPts val="0"/>
              </a:spcAft>
              <a:buClr>
                <a:srgbClr val="3F3F3F"/>
              </a:buClr>
              <a:buSzPts val="3600"/>
              <a:buFont typeface="Calibri"/>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 name="Google Shape;53;p13"/>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150"/>
              </a:spcBef>
              <a:spcAft>
                <a:spcPts val="0"/>
              </a:spcAft>
              <a:buSzPts val="1800"/>
              <a:buChar char="○"/>
              <a:defRPr/>
            </a:lvl2pPr>
            <a:lvl3pPr indent="-342900" lvl="2" marL="1371600" rtl="0" algn="l">
              <a:lnSpc>
                <a:spcPct val="90000"/>
              </a:lnSpc>
              <a:spcBef>
                <a:spcPts val="300"/>
              </a:spcBef>
              <a:spcAft>
                <a:spcPts val="0"/>
              </a:spcAft>
              <a:buSzPts val="1800"/>
              <a:buChar char="■"/>
              <a:defRPr/>
            </a:lvl3pPr>
            <a:lvl4pPr indent="-342900" lvl="3" marL="1828800" rtl="0" algn="l">
              <a:lnSpc>
                <a:spcPct val="90000"/>
              </a:lnSpc>
              <a:spcBef>
                <a:spcPts val="300"/>
              </a:spcBef>
              <a:spcAft>
                <a:spcPts val="0"/>
              </a:spcAft>
              <a:buSzPts val="1800"/>
              <a:buChar char="●"/>
              <a:defRPr/>
            </a:lvl4pPr>
            <a:lvl5pPr indent="-342900" lvl="4" marL="2286000" rtl="0" algn="l">
              <a:lnSpc>
                <a:spcPct val="90000"/>
              </a:lnSpc>
              <a:spcBef>
                <a:spcPts val="300"/>
              </a:spcBef>
              <a:spcAft>
                <a:spcPts val="0"/>
              </a:spcAft>
              <a:buSzPts val="1800"/>
              <a:buChar char="○"/>
              <a:defRPr/>
            </a:lvl5pPr>
            <a:lvl6pPr indent="-342900" lvl="5" marL="2743200" rtl="0" algn="l">
              <a:lnSpc>
                <a:spcPct val="90000"/>
              </a:lnSpc>
              <a:spcBef>
                <a:spcPts val="300"/>
              </a:spcBef>
              <a:spcAft>
                <a:spcPts val="0"/>
              </a:spcAft>
              <a:buSzPts val="1800"/>
              <a:buChar char="■"/>
              <a:defRPr/>
            </a:lvl6pPr>
            <a:lvl7pPr indent="-342900" lvl="6" marL="3200400" rtl="0" algn="l">
              <a:lnSpc>
                <a:spcPct val="90000"/>
              </a:lnSpc>
              <a:spcBef>
                <a:spcPts val="300"/>
              </a:spcBef>
              <a:spcAft>
                <a:spcPts val="0"/>
              </a:spcAft>
              <a:buSzPts val="1800"/>
              <a:buChar char="●"/>
              <a:defRPr/>
            </a:lvl7pPr>
            <a:lvl8pPr indent="-342900" lvl="7" marL="3657600" rtl="0" algn="l">
              <a:lnSpc>
                <a:spcPct val="90000"/>
              </a:lnSpc>
              <a:spcBef>
                <a:spcPts val="300"/>
              </a:spcBef>
              <a:spcAft>
                <a:spcPts val="0"/>
              </a:spcAft>
              <a:buSzPts val="1800"/>
              <a:buChar char="○"/>
              <a:defRPr/>
            </a:lvl8pPr>
            <a:lvl9pPr indent="-342900" lvl="8" marL="4114800" rtl="0" algn="l">
              <a:lnSpc>
                <a:spcPct val="90000"/>
              </a:lnSpc>
              <a:spcBef>
                <a:spcPts val="300"/>
              </a:spcBef>
              <a:spcAft>
                <a:spcPts val="300"/>
              </a:spcAft>
              <a:buSzPts val="1800"/>
              <a:buChar char="■"/>
              <a:defRPr/>
            </a:lvl9pPr>
          </a:lstStyle>
          <a:p/>
        </p:txBody>
      </p:sp>
      <p:sp>
        <p:nvSpPr>
          <p:cNvPr id="54" name="Google Shape;54;p13"/>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 name="Google Shape;55;p13"/>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
        <p:nvSpPr>
          <p:cNvPr id="56" name="Google Shape;56;p13"/>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sz="675" cap="none">
                <a:solidFill>
                  <a:srgbClr val="FFFFF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57" name="Shape 57"/>
        <p:cNvGrpSpPr/>
        <p:nvPr/>
      </p:nvGrpSpPr>
      <p:grpSpPr>
        <a:xfrm>
          <a:off x="0" y="0"/>
          <a:ext cx="0" cy="0"/>
          <a:chOff x="0" y="0"/>
          <a:chExt cx="0" cy="0"/>
        </a:xfrm>
      </p:grpSpPr>
      <p:sp>
        <p:nvSpPr>
          <p:cNvPr id="58" name="Google Shape;58;p14"/>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lvl1pPr lvl="0" rtl="0" algn="l">
              <a:lnSpc>
                <a:spcPct val="85000"/>
              </a:lnSpc>
              <a:spcBef>
                <a:spcPts val="0"/>
              </a:spcBef>
              <a:spcAft>
                <a:spcPts val="0"/>
              </a:spcAft>
              <a:buClr>
                <a:srgbClr val="FEFEFE"/>
              </a:buClr>
              <a:buSzPts val="3600"/>
              <a:buFont typeface="Calibri"/>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 name="Google Shape;59;p14"/>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lvl1pPr indent="-342900" lvl="0" marL="457200" rtl="0" algn="l">
              <a:lnSpc>
                <a:spcPct val="90000"/>
              </a:lnSpc>
              <a:spcBef>
                <a:spcPts val="900"/>
              </a:spcBef>
              <a:spcAft>
                <a:spcPts val="0"/>
              </a:spcAft>
              <a:buSzPts val="1800"/>
              <a:buChar char="●"/>
              <a:defRPr/>
            </a:lvl1pPr>
            <a:lvl2pPr indent="-342900" lvl="1" marL="914400" rtl="0" algn="l">
              <a:lnSpc>
                <a:spcPct val="90000"/>
              </a:lnSpc>
              <a:spcBef>
                <a:spcPts val="150"/>
              </a:spcBef>
              <a:spcAft>
                <a:spcPts val="0"/>
              </a:spcAft>
              <a:buSzPts val="1800"/>
              <a:buChar char="○"/>
              <a:defRPr/>
            </a:lvl2pPr>
            <a:lvl3pPr indent="-342900" lvl="2" marL="1371600" rtl="0" algn="l">
              <a:lnSpc>
                <a:spcPct val="90000"/>
              </a:lnSpc>
              <a:spcBef>
                <a:spcPts val="300"/>
              </a:spcBef>
              <a:spcAft>
                <a:spcPts val="0"/>
              </a:spcAft>
              <a:buSzPts val="1800"/>
              <a:buChar char="■"/>
              <a:defRPr/>
            </a:lvl3pPr>
            <a:lvl4pPr indent="-342900" lvl="3" marL="1828800" rtl="0" algn="l">
              <a:lnSpc>
                <a:spcPct val="90000"/>
              </a:lnSpc>
              <a:spcBef>
                <a:spcPts val="300"/>
              </a:spcBef>
              <a:spcAft>
                <a:spcPts val="0"/>
              </a:spcAft>
              <a:buSzPts val="1800"/>
              <a:buChar char="●"/>
              <a:defRPr/>
            </a:lvl4pPr>
            <a:lvl5pPr indent="-342900" lvl="4" marL="2286000" rtl="0" algn="l">
              <a:lnSpc>
                <a:spcPct val="90000"/>
              </a:lnSpc>
              <a:spcBef>
                <a:spcPts val="300"/>
              </a:spcBef>
              <a:spcAft>
                <a:spcPts val="0"/>
              </a:spcAft>
              <a:buSzPts val="1800"/>
              <a:buChar char="○"/>
              <a:defRPr/>
            </a:lvl5pPr>
            <a:lvl6pPr indent="-342900" lvl="5" marL="2743200" rtl="0" algn="l">
              <a:lnSpc>
                <a:spcPct val="90000"/>
              </a:lnSpc>
              <a:spcBef>
                <a:spcPts val="300"/>
              </a:spcBef>
              <a:spcAft>
                <a:spcPts val="0"/>
              </a:spcAft>
              <a:buSzPts val="1800"/>
              <a:buChar char="■"/>
              <a:defRPr/>
            </a:lvl6pPr>
            <a:lvl7pPr indent="-342900" lvl="6" marL="3200400" rtl="0" algn="l">
              <a:lnSpc>
                <a:spcPct val="90000"/>
              </a:lnSpc>
              <a:spcBef>
                <a:spcPts val="300"/>
              </a:spcBef>
              <a:spcAft>
                <a:spcPts val="0"/>
              </a:spcAft>
              <a:buSzPts val="1800"/>
              <a:buChar char="●"/>
              <a:defRPr/>
            </a:lvl7pPr>
            <a:lvl8pPr indent="-342900" lvl="7" marL="3657600" rtl="0" algn="l">
              <a:lnSpc>
                <a:spcPct val="90000"/>
              </a:lnSpc>
              <a:spcBef>
                <a:spcPts val="300"/>
              </a:spcBef>
              <a:spcAft>
                <a:spcPts val="0"/>
              </a:spcAft>
              <a:buSzPts val="1800"/>
              <a:buChar char="○"/>
              <a:defRPr/>
            </a:lvl8pPr>
            <a:lvl9pPr indent="-342900" lvl="8" marL="4114800" rtl="0" algn="l">
              <a:lnSpc>
                <a:spcPct val="90000"/>
              </a:lnSpc>
              <a:spcBef>
                <a:spcPts val="300"/>
              </a:spcBef>
              <a:spcAft>
                <a:spcPts val="300"/>
              </a:spcAft>
              <a:buSzPts val="1800"/>
              <a:buChar char="■"/>
              <a:defRPr/>
            </a:lvl9pPr>
          </a:lstStyle>
          <a:p/>
        </p:txBody>
      </p:sp>
      <p:sp>
        <p:nvSpPr>
          <p:cNvPr id="60" name="Google Shape;60;p14"/>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1" name="Google Shape;61;p14"/>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
        <p:nvSpPr>
          <p:cNvPr id="62" name="Google Shape;62;p14"/>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sz="675" cap="none">
                <a:solidFill>
                  <a:srgbClr val="FFFFF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TOMMASO TURCHI - </a:t>
            </a:r>
            <a:r>
              <a:rPr lang="it" sz="1000"/>
              <a:t>IUM</a:t>
            </a:r>
            <a:r>
              <a:rPr lang="it" sz="1000"/>
              <a:t>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0.jpg"/><Relationship Id="rId4" Type="http://schemas.openxmlformats.org/officeDocument/2006/relationships/image" Target="../media/image26.png"/><Relationship Id="rId5" Type="http://schemas.openxmlformats.org/officeDocument/2006/relationships/image" Target="../media/image31.png"/></Relationships>
</file>

<file path=ppt/slides/_rels/slide23.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40.png"/><Relationship Id="rId12" Type="http://schemas.openxmlformats.org/officeDocument/2006/relationships/image" Target="../media/image46.png"/><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7.jpg"/><Relationship Id="rId4" Type="http://schemas.openxmlformats.org/officeDocument/2006/relationships/image" Target="../media/image29.png"/><Relationship Id="rId9" Type="http://schemas.openxmlformats.org/officeDocument/2006/relationships/image" Target="../media/image34.png"/><Relationship Id="rId5" Type="http://schemas.openxmlformats.org/officeDocument/2006/relationships/image" Target="../media/image38.png"/><Relationship Id="rId6" Type="http://schemas.openxmlformats.org/officeDocument/2006/relationships/image" Target="../media/image27.png"/><Relationship Id="rId7" Type="http://schemas.openxmlformats.org/officeDocument/2006/relationships/image" Target="../media/image45.png"/><Relationship Id="rId8" Type="http://schemas.openxmlformats.org/officeDocument/2006/relationships/image" Target="../media/image36.png"/></Relationships>
</file>

<file path=ppt/slides/_rels/slide24.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35.png"/><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2.jpg"/><Relationship Id="rId4" Type="http://schemas.openxmlformats.org/officeDocument/2006/relationships/image" Target="../media/image37.png"/><Relationship Id="rId9" Type="http://schemas.openxmlformats.org/officeDocument/2006/relationships/image" Target="../media/image42.png"/><Relationship Id="rId5" Type="http://schemas.openxmlformats.org/officeDocument/2006/relationships/image" Target="../media/image39.png"/><Relationship Id="rId6" Type="http://schemas.openxmlformats.org/officeDocument/2006/relationships/image" Target="../media/image33.png"/><Relationship Id="rId7" Type="http://schemas.openxmlformats.org/officeDocument/2006/relationships/image" Target="../media/image44.png"/><Relationship Id="rId8"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aws.amazon.com/solutions/case-studies/irobot-iot/" TargetMode="Externa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www.oreilly.com/library/view/user-experience-design/9781492048145/" TargetMode="Externa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UX for IoT</a:t>
            </a:r>
            <a:endParaRPr/>
          </a:p>
        </p:txBody>
      </p:sp>
      <p:sp>
        <p:nvSpPr>
          <p:cNvPr id="68" name="Google Shape;68;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UX for connected devices</a:t>
            </a:r>
            <a:endParaRPr/>
          </a:p>
        </p:txBody>
      </p:sp>
      <p:sp>
        <p:nvSpPr>
          <p:cNvPr id="74" name="Google Shape;74;p16"/>
          <p:cNvSpPr txBox="1"/>
          <p:nvPr>
            <p:ph idx="1" type="body"/>
          </p:nvPr>
        </p:nvSpPr>
        <p:spPr>
          <a:xfrm>
            <a:off x="311700" y="619075"/>
            <a:ext cx="5721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When we think of design for connected products, we tend to focus on the most visible and tangible elements: </a:t>
            </a:r>
            <a:endParaRPr/>
          </a:p>
          <a:p>
            <a:pPr indent="-342900" lvl="0" marL="457200" rtl="0" algn="l">
              <a:spcBef>
                <a:spcPts val="1600"/>
              </a:spcBef>
              <a:spcAft>
                <a:spcPts val="0"/>
              </a:spcAft>
              <a:buSzPts val="1800"/>
              <a:buChar char="●"/>
            </a:pPr>
            <a:r>
              <a:rPr lang="it"/>
              <a:t>the industrial design </a:t>
            </a:r>
            <a:endParaRPr/>
          </a:p>
          <a:p>
            <a:pPr indent="-342900" lvl="0" marL="457200" rtl="0" algn="l">
              <a:spcBef>
                <a:spcPts val="0"/>
              </a:spcBef>
              <a:spcAft>
                <a:spcPts val="0"/>
              </a:spcAft>
              <a:buSzPts val="1800"/>
              <a:buChar char="●"/>
            </a:pPr>
            <a:r>
              <a:rPr lang="it"/>
              <a:t>the user interfaces (UIs) found in mobile and web apps and on the devices themselves. </a:t>
            </a:r>
            <a:endParaRPr/>
          </a:p>
          <a:p>
            <a:pPr indent="0" lvl="0" marL="0" rtl="0" algn="l">
              <a:spcBef>
                <a:spcPts val="1600"/>
              </a:spcBef>
              <a:spcAft>
                <a:spcPts val="0"/>
              </a:spcAft>
              <a:buNone/>
            </a:pPr>
            <a:r>
              <a:rPr lang="it"/>
              <a:t>They are important concerns, which have a major impact on the end user’s experience of the product. But they’re only part of the picture. </a:t>
            </a:r>
            <a:endParaRPr/>
          </a:p>
          <a:p>
            <a:pPr indent="0" lvl="0" marL="0" rtl="0" algn="l">
              <a:spcBef>
                <a:spcPts val="1600"/>
              </a:spcBef>
              <a:spcAft>
                <a:spcPts val="0"/>
              </a:spcAft>
              <a:buClr>
                <a:schemeClr val="dk1"/>
              </a:buClr>
              <a:buSzPts val="1100"/>
              <a:buFont typeface="Arial"/>
              <a:buNone/>
            </a:pPr>
            <a:r>
              <a:rPr lang="it"/>
              <a:t>You could create a beautiful UI, and a stunning piece of hardware, </a:t>
            </a:r>
            <a:r>
              <a:rPr b="1" lang="it"/>
              <a:t>and users could still have a poor experience of the product as a whole.</a:t>
            </a:r>
            <a:endParaRPr b="1"/>
          </a:p>
          <a:p>
            <a:pPr indent="0" lvl="0" marL="0" rtl="0" algn="l">
              <a:spcBef>
                <a:spcPts val="1600"/>
              </a:spcBef>
              <a:spcAft>
                <a:spcPts val="1600"/>
              </a:spcAft>
              <a:buNone/>
            </a:pPr>
            <a:r>
              <a:t/>
            </a:r>
            <a:endParaRPr/>
          </a:p>
        </p:txBody>
      </p:sp>
      <p:pic>
        <p:nvPicPr>
          <p:cNvPr id="75" name="Google Shape;75;p16"/>
          <p:cNvPicPr preferRelativeResize="0"/>
          <p:nvPr/>
        </p:nvPicPr>
        <p:blipFill>
          <a:blip r:embed="rId3">
            <a:alphaModFix/>
          </a:blip>
          <a:stretch>
            <a:fillRect/>
          </a:stretch>
        </p:blipFill>
        <p:spPr>
          <a:xfrm>
            <a:off x="6032900" y="696500"/>
            <a:ext cx="2799400" cy="4199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it" sz="3240"/>
              <a:t>INTERNET</a:t>
            </a:r>
            <a:endParaRPr/>
          </a:p>
        </p:txBody>
      </p:sp>
      <p:sp>
        <p:nvSpPr>
          <p:cNvPr id="81" name="Google Shape;81;p17"/>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pic>
        <p:nvPicPr>
          <p:cNvPr id="82" name="Google Shape;82;p17"/>
          <p:cNvPicPr preferRelativeResize="0"/>
          <p:nvPr/>
        </p:nvPicPr>
        <p:blipFill rotWithShape="1">
          <a:blip r:embed="rId3">
            <a:alphaModFix/>
          </a:blip>
          <a:srcRect b="0" l="0" r="0" t="57569"/>
          <a:stretch/>
        </p:blipFill>
        <p:spPr>
          <a:xfrm>
            <a:off x="152400" y="808948"/>
            <a:ext cx="8987299" cy="871025"/>
          </a:xfrm>
          <a:prstGeom prst="rect">
            <a:avLst/>
          </a:prstGeom>
          <a:noFill/>
          <a:ln>
            <a:noFill/>
          </a:ln>
        </p:spPr>
      </p:pic>
      <p:pic>
        <p:nvPicPr>
          <p:cNvPr descr="Image result for internet" id="83" name="Google Shape;83;p17"/>
          <p:cNvPicPr preferRelativeResize="0"/>
          <p:nvPr/>
        </p:nvPicPr>
        <p:blipFill rotWithShape="1">
          <a:blip r:embed="rId4">
            <a:alphaModFix/>
          </a:blip>
          <a:srcRect b="0" l="0" r="0" t="0"/>
          <a:stretch/>
        </p:blipFill>
        <p:spPr>
          <a:xfrm>
            <a:off x="2289175" y="1941513"/>
            <a:ext cx="4565650" cy="2568179"/>
          </a:xfrm>
          <a:prstGeom prst="rect">
            <a:avLst/>
          </a:prstGeom>
          <a:noFill/>
          <a:ln>
            <a:noFill/>
          </a:ln>
        </p:spPr>
      </p:pic>
      <p:sp>
        <p:nvSpPr>
          <p:cNvPr id="84" name="Google Shape;84;p17"/>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sz="675" cap="none">
                <a:solidFill>
                  <a:srgbClr val="FFFFFF"/>
                </a:solidFill>
                <a:latin typeface="Calibri"/>
                <a:ea typeface="Calibri"/>
                <a:cs typeface="Calibri"/>
                <a:sym typeface="Calibri"/>
              </a:rPr>
              <a:t>INDUSTRIAL IOT – MASTER 4.0 2019  - DANIELE MAZZEI - ALL RIGHTS RESERVED</a:t>
            </a:r>
            <a:endParaRPr sz="675" cap="none">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Internet of Things</a:t>
            </a:r>
            <a:endParaRPr/>
          </a:p>
        </p:txBody>
      </p:sp>
      <p:sp>
        <p:nvSpPr>
          <p:cNvPr id="90" name="Google Shape;90;p18"/>
          <p:cNvSpPr txBox="1"/>
          <p:nvPr>
            <p:ph idx="1" type="body"/>
          </p:nvPr>
        </p:nvSpPr>
        <p:spPr>
          <a:xfrm>
            <a:off x="311700" y="619075"/>
            <a:ext cx="8520600" cy="1491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The Internet of Things (IoT) is a system of interrelated computing devices, mechanical and digital machines, objects, animals or people </a:t>
            </a:r>
            <a:r>
              <a:rPr b="1" lang="it"/>
              <a:t>that are provided with unique identifiers (UIDs) and the ability to transfer data over a network</a:t>
            </a:r>
            <a:r>
              <a:rPr lang="it"/>
              <a:t> without requiring human-to-human or human-to-computer interaction</a:t>
            </a:r>
            <a:endParaRPr/>
          </a:p>
        </p:txBody>
      </p:sp>
      <p:pic>
        <p:nvPicPr>
          <p:cNvPr id="91" name="Google Shape;91;p18"/>
          <p:cNvPicPr preferRelativeResize="0"/>
          <p:nvPr/>
        </p:nvPicPr>
        <p:blipFill>
          <a:blip r:embed="rId3">
            <a:alphaModFix/>
          </a:blip>
          <a:stretch>
            <a:fillRect/>
          </a:stretch>
        </p:blipFill>
        <p:spPr>
          <a:xfrm>
            <a:off x="2299763" y="2110975"/>
            <a:ext cx="4544484" cy="27277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it" sz="3240"/>
              <a:t>THE INDUSTRY 4.0</a:t>
            </a:r>
            <a:endParaRPr/>
          </a:p>
        </p:txBody>
      </p:sp>
      <p:sp>
        <p:nvSpPr>
          <p:cNvPr id="97" name="Google Shape;97;p19"/>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sp>
        <p:nvSpPr>
          <p:cNvPr id="98" name="Google Shape;98;p19"/>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sz="675" cap="none">
                <a:solidFill>
                  <a:srgbClr val="FFFFFF"/>
                </a:solidFill>
                <a:latin typeface="Calibri"/>
                <a:ea typeface="Calibri"/>
                <a:cs typeface="Calibri"/>
                <a:sym typeface="Calibri"/>
              </a:rPr>
              <a:t>INDUSTRIAL IOT – MASTER 4.0 2019  - DANIELE MAZZEI - ALL RIGHTS RESERVED</a:t>
            </a:r>
            <a:endParaRPr sz="675" cap="none">
              <a:solidFill>
                <a:srgbClr val="FFFFFF"/>
              </a:solidFill>
              <a:latin typeface="Calibri"/>
              <a:ea typeface="Calibri"/>
              <a:cs typeface="Calibri"/>
              <a:sym typeface="Calibri"/>
            </a:endParaRPr>
          </a:p>
        </p:txBody>
      </p:sp>
      <p:grpSp>
        <p:nvGrpSpPr>
          <p:cNvPr id="99" name="Google Shape;99;p19"/>
          <p:cNvGrpSpPr/>
          <p:nvPr/>
        </p:nvGrpSpPr>
        <p:grpSpPr>
          <a:xfrm>
            <a:off x="683560" y="932914"/>
            <a:ext cx="7434432" cy="3312695"/>
            <a:chOff x="485800" y="1074073"/>
            <a:chExt cx="8172400" cy="3641525"/>
          </a:xfrm>
        </p:grpSpPr>
        <p:pic>
          <p:nvPicPr>
            <p:cNvPr descr="Image result for industry 4.0" id="100" name="Google Shape;100;p19"/>
            <p:cNvPicPr preferRelativeResize="0"/>
            <p:nvPr/>
          </p:nvPicPr>
          <p:blipFill rotWithShape="1">
            <a:blip r:embed="rId3">
              <a:alphaModFix/>
            </a:blip>
            <a:srcRect b="0" l="0" r="0" t="0"/>
            <a:stretch/>
          </p:blipFill>
          <p:spPr>
            <a:xfrm>
              <a:off x="485800" y="1074073"/>
              <a:ext cx="8172400" cy="3641525"/>
            </a:xfrm>
            <a:prstGeom prst="rect">
              <a:avLst/>
            </a:prstGeom>
            <a:noFill/>
            <a:ln>
              <a:noFill/>
            </a:ln>
          </p:spPr>
        </p:pic>
        <p:sp>
          <p:nvSpPr>
            <p:cNvPr id="101" name="Google Shape;101;p19"/>
            <p:cNvSpPr/>
            <p:nvPr/>
          </p:nvSpPr>
          <p:spPr>
            <a:xfrm>
              <a:off x="6912260" y="3579862"/>
              <a:ext cx="1656300" cy="972000"/>
            </a:xfrm>
            <a:prstGeom prst="rect">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 name="Google Shape;102;p19"/>
            <p:cNvSpPr/>
            <p:nvPr/>
          </p:nvSpPr>
          <p:spPr>
            <a:xfrm>
              <a:off x="7884368" y="3111810"/>
              <a:ext cx="684000" cy="468000"/>
            </a:xfrm>
            <a:prstGeom prst="triangle">
              <a:avLst>
                <a:gd fmla="val 0" name="adj"/>
              </a:avLst>
            </a:prstGeom>
            <a:solidFill>
              <a:srgbClr val="FF0000"/>
            </a:solid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it" sz="3240"/>
              <a:t>THE INDUSTRY 4.0 </a:t>
            </a:r>
            <a:endParaRPr/>
          </a:p>
        </p:txBody>
      </p:sp>
      <p:sp>
        <p:nvSpPr>
          <p:cNvPr id="108" name="Google Shape;108;p20"/>
          <p:cNvSpPr txBox="1"/>
          <p:nvPr>
            <p:ph idx="1" type="body"/>
          </p:nvPr>
        </p:nvSpPr>
        <p:spPr>
          <a:xfrm>
            <a:off x="2701318" y="1033063"/>
            <a:ext cx="5665500" cy="3008400"/>
          </a:xfrm>
          <a:prstGeom prst="rect">
            <a:avLst/>
          </a:prstGeom>
          <a:noFill/>
          <a:ln>
            <a:noFill/>
          </a:ln>
        </p:spPr>
        <p:txBody>
          <a:bodyPr anchorCtr="0" anchor="t" bIns="45700" lIns="0" spcFirstLastPara="1" rIns="0" wrap="square" tIns="45700">
            <a:noAutofit/>
          </a:bodyPr>
          <a:lstStyle/>
          <a:p>
            <a:pPr indent="-101600" lvl="0" marL="68580" rtl="0" algn="l">
              <a:lnSpc>
                <a:spcPct val="90000"/>
              </a:lnSpc>
              <a:spcBef>
                <a:spcPts val="0"/>
              </a:spcBef>
              <a:spcAft>
                <a:spcPts val="0"/>
              </a:spcAft>
              <a:buSzPts val="1600"/>
              <a:buChar char="●"/>
            </a:pPr>
            <a:r>
              <a:rPr lang="it" sz="1600"/>
              <a:t>Industry 4.0 describes the </a:t>
            </a:r>
            <a:r>
              <a:rPr b="1" i="1" lang="it" sz="1600"/>
              <a:t>organisation of production processes </a:t>
            </a:r>
            <a:r>
              <a:rPr i="1" lang="it" sz="1600"/>
              <a:t>based on </a:t>
            </a:r>
            <a:r>
              <a:rPr b="1" i="1" lang="it" sz="1600"/>
              <a:t>technology and devices </a:t>
            </a:r>
            <a:r>
              <a:rPr b="1" i="1" lang="it" sz="1600">
                <a:highlight>
                  <a:srgbClr val="FFFF00"/>
                </a:highlight>
              </a:rPr>
              <a:t>autonomously communicating with each other along the value chain</a:t>
            </a:r>
            <a:r>
              <a:rPr i="1" lang="it" sz="1600"/>
              <a:t>: </a:t>
            </a:r>
            <a:r>
              <a:rPr lang="it" sz="1600"/>
              <a:t>a model of the ‘smart’ factory of the future where computer-driven </a:t>
            </a:r>
            <a:r>
              <a:rPr b="1" lang="it" sz="1600">
                <a:highlight>
                  <a:srgbClr val="FFFF00"/>
                </a:highlight>
              </a:rPr>
              <a:t>systems monitor physical processes, create a virtual copy of the physical world </a:t>
            </a:r>
            <a:r>
              <a:rPr lang="it" sz="1600"/>
              <a:t>and make decentralised decisions based on self-organisation mechanisms. The concept takes account of the increased digitalisation of manufacturing industries where </a:t>
            </a:r>
            <a:r>
              <a:rPr b="1" lang="it" sz="1600">
                <a:highlight>
                  <a:srgbClr val="FFFF00"/>
                </a:highlight>
              </a:rPr>
              <a:t>physical objects are seamlessly integrated into the information network</a:t>
            </a:r>
            <a:r>
              <a:rPr lang="it" sz="1600"/>
              <a:t>, allowing for decentralised production and real-time adaptation in the future. </a:t>
            </a:r>
            <a:endParaRPr sz="1600"/>
          </a:p>
          <a:p>
            <a:pPr indent="-101600" lvl="0" marL="68580" rtl="0" algn="l">
              <a:lnSpc>
                <a:spcPct val="90000"/>
              </a:lnSpc>
              <a:spcBef>
                <a:spcPts val="1050"/>
              </a:spcBef>
              <a:spcAft>
                <a:spcPts val="0"/>
              </a:spcAft>
              <a:buSzPts val="1600"/>
              <a:buChar char="●"/>
            </a:pPr>
            <a:r>
              <a:rPr lang="it" sz="1600"/>
              <a:t>Industry 4.0 was initially developed by the German government to create a coherent policy framework to maintain Germany’s industrial competitiveness. </a:t>
            </a:r>
            <a:endParaRPr sz="1600"/>
          </a:p>
        </p:txBody>
      </p:sp>
      <p:sp>
        <p:nvSpPr>
          <p:cNvPr id="109" name="Google Shape;109;p20"/>
          <p:cNvSpPr txBox="1"/>
          <p:nvPr/>
        </p:nvSpPr>
        <p:spPr>
          <a:xfrm>
            <a:off x="279207" y="4692910"/>
            <a:ext cx="8585700" cy="26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it" sz="1100">
                <a:solidFill>
                  <a:schemeClr val="dk1"/>
                </a:solidFill>
                <a:latin typeface="Calibri"/>
                <a:ea typeface="Calibri"/>
                <a:cs typeface="Calibri"/>
                <a:sym typeface="Calibri"/>
              </a:rPr>
              <a:t>From: Industry 4.0 Study for the ITRE Committee - </a:t>
            </a:r>
            <a:r>
              <a:rPr i="1" lang="it" sz="1100">
                <a:solidFill>
                  <a:schemeClr val="dk1"/>
                </a:solidFill>
                <a:latin typeface="Calibri"/>
                <a:ea typeface="Calibri"/>
                <a:cs typeface="Calibri"/>
                <a:sym typeface="Calibri"/>
              </a:rPr>
              <a:t>www.europarl.europa.eu/RegData/etudes/STUD/.../IPOL_STU(2016)570007_EN.pdf</a:t>
            </a:r>
            <a:endParaRPr sz="1100">
              <a:solidFill>
                <a:schemeClr val="dk1"/>
              </a:solidFill>
              <a:latin typeface="Calibri"/>
              <a:ea typeface="Calibri"/>
              <a:cs typeface="Calibri"/>
              <a:sym typeface="Calibri"/>
            </a:endParaRPr>
          </a:p>
        </p:txBody>
      </p:sp>
      <p:pic>
        <p:nvPicPr>
          <p:cNvPr id="110" name="Google Shape;110;p20"/>
          <p:cNvPicPr preferRelativeResize="0"/>
          <p:nvPr/>
        </p:nvPicPr>
        <p:blipFill rotWithShape="1">
          <a:blip r:embed="rId3">
            <a:alphaModFix/>
          </a:blip>
          <a:srcRect b="0" l="0" r="0" t="0"/>
          <a:stretch/>
        </p:blipFill>
        <p:spPr>
          <a:xfrm>
            <a:off x="100059" y="1033063"/>
            <a:ext cx="2356542" cy="2946525"/>
          </a:xfrm>
          <a:prstGeom prst="rect">
            <a:avLst/>
          </a:prstGeom>
          <a:noFill/>
          <a:ln>
            <a:noFill/>
          </a:ln>
        </p:spPr>
      </p:pic>
      <p:sp>
        <p:nvSpPr>
          <p:cNvPr id="111" name="Google Shape;111;p20"/>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sz="675" cap="none">
                <a:solidFill>
                  <a:srgbClr val="FFFFFF"/>
                </a:solidFill>
                <a:latin typeface="Calibri"/>
                <a:ea typeface="Calibri"/>
                <a:cs typeface="Calibri"/>
                <a:sym typeface="Calibri"/>
              </a:rPr>
              <a:t>INDUSTRIAL IOT – MASTER 4.0 2019  - DANIELE MAZZEI - ALL RIGHTS RESERVED</a:t>
            </a:r>
            <a:endParaRPr sz="675" cap="none">
              <a:solidFill>
                <a:srgbClr val="FFFFF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it" sz="3240"/>
              <a:t>THE INDUSTRY 4.0</a:t>
            </a:r>
            <a:endParaRPr/>
          </a:p>
        </p:txBody>
      </p:sp>
      <p:sp>
        <p:nvSpPr>
          <p:cNvPr id="117" name="Google Shape;117;p21"/>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sp>
        <p:nvSpPr>
          <p:cNvPr id="118" name="Google Shape;118;p21"/>
          <p:cNvSpPr txBox="1"/>
          <p:nvPr/>
        </p:nvSpPr>
        <p:spPr>
          <a:xfrm>
            <a:off x="8284195" y="4603090"/>
            <a:ext cx="554100" cy="273900"/>
          </a:xfrm>
          <a:prstGeom prst="rect">
            <a:avLst/>
          </a:prstGeom>
          <a:noFill/>
          <a:ln>
            <a:noFill/>
          </a:ln>
        </p:spPr>
        <p:txBody>
          <a:bodyPr anchorCtr="0" anchor="ctr" bIns="45700" lIns="0" spcFirstLastPara="1" rIns="91425" wrap="square" tIns="45700">
            <a:noAutofit/>
          </a:bodyPr>
          <a:lstStyle/>
          <a:p>
            <a:pPr indent="-228600" lvl="0" marL="228600" marR="0" rtl="0" algn="ctr">
              <a:lnSpc>
                <a:spcPct val="80000"/>
              </a:lnSpc>
              <a:spcBef>
                <a:spcPts val="0"/>
              </a:spcBef>
              <a:spcAft>
                <a:spcPts val="0"/>
              </a:spcAft>
              <a:buClr>
                <a:schemeClr val="accent1"/>
              </a:buClr>
              <a:buSzPts val="1040"/>
              <a:buFont typeface="Noto Sans Symbols"/>
              <a:buNone/>
            </a:pPr>
            <a:fld id="{00000000-1234-1234-1234-123412341234}" type="slidenum">
              <a:rPr b="0" lang="it" sz="1387">
                <a:solidFill>
                  <a:schemeClr val="lt1"/>
                </a:solidFill>
                <a:latin typeface="Calibri"/>
                <a:ea typeface="Calibri"/>
                <a:cs typeface="Calibri"/>
                <a:sym typeface="Calibri"/>
              </a:rPr>
              <a:t>‹#›</a:t>
            </a:fld>
            <a:endParaRPr b="0" sz="1387">
              <a:solidFill>
                <a:schemeClr val="lt1"/>
              </a:solidFill>
              <a:latin typeface="Calibri"/>
              <a:ea typeface="Calibri"/>
              <a:cs typeface="Calibri"/>
              <a:sym typeface="Calibri"/>
            </a:endParaRPr>
          </a:p>
        </p:txBody>
      </p:sp>
      <p:pic>
        <p:nvPicPr>
          <p:cNvPr descr="Image result for industry 3.0" id="119" name="Google Shape;119;p21"/>
          <p:cNvPicPr preferRelativeResize="0"/>
          <p:nvPr/>
        </p:nvPicPr>
        <p:blipFill rotWithShape="1">
          <a:blip r:embed="rId3">
            <a:alphaModFix/>
          </a:blip>
          <a:srcRect b="0" l="0" r="0" t="0"/>
          <a:stretch/>
        </p:blipFill>
        <p:spPr>
          <a:xfrm>
            <a:off x="1096485" y="797346"/>
            <a:ext cx="6951031" cy="3941743"/>
          </a:xfrm>
          <a:prstGeom prst="rect">
            <a:avLst/>
          </a:prstGeom>
          <a:noFill/>
          <a:ln>
            <a:noFill/>
          </a:ln>
        </p:spPr>
      </p:pic>
      <p:sp>
        <p:nvSpPr>
          <p:cNvPr id="120" name="Google Shape;120;p21"/>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sz="675" cap="none">
                <a:solidFill>
                  <a:srgbClr val="FFFFFF"/>
                </a:solidFill>
                <a:latin typeface="Calibri"/>
                <a:ea typeface="Calibri"/>
                <a:cs typeface="Calibri"/>
                <a:sym typeface="Calibri"/>
              </a:rPr>
              <a:t>INDUSTRIAL IOT – MASTER 4.0 2019  - DANIELE MAZZEI - ALL RIGHTS RESERVED</a:t>
            </a:r>
            <a:endParaRPr sz="675" cap="none">
              <a:solidFill>
                <a:srgbClr val="FFFFF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it" sz="3240"/>
              <a:t>THE INDUSTRY 4.0</a:t>
            </a:r>
            <a:endParaRPr/>
          </a:p>
        </p:txBody>
      </p:sp>
      <p:sp>
        <p:nvSpPr>
          <p:cNvPr id="126" name="Google Shape;126;p22"/>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sp>
        <p:nvSpPr>
          <p:cNvPr id="127" name="Google Shape;127;p22"/>
          <p:cNvSpPr txBox="1"/>
          <p:nvPr/>
        </p:nvSpPr>
        <p:spPr>
          <a:xfrm>
            <a:off x="8284195" y="4603090"/>
            <a:ext cx="554100" cy="273900"/>
          </a:xfrm>
          <a:prstGeom prst="rect">
            <a:avLst/>
          </a:prstGeom>
          <a:noFill/>
          <a:ln>
            <a:noFill/>
          </a:ln>
        </p:spPr>
        <p:txBody>
          <a:bodyPr anchorCtr="0" anchor="ctr" bIns="45700" lIns="0" spcFirstLastPara="1" rIns="91425" wrap="square" tIns="45700">
            <a:noAutofit/>
          </a:bodyPr>
          <a:lstStyle/>
          <a:p>
            <a:pPr indent="-228600" lvl="0" marL="228600" marR="0" rtl="0" algn="ctr">
              <a:lnSpc>
                <a:spcPct val="80000"/>
              </a:lnSpc>
              <a:spcBef>
                <a:spcPts val="0"/>
              </a:spcBef>
              <a:spcAft>
                <a:spcPts val="0"/>
              </a:spcAft>
              <a:buClr>
                <a:schemeClr val="accent1"/>
              </a:buClr>
              <a:buSzPts val="1040"/>
              <a:buFont typeface="Noto Sans Symbols"/>
              <a:buNone/>
            </a:pPr>
            <a:fld id="{00000000-1234-1234-1234-123412341234}" type="slidenum">
              <a:rPr b="0" lang="it" sz="1387">
                <a:solidFill>
                  <a:schemeClr val="lt1"/>
                </a:solidFill>
                <a:latin typeface="Calibri"/>
                <a:ea typeface="Calibri"/>
                <a:cs typeface="Calibri"/>
                <a:sym typeface="Calibri"/>
              </a:rPr>
              <a:t>‹#›</a:t>
            </a:fld>
            <a:endParaRPr b="0" sz="1387">
              <a:solidFill>
                <a:schemeClr val="lt1"/>
              </a:solidFill>
              <a:latin typeface="Calibri"/>
              <a:ea typeface="Calibri"/>
              <a:cs typeface="Calibri"/>
              <a:sym typeface="Calibri"/>
            </a:endParaRPr>
          </a:p>
        </p:txBody>
      </p:sp>
      <p:pic>
        <p:nvPicPr>
          <p:cNvPr descr="Image result for industry 3.0" id="128" name="Google Shape;128;p22"/>
          <p:cNvPicPr preferRelativeResize="0"/>
          <p:nvPr/>
        </p:nvPicPr>
        <p:blipFill rotWithShape="1">
          <a:blip r:embed="rId3">
            <a:alphaModFix/>
          </a:blip>
          <a:srcRect b="0" l="0" r="0" t="0"/>
          <a:stretch/>
        </p:blipFill>
        <p:spPr>
          <a:xfrm>
            <a:off x="1096485" y="797346"/>
            <a:ext cx="6951031" cy="3941743"/>
          </a:xfrm>
          <a:prstGeom prst="rect">
            <a:avLst/>
          </a:prstGeom>
          <a:noFill/>
          <a:ln>
            <a:noFill/>
          </a:ln>
        </p:spPr>
      </p:pic>
      <p:sp>
        <p:nvSpPr>
          <p:cNvPr id="129" name="Google Shape;129;p22"/>
          <p:cNvSpPr/>
          <p:nvPr/>
        </p:nvSpPr>
        <p:spPr>
          <a:xfrm>
            <a:off x="7086600" y="1364456"/>
            <a:ext cx="446400" cy="1853700"/>
          </a:xfrm>
          <a:prstGeom prst="ellipse">
            <a:avLst/>
          </a:prstGeom>
          <a:no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22"/>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sz="675" cap="none">
                <a:solidFill>
                  <a:srgbClr val="FFFFFF"/>
                </a:solidFill>
                <a:latin typeface="Calibri"/>
                <a:ea typeface="Calibri"/>
                <a:cs typeface="Calibri"/>
                <a:sym typeface="Calibri"/>
              </a:rPr>
              <a:t>INDUSTRIAL IOT – MASTER 4.0 2019  - DANIELE MAZZEI - ALL RIGHTS RESERVED</a:t>
            </a:r>
            <a:endParaRPr sz="675" cap="none">
              <a:solidFill>
                <a:srgbClr val="FFFFF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it" sz="3240"/>
              <a:t>INDUSTRY 4.0</a:t>
            </a:r>
            <a:endParaRPr/>
          </a:p>
        </p:txBody>
      </p:sp>
      <p:sp>
        <p:nvSpPr>
          <p:cNvPr id="136" name="Google Shape;136;p23"/>
          <p:cNvSpPr txBox="1"/>
          <p:nvPr>
            <p:ph idx="1" type="body"/>
          </p:nvPr>
        </p:nvSpPr>
        <p:spPr>
          <a:xfrm>
            <a:off x="914492" y="764727"/>
            <a:ext cx="7883100" cy="35928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pic>
        <p:nvPicPr>
          <p:cNvPr id="137" name="Google Shape;137;p23"/>
          <p:cNvPicPr preferRelativeResize="0"/>
          <p:nvPr/>
        </p:nvPicPr>
        <p:blipFill rotWithShape="1">
          <a:blip r:embed="rId3">
            <a:alphaModFix/>
          </a:blip>
          <a:srcRect b="0" l="0" r="0" t="0"/>
          <a:stretch/>
        </p:blipFill>
        <p:spPr>
          <a:xfrm>
            <a:off x="1512026" y="663454"/>
            <a:ext cx="6119949" cy="4093369"/>
          </a:xfrm>
          <a:prstGeom prst="rect">
            <a:avLst/>
          </a:prstGeom>
          <a:noFill/>
          <a:ln>
            <a:noFill/>
          </a:ln>
        </p:spPr>
      </p:pic>
      <p:sp>
        <p:nvSpPr>
          <p:cNvPr id="138" name="Google Shape;138;p23"/>
          <p:cNvSpPr/>
          <p:nvPr/>
        </p:nvSpPr>
        <p:spPr>
          <a:xfrm>
            <a:off x="1597300" y="4345537"/>
            <a:ext cx="6170400" cy="18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it" sz="600">
                <a:solidFill>
                  <a:schemeClr val="lt1"/>
                </a:solidFill>
                <a:latin typeface="Calibri"/>
                <a:ea typeface="Calibri"/>
                <a:cs typeface="Calibri"/>
                <a:sym typeface="Calibri"/>
              </a:rPr>
              <a:t>https://www.accenture.com/us-en/_acnmedia/Accenture/next-gen/reassembling-industry/pdf/Accenture-Driving-Unconventional-Growth-through-IIoT.pdf</a:t>
            </a:r>
            <a:endParaRPr/>
          </a:p>
        </p:txBody>
      </p:sp>
      <p:cxnSp>
        <p:nvCxnSpPr>
          <p:cNvPr id="139" name="Google Shape;139;p23"/>
          <p:cNvCxnSpPr/>
          <p:nvPr/>
        </p:nvCxnSpPr>
        <p:spPr>
          <a:xfrm>
            <a:off x="3402237" y="2153308"/>
            <a:ext cx="2784000" cy="0"/>
          </a:xfrm>
          <a:prstGeom prst="straightConnector1">
            <a:avLst/>
          </a:prstGeom>
          <a:noFill/>
          <a:ln cap="flat" cmpd="sng" w="19050">
            <a:solidFill>
              <a:srgbClr val="C01E46"/>
            </a:solidFill>
            <a:prstDash val="solid"/>
            <a:round/>
            <a:headEnd len="sm" w="sm" type="none"/>
            <a:tailEnd len="sm" w="sm" type="none"/>
          </a:ln>
        </p:spPr>
      </p:cxnSp>
      <p:cxnSp>
        <p:nvCxnSpPr>
          <p:cNvPr id="140" name="Google Shape;140;p23"/>
          <p:cNvCxnSpPr/>
          <p:nvPr/>
        </p:nvCxnSpPr>
        <p:spPr>
          <a:xfrm>
            <a:off x="2052086" y="2514782"/>
            <a:ext cx="4815900" cy="0"/>
          </a:xfrm>
          <a:prstGeom prst="straightConnector1">
            <a:avLst/>
          </a:prstGeom>
          <a:noFill/>
          <a:ln cap="flat" cmpd="sng" w="19050">
            <a:solidFill>
              <a:srgbClr val="C01E46"/>
            </a:solidFill>
            <a:prstDash val="solid"/>
            <a:round/>
            <a:headEnd len="sm" w="sm" type="none"/>
            <a:tailEnd len="sm" w="sm" type="none"/>
          </a:ln>
        </p:spPr>
      </p:cxnSp>
      <p:cxnSp>
        <p:nvCxnSpPr>
          <p:cNvPr id="141" name="Google Shape;141;p23"/>
          <p:cNvCxnSpPr/>
          <p:nvPr/>
        </p:nvCxnSpPr>
        <p:spPr>
          <a:xfrm>
            <a:off x="1654450" y="3244253"/>
            <a:ext cx="5422200" cy="0"/>
          </a:xfrm>
          <a:prstGeom prst="straightConnector1">
            <a:avLst/>
          </a:prstGeom>
          <a:noFill/>
          <a:ln cap="flat" cmpd="sng" w="19050">
            <a:solidFill>
              <a:srgbClr val="C01E46"/>
            </a:solidFill>
            <a:prstDash val="solid"/>
            <a:round/>
            <a:headEnd len="sm" w="sm" type="none"/>
            <a:tailEnd len="sm" w="sm" type="none"/>
          </a:ln>
        </p:spPr>
      </p:cxnSp>
      <p:sp>
        <p:nvSpPr>
          <p:cNvPr id="142" name="Google Shape;142;p23"/>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sz="675" cap="none">
                <a:solidFill>
                  <a:srgbClr val="FFFFFF"/>
                </a:solidFill>
                <a:latin typeface="Calibri"/>
                <a:ea typeface="Calibri"/>
                <a:cs typeface="Calibri"/>
                <a:sym typeface="Calibri"/>
              </a:rPr>
              <a:t>INDUSTRIAL IOT – MASTER 4.0 2019  - DANIELE MAZZEI - ALL RIGHTS RESERVED</a:t>
            </a:r>
            <a:endParaRPr sz="675" cap="none">
              <a:solidFill>
                <a:srgbClr val="FFFFF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24"/>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24"/>
          <p:cNvSpPr/>
          <p:nvPr/>
        </p:nvSpPr>
        <p:spPr>
          <a:xfrm>
            <a:off x="0" y="0"/>
            <a:ext cx="9144000" cy="4750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24"/>
          <p:cNvSpPr txBox="1"/>
          <p:nvPr>
            <p:ph type="title"/>
          </p:nvPr>
        </p:nvSpPr>
        <p:spPr>
          <a:xfrm>
            <a:off x="3886200" y="476209"/>
            <a:ext cx="4776000" cy="10881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Calibri"/>
              <a:buNone/>
            </a:pPr>
            <a:r>
              <a:rPr lang="it"/>
              <a:t>DIGITAL TWIN</a:t>
            </a:r>
            <a:endParaRPr/>
          </a:p>
        </p:txBody>
      </p:sp>
      <p:pic>
        <p:nvPicPr>
          <p:cNvPr descr="Image result for digital twin" id="150" name="Google Shape;150;p24"/>
          <p:cNvPicPr preferRelativeResize="0"/>
          <p:nvPr/>
        </p:nvPicPr>
        <p:blipFill rotWithShape="1">
          <a:blip r:embed="rId3">
            <a:alphaModFix/>
          </a:blip>
          <a:srcRect b="0" l="31497" r="31582" t="0"/>
          <a:stretch/>
        </p:blipFill>
        <p:spPr>
          <a:xfrm>
            <a:off x="20" y="-9096"/>
            <a:ext cx="3490701" cy="5152594"/>
          </a:xfrm>
          <a:prstGeom prst="rect">
            <a:avLst/>
          </a:prstGeom>
          <a:noFill/>
          <a:ln>
            <a:noFill/>
          </a:ln>
        </p:spPr>
      </p:pic>
      <p:cxnSp>
        <p:nvCxnSpPr>
          <p:cNvPr id="151" name="Google Shape;151;p24"/>
          <p:cNvCxnSpPr/>
          <p:nvPr/>
        </p:nvCxnSpPr>
        <p:spPr>
          <a:xfrm>
            <a:off x="3965712" y="1564277"/>
            <a:ext cx="4628100" cy="0"/>
          </a:xfrm>
          <a:prstGeom prst="straightConnector1">
            <a:avLst/>
          </a:prstGeom>
          <a:noFill/>
          <a:ln cap="flat" cmpd="sng" w="9525">
            <a:solidFill>
              <a:srgbClr val="7F7F7F">
                <a:alpha val="89800"/>
              </a:srgbClr>
            </a:solidFill>
            <a:prstDash val="solid"/>
            <a:round/>
            <a:headEnd len="sm" w="sm" type="none"/>
            <a:tailEnd len="sm" w="sm" type="none"/>
          </a:ln>
        </p:spPr>
      </p:cxnSp>
      <p:sp>
        <p:nvSpPr>
          <p:cNvPr id="152" name="Google Shape;152;p24"/>
          <p:cNvSpPr txBox="1"/>
          <p:nvPr>
            <p:ph idx="1" type="body"/>
          </p:nvPr>
        </p:nvSpPr>
        <p:spPr>
          <a:xfrm>
            <a:off x="3886200" y="1649185"/>
            <a:ext cx="4776000" cy="2752500"/>
          </a:xfrm>
          <a:prstGeom prst="rect">
            <a:avLst/>
          </a:prstGeom>
          <a:noFill/>
          <a:ln>
            <a:noFill/>
          </a:ln>
        </p:spPr>
        <p:txBody>
          <a:bodyPr anchorCtr="0" anchor="t" bIns="45700" lIns="0" spcFirstLastPara="1" rIns="0" wrap="square" tIns="45700">
            <a:noAutofit/>
          </a:bodyPr>
          <a:lstStyle/>
          <a:p>
            <a:pPr indent="0" lvl="0" marL="27674" rtl="0" algn="l">
              <a:lnSpc>
                <a:spcPct val="90000"/>
              </a:lnSpc>
              <a:spcBef>
                <a:spcPts val="0"/>
              </a:spcBef>
              <a:spcAft>
                <a:spcPts val="0"/>
              </a:spcAft>
              <a:buSzPts val="1500"/>
              <a:buNone/>
            </a:pPr>
            <a:r>
              <a:rPr lang="it"/>
              <a:t>A digital twin is a digital replica of a physical entity.</a:t>
            </a:r>
            <a:endParaRPr baseline="30000"/>
          </a:p>
          <a:p>
            <a:pPr indent="0" lvl="0" marL="27674" rtl="0" algn="l">
              <a:lnSpc>
                <a:spcPct val="90000"/>
              </a:lnSpc>
              <a:spcBef>
                <a:spcPts val="1050"/>
              </a:spcBef>
              <a:spcAft>
                <a:spcPts val="0"/>
              </a:spcAft>
              <a:buSzPts val="1500"/>
              <a:buNone/>
            </a:pPr>
            <a:r>
              <a:rPr lang="it"/>
              <a:t>By bridging the physical and the virtual world, data is transmitted seamlessly allowing the virtual entity to exist simultaneously with the physical entity. </a:t>
            </a:r>
            <a:endParaRPr/>
          </a:p>
          <a:p>
            <a:pPr indent="0" lvl="0" marL="27674" rtl="0" algn="l">
              <a:lnSpc>
                <a:spcPct val="90000"/>
              </a:lnSpc>
              <a:spcBef>
                <a:spcPts val="1050"/>
              </a:spcBef>
              <a:spcAft>
                <a:spcPts val="0"/>
              </a:spcAft>
              <a:buSzPts val="1500"/>
              <a:buNone/>
            </a:pPr>
            <a:r>
              <a:rPr lang="it"/>
              <a:t>Digital twin refers to a digital replica of physical assets, processes, people, places, systems and devices that can be used for various purposes.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25"/>
          <p:cNvSpPr/>
          <p:nvPr/>
        </p:nvSpPr>
        <p:spPr>
          <a:xfrm>
            <a:off x="2381" y="4800600"/>
            <a:ext cx="91416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5"/>
          <p:cNvSpPr/>
          <p:nvPr/>
        </p:nvSpPr>
        <p:spPr>
          <a:xfrm>
            <a:off x="11" y="4750737"/>
            <a:ext cx="9141600" cy="4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 name="Google Shape;159;p25"/>
          <p:cNvCxnSpPr/>
          <p:nvPr/>
        </p:nvCxnSpPr>
        <p:spPr>
          <a:xfrm>
            <a:off x="905743" y="3257550"/>
            <a:ext cx="7406700" cy="0"/>
          </a:xfrm>
          <a:prstGeom prst="straightConnector1">
            <a:avLst/>
          </a:prstGeom>
          <a:noFill/>
          <a:ln cap="flat" cmpd="sng" w="9525">
            <a:solidFill>
              <a:srgbClr val="7F7F7F"/>
            </a:solidFill>
            <a:prstDash val="solid"/>
            <a:round/>
            <a:headEnd len="sm" w="sm" type="none"/>
            <a:tailEnd len="sm" w="sm" type="none"/>
          </a:ln>
        </p:spPr>
      </p:cxnSp>
      <p:sp>
        <p:nvSpPr>
          <p:cNvPr id="160" name="Google Shape;160;p25"/>
          <p:cNvSpPr/>
          <p:nvPr/>
        </p:nvSpPr>
        <p:spPr>
          <a:xfrm>
            <a:off x="0" y="0"/>
            <a:ext cx="9144000" cy="4750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p25"/>
          <p:cNvSpPr/>
          <p:nvPr>
            <p:ph type="title"/>
          </p:nvPr>
        </p:nvSpPr>
        <p:spPr>
          <a:xfrm>
            <a:off x="5550700" y="479325"/>
            <a:ext cx="3375300" cy="2764500"/>
          </a:xfrm>
          <a:prstGeom prst="ellipse">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262626"/>
              </a:buClr>
              <a:buSzPts val="3500"/>
              <a:buFont typeface="Calibri"/>
              <a:buNone/>
            </a:pPr>
            <a:r>
              <a:rPr lang="it" sz="3500">
                <a:solidFill>
                  <a:srgbClr val="262626"/>
                </a:solidFill>
              </a:rPr>
              <a:t>4.0 HOLISTIC VISION</a:t>
            </a:r>
            <a:endParaRPr/>
          </a:p>
        </p:txBody>
      </p:sp>
      <p:pic>
        <p:nvPicPr>
          <p:cNvPr descr="A close up of text on a white background&#10;&#10;Description automatically generated" id="162" name="Google Shape;162;p25"/>
          <p:cNvPicPr preferRelativeResize="0"/>
          <p:nvPr>
            <p:ph idx="1" type="body"/>
          </p:nvPr>
        </p:nvPicPr>
        <p:blipFill rotWithShape="1">
          <a:blip r:embed="rId3">
            <a:alphaModFix/>
          </a:blip>
          <a:srcRect b="0" l="0" r="0" t="0"/>
          <a:stretch/>
        </p:blipFill>
        <p:spPr>
          <a:xfrm>
            <a:off x="497671" y="480060"/>
            <a:ext cx="5139900" cy="3790500"/>
          </a:xfrm>
          <a:prstGeom prst="rect">
            <a:avLst/>
          </a:prstGeom>
          <a:noFill/>
          <a:ln>
            <a:noFill/>
          </a:ln>
        </p:spPr>
      </p:pic>
      <p:cxnSp>
        <p:nvCxnSpPr>
          <p:cNvPr id="163" name="Google Shape;163;p25"/>
          <p:cNvCxnSpPr/>
          <p:nvPr/>
        </p:nvCxnSpPr>
        <p:spPr>
          <a:xfrm>
            <a:off x="6156978" y="3257550"/>
            <a:ext cx="2400300" cy="0"/>
          </a:xfrm>
          <a:prstGeom prst="straightConnector1">
            <a:avLst/>
          </a:prstGeom>
          <a:noFill/>
          <a:ln cap="flat" cmpd="sng" w="9525">
            <a:solidFill>
              <a:schemeClr val="dk2">
                <a:alpha val="89800"/>
              </a:schemeClr>
            </a:solidFill>
            <a:prstDash val="solid"/>
            <a:round/>
            <a:headEnd len="sm" w="sm" type="none"/>
            <a:tailEnd len="sm" w="sm" type="none"/>
          </a:ln>
        </p:spPr>
      </p:cxnSp>
      <p:sp>
        <p:nvSpPr>
          <p:cNvPr id="164" name="Google Shape;164;p25"/>
          <p:cNvSpPr/>
          <p:nvPr/>
        </p:nvSpPr>
        <p:spPr>
          <a:xfrm>
            <a:off x="11" y="4750737"/>
            <a:ext cx="9144000" cy="4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5"/>
          <p:cNvSpPr/>
          <p:nvPr/>
        </p:nvSpPr>
        <p:spPr>
          <a:xfrm>
            <a:off x="0" y="4800600"/>
            <a:ext cx="91440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822960" y="214953"/>
            <a:ext cx="7543800" cy="52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26"/>
          <p:cNvSpPr txBox="1"/>
          <p:nvPr>
            <p:ph idx="1" type="body"/>
          </p:nvPr>
        </p:nvSpPr>
        <p:spPr>
          <a:xfrm>
            <a:off x="822960" y="810516"/>
            <a:ext cx="7543800" cy="3915300"/>
          </a:xfrm>
          <a:prstGeom prst="rect">
            <a:avLst/>
          </a:prstGeom>
        </p:spPr>
        <p:txBody>
          <a:bodyPr anchorCtr="0" anchor="t" bIns="45700" lIns="0" spcFirstLastPara="1" rIns="0" wrap="square" tIns="45700">
            <a:noAutofit/>
          </a:bodyPr>
          <a:lstStyle/>
          <a:p>
            <a:pPr indent="0" lvl="0" marL="0" rtl="0" algn="l">
              <a:spcBef>
                <a:spcPts val="900"/>
              </a:spcBef>
              <a:spcAft>
                <a:spcPts val="150"/>
              </a:spcAft>
              <a:buNone/>
            </a:pPr>
            <a:r>
              <a:t/>
            </a:r>
            <a:endParaRPr/>
          </a:p>
        </p:txBody>
      </p:sp>
      <p:pic>
        <p:nvPicPr>
          <p:cNvPr id="172" name="Google Shape;172;p26"/>
          <p:cNvPicPr preferRelativeResize="0"/>
          <p:nvPr/>
        </p:nvPicPr>
        <p:blipFill>
          <a:blip r:embed="rId3">
            <a:alphaModFix/>
          </a:blip>
          <a:stretch>
            <a:fillRect/>
          </a:stretch>
        </p:blipFill>
        <p:spPr>
          <a:xfrm>
            <a:off x="523716" y="0"/>
            <a:ext cx="8096567" cy="51434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27"/>
          <p:cNvSpPr/>
          <p:nvPr/>
        </p:nvSpPr>
        <p:spPr>
          <a:xfrm>
            <a:off x="2381" y="4800600"/>
            <a:ext cx="91416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7"/>
          <p:cNvSpPr/>
          <p:nvPr/>
        </p:nvSpPr>
        <p:spPr>
          <a:xfrm>
            <a:off x="11" y="4750737"/>
            <a:ext cx="9141600" cy="4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7"/>
          <p:cNvSpPr/>
          <p:nvPr/>
        </p:nvSpPr>
        <p:spPr>
          <a:xfrm>
            <a:off x="0" y="0"/>
            <a:ext cx="9144000" cy="5143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27"/>
          <p:cNvSpPr/>
          <p:nvPr/>
        </p:nvSpPr>
        <p:spPr>
          <a:xfrm>
            <a:off x="344043" y="342900"/>
            <a:ext cx="8455800" cy="445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27"/>
          <p:cNvSpPr/>
          <p:nvPr/>
        </p:nvSpPr>
        <p:spPr>
          <a:xfrm>
            <a:off x="392049" y="390906"/>
            <a:ext cx="8359800" cy="43617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https://blogs-images.forbes.com/louiscolumbus/files/2018/06/The-Internet-of-Things-IoT-Units-Installed-Base-By-Category-2014-to-2020-in-billions-of-units.jpg" id="182" name="Google Shape;182;p27"/>
          <p:cNvPicPr preferRelativeResize="0"/>
          <p:nvPr>
            <p:ph idx="1" type="body"/>
          </p:nvPr>
        </p:nvPicPr>
        <p:blipFill rotWithShape="1">
          <a:blip r:embed="rId3">
            <a:alphaModFix/>
          </a:blip>
          <a:srcRect b="0" l="0" r="0" t="0"/>
          <a:stretch/>
        </p:blipFill>
        <p:spPr>
          <a:xfrm>
            <a:off x="2064137" y="679449"/>
            <a:ext cx="5039700" cy="3779700"/>
          </a:xfrm>
          <a:prstGeom prst="rect">
            <a:avLst/>
          </a:prstGeom>
          <a:noFill/>
          <a:ln>
            <a:noFill/>
          </a:ln>
        </p:spPr>
      </p:pic>
      <p:sp>
        <p:nvSpPr>
          <p:cNvPr id="183" name="Google Shape;183;p27"/>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it" sz="800" cap="none">
                <a:solidFill>
                  <a:srgbClr val="FFFFFF"/>
                </a:solidFill>
                <a:latin typeface="Calibri"/>
                <a:ea typeface="Calibri"/>
                <a:cs typeface="Calibri"/>
                <a:sym typeface="Calibri"/>
              </a:rPr>
              <a:t>INDUSTRIAL IOT – MASTER 4.0 2019  - DANIELE MAZZEI - ALL RIGHTS RESERVED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28"/>
          <p:cNvSpPr/>
          <p:nvPr/>
        </p:nvSpPr>
        <p:spPr>
          <a:xfrm>
            <a:off x="2381" y="4800600"/>
            <a:ext cx="91416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8"/>
          <p:cNvSpPr/>
          <p:nvPr/>
        </p:nvSpPr>
        <p:spPr>
          <a:xfrm>
            <a:off x="11" y="4750737"/>
            <a:ext cx="9141600" cy="4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8"/>
          <p:cNvSpPr/>
          <p:nvPr/>
        </p:nvSpPr>
        <p:spPr>
          <a:xfrm>
            <a:off x="0" y="0"/>
            <a:ext cx="9144000" cy="5143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28"/>
          <p:cNvSpPr/>
          <p:nvPr/>
        </p:nvSpPr>
        <p:spPr>
          <a:xfrm>
            <a:off x="344043" y="342900"/>
            <a:ext cx="8455800" cy="445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28"/>
          <p:cNvSpPr/>
          <p:nvPr/>
        </p:nvSpPr>
        <p:spPr>
          <a:xfrm>
            <a:off x="392049" y="390906"/>
            <a:ext cx="8359800" cy="43617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https://blogs-images.forbes.com/louiscolumbus/files/2018/06/IoT-Segments-and-Global-Share-of-IoT-Projects.jpg" id="193" name="Google Shape;193;p28"/>
          <p:cNvPicPr preferRelativeResize="0"/>
          <p:nvPr>
            <p:ph idx="1" type="body"/>
          </p:nvPr>
        </p:nvPicPr>
        <p:blipFill rotWithShape="1">
          <a:blip r:embed="rId3">
            <a:alphaModFix/>
          </a:blip>
          <a:srcRect b="0" l="0" r="0" t="0"/>
          <a:stretch/>
        </p:blipFill>
        <p:spPr>
          <a:xfrm>
            <a:off x="1420992" y="679449"/>
            <a:ext cx="6326100" cy="3779700"/>
          </a:xfrm>
          <a:prstGeom prst="rect">
            <a:avLst/>
          </a:prstGeom>
          <a:noFill/>
          <a:ln>
            <a:noFill/>
          </a:ln>
        </p:spPr>
      </p:pic>
      <p:sp>
        <p:nvSpPr>
          <p:cNvPr id="194" name="Google Shape;194;p28"/>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p:txBody>
      </p:sp>
      <p:sp>
        <p:nvSpPr>
          <p:cNvPr id="195" name="Google Shape;195;p28"/>
          <p:cNvSpPr/>
          <p:nvPr/>
        </p:nvSpPr>
        <p:spPr>
          <a:xfrm>
            <a:off x="1391200" y="4543423"/>
            <a:ext cx="6766500" cy="21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it" sz="825">
                <a:solidFill>
                  <a:schemeClr val="dk1"/>
                </a:solidFill>
                <a:latin typeface="Calibri"/>
                <a:ea typeface="Calibri"/>
                <a:cs typeface="Calibri"/>
                <a:sym typeface="Calibri"/>
              </a:rPr>
              <a:t>https://www.forbes.com/sites/louiscolumbus/2018/06/06/10-charts-that-will-challenge-your-perspective-of-iots-growth/#ce3f6623ecce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t/>
            </a:r>
            <a:endParaRPr sz="3240"/>
          </a:p>
        </p:txBody>
      </p:sp>
      <p:sp>
        <p:nvSpPr>
          <p:cNvPr id="201" name="Google Shape;201;p29"/>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pic>
        <p:nvPicPr>
          <p:cNvPr descr="https://blogs.gartner.com/smarterwithgartner/files/2018/08/PR_490866_5_Trends_in_the_Emerging_Tech_Hype_Cycle_2018_Hype_Cycle.png" id="202" name="Google Shape;202;p29"/>
          <p:cNvPicPr preferRelativeResize="0"/>
          <p:nvPr/>
        </p:nvPicPr>
        <p:blipFill rotWithShape="1">
          <a:blip r:embed="rId3">
            <a:alphaModFix/>
          </a:blip>
          <a:srcRect b="0" l="0" r="0" t="0"/>
          <a:stretch/>
        </p:blipFill>
        <p:spPr>
          <a:xfrm>
            <a:off x="1883888" y="158090"/>
            <a:ext cx="5376226" cy="4546846"/>
          </a:xfrm>
          <a:prstGeom prst="rect">
            <a:avLst/>
          </a:prstGeom>
          <a:noFill/>
          <a:ln>
            <a:noFill/>
          </a:ln>
        </p:spPr>
      </p:pic>
      <p:sp>
        <p:nvSpPr>
          <p:cNvPr id="203" name="Google Shape;203;p29"/>
          <p:cNvSpPr/>
          <p:nvPr/>
        </p:nvSpPr>
        <p:spPr>
          <a:xfrm rot="539187">
            <a:off x="3452858" y="269295"/>
            <a:ext cx="581943" cy="804627"/>
          </a:xfrm>
          <a:prstGeom prst="downArrow">
            <a:avLst>
              <a:gd fmla="val 50000" name="adj1"/>
              <a:gd fmla="val 50000" name="adj2"/>
            </a:avLst>
          </a:prstGeom>
          <a:solidFill>
            <a:schemeClr val="accent1"/>
          </a:solidFill>
          <a:ln cap="flat" cmpd="sng" w="15875">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29"/>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sz="675" cap="none">
                <a:solidFill>
                  <a:srgbClr val="FFFFFF"/>
                </a:solidFill>
                <a:latin typeface="Calibri"/>
                <a:ea typeface="Calibri"/>
                <a:cs typeface="Calibri"/>
                <a:sym typeface="Calibri"/>
              </a:rPr>
              <a:t>INDUSTRIAL IOT – MASTER 4.0 2019  - DANIELE MAZZEI - ALL RIGHTS RESERVED</a:t>
            </a:r>
            <a:endParaRPr sz="675"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0"/>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it" sz="3240"/>
              <a:t>THE INTERNET OF THINGS</a:t>
            </a:r>
            <a:endParaRPr/>
          </a:p>
        </p:txBody>
      </p:sp>
      <p:pic>
        <p:nvPicPr>
          <p:cNvPr id="210" name="Google Shape;210;p30"/>
          <p:cNvPicPr preferRelativeResize="0"/>
          <p:nvPr>
            <p:ph idx="1" type="body"/>
          </p:nvPr>
        </p:nvPicPr>
        <p:blipFill rotWithShape="1">
          <a:blip r:embed="rId3">
            <a:alphaModFix/>
          </a:blip>
          <a:srcRect b="0" l="0" r="0" t="32368"/>
          <a:stretch/>
        </p:blipFill>
        <p:spPr>
          <a:xfrm>
            <a:off x="1614488" y="725772"/>
            <a:ext cx="5915100" cy="1645800"/>
          </a:xfrm>
          <a:prstGeom prst="rect">
            <a:avLst/>
          </a:prstGeom>
          <a:noFill/>
          <a:ln>
            <a:noFill/>
          </a:ln>
        </p:spPr>
      </p:pic>
      <p:pic>
        <p:nvPicPr>
          <p:cNvPr descr="Image result for internet of things" id="211" name="Google Shape;211;p30"/>
          <p:cNvPicPr preferRelativeResize="0"/>
          <p:nvPr/>
        </p:nvPicPr>
        <p:blipFill rotWithShape="1">
          <a:blip r:embed="rId4">
            <a:alphaModFix/>
          </a:blip>
          <a:srcRect b="0" l="0" r="0" t="0"/>
          <a:stretch/>
        </p:blipFill>
        <p:spPr>
          <a:xfrm>
            <a:off x="2543787" y="2628594"/>
            <a:ext cx="4056426" cy="1962787"/>
          </a:xfrm>
          <a:prstGeom prst="rect">
            <a:avLst/>
          </a:prstGeom>
          <a:noFill/>
          <a:ln>
            <a:noFill/>
          </a:ln>
        </p:spPr>
      </p:pic>
      <p:sp>
        <p:nvSpPr>
          <p:cNvPr id="212" name="Google Shape;212;p30"/>
          <p:cNvSpPr/>
          <p:nvPr/>
        </p:nvSpPr>
        <p:spPr>
          <a:xfrm>
            <a:off x="0" y="1324535"/>
            <a:ext cx="9144000" cy="2561700"/>
          </a:xfrm>
          <a:prstGeom prst="rect">
            <a:avLst/>
          </a:prstGeom>
          <a:solidFill>
            <a:schemeClr val="accent1"/>
          </a:solidFill>
          <a:ln cap="flat" cmpd="sng" w="15875">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it" sz="4000">
                <a:solidFill>
                  <a:schemeClr val="lt1"/>
                </a:solidFill>
                <a:latin typeface="Calibri"/>
                <a:ea typeface="Calibri"/>
                <a:cs typeface="Calibri"/>
                <a:sym typeface="Calibri"/>
              </a:rPr>
              <a:t>IOT IS JUST AN ENABLING TECHNOLOGY!</a:t>
            </a:r>
            <a:endParaRPr/>
          </a:p>
        </p:txBody>
      </p:sp>
      <p:sp>
        <p:nvSpPr>
          <p:cNvPr id="213" name="Google Shape;213;p30"/>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sz="675" cap="none">
                <a:solidFill>
                  <a:srgbClr val="FFFFFF"/>
                </a:solidFill>
                <a:latin typeface="Calibri"/>
                <a:ea typeface="Calibri"/>
                <a:cs typeface="Calibri"/>
                <a:sym typeface="Calibri"/>
              </a:rPr>
              <a:t>INDUSTRIAL IOT – MASTER 4.0 2019  - DANIELE MAZZEI - ALL RIGHTS RESERVED</a:t>
            </a:r>
            <a:endParaRPr sz="675"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822960" y="214953"/>
            <a:ext cx="7543800" cy="52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31"/>
          <p:cNvSpPr txBox="1"/>
          <p:nvPr>
            <p:ph idx="1" type="body"/>
          </p:nvPr>
        </p:nvSpPr>
        <p:spPr>
          <a:xfrm>
            <a:off x="822960" y="810516"/>
            <a:ext cx="7543800" cy="3915300"/>
          </a:xfrm>
          <a:prstGeom prst="rect">
            <a:avLst/>
          </a:prstGeom>
        </p:spPr>
        <p:txBody>
          <a:bodyPr anchorCtr="0" anchor="t" bIns="45700" lIns="0" spcFirstLastPara="1" rIns="0" wrap="square" tIns="45700">
            <a:noAutofit/>
          </a:bodyPr>
          <a:lstStyle/>
          <a:p>
            <a:pPr indent="0" lvl="0" marL="0" rtl="0" algn="l">
              <a:spcBef>
                <a:spcPts val="900"/>
              </a:spcBef>
              <a:spcAft>
                <a:spcPts val="150"/>
              </a:spcAft>
              <a:buNone/>
            </a:pPr>
            <a:r>
              <a:t/>
            </a:r>
            <a:endParaRPr/>
          </a:p>
        </p:txBody>
      </p:sp>
      <p:pic>
        <p:nvPicPr>
          <p:cNvPr id="220" name="Google Shape;220;p31"/>
          <p:cNvPicPr preferRelativeResize="0"/>
          <p:nvPr/>
        </p:nvPicPr>
        <p:blipFill>
          <a:blip r:embed="rId3">
            <a:alphaModFix/>
          </a:blip>
          <a:stretch>
            <a:fillRect/>
          </a:stretch>
        </p:blipFill>
        <p:spPr>
          <a:xfrm>
            <a:off x="0" y="726948"/>
            <a:ext cx="9144000" cy="36896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C3E66"/>
            </a:gs>
            <a:gs pos="65000">
              <a:srgbClr val="191E50"/>
            </a:gs>
            <a:gs pos="100000">
              <a:srgbClr val="15193D"/>
            </a:gs>
          </a:gsLst>
          <a:lin ang="16200038" scaled="0"/>
        </a:gradFill>
      </p:bgPr>
    </p:bg>
    <p:spTree>
      <p:nvGrpSpPr>
        <p:cNvPr id="224" name="Shape 224"/>
        <p:cNvGrpSpPr/>
        <p:nvPr/>
      </p:nvGrpSpPr>
      <p:grpSpPr>
        <a:xfrm>
          <a:off x="0" y="0"/>
          <a:ext cx="0" cy="0"/>
          <a:chOff x="0" y="0"/>
          <a:chExt cx="0" cy="0"/>
        </a:xfrm>
      </p:grpSpPr>
      <p:sp>
        <p:nvSpPr>
          <p:cNvPr id="225" name="Google Shape;225;p32"/>
          <p:cNvSpPr/>
          <p:nvPr/>
        </p:nvSpPr>
        <p:spPr>
          <a:xfrm>
            <a:off x="1130" y="0"/>
            <a:ext cx="9144000" cy="5143500"/>
          </a:xfrm>
          <a:prstGeom prst="rect">
            <a:avLst/>
          </a:prstGeom>
          <a:gradFill>
            <a:gsLst>
              <a:gs pos="0">
                <a:srgbClr val="3C3E66"/>
              </a:gs>
              <a:gs pos="65000">
                <a:srgbClr val="191E50"/>
              </a:gs>
              <a:gs pos="100000">
                <a:srgbClr val="15193D"/>
              </a:gs>
            </a:gsLst>
            <a:lin ang="16200038"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32"/>
          <p:cNvSpPr/>
          <p:nvPr/>
        </p:nvSpPr>
        <p:spPr>
          <a:xfrm>
            <a:off x="1130" y="3714750"/>
            <a:ext cx="9141600" cy="1428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2"/>
          <p:cNvSpPr/>
          <p:nvPr/>
        </p:nvSpPr>
        <p:spPr>
          <a:xfrm>
            <a:off x="1130" y="0"/>
            <a:ext cx="9141600" cy="372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2"/>
          <p:cNvSpPr txBox="1"/>
          <p:nvPr>
            <p:ph type="ctrTitle"/>
          </p:nvPr>
        </p:nvSpPr>
        <p:spPr>
          <a:xfrm>
            <a:off x="822960" y="569214"/>
            <a:ext cx="7543800" cy="29190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FFFFFF"/>
              </a:buClr>
              <a:buSzPts val="6000"/>
              <a:buFont typeface="Calibri"/>
              <a:buNone/>
            </a:pPr>
            <a:r>
              <a:rPr lang="it">
                <a:solidFill>
                  <a:srgbClr val="FFFFFF"/>
                </a:solidFill>
              </a:rPr>
              <a:t>PRODUCTS AND SERVICES IN THE 4.0 ERA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From Products to Services in I4.0</a:t>
            </a:r>
            <a:endParaRPr/>
          </a:p>
        </p:txBody>
      </p:sp>
      <p:grpSp>
        <p:nvGrpSpPr>
          <p:cNvPr id="234" name="Google Shape;234;p33"/>
          <p:cNvGrpSpPr/>
          <p:nvPr/>
        </p:nvGrpSpPr>
        <p:grpSpPr>
          <a:xfrm>
            <a:off x="4765503" y="686388"/>
            <a:ext cx="2796953" cy="3483050"/>
            <a:chOff x="5632317" y="1189775"/>
            <a:chExt cx="3305700" cy="3483050"/>
          </a:xfrm>
        </p:grpSpPr>
        <p:sp>
          <p:nvSpPr>
            <p:cNvPr id="235" name="Google Shape;235;p33"/>
            <p:cNvSpPr/>
            <p:nvPr/>
          </p:nvSpPr>
          <p:spPr>
            <a:xfrm>
              <a:off x="5632317" y="1189775"/>
              <a:ext cx="3305700" cy="669000"/>
            </a:xfrm>
            <a:prstGeom prst="chevron">
              <a:avLst>
                <a:gd fmla="val 50000" name="adj"/>
              </a:avLst>
            </a:prstGeom>
            <a:solidFill>
              <a:srgbClr val="307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FFFFFF"/>
                  </a:solidFill>
                  <a:latin typeface="Roboto"/>
                  <a:ea typeface="Roboto"/>
                  <a:cs typeface="Roboto"/>
                  <a:sym typeface="Roboto"/>
                </a:rPr>
                <a:t>AFTER USE</a:t>
              </a:r>
              <a:endParaRPr>
                <a:solidFill>
                  <a:srgbClr val="FFFFFF"/>
                </a:solidFill>
                <a:latin typeface="Roboto"/>
                <a:ea typeface="Roboto"/>
                <a:cs typeface="Roboto"/>
                <a:sym typeface="Roboto"/>
              </a:endParaRPr>
            </a:p>
            <a:p>
              <a:pPr indent="0" lvl="0" marL="0" rtl="0" algn="ctr">
                <a:spcBef>
                  <a:spcPts val="0"/>
                </a:spcBef>
                <a:spcAft>
                  <a:spcPts val="0"/>
                </a:spcAft>
                <a:buNone/>
              </a:pPr>
              <a:r>
                <a:rPr lang="it">
                  <a:solidFill>
                    <a:srgbClr val="FFFFFF"/>
                  </a:solidFill>
                  <a:latin typeface="Roboto"/>
                  <a:ea typeface="Roboto"/>
                  <a:cs typeface="Roboto"/>
                  <a:sym typeface="Roboto"/>
                </a:rPr>
                <a:t>“digested use”</a:t>
              </a:r>
              <a:endParaRPr>
                <a:solidFill>
                  <a:srgbClr val="FFFFFF"/>
                </a:solidFill>
                <a:latin typeface="Roboto"/>
                <a:ea typeface="Roboto"/>
                <a:cs typeface="Roboto"/>
                <a:sym typeface="Roboto"/>
              </a:endParaRPr>
            </a:p>
          </p:txBody>
        </p:sp>
        <p:sp>
          <p:nvSpPr>
            <p:cNvPr id="236" name="Google Shape;236;p33"/>
            <p:cNvSpPr txBox="1"/>
            <p:nvPr/>
          </p:nvSpPr>
          <p:spPr>
            <a:xfrm>
              <a:off x="6167063"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Roboto"/>
                <a:buChar char="●"/>
              </a:pPr>
              <a:r>
                <a:rPr lang="it" sz="1200">
                  <a:latin typeface="Roboto"/>
                  <a:ea typeface="Roboto"/>
                  <a:cs typeface="Roboto"/>
                  <a:sym typeface="Roboto"/>
                </a:rPr>
                <a:t>Mental processing of the experienced use</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it" sz="1200">
                  <a:latin typeface="Roboto"/>
                  <a:ea typeface="Roboto"/>
                  <a:cs typeface="Roboto"/>
                  <a:sym typeface="Roboto"/>
                </a:rPr>
                <a:t>Emotional retention (or distance) to the product</a:t>
              </a:r>
              <a:endParaRPr sz="1200">
                <a:latin typeface="Roboto"/>
                <a:ea typeface="Roboto"/>
                <a:cs typeface="Roboto"/>
                <a:sym typeface="Roboto"/>
              </a:endParaRPr>
            </a:p>
          </p:txBody>
        </p:sp>
      </p:grpSp>
      <p:grpSp>
        <p:nvGrpSpPr>
          <p:cNvPr id="237" name="Google Shape;237;p33"/>
          <p:cNvGrpSpPr/>
          <p:nvPr/>
        </p:nvGrpSpPr>
        <p:grpSpPr>
          <a:xfrm>
            <a:off x="0" y="686602"/>
            <a:ext cx="3001032" cy="3482836"/>
            <a:chOff x="0" y="1189989"/>
            <a:chExt cx="3546900" cy="3482836"/>
          </a:xfrm>
        </p:grpSpPr>
        <p:sp>
          <p:nvSpPr>
            <p:cNvPr id="238" name="Google Shape;238;p33"/>
            <p:cNvSpPr/>
            <p:nvPr/>
          </p:nvSpPr>
          <p:spPr>
            <a:xfrm>
              <a:off x="0" y="1189989"/>
              <a:ext cx="3546900" cy="669000"/>
            </a:xfrm>
            <a:prstGeom prst="homePlate">
              <a:avLst>
                <a:gd fmla="val 50000" name="adj"/>
              </a:avLst>
            </a:prstGeom>
            <a:solidFill>
              <a:srgbClr val="0942A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FFFFFF"/>
                  </a:solidFill>
                  <a:latin typeface="Roboto"/>
                  <a:ea typeface="Roboto"/>
                  <a:cs typeface="Roboto"/>
                  <a:sym typeface="Roboto"/>
                </a:rPr>
                <a:t>BEFORE USE</a:t>
              </a:r>
              <a:endParaRPr>
                <a:solidFill>
                  <a:srgbClr val="FFFFFF"/>
                </a:solidFill>
                <a:latin typeface="Roboto"/>
                <a:ea typeface="Roboto"/>
                <a:cs typeface="Roboto"/>
                <a:sym typeface="Roboto"/>
              </a:endParaRPr>
            </a:p>
            <a:p>
              <a:pPr indent="0" lvl="0" marL="0" rtl="0" algn="ctr">
                <a:spcBef>
                  <a:spcPts val="0"/>
                </a:spcBef>
                <a:spcAft>
                  <a:spcPts val="0"/>
                </a:spcAft>
                <a:buNone/>
              </a:pPr>
              <a:r>
                <a:rPr lang="it">
                  <a:solidFill>
                    <a:srgbClr val="FFFFFF"/>
                  </a:solidFill>
                  <a:latin typeface="Roboto"/>
                  <a:ea typeface="Roboto"/>
                  <a:cs typeface="Roboto"/>
                  <a:sym typeface="Roboto"/>
                </a:rPr>
                <a:t>“anticipated use”</a:t>
              </a:r>
              <a:endParaRPr>
                <a:solidFill>
                  <a:srgbClr val="FFFFFF"/>
                </a:solidFill>
                <a:latin typeface="Roboto"/>
                <a:ea typeface="Roboto"/>
                <a:cs typeface="Roboto"/>
                <a:sym typeface="Roboto"/>
              </a:endParaRPr>
            </a:p>
          </p:txBody>
        </p:sp>
        <p:sp>
          <p:nvSpPr>
            <p:cNvPr id="239" name="Google Shape;239;p33"/>
            <p:cNvSpPr txBox="1"/>
            <p:nvPr/>
          </p:nvSpPr>
          <p:spPr>
            <a:xfrm>
              <a:off x="655361"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Roboto"/>
                <a:buChar char="●"/>
              </a:pPr>
              <a:r>
                <a:rPr lang="it" sz="1200">
                  <a:latin typeface="Roboto"/>
                  <a:ea typeface="Roboto"/>
                  <a:cs typeface="Roboto"/>
                  <a:sym typeface="Roboto"/>
                </a:rPr>
                <a:t>Anticipation</a:t>
              </a:r>
              <a:r>
                <a:rPr lang="it" sz="1200">
                  <a:latin typeface="Roboto"/>
                  <a:ea typeface="Roboto"/>
                  <a:cs typeface="Roboto"/>
                  <a:sym typeface="Roboto"/>
                </a:rPr>
                <a:t> of product usage, without having actually used it</a:t>
              </a:r>
              <a:endParaRPr sz="1200">
                <a:latin typeface="Roboto"/>
                <a:ea typeface="Roboto"/>
                <a:cs typeface="Roboto"/>
                <a:sym typeface="Roboto"/>
              </a:endParaRPr>
            </a:p>
          </p:txBody>
        </p:sp>
      </p:grpSp>
      <p:grpSp>
        <p:nvGrpSpPr>
          <p:cNvPr id="240" name="Google Shape;240;p33"/>
          <p:cNvGrpSpPr/>
          <p:nvPr/>
        </p:nvGrpSpPr>
        <p:grpSpPr>
          <a:xfrm>
            <a:off x="2491091" y="686388"/>
            <a:ext cx="2796953" cy="3483050"/>
            <a:chOff x="2944204" y="1189775"/>
            <a:chExt cx="3305700" cy="3483050"/>
          </a:xfrm>
        </p:grpSpPr>
        <p:sp>
          <p:nvSpPr>
            <p:cNvPr id="241" name="Google Shape;241;p33"/>
            <p:cNvSpPr/>
            <p:nvPr/>
          </p:nvSpPr>
          <p:spPr>
            <a:xfrm>
              <a:off x="2944204" y="1189775"/>
              <a:ext cx="3305700" cy="669000"/>
            </a:xfrm>
            <a:prstGeom prst="chevron">
              <a:avLst>
                <a:gd fmla="val 50000" name="adj"/>
              </a:avLst>
            </a:prstGeom>
            <a:solidFill>
              <a:srgbClr val="0D5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FFFFFF"/>
                  </a:solidFill>
                  <a:latin typeface="Roboto"/>
                  <a:ea typeface="Roboto"/>
                  <a:cs typeface="Roboto"/>
                  <a:sym typeface="Roboto"/>
                </a:rPr>
                <a:t>DURING USE</a:t>
              </a:r>
              <a:endParaRPr>
                <a:solidFill>
                  <a:srgbClr val="FFFFFF"/>
                </a:solidFill>
                <a:latin typeface="Roboto"/>
                <a:ea typeface="Roboto"/>
                <a:cs typeface="Roboto"/>
                <a:sym typeface="Roboto"/>
              </a:endParaRPr>
            </a:p>
            <a:p>
              <a:pPr indent="0" lvl="0" marL="0" rtl="0" algn="ctr">
                <a:spcBef>
                  <a:spcPts val="0"/>
                </a:spcBef>
                <a:spcAft>
                  <a:spcPts val="0"/>
                </a:spcAft>
                <a:buNone/>
              </a:pPr>
              <a:r>
                <a:rPr lang="it">
                  <a:solidFill>
                    <a:srgbClr val="FFFFFF"/>
                  </a:solidFill>
                  <a:latin typeface="Roboto"/>
                  <a:ea typeface="Roboto"/>
                  <a:cs typeface="Roboto"/>
                  <a:sym typeface="Roboto"/>
                </a:rPr>
                <a:t>“actual use”</a:t>
              </a:r>
              <a:endParaRPr>
                <a:solidFill>
                  <a:srgbClr val="FFFFFF"/>
                </a:solidFill>
                <a:latin typeface="Roboto"/>
                <a:ea typeface="Roboto"/>
                <a:cs typeface="Roboto"/>
                <a:sym typeface="Roboto"/>
              </a:endParaRPr>
            </a:p>
          </p:txBody>
        </p:sp>
        <p:sp>
          <p:nvSpPr>
            <p:cNvPr id="242" name="Google Shape;242;p33"/>
            <p:cNvSpPr txBox="1"/>
            <p:nvPr/>
          </p:nvSpPr>
          <p:spPr>
            <a:xfrm>
              <a:off x="3478949"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Roboto"/>
                <a:buChar char="●"/>
              </a:pPr>
              <a:r>
                <a:rPr lang="it" sz="1200">
                  <a:latin typeface="Roboto"/>
                  <a:ea typeface="Roboto"/>
                  <a:cs typeface="Roboto"/>
                  <a:sym typeface="Roboto"/>
                </a:rPr>
                <a:t>Effective task fulfillment</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it" sz="1200">
                  <a:latin typeface="Roboto"/>
                  <a:ea typeface="Roboto"/>
                  <a:cs typeface="Roboto"/>
                  <a:sym typeface="Roboto"/>
                </a:rPr>
                <a:t>Efficient</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it" sz="1200">
                  <a:latin typeface="Roboto"/>
                  <a:ea typeface="Roboto"/>
                  <a:cs typeface="Roboto"/>
                  <a:sym typeface="Roboto"/>
                </a:rPr>
                <a:t>Satisfying</a:t>
              </a:r>
              <a:endParaRPr sz="1200">
                <a:latin typeface="Roboto"/>
                <a:ea typeface="Roboto"/>
                <a:cs typeface="Roboto"/>
                <a:sym typeface="Roboto"/>
              </a:endParaRPr>
            </a:p>
          </p:txBody>
        </p:sp>
      </p:grpSp>
      <p:cxnSp>
        <p:nvCxnSpPr>
          <p:cNvPr id="243" name="Google Shape;243;p33"/>
          <p:cNvCxnSpPr>
            <a:stCxn id="242" idx="1"/>
            <a:endCxn id="242" idx="3"/>
          </p:cNvCxnSpPr>
          <p:nvPr/>
        </p:nvCxnSpPr>
        <p:spPr>
          <a:xfrm>
            <a:off x="2943539" y="2861588"/>
            <a:ext cx="1892100" cy="0"/>
          </a:xfrm>
          <a:prstGeom prst="straightConnector1">
            <a:avLst/>
          </a:prstGeom>
          <a:noFill/>
          <a:ln cap="flat" cmpd="sng" w="9525">
            <a:solidFill>
              <a:schemeClr val="dk2"/>
            </a:solidFill>
            <a:prstDash val="solid"/>
            <a:round/>
            <a:headEnd len="med" w="med" type="oval"/>
            <a:tailEnd len="med" w="med" type="oval"/>
          </a:ln>
        </p:spPr>
      </p:cxnSp>
      <p:cxnSp>
        <p:nvCxnSpPr>
          <p:cNvPr id="244" name="Google Shape;244;p33"/>
          <p:cNvCxnSpPr/>
          <p:nvPr/>
        </p:nvCxnSpPr>
        <p:spPr>
          <a:xfrm>
            <a:off x="590672" y="3243638"/>
            <a:ext cx="6555300" cy="0"/>
          </a:xfrm>
          <a:prstGeom prst="straightConnector1">
            <a:avLst/>
          </a:prstGeom>
          <a:noFill/>
          <a:ln cap="flat" cmpd="sng" w="9525">
            <a:solidFill>
              <a:schemeClr val="dk2"/>
            </a:solidFill>
            <a:prstDash val="solid"/>
            <a:round/>
            <a:headEnd len="med" w="med" type="oval"/>
            <a:tailEnd len="med" w="med" type="oval"/>
          </a:ln>
        </p:spPr>
      </p:cxnSp>
      <p:sp>
        <p:nvSpPr>
          <p:cNvPr id="245" name="Google Shape;245;p33"/>
          <p:cNvSpPr txBox="1"/>
          <p:nvPr/>
        </p:nvSpPr>
        <p:spPr>
          <a:xfrm>
            <a:off x="3181357" y="2861588"/>
            <a:ext cx="1500900" cy="3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a:solidFill>
                  <a:schemeClr val="dk2"/>
                </a:solidFill>
              </a:rPr>
              <a:t>USABILITY</a:t>
            </a:r>
            <a:endParaRPr b="1">
              <a:solidFill>
                <a:schemeClr val="dk2"/>
              </a:solidFill>
            </a:endParaRPr>
          </a:p>
        </p:txBody>
      </p:sp>
      <p:sp>
        <p:nvSpPr>
          <p:cNvPr id="246" name="Google Shape;246;p33"/>
          <p:cNvSpPr txBox="1"/>
          <p:nvPr/>
        </p:nvSpPr>
        <p:spPr>
          <a:xfrm>
            <a:off x="2985781" y="3285788"/>
            <a:ext cx="1892100" cy="3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a:solidFill>
                  <a:schemeClr val="dk2"/>
                </a:solidFill>
              </a:rPr>
              <a:t>USER EXPERIENCE</a:t>
            </a:r>
            <a:endParaRPr b="1">
              <a:solidFill>
                <a:schemeClr val="dk2"/>
              </a:solidFill>
            </a:endParaRPr>
          </a:p>
        </p:txBody>
      </p:sp>
      <p:sp>
        <p:nvSpPr>
          <p:cNvPr id="247" name="Google Shape;247;p33"/>
          <p:cNvSpPr/>
          <p:nvPr/>
        </p:nvSpPr>
        <p:spPr>
          <a:xfrm>
            <a:off x="88625" y="3968078"/>
            <a:ext cx="7559400" cy="489900"/>
          </a:xfrm>
          <a:prstGeom prst="rect">
            <a:avLst/>
          </a:prstGeom>
          <a:noFill/>
          <a:ln cap="flat" cmpd="sng" w="762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300">
                <a:solidFill>
                  <a:srgbClr val="595959"/>
                </a:solidFill>
              </a:rPr>
              <a:t>CUSTOMER EXPERIENCE</a:t>
            </a:r>
            <a:endParaRPr b="1" sz="1300">
              <a:solidFill>
                <a:srgbClr val="595959"/>
              </a:solidFill>
            </a:endParaRPr>
          </a:p>
        </p:txBody>
      </p:sp>
      <p:sp>
        <p:nvSpPr>
          <p:cNvPr id="248" name="Google Shape;248;p33"/>
          <p:cNvSpPr/>
          <p:nvPr/>
        </p:nvSpPr>
        <p:spPr>
          <a:xfrm rot="10800000">
            <a:off x="88625" y="4457975"/>
            <a:ext cx="7559400" cy="470100"/>
          </a:xfrm>
          <a:prstGeom prst="round2SameRect">
            <a:avLst>
              <a:gd fmla="val 16667" name="adj1"/>
              <a:gd fmla="val 0" name="adj2"/>
            </a:avLst>
          </a:prstGeom>
          <a:noFill/>
          <a:ln cap="flat" cmpd="sng" w="762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1" sz="1300">
              <a:solidFill>
                <a:srgbClr val="595959"/>
              </a:solidFill>
            </a:endParaRPr>
          </a:p>
        </p:txBody>
      </p:sp>
      <p:sp>
        <p:nvSpPr>
          <p:cNvPr id="249" name="Google Shape;249;p33"/>
          <p:cNvSpPr txBox="1"/>
          <p:nvPr/>
        </p:nvSpPr>
        <p:spPr>
          <a:xfrm>
            <a:off x="1755400" y="4457975"/>
            <a:ext cx="4268400" cy="470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it" sz="1300">
                <a:solidFill>
                  <a:srgbClr val="595959"/>
                </a:solidFill>
              </a:rPr>
              <a:t>SERVICE DESIGN</a:t>
            </a:r>
            <a:endParaRPr b="1" sz="1300">
              <a:solidFill>
                <a:srgbClr val="595959"/>
              </a:solidFill>
            </a:endParaRPr>
          </a:p>
        </p:txBody>
      </p:sp>
      <p:sp>
        <p:nvSpPr>
          <p:cNvPr id="250" name="Google Shape;250;p33"/>
          <p:cNvSpPr/>
          <p:nvPr/>
        </p:nvSpPr>
        <p:spPr>
          <a:xfrm>
            <a:off x="88714" y="630863"/>
            <a:ext cx="7559400" cy="3337200"/>
          </a:xfrm>
          <a:prstGeom prst="round2SameRect">
            <a:avLst>
              <a:gd fmla="val 16667" name="adj1"/>
              <a:gd fmla="val 0" name="adj2"/>
            </a:avLst>
          </a:prstGeom>
          <a:noFill/>
          <a:ln cap="flat" cmpd="sng" w="762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595959"/>
              </a:solidFill>
            </a:endParaRPr>
          </a:p>
        </p:txBody>
      </p:sp>
      <p:sp>
        <p:nvSpPr>
          <p:cNvPr id="251" name="Google Shape;251;p33"/>
          <p:cNvSpPr/>
          <p:nvPr/>
        </p:nvSpPr>
        <p:spPr>
          <a:xfrm>
            <a:off x="5151575" y="4009925"/>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it" sz="500"/>
              <a:t>Customer Service</a:t>
            </a:r>
            <a:endParaRPr sz="500"/>
          </a:p>
        </p:txBody>
      </p:sp>
      <p:sp>
        <p:nvSpPr>
          <p:cNvPr id="252" name="Google Shape;252;p33"/>
          <p:cNvSpPr/>
          <p:nvPr/>
        </p:nvSpPr>
        <p:spPr>
          <a:xfrm>
            <a:off x="2185150" y="3977975"/>
            <a:ext cx="485400" cy="470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it" sz="500"/>
              <a:t>Advertising</a:t>
            </a:r>
            <a:endParaRPr sz="500"/>
          </a:p>
        </p:txBody>
      </p:sp>
      <p:sp>
        <p:nvSpPr>
          <p:cNvPr id="253" name="Google Shape;253;p33"/>
          <p:cNvSpPr/>
          <p:nvPr/>
        </p:nvSpPr>
        <p:spPr>
          <a:xfrm>
            <a:off x="5529150" y="3905100"/>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it" sz="500"/>
              <a:t>Customer Research</a:t>
            </a:r>
            <a:endParaRPr sz="500"/>
          </a:p>
        </p:txBody>
      </p:sp>
      <p:sp>
        <p:nvSpPr>
          <p:cNvPr id="254" name="Google Shape;254;p33"/>
          <p:cNvSpPr/>
          <p:nvPr/>
        </p:nvSpPr>
        <p:spPr>
          <a:xfrm>
            <a:off x="5884900" y="4096675"/>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it" sz="500"/>
              <a:t>Product Delivery</a:t>
            </a:r>
            <a:endParaRPr sz="500"/>
          </a:p>
        </p:txBody>
      </p:sp>
      <p:sp>
        <p:nvSpPr>
          <p:cNvPr id="255" name="Google Shape;255;p33"/>
          <p:cNvSpPr/>
          <p:nvPr/>
        </p:nvSpPr>
        <p:spPr>
          <a:xfrm>
            <a:off x="1809300" y="3968075"/>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it" sz="500"/>
              <a:t>Ethics</a:t>
            </a:r>
            <a:endParaRPr sz="500"/>
          </a:p>
        </p:txBody>
      </p:sp>
      <p:sp>
        <p:nvSpPr>
          <p:cNvPr id="256" name="Google Shape;256;p33"/>
          <p:cNvSpPr/>
          <p:nvPr/>
        </p:nvSpPr>
        <p:spPr>
          <a:xfrm>
            <a:off x="1407775" y="4051775"/>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it" sz="500"/>
              <a:t>Sales</a:t>
            </a:r>
            <a:endParaRPr sz="500"/>
          </a:p>
        </p:txBody>
      </p:sp>
      <p:sp>
        <p:nvSpPr>
          <p:cNvPr id="257" name="Google Shape;257;p33"/>
          <p:cNvSpPr/>
          <p:nvPr/>
        </p:nvSpPr>
        <p:spPr>
          <a:xfrm>
            <a:off x="4835650" y="4489925"/>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it" sz="500"/>
              <a:t>Product</a:t>
            </a:r>
            <a:endParaRPr b="1" sz="500"/>
          </a:p>
        </p:txBody>
      </p:sp>
      <p:sp>
        <p:nvSpPr>
          <p:cNvPr id="258" name="Google Shape;258;p33"/>
          <p:cNvSpPr/>
          <p:nvPr/>
        </p:nvSpPr>
        <p:spPr>
          <a:xfrm>
            <a:off x="5288050" y="4489925"/>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it" sz="500"/>
              <a:t>Business Strategy</a:t>
            </a:r>
            <a:endParaRPr b="1" sz="500"/>
          </a:p>
        </p:txBody>
      </p:sp>
      <p:sp>
        <p:nvSpPr>
          <p:cNvPr id="259" name="Google Shape;259;p33"/>
          <p:cNvSpPr/>
          <p:nvPr/>
        </p:nvSpPr>
        <p:spPr>
          <a:xfrm>
            <a:off x="2670550" y="4489925"/>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it" sz="500"/>
              <a:t>Personnel</a:t>
            </a:r>
            <a:endParaRPr b="1" sz="500"/>
          </a:p>
        </p:txBody>
      </p:sp>
      <p:sp>
        <p:nvSpPr>
          <p:cNvPr id="260" name="Google Shape;260;p33"/>
          <p:cNvSpPr/>
          <p:nvPr/>
        </p:nvSpPr>
        <p:spPr>
          <a:xfrm>
            <a:off x="2207500" y="4489925"/>
            <a:ext cx="440700" cy="40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it" sz="500"/>
              <a:t>Org Design</a:t>
            </a:r>
            <a:endParaRPr b="1" sz="500"/>
          </a:p>
        </p:txBody>
      </p:sp>
      <p:sp>
        <p:nvSpPr>
          <p:cNvPr id="261" name="Google Shape;261;p33"/>
          <p:cNvSpPr txBox="1"/>
          <p:nvPr/>
        </p:nvSpPr>
        <p:spPr>
          <a:xfrm rot="-3784447">
            <a:off x="6782391" y="2128243"/>
            <a:ext cx="3110388" cy="34829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900">
                <a:solidFill>
                  <a:srgbClr val="FF9900"/>
                </a:solidFill>
              </a:rPr>
              <a:t>Designing a Single Product Experience</a:t>
            </a:r>
            <a:endParaRPr b="1" sz="900">
              <a:solidFill>
                <a:srgbClr val="FF9900"/>
              </a:solidFill>
            </a:endParaRPr>
          </a:p>
        </p:txBody>
      </p:sp>
      <p:sp>
        <p:nvSpPr>
          <p:cNvPr id="262" name="Google Shape;262;p33"/>
          <p:cNvSpPr txBox="1"/>
          <p:nvPr/>
        </p:nvSpPr>
        <p:spPr>
          <a:xfrm>
            <a:off x="7648025" y="3952375"/>
            <a:ext cx="1379100" cy="69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it" sz="800">
                <a:solidFill>
                  <a:srgbClr val="FF9900"/>
                </a:solidFill>
              </a:rPr>
              <a:t>Customers’ Perspective of Experience across Touchpoints</a:t>
            </a:r>
            <a:endParaRPr b="1" sz="800">
              <a:solidFill>
                <a:srgbClr val="FF9900"/>
              </a:solidFill>
            </a:endParaRPr>
          </a:p>
          <a:p>
            <a:pPr indent="0" lvl="0" marL="0" marR="0" rtl="0" algn="ctr">
              <a:lnSpc>
                <a:spcPct val="100000"/>
              </a:lnSpc>
              <a:spcBef>
                <a:spcPts val="0"/>
              </a:spcBef>
              <a:spcAft>
                <a:spcPts val="0"/>
              </a:spcAft>
              <a:buNone/>
            </a:pPr>
            <a:r>
              <a:t/>
            </a:r>
            <a:endParaRPr b="1" sz="800">
              <a:solidFill>
                <a:srgbClr val="FF9900"/>
              </a:solidFill>
            </a:endParaRPr>
          </a:p>
        </p:txBody>
      </p:sp>
      <p:sp>
        <p:nvSpPr>
          <p:cNvPr id="263" name="Google Shape;263;p33"/>
          <p:cNvSpPr txBox="1"/>
          <p:nvPr/>
        </p:nvSpPr>
        <p:spPr>
          <a:xfrm>
            <a:off x="7648025" y="4489925"/>
            <a:ext cx="1379100" cy="40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it" sz="800">
                <a:solidFill>
                  <a:srgbClr val="FF9900"/>
                </a:solidFill>
              </a:rPr>
              <a:t>Designing In-Person Services for Customers</a:t>
            </a:r>
            <a:endParaRPr b="1" sz="800">
              <a:solidFill>
                <a:srgbClr val="FF9900"/>
              </a:solidFill>
            </a:endParaRPr>
          </a:p>
          <a:p>
            <a:pPr indent="0" lvl="0" marL="0" marR="0" rtl="0" algn="ctr">
              <a:lnSpc>
                <a:spcPct val="100000"/>
              </a:lnSpc>
              <a:spcBef>
                <a:spcPts val="0"/>
              </a:spcBef>
              <a:spcAft>
                <a:spcPts val="0"/>
              </a:spcAft>
              <a:buNone/>
            </a:pPr>
            <a:r>
              <a:t/>
            </a:r>
            <a:endParaRPr b="1" sz="800">
              <a:solidFill>
                <a:srgbClr val="FF99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7" name="Shape 267"/>
        <p:cNvGrpSpPr/>
        <p:nvPr/>
      </p:nvGrpSpPr>
      <p:grpSpPr>
        <a:xfrm>
          <a:off x="0" y="0"/>
          <a:ext cx="0" cy="0"/>
          <a:chOff x="0" y="0"/>
          <a:chExt cx="0" cy="0"/>
        </a:xfrm>
      </p:grpSpPr>
      <p:sp>
        <p:nvSpPr>
          <p:cNvPr id="268" name="Google Shape;268;p34"/>
          <p:cNvSpPr/>
          <p:nvPr/>
        </p:nvSpPr>
        <p:spPr>
          <a:xfrm>
            <a:off x="0" y="0"/>
            <a:ext cx="91398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34"/>
          <p:cNvSpPr/>
          <p:nvPr/>
        </p:nvSpPr>
        <p:spPr>
          <a:xfrm>
            <a:off x="12" y="0"/>
            <a:ext cx="30381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4"/>
          <p:cNvSpPr txBox="1"/>
          <p:nvPr>
            <p:ph type="title"/>
          </p:nvPr>
        </p:nvSpPr>
        <p:spPr>
          <a:xfrm>
            <a:off x="246450" y="387625"/>
            <a:ext cx="2668200" cy="15780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FFFFFF"/>
              </a:buClr>
              <a:buSzPts val="2700"/>
              <a:buFont typeface="Calibri"/>
              <a:buNone/>
            </a:pPr>
            <a:r>
              <a:rPr lang="it" sz="2700">
                <a:solidFill>
                  <a:srgbClr val="FFFFFF"/>
                </a:solidFill>
              </a:rPr>
              <a:t>UBIQUITOUS TECHNOLOGY AND BIG DATA</a:t>
            </a:r>
            <a:endParaRPr/>
          </a:p>
        </p:txBody>
      </p:sp>
      <p:sp>
        <p:nvSpPr>
          <p:cNvPr id="271" name="Google Shape;271;p34"/>
          <p:cNvSpPr txBox="1"/>
          <p:nvPr>
            <p:ph idx="1" type="body"/>
          </p:nvPr>
        </p:nvSpPr>
        <p:spPr>
          <a:xfrm>
            <a:off x="369278" y="1990350"/>
            <a:ext cx="2313600" cy="25017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100"/>
              <a:buNone/>
            </a:pPr>
            <a:r>
              <a:t/>
            </a:r>
            <a:endParaRPr sz="1100">
              <a:solidFill>
                <a:srgbClr val="FFFFFF"/>
              </a:solidFill>
            </a:endParaRPr>
          </a:p>
        </p:txBody>
      </p:sp>
      <p:pic>
        <p:nvPicPr>
          <p:cNvPr descr="A picture containing person, building, outdoor, holding&#10;&#10;Description generated with very high confidence" id="272" name="Google Shape;272;p34"/>
          <p:cNvPicPr preferRelativeResize="0"/>
          <p:nvPr/>
        </p:nvPicPr>
        <p:blipFill rotWithShape="1">
          <a:blip r:embed="rId3">
            <a:alphaModFix/>
          </a:blip>
          <a:srcRect b="0" l="19781" r="14281" t="0"/>
          <a:stretch/>
        </p:blipFill>
        <p:spPr>
          <a:xfrm>
            <a:off x="3056282" y="10"/>
            <a:ext cx="6083452" cy="5143491"/>
          </a:xfrm>
          <a:prstGeom prst="rect">
            <a:avLst/>
          </a:prstGeom>
          <a:noFill/>
          <a:ln>
            <a:noFill/>
          </a:ln>
        </p:spPr>
      </p:pic>
      <p:sp>
        <p:nvSpPr>
          <p:cNvPr id="273" name="Google Shape;273;p34"/>
          <p:cNvSpPr/>
          <p:nvPr/>
        </p:nvSpPr>
        <p:spPr>
          <a:xfrm>
            <a:off x="3030053" y="0"/>
            <a:ext cx="48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descr="immagini da pres Domotz def-52.jpg" id="278" name="Google Shape;278;p35"/>
          <p:cNvPicPr preferRelativeResize="0"/>
          <p:nvPr/>
        </p:nvPicPr>
        <p:blipFill rotWithShape="1">
          <a:blip r:embed="rId3">
            <a:alphaModFix/>
          </a:blip>
          <a:srcRect b="0" l="0" r="0" t="0"/>
          <a:stretch/>
        </p:blipFill>
        <p:spPr>
          <a:xfrm>
            <a:off x="1573428" y="1276753"/>
            <a:ext cx="5997145" cy="3373216"/>
          </a:xfrm>
          <a:prstGeom prst="rect">
            <a:avLst/>
          </a:prstGeom>
          <a:noFill/>
          <a:ln>
            <a:noFill/>
          </a:ln>
        </p:spPr>
      </p:pic>
      <p:sp>
        <p:nvSpPr>
          <p:cNvPr id="279" name="Google Shape;279;p35"/>
          <p:cNvSpPr txBox="1"/>
          <p:nvPr>
            <p:ph type="title"/>
          </p:nvPr>
        </p:nvSpPr>
        <p:spPr>
          <a:xfrm>
            <a:off x="289325" y="214950"/>
            <a:ext cx="85491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it" sz="3240"/>
              <a:t>4.0 SMART PRODUCTS AND SERVICES</a:t>
            </a:r>
            <a:endParaRPr/>
          </a:p>
        </p:txBody>
      </p:sp>
      <p:sp>
        <p:nvSpPr>
          <p:cNvPr id="280" name="Google Shape;280;p35"/>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a:t>INDUSTRIAL IOT – MASTER 4.0 2019  - DANIELE MAZZEI - ALL RIGHTS RESERVED</a:t>
            </a:r>
            <a:endParaRPr/>
          </a:p>
        </p:txBody>
      </p:sp>
      <p:sp>
        <p:nvSpPr>
          <p:cNvPr id="281" name="Google Shape;281;p35"/>
          <p:cNvSpPr txBox="1"/>
          <p:nvPr/>
        </p:nvSpPr>
        <p:spPr>
          <a:xfrm>
            <a:off x="474651" y="858561"/>
            <a:ext cx="8194800" cy="369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it" sz="1800">
                <a:solidFill>
                  <a:srgbClr val="191919"/>
                </a:solidFill>
                <a:latin typeface="Calibri"/>
                <a:ea typeface="Calibri"/>
                <a:cs typeface="Calibri"/>
                <a:sym typeface="Calibri"/>
              </a:rPr>
              <a:t>A smart product is a physical device with a digital service at </a:t>
            </a:r>
            <a:r>
              <a:rPr b="1" lang="it" sz="1800">
                <a:solidFill>
                  <a:srgbClr val="191919"/>
                </a:solidFill>
                <a:latin typeface="Calibri"/>
                <a:ea typeface="Calibri"/>
                <a:cs typeface="Calibri"/>
                <a:sym typeface="Calibri"/>
              </a:rPr>
              <a:t>its</a:t>
            </a:r>
            <a:r>
              <a:rPr b="1" lang="it" sz="1800">
                <a:solidFill>
                  <a:srgbClr val="191919"/>
                </a:solidFill>
                <a:latin typeface="Calibri"/>
                <a:ea typeface="Calibri"/>
                <a:cs typeface="Calibri"/>
                <a:sym typeface="Calibri"/>
              </a:rPr>
              <a:t> heart</a:t>
            </a:r>
            <a:endParaRPr sz="1800">
              <a:solidFill>
                <a:srgbClr val="191919"/>
              </a:solidFill>
              <a:latin typeface="Calibri"/>
              <a:ea typeface="Calibri"/>
              <a:cs typeface="Calibri"/>
              <a:sym typeface="Calibri"/>
            </a:endParaRPr>
          </a:p>
        </p:txBody>
      </p:sp>
      <p:sp>
        <p:nvSpPr>
          <p:cNvPr id="282" name="Google Shape;282;p35"/>
          <p:cNvSpPr txBox="1"/>
          <p:nvPr/>
        </p:nvSpPr>
        <p:spPr>
          <a:xfrm>
            <a:off x="8284195" y="4603090"/>
            <a:ext cx="554100" cy="273900"/>
          </a:xfrm>
          <a:prstGeom prst="rect">
            <a:avLst/>
          </a:prstGeom>
          <a:noFill/>
          <a:ln>
            <a:noFill/>
          </a:ln>
        </p:spPr>
        <p:txBody>
          <a:bodyPr anchorCtr="0" anchor="ctr" bIns="45700" lIns="0" spcFirstLastPara="1" rIns="91425" wrap="square" tIns="45700">
            <a:noAutofit/>
          </a:bodyPr>
          <a:lstStyle/>
          <a:p>
            <a:pPr indent="-228600" lvl="0" marL="228600" marR="0" rtl="0" algn="ctr">
              <a:lnSpc>
                <a:spcPct val="80000"/>
              </a:lnSpc>
              <a:spcBef>
                <a:spcPts val="0"/>
              </a:spcBef>
              <a:spcAft>
                <a:spcPts val="0"/>
              </a:spcAft>
              <a:buClr>
                <a:schemeClr val="accent1"/>
              </a:buClr>
              <a:buSzPts val="1040"/>
              <a:buFont typeface="Noto Sans Symbols"/>
              <a:buNone/>
            </a:pPr>
            <a:fld id="{00000000-1234-1234-1234-123412341234}" type="slidenum">
              <a:rPr b="0" lang="it" sz="1387">
                <a:solidFill>
                  <a:schemeClr val="lt1"/>
                </a:solidFill>
                <a:latin typeface="Calibri"/>
                <a:ea typeface="Calibri"/>
                <a:cs typeface="Calibri"/>
                <a:sym typeface="Calibri"/>
              </a:rPr>
              <a:t>‹#›</a:t>
            </a:fld>
            <a:endParaRPr b="0" sz="1387">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descr="scenari health-10.jpg" id="287" name="Google Shape;287;p36"/>
          <p:cNvPicPr preferRelativeResize="0"/>
          <p:nvPr/>
        </p:nvPicPr>
        <p:blipFill rotWithShape="1">
          <a:blip r:embed="rId3">
            <a:alphaModFix/>
          </a:blip>
          <a:srcRect b="0" l="0" r="0" t="0"/>
          <a:stretch/>
        </p:blipFill>
        <p:spPr>
          <a:xfrm>
            <a:off x="1354" y="0"/>
            <a:ext cx="9141292" cy="5143500"/>
          </a:xfrm>
          <a:prstGeom prst="rect">
            <a:avLst/>
          </a:prstGeom>
          <a:noFill/>
          <a:ln>
            <a:noFill/>
          </a:ln>
        </p:spPr>
      </p:pic>
      <p:sp>
        <p:nvSpPr>
          <p:cNvPr id="288" name="Google Shape;288;p36"/>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t/>
            </a:r>
            <a:endParaRPr sz="3240"/>
          </a:p>
        </p:txBody>
      </p:sp>
      <p:sp>
        <p:nvSpPr>
          <p:cNvPr id="289" name="Google Shape;289;p36"/>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sp>
        <p:nvSpPr>
          <p:cNvPr id="290" name="Google Shape;290;p36"/>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t"/>
              <a:t>INDUSTRIAL IOT – MASTER 4.0 2019  - DANIELE MAZZEI - ALL RIGHTS RESERVED</a:t>
            </a:r>
            <a:endParaRPr/>
          </a:p>
        </p:txBody>
      </p:sp>
      <p:pic>
        <p:nvPicPr>
          <p:cNvPr descr="nuovi scenari1-10.png" id="291" name="Google Shape;291;p36"/>
          <p:cNvPicPr preferRelativeResize="0"/>
          <p:nvPr/>
        </p:nvPicPr>
        <p:blipFill rotWithShape="1">
          <a:blip r:embed="rId4">
            <a:alphaModFix/>
          </a:blip>
          <a:srcRect b="0" l="39842" r="0" t="0"/>
          <a:stretch/>
        </p:blipFill>
        <p:spPr>
          <a:xfrm>
            <a:off x="3643306" y="0"/>
            <a:ext cx="5499342" cy="5143501"/>
          </a:xfrm>
          <a:prstGeom prst="rect">
            <a:avLst/>
          </a:prstGeom>
          <a:noFill/>
          <a:ln>
            <a:noFill/>
          </a:ln>
        </p:spPr>
      </p:pic>
      <p:pic>
        <p:nvPicPr>
          <p:cNvPr descr="nuovi scenari-10.png" id="292" name="Google Shape;292;p36"/>
          <p:cNvPicPr preferRelativeResize="0"/>
          <p:nvPr/>
        </p:nvPicPr>
        <p:blipFill rotWithShape="1">
          <a:blip r:embed="rId5">
            <a:alphaModFix/>
          </a:blip>
          <a:srcRect b="0" l="0" r="49010" t="0"/>
          <a:stretch/>
        </p:blipFill>
        <p:spPr>
          <a:xfrm>
            <a:off x="1353" y="0"/>
            <a:ext cx="4660962" cy="51435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base-02.jpg" id="297" name="Google Shape;297;p37"/>
          <p:cNvPicPr preferRelativeResize="0"/>
          <p:nvPr/>
        </p:nvPicPr>
        <p:blipFill rotWithShape="1">
          <a:blip r:embed="rId3">
            <a:alphaModFix/>
          </a:blip>
          <a:srcRect b="0" l="0" r="0" t="0"/>
          <a:stretch/>
        </p:blipFill>
        <p:spPr>
          <a:xfrm>
            <a:off x="1354" y="0"/>
            <a:ext cx="9141292" cy="5143500"/>
          </a:xfrm>
          <a:prstGeom prst="rect">
            <a:avLst/>
          </a:prstGeom>
          <a:noFill/>
          <a:ln>
            <a:noFill/>
          </a:ln>
        </p:spPr>
      </p:pic>
      <p:pic>
        <p:nvPicPr>
          <p:cNvPr descr="8-02.png" id="298" name="Google Shape;298;p37"/>
          <p:cNvPicPr preferRelativeResize="0"/>
          <p:nvPr/>
        </p:nvPicPr>
        <p:blipFill rotWithShape="1">
          <a:blip r:embed="rId4">
            <a:alphaModFix/>
          </a:blip>
          <a:srcRect b="0" l="12452" r="25837" t="17341"/>
          <a:stretch/>
        </p:blipFill>
        <p:spPr>
          <a:xfrm>
            <a:off x="1139778" y="892152"/>
            <a:ext cx="5640957" cy="4251347"/>
          </a:xfrm>
          <a:prstGeom prst="rect">
            <a:avLst/>
          </a:prstGeom>
          <a:noFill/>
          <a:ln>
            <a:noFill/>
          </a:ln>
        </p:spPr>
      </p:pic>
      <p:sp>
        <p:nvSpPr>
          <p:cNvPr id="299" name="Google Shape;299;p37"/>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chemeClr val="lt1"/>
              </a:buClr>
              <a:buSzPts val="3240"/>
              <a:buFont typeface="Calibri"/>
              <a:buNone/>
            </a:pPr>
            <a:r>
              <a:rPr lang="it" sz="3240">
                <a:solidFill>
                  <a:schemeClr val="lt1"/>
                </a:solidFill>
              </a:rPr>
              <a:t>FACTORY ON INTERNET</a:t>
            </a:r>
            <a:endParaRPr/>
          </a:p>
        </p:txBody>
      </p:sp>
      <p:sp>
        <p:nvSpPr>
          <p:cNvPr id="300" name="Google Shape;300;p37"/>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sp>
        <p:nvSpPr>
          <p:cNvPr id="301" name="Google Shape;301;p37"/>
          <p:cNvSpPr txBox="1"/>
          <p:nvPr/>
        </p:nvSpPr>
        <p:spPr>
          <a:xfrm>
            <a:off x="6780735" y="4824000"/>
            <a:ext cx="1260000" cy="180000"/>
          </a:xfrm>
          <a:prstGeom prst="rect">
            <a:avLst/>
          </a:prstGeom>
          <a:noFill/>
          <a:ln>
            <a:noFill/>
          </a:ln>
        </p:spPr>
        <p:txBody>
          <a:bodyPr anchorCtr="0" anchor="t" bIns="45700" lIns="91425" spcFirstLastPara="1" rIns="0" wrap="square" tIns="45700">
            <a:noAutofit/>
          </a:bodyPr>
          <a:lstStyle/>
          <a:p>
            <a:pPr indent="0" lvl="0" marL="0" marR="0" rtl="0" algn="r">
              <a:lnSpc>
                <a:spcPct val="100000"/>
              </a:lnSpc>
              <a:spcBef>
                <a:spcPts val="0"/>
              </a:spcBef>
              <a:spcAft>
                <a:spcPts val="0"/>
              </a:spcAft>
              <a:buClr>
                <a:schemeClr val="accent6"/>
              </a:buClr>
              <a:buSzPts val="900"/>
              <a:buFont typeface="Arial"/>
              <a:buNone/>
            </a:pPr>
            <a:r>
              <a:rPr b="1" i="0" lang="it" sz="900" u="none" cap="none" strike="noStrike">
                <a:solidFill>
                  <a:schemeClr val="accent6"/>
                </a:solidFill>
                <a:latin typeface="Calibri"/>
                <a:ea typeface="Calibri"/>
                <a:cs typeface="Calibri"/>
                <a:sym typeface="Calibri"/>
              </a:rPr>
              <a:t>www.zerynth.com</a:t>
            </a:r>
            <a:endParaRPr/>
          </a:p>
        </p:txBody>
      </p:sp>
      <p:pic>
        <p:nvPicPr>
          <p:cNvPr descr="1-02.png" id="302" name="Google Shape;302;p37"/>
          <p:cNvPicPr preferRelativeResize="0"/>
          <p:nvPr/>
        </p:nvPicPr>
        <p:blipFill rotWithShape="1">
          <a:blip r:embed="rId5">
            <a:alphaModFix/>
          </a:blip>
          <a:srcRect b="13190" l="71044" r="0" t="69263"/>
          <a:stretch/>
        </p:blipFill>
        <p:spPr>
          <a:xfrm>
            <a:off x="6495803" y="3562597"/>
            <a:ext cx="2646847" cy="902527"/>
          </a:xfrm>
          <a:prstGeom prst="rect">
            <a:avLst/>
          </a:prstGeom>
          <a:noFill/>
          <a:ln>
            <a:noFill/>
          </a:ln>
        </p:spPr>
      </p:pic>
      <p:pic>
        <p:nvPicPr>
          <p:cNvPr descr="2-02.png" id="303" name="Google Shape;303;p37"/>
          <p:cNvPicPr preferRelativeResize="0"/>
          <p:nvPr/>
        </p:nvPicPr>
        <p:blipFill rotWithShape="1">
          <a:blip r:embed="rId6">
            <a:alphaModFix/>
          </a:blip>
          <a:srcRect b="21270" l="54806" r="25707" t="52871"/>
          <a:stretch/>
        </p:blipFill>
        <p:spPr>
          <a:xfrm>
            <a:off x="5011387" y="2719449"/>
            <a:ext cx="1781300" cy="1330038"/>
          </a:xfrm>
          <a:prstGeom prst="rect">
            <a:avLst/>
          </a:prstGeom>
          <a:noFill/>
          <a:ln>
            <a:noFill/>
          </a:ln>
        </p:spPr>
      </p:pic>
      <p:pic>
        <p:nvPicPr>
          <p:cNvPr descr="3-02.png" id="304" name="Google Shape;304;p37"/>
          <p:cNvPicPr preferRelativeResize="0"/>
          <p:nvPr/>
        </p:nvPicPr>
        <p:blipFill rotWithShape="1">
          <a:blip r:embed="rId7">
            <a:alphaModFix/>
          </a:blip>
          <a:srcRect b="42510" l="69875" r="4922" t="42713"/>
          <a:stretch/>
        </p:blipFill>
        <p:spPr>
          <a:xfrm>
            <a:off x="6388925" y="2196935"/>
            <a:ext cx="2303810" cy="760020"/>
          </a:xfrm>
          <a:prstGeom prst="rect">
            <a:avLst/>
          </a:prstGeom>
          <a:noFill/>
          <a:ln>
            <a:noFill/>
          </a:ln>
        </p:spPr>
      </p:pic>
      <p:pic>
        <p:nvPicPr>
          <p:cNvPr descr="4-02.png" id="305" name="Google Shape;305;p37"/>
          <p:cNvPicPr preferRelativeResize="0"/>
          <p:nvPr/>
        </p:nvPicPr>
        <p:blipFill rotWithShape="1">
          <a:blip r:embed="rId8">
            <a:alphaModFix/>
          </a:blip>
          <a:srcRect b="50823" l="74941" r="9079" t="19625"/>
          <a:stretch/>
        </p:blipFill>
        <p:spPr>
          <a:xfrm>
            <a:off x="6852062" y="1009403"/>
            <a:ext cx="1460663" cy="1520040"/>
          </a:xfrm>
          <a:prstGeom prst="rect">
            <a:avLst/>
          </a:prstGeom>
          <a:noFill/>
          <a:ln>
            <a:noFill/>
          </a:ln>
        </p:spPr>
      </p:pic>
      <p:pic>
        <p:nvPicPr>
          <p:cNvPr descr="5-02.png" id="306" name="Google Shape;306;p37"/>
          <p:cNvPicPr preferRelativeResize="0"/>
          <p:nvPr/>
        </p:nvPicPr>
        <p:blipFill rotWithShape="1">
          <a:blip r:embed="rId9">
            <a:alphaModFix/>
          </a:blip>
          <a:srcRect b="62828" l="49348" r="24539" t="23318"/>
          <a:stretch/>
        </p:blipFill>
        <p:spPr>
          <a:xfrm>
            <a:off x="4512623" y="1199408"/>
            <a:ext cx="2386940" cy="712521"/>
          </a:xfrm>
          <a:prstGeom prst="rect">
            <a:avLst/>
          </a:prstGeom>
          <a:noFill/>
          <a:ln>
            <a:noFill/>
          </a:ln>
        </p:spPr>
      </p:pic>
      <p:pic>
        <p:nvPicPr>
          <p:cNvPr descr="6-02.png" id="307" name="Google Shape;307;p37"/>
          <p:cNvPicPr preferRelativeResize="0"/>
          <p:nvPr/>
        </p:nvPicPr>
        <p:blipFill rotWithShape="1">
          <a:blip r:embed="rId10">
            <a:alphaModFix/>
          </a:blip>
          <a:srcRect b="76680" l="45712" r="34411" t="12006"/>
          <a:stretch/>
        </p:blipFill>
        <p:spPr>
          <a:xfrm>
            <a:off x="4180114" y="617517"/>
            <a:ext cx="1816928" cy="581892"/>
          </a:xfrm>
          <a:prstGeom prst="rect">
            <a:avLst/>
          </a:prstGeom>
          <a:noFill/>
          <a:ln>
            <a:noFill/>
          </a:ln>
        </p:spPr>
      </p:pic>
      <p:pic>
        <p:nvPicPr>
          <p:cNvPr descr="7-02.png" id="308" name="Google Shape;308;p37"/>
          <p:cNvPicPr preferRelativeResize="0"/>
          <p:nvPr/>
        </p:nvPicPr>
        <p:blipFill rotWithShape="1">
          <a:blip r:embed="rId11">
            <a:alphaModFix/>
          </a:blip>
          <a:srcRect b="72063" l="18562" r="63899" t="17546"/>
          <a:stretch/>
        </p:blipFill>
        <p:spPr>
          <a:xfrm>
            <a:off x="1698171" y="902525"/>
            <a:ext cx="1603172" cy="534388"/>
          </a:xfrm>
          <a:prstGeom prst="rect">
            <a:avLst/>
          </a:prstGeom>
          <a:noFill/>
          <a:ln>
            <a:noFill/>
          </a:ln>
        </p:spPr>
      </p:pic>
      <p:pic>
        <p:nvPicPr>
          <p:cNvPr descr="9-02.png" id="309" name="Google Shape;309;p37"/>
          <p:cNvPicPr preferRelativeResize="0"/>
          <p:nvPr/>
        </p:nvPicPr>
        <p:blipFill rotWithShape="1">
          <a:blip r:embed="rId12">
            <a:alphaModFix/>
          </a:blip>
          <a:srcRect b="5108" l="2193" r="69617" t="54948"/>
          <a:stretch/>
        </p:blipFill>
        <p:spPr>
          <a:xfrm>
            <a:off x="201881" y="2826327"/>
            <a:ext cx="2576945" cy="20544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par>
                          <p:cTn fill="hold">
                            <p:stCondLst>
                              <p:cond delay="3500"/>
                            </p:stCondLst>
                            <p:childTnLst>
                              <p:par>
                                <p:cTn fill="hold" nodeType="afterEffect" presetClass="entr" presetID="10" presetSubtype="0">
                                  <p:stCondLst>
                                    <p:cond delay="100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descr="base-01.jpg" id="314" name="Google Shape;314;p38"/>
          <p:cNvPicPr preferRelativeResize="0"/>
          <p:nvPr/>
        </p:nvPicPr>
        <p:blipFill rotWithShape="1">
          <a:blip r:embed="rId3">
            <a:alphaModFix/>
          </a:blip>
          <a:srcRect b="0" l="0" r="0" t="0"/>
          <a:stretch/>
        </p:blipFill>
        <p:spPr>
          <a:xfrm>
            <a:off x="1354" y="0"/>
            <a:ext cx="9141292" cy="5143500"/>
          </a:xfrm>
          <a:prstGeom prst="rect">
            <a:avLst/>
          </a:prstGeom>
          <a:noFill/>
          <a:ln>
            <a:noFill/>
          </a:ln>
        </p:spPr>
      </p:pic>
      <p:sp>
        <p:nvSpPr>
          <p:cNvPr id="315" name="Google Shape;315;p38"/>
          <p:cNvSpPr txBox="1"/>
          <p:nvPr>
            <p:ph type="title"/>
          </p:nvPr>
        </p:nvSpPr>
        <p:spPr>
          <a:xfrm>
            <a:off x="822960" y="214953"/>
            <a:ext cx="7543800" cy="526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chemeClr val="lt1"/>
              </a:buClr>
              <a:buSzPts val="3240"/>
              <a:buFont typeface="Calibri"/>
              <a:buNone/>
            </a:pPr>
            <a:r>
              <a:rPr lang="it" sz="3240">
                <a:solidFill>
                  <a:schemeClr val="lt1"/>
                </a:solidFill>
              </a:rPr>
              <a:t>WELLS ON INTERNET</a:t>
            </a:r>
            <a:endParaRPr/>
          </a:p>
        </p:txBody>
      </p:sp>
      <p:sp>
        <p:nvSpPr>
          <p:cNvPr id="316" name="Google Shape;316;p38"/>
          <p:cNvSpPr txBox="1"/>
          <p:nvPr>
            <p:ph idx="1" type="body"/>
          </p:nvPr>
        </p:nvSpPr>
        <p:spPr>
          <a:xfrm>
            <a:off x="822960" y="810516"/>
            <a:ext cx="7543800" cy="3915300"/>
          </a:xfrm>
          <a:prstGeom prst="rect">
            <a:avLst/>
          </a:prstGeom>
          <a:noFill/>
          <a:ln>
            <a:noFill/>
          </a:ln>
        </p:spPr>
        <p:txBody>
          <a:bodyPr anchorCtr="0" anchor="t" bIns="45700" lIns="0" spcFirstLastPara="1" rIns="0" wrap="square" tIns="45700">
            <a:noAutofit/>
          </a:bodyPr>
          <a:lstStyle/>
          <a:p>
            <a:pPr indent="0" lvl="0" marL="68580" rtl="0" algn="l">
              <a:lnSpc>
                <a:spcPct val="90000"/>
              </a:lnSpc>
              <a:spcBef>
                <a:spcPts val="0"/>
              </a:spcBef>
              <a:spcAft>
                <a:spcPts val="0"/>
              </a:spcAft>
              <a:buSzPts val="1500"/>
              <a:buNone/>
            </a:pPr>
            <a:r>
              <a:t/>
            </a:r>
            <a:endParaRPr/>
          </a:p>
        </p:txBody>
      </p:sp>
      <p:pic>
        <p:nvPicPr>
          <p:cNvPr descr="1-01.png" id="317" name="Google Shape;317;p38"/>
          <p:cNvPicPr preferRelativeResize="0"/>
          <p:nvPr/>
        </p:nvPicPr>
        <p:blipFill rotWithShape="1">
          <a:blip r:embed="rId4">
            <a:alphaModFix/>
          </a:blip>
          <a:srcRect b="9538" l="74162" r="0" t="65615"/>
          <a:stretch/>
        </p:blipFill>
        <p:spPr>
          <a:xfrm>
            <a:off x="6780735" y="3375036"/>
            <a:ext cx="2361911" cy="1277953"/>
          </a:xfrm>
          <a:prstGeom prst="rect">
            <a:avLst/>
          </a:prstGeom>
          <a:noFill/>
          <a:ln>
            <a:noFill/>
          </a:ln>
        </p:spPr>
      </p:pic>
      <p:pic>
        <p:nvPicPr>
          <p:cNvPr descr="2-01.png" id="318" name="Google Shape;318;p38"/>
          <p:cNvPicPr preferRelativeResize="0"/>
          <p:nvPr/>
        </p:nvPicPr>
        <p:blipFill rotWithShape="1">
          <a:blip r:embed="rId5">
            <a:alphaModFix/>
          </a:blip>
          <a:srcRect b="26575" l="67575" r="16047" t="42899"/>
          <a:stretch/>
        </p:blipFill>
        <p:spPr>
          <a:xfrm>
            <a:off x="6178572" y="2206620"/>
            <a:ext cx="1497037" cy="1570059"/>
          </a:xfrm>
          <a:prstGeom prst="rect">
            <a:avLst/>
          </a:prstGeom>
          <a:noFill/>
          <a:ln>
            <a:noFill/>
          </a:ln>
        </p:spPr>
      </p:pic>
      <p:pic>
        <p:nvPicPr>
          <p:cNvPr descr="3-01.png" id="319" name="Google Shape;319;p38"/>
          <p:cNvPicPr preferRelativeResize="0"/>
          <p:nvPr/>
        </p:nvPicPr>
        <p:blipFill rotWithShape="1">
          <a:blip r:embed="rId6">
            <a:alphaModFix/>
          </a:blip>
          <a:srcRect b="42900" l="37617" r="42011" t="35092"/>
          <a:stretch/>
        </p:blipFill>
        <p:spPr>
          <a:xfrm>
            <a:off x="3440097" y="1804977"/>
            <a:ext cx="1862162" cy="1131904"/>
          </a:xfrm>
          <a:prstGeom prst="rect">
            <a:avLst/>
          </a:prstGeom>
          <a:noFill/>
          <a:ln>
            <a:noFill/>
          </a:ln>
        </p:spPr>
      </p:pic>
      <p:pic>
        <p:nvPicPr>
          <p:cNvPr descr="4-01.png" id="320" name="Google Shape;320;p38"/>
          <p:cNvPicPr preferRelativeResize="0"/>
          <p:nvPr/>
        </p:nvPicPr>
        <p:blipFill rotWithShape="1">
          <a:blip r:embed="rId7">
            <a:alphaModFix/>
          </a:blip>
          <a:srcRect b="52437" l="33371" r="52338" t="20548"/>
          <a:stretch/>
        </p:blipFill>
        <p:spPr>
          <a:xfrm>
            <a:off x="3051958" y="1056904"/>
            <a:ext cx="1306286" cy="1389412"/>
          </a:xfrm>
          <a:prstGeom prst="rect">
            <a:avLst/>
          </a:prstGeom>
          <a:noFill/>
          <a:ln>
            <a:noFill/>
          </a:ln>
        </p:spPr>
      </p:pic>
      <p:pic>
        <p:nvPicPr>
          <p:cNvPr descr="5-01.png" id="321" name="Google Shape;321;p38"/>
          <p:cNvPicPr preferRelativeResize="0"/>
          <p:nvPr/>
        </p:nvPicPr>
        <p:blipFill rotWithShape="1">
          <a:blip r:embed="rId8">
            <a:alphaModFix/>
          </a:blip>
          <a:srcRect b="69877" l="70370" r="16224" t="2999"/>
          <a:stretch/>
        </p:blipFill>
        <p:spPr>
          <a:xfrm>
            <a:off x="6434163" y="154379"/>
            <a:ext cx="1225425" cy="1395008"/>
          </a:xfrm>
          <a:prstGeom prst="rect">
            <a:avLst/>
          </a:prstGeom>
          <a:noFill/>
          <a:ln>
            <a:noFill/>
          </a:ln>
        </p:spPr>
      </p:pic>
      <p:pic>
        <p:nvPicPr>
          <p:cNvPr descr="6-01.png" id="322" name="Google Shape;322;p38"/>
          <p:cNvPicPr preferRelativeResize="0"/>
          <p:nvPr/>
        </p:nvPicPr>
        <p:blipFill rotWithShape="1">
          <a:blip r:embed="rId9">
            <a:alphaModFix/>
          </a:blip>
          <a:srcRect b="63982" l="80399" r="5960" t="12237"/>
          <a:stretch/>
        </p:blipFill>
        <p:spPr>
          <a:xfrm>
            <a:off x="7350826" y="629392"/>
            <a:ext cx="1246907" cy="1223157"/>
          </a:xfrm>
          <a:prstGeom prst="rect">
            <a:avLst/>
          </a:prstGeom>
          <a:noFill/>
          <a:ln>
            <a:noFill/>
          </a:ln>
        </p:spPr>
      </p:pic>
      <p:pic>
        <p:nvPicPr>
          <p:cNvPr descr="10-01.png" id="323" name="Google Shape;323;p38"/>
          <p:cNvPicPr preferRelativeResize="0"/>
          <p:nvPr/>
        </p:nvPicPr>
        <p:blipFill rotWithShape="1">
          <a:blip r:embed="rId10">
            <a:alphaModFix/>
          </a:blip>
          <a:srcRect b="8802" l="3621" r="70397" t="54025"/>
          <a:stretch/>
        </p:blipFill>
        <p:spPr>
          <a:xfrm>
            <a:off x="332509" y="2778826"/>
            <a:ext cx="2375065" cy="1911926"/>
          </a:xfrm>
          <a:prstGeom prst="rect">
            <a:avLst/>
          </a:prstGeom>
          <a:noFill/>
          <a:ln>
            <a:noFill/>
          </a:ln>
        </p:spPr>
      </p:pic>
      <p:pic>
        <p:nvPicPr>
          <p:cNvPr descr="9-01.png" id="324" name="Google Shape;324;p38"/>
          <p:cNvPicPr preferRelativeResize="0"/>
          <p:nvPr/>
        </p:nvPicPr>
        <p:blipFill rotWithShape="1">
          <a:blip r:embed="rId11">
            <a:alphaModFix/>
          </a:blip>
          <a:srcRect b="24733" l="27136" r="18041" t="12234"/>
          <a:stretch/>
        </p:blipFill>
        <p:spPr>
          <a:xfrm>
            <a:off x="2481943" y="629392"/>
            <a:ext cx="5011388" cy="32419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childTnLst>
                          </p:cTn>
                        </p:par>
                        <p:par>
                          <p:cTn fill="hold">
                            <p:stCondLst>
                              <p:cond delay="3000"/>
                            </p:stCondLst>
                            <p:childTnLst>
                              <p:par>
                                <p:cTn fill="hold" nodeType="afterEffect" presetClass="entr" presetID="10" presetSubtype="0">
                                  <p:stCondLst>
                                    <p:cond delay="100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C3E66"/>
            </a:gs>
            <a:gs pos="65000">
              <a:srgbClr val="191E50"/>
            </a:gs>
            <a:gs pos="100000">
              <a:srgbClr val="15193D"/>
            </a:gs>
          </a:gsLst>
          <a:lin ang="16200038" scaled="0"/>
        </a:gradFill>
      </p:bgPr>
    </p:bg>
    <p:spTree>
      <p:nvGrpSpPr>
        <p:cNvPr id="328" name="Shape 328"/>
        <p:cNvGrpSpPr/>
        <p:nvPr/>
      </p:nvGrpSpPr>
      <p:grpSpPr>
        <a:xfrm>
          <a:off x="0" y="0"/>
          <a:ext cx="0" cy="0"/>
          <a:chOff x="0" y="0"/>
          <a:chExt cx="0" cy="0"/>
        </a:xfrm>
      </p:grpSpPr>
      <p:sp>
        <p:nvSpPr>
          <p:cNvPr id="329" name="Google Shape;329;p39"/>
          <p:cNvSpPr txBox="1"/>
          <p:nvPr>
            <p:ph type="title"/>
          </p:nvPr>
        </p:nvSpPr>
        <p:spPr>
          <a:xfrm>
            <a:off x="822960" y="569214"/>
            <a:ext cx="7543800" cy="29190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FFFFFF"/>
              </a:buClr>
              <a:buSzPts val="8000"/>
              <a:buFont typeface="Calibri"/>
              <a:buNone/>
            </a:pPr>
            <a:r>
              <a:rPr lang="it" sz="8000">
                <a:solidFill>
                  <a:srgbClr val="FFFFFF"/>
                </a:solidFill>
              </a:rPr>
              <a:t>NEW DESIGN PRINCIPLES</a:t>
            </a:r>
            <a:endParaRPr/>
          </a:p>
        </p:txBody>
      </p:sp>
      <p:sp>
        <p:nvSpPr>
          <p:cNvPr id="330" name="Google Shape;330;p39"/>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it" sz="700" cap="none">
                <a:solidFill>
                  <a:srgbClr val="FFFFFF"/>
                </a:solidFill>
                <a:latin typeface="Calibri"/>
                <a:ea typeface="Calibri"/>
                <a:cs typeface="Calibri"/>
                <a:sym typeface="Calibri"/>
              </a:rPr>
              <a:t>INDUSTRIAL IOT – MASTER 4.0 2019  - DANIELE MAZZEI - ALL RIGHTS RESERVED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UX for IOT</a:t>
            </a:r>
            <a:endParaRPr/>
          </a:p>
        </p:txBody>
      </p:sp>
      <p:sp>
        <p:nvSpPr>
          <p:cNvPr id="336" name="Google Shape;336;p4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Designing for the IoT </a:t>
            </a:r>
            <a:r>
              <a:rPr b="1" lang="it"/>
              <a:t>is inherently more complex than web service design. </a:t>
            </a:r>
            <a:endParaRPr b="1"/>
          </a:p>
          <a:p>
            <a:pPr indent="0" lvl="0" marL="0" rtl="0" algn="l">
              <a:spcBef>
                <a:spcPts val="1600"/>
              </a:spcBef>
              <a:spcAft>
                <a:spcPts val="0"/>
              </a:spcAft>
              <a:buNone/>
            </a:pPr>
            <a:r>
              <a:rPr lang="it"/>
              <a:t>Some of this is to do with the current state of the technology. </a:t>
            </a:r>
            <a:endParaRPr/>
          </a:p>
          <a:p>
            <a:pPr indent="0" lvl="0" marL="0" rtl="0" algn="l">
              <a:spcBef>
                <a:spcPts val="1600"/>
              </a:spcBef>
              <a:spcAft>
                <a:spcPts val="0"/>
              </a:spcAft>
              <a:buNone/>
            </a:pPr>
            <a:r>
              <a:rPr lang="it"/>
              <a:t>Some of this reflects our as-yet immature understanding of compelling consumer IoT value propositions. </a:t>
            </a:r>
            <a:endParaRPr/>
          </a:p>
          <a:p>
            <a:pPr indent="0" lvl="0" marL="0" rtl="0" algn="l">
              <a:spcBef>
                <a:spcPts val="1600"/>
              </a:spcBef>
              <a:spcAft>
                <a:spcPts val="0"/>
              </a:spcAft>
              <a:buNone/>
            </a:pPr>
            <a:r>
              <a:rPr lang="it"/>
              <a:t>Some of this stems from the fact that there are more aspects of design to consider. </a:t>
            </a:r>
            <a:r>
              <a:rPr b="1" lang="it"/>
              <a:t>Tackling them independently creates an incoherent user experience (UX).</a:t>
            </a:r>
            <a:endParaRPr b="1"/>
          </a:p>
          <a:p>
            <a:pPr indent="0" lvl="0" marL="0" rtl="0" algn="l">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UX for IOT</a:t>
            </a:r>
            <a:endParaRPr/>
          </a:p>
        </p:txBody>
      </p:sp>
      <p:sp>
        <p:nvSpPr>
          <p:cNvPr id="342" name="Google Shape;342;p41"/>
          <p:cNvSpPr txBox="1"/>
          <p:nvPr>
            <p:ph idx="1" type="body"/>
          </p:nvPr>
        </p:nvSpPr>
        <p:spPr>
          <a:xfrm>
            <a:off x="311700" y="619075"/>
            <a:ext cx="3524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Designing a great connected product requires a holistic approach to user experience. </a:t>
            </a:r>
            <a:endParaRPr/>
          </a:p>
          <a:p>
            <a:pPr indent="0" lvl="0" marL="0" rtl="0" algn="l">
              <a:spcBef>
                <a:spcPts val="1600"/>
              </a:spcBef>
              <a:spcAft>
                <a:spcPts val="0"/>
              </a:spcAft>
              <a:buClr>
                <a:schemeClr val="dk1"/>
              </a:buClr>
              <a:buSzPts val="1100"/>
              <a:buFont typeface="Arial"/>
              <a:buNone/>
            </a:pPr>
            <a:r>
              <a:rPr lang="it"/>
              <a:t>It spans many layers of design, not all of them immediately visible.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it" sz="1100" u="sng">
                <a:solidFill>
                  <a:schemeClr val="hlink"/>
                </a:solidFill>
                <a:hlinkClick r:id="rId3"/>
              </a:rPr>
              <a:t>https://aws.amazon.com/solutions/case-studies/irobot-iot/</a:t>
            </a:r>
            <a:endParaRPr/>
          </a:p>
          <a:p>
            <a:pPr indent="0" lvl="0" marL="0" rtl="0" algn="l">
              <a:spcBef>
                <a:spcPts val="1600"/>
              </a:spcBef>
              <a:spcAft>
                <a:spcPts val="1600"/>
              </a:spcAft>
              <a:buNone/>
            </a:pPr>
            <a:r>
              <a:t/>
            </a:r>
            <a:endParaRPr/>
          </a:p>
        </p:txBody>
      </p:sp>
      <p:pic>
        <p:nvPicPr>
          <p:cNvPr id="343" name="Google Shape;343;p41"/>
          <p:cNvPicPr preferRelativeResize="0"/>
          <p:nvPr/>
        </p:nvPicPr>
        <p:blipFill>
          <a:blip r:embed="rId4">
            <a:alphaModFix/>
          </a:blip>
          <a:stretch>
            <a:fillRect/>
          </a:stretch>
        </p:blipFill>
        <p:spPr>
          <a:xfrm>
            <a:off x="3782625" y="1026675"/>
            <a:ext cx="5264950" cy="29615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 UX for IOT is different?</a:t>
            </a:r>
            <a:endParaRPr/>
          </a:p>
        </p:txBody>
      </p:sp>
      <p:sp>
        <p:nvSpPr>
          <p:cNvPr id="349" name="Google Shape;349;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Connected products pose design challenges that will be new to designers accustomed to pure software services. </a:t>
            </a:r>
            <a:endParaRPr/>
          </a:p>
          <a:p>
            <a:pPr indent="0" lvl="0" marL="0" rtl="0" algn="l">
              <a:spcBef>
                <a:spcPts val="1600"/>
              </a:spcBef>
              <a:spcAft>
                <a:spcPts val="0"/>
              </a:spcAft>
              <a:buClr>
                <a:schemeClr val="dk1"/>
              </a:buClr>
              <a:buSzPts val="1100"/>
              <a:buFont typeface="Arial"/>
              <a:buNone/>
            </a:pPr>
            <a:r>
              <a:rPr lang="it"/>
              <a:t>Many of these challenges stem from:</a:t>
            </a:r>
            <a:endParaRPr/>
          </a:p>
          <a:p>
            <a:pPr indent="0" lvl="0" marL="0" rtl="0" algn="l">
              <a:spcBef>
                <a:spcPts val="1600"/>
              </a:spcBef>
              <a:spcAft>
                <a:spcPts val="0"/>
              </a:spcAft>
              <a:buClr>
                <a:schemeClr val="dk1"/>
              </a:buClr>
              <a:buSzPts val="1100"/>
              <a:buFont typeface="Arial"/>
              <a:buNone/>
            </a:pPr>
            <a:r>
              <a:rPr lang="it"/>
              <a:t>• The specialized nature of IoT devices</a:t>
            </a:r>
            <a:endParaRPr/>
          </a:p>
          <a:p>
            <a:pPr indent="0" lvl="0" marL="0" rtl="0" algn="l">
              <a:spcBef>
                <a:spcPts val="1600"/>
              </a:spcBef>
              <a:spcAft>
                <a:spcPts val="0"/>
              </a:spcAft>
              <a:buClr>
                <a:schemeClr val="dk1"/>
              </a:buClr>
              <a:buSzPts val="1100"/>
              <a:buFont typeface="Arial"/>
              <a:buNone/>
            </a:pPr>
            <a:r>
              <a:rPr lang="it"/>
              <a:t>• Their ability to bridge the digital and physical worlds</a:t>
            </a:r>
            <a:endParaRPr/>
          </a:p>
          <a:p>
            <a:pPr indent="0" lvl="0" marL="0" rtl="0" algn="l">
              <a:spcBef>
                <a:spcPts val="1600"/>
              </a:spcBef>
              <a:spcAft>
                <a:spcPts val="0"/>
              </a:spcAft>
              <a:buClr>
                <a:schemeClr val="dk1"/>
              </a:buClr>
              <a:buSzPts val="1100"/>
              <a:buFont typeface="Arial"/>
              <a:buNone/>
            </a:pPr>
            <a:r>
              <a:rPr lang="it"/>
              <a:t>• The fact that many IoT products are distributed systems of multiple devices</a:t>
            </a:r>
            <a:endParaRPr/>
          </a:p>
          <a:p>
            <a:pPr indent="0" lvl="0" marL="0" rtl="0" algn="l">
              <a:spcBef>
                <a:spcPts val="1600"/>
              </a:spcBef>
              <a:spcAft>
                <a:spcPts val="0"/>
              </a:spcAft>
              <a:buClr>
                <a:schemeClr val="dk1"/>
              </a:buClr>
              <a:buSzPts val="1100"/>
              <a:buFont typeface="Arial"/>
              <a:buNone/>
            </a:pPr>
            <a:r>
              <a:rPr lang="it"/>
              <a:t>• The quirks of networking</a:t>
            </a:r>
            <a:endParaRPr/>
          </a:p>
          <a:p>
            <a:pPr indent="0" lvl="0" marL="0" rtl="0" algn="l">
              <a:spcBef>
                <a:spcPts val="1600"/>
              </a:spcBef>
              <a:spcAft>
                <a:spcPts val="16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Specialized Devices, with Different Capabilities</a:t>
            </a:r>
            <a:endParaRPr/>
          </a:p>
        </p:txBody>
      </p:sp>
      <p:sp>
        <p:nvSpPr>
          <p:cNvPr id="355" name="Google Shape;355;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Many of the “things” in the Internet of Things are </a:t>
            </a:r>
            <a:r>
              <a:rPr b="1" lang="it"/>
              <a:t>specialized, embedded computing devices.</a:t>
            </a:r>
            <a:r>
              <a:rPr lang="it"/>
              <a:t> Unlike general-purpose computers (smartphones and PCs), their </a:t>
            </a:r>
            <a:r>
              <a:rPr b="1" lang="it"/>
              <a:t>hardware and software is optimized to fulfill specific functions.</a:t>
            </a:r>
            <a:endParaRPr b="1"/>
          </a:p>
          <a:p>
            <a:pPr indent="0" lvl="0" marL="0" rtl="0" algn="l">
              <a:spcBef>
                <a:spcPts val="1600"/>
              </a:spcBef>
              <a:spcAft>
                <a:spcPts val="0"/>
              </a:spcAft>
              <a:buClr>
                <a:schemeClr val="dk1"/>
              </a:buClr>
              <a:buSzPts val="1100"/>
              <a:buFont typeface="Arial"/>
              <a:buNone/>
            </a:pPr>
            <a:r>
              <a:rPr lang="it"/>
              <a:t>Their </a:t>
            </a:r>
            <a:r>
              <a:rPr b="1" lang="it"/>
              <a:t>physical forms must be designed</a:t>
            </a:r>
            <a:r>
              <a:rPr lang="it"/>
              <a:t> and engineered. </a:t>
            </a:r>
            <a:endParaRPr/>
          </a:p>
          <a:p>
            <a:pPr indent="0" lvl="0" marL="0" rtl="0" algn="l">
              <a:spcBef>
                <a:spcPts val="1600"/>
              </a:spcBef>
              <a:spcAft>
                <a:spcPts val="0"/>
              </a:spcAft>
              <a:buClr>
                <a:schemeClr val="dk1"/>
              </a:buClr>
              <a:buSzPts val="1100"/>
              <a:buFont typeface="Arial"/>
              <a:buNone/>
            </a:pPr>
            <a:r>
              <a:rPr lang="it"/>
              <a:t>Their </a:t>
            </a:r>
            <a:r>
              <a:rPr b="1" lang="it"/>
              <a:t>UI capabilities may extend from screens and buttons into physical controls</a:t>
            </a:r>
            <a:r>
              <a:rPr lang="it"/>
              <a:t>, audio, haptics, gestures, tangible interactions, and more. </a:t>
            </a:r>
            <a:endParaRPr/>
          </a:p>
          <a:p>
            <a:pPr indent="0" lvl="0" marL="0" rtl="0" algn="l">
              <a:spcBef>
                <a:spcPts val="1600"/>
              </a:spcBef>
              <a:spcAft>
                <a:spcPts val="0"/>
              </a:spcAft>
              <a:buClr>
                <a:schemeClr val="dk1"/>
              </a:buClr>
              <a:buSzPts val="1100"/>
              <a:buFont typeface="Arial"/>
              <a:buNone/>
            </a:pPr>
            <a:r>
              <a:rPr lang="it"/>
              <a:t>But </a:t>
            </a:r>
            <a:r>
              <a:rPr b="1" lang="it"/>
              <a:t>user interactions must be designed without the benefit of the style guides and standards</a:t>
            </a:r>
            <a:r>
              <a:rPr lang="it"/>
              <a:t> that web and mobile designers can rely upon. </a:t>
            </a:r>
            <a:endParaRPr/>
          </a:p>
          <a:p>
            <a:pPr indent="0" lvl="0" marL="0" rtl="0" algn="l">
              <a:spcBef>
                <a:spcPts val="1600"/>
              </a:spcBef>
              <a:spcAft>
                <a:spcPts val="0"/>
              </a:spcAft>
              <a:buClr>
                <a:schemeClr val="dk1"/>
              </a:buClr>
              <a:buSzPts val="1100"/>
              <a:buFont typeface="Arial"/>
              <a:buNone/>
            </a:pPr>
            <a:r>
              <a:rPr lang="it"/>
              <a:t>Some may have no user input or output capabilities at all. The only way to find out what they are doing or what state they are in may be via a remote UI.</a:t>
            </a:r>
            <a:endParaRPr/>
          </a:p>
          <a:p>
            <a:pPr indent="0" lvl="0" marL="0" rtl="0" algn="l">
              <a:spcBef>
                <a:spcPts val="160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Real-World Context</a:t>
            </a:r>
            <a:endParaRPr/>
          </a:p>
        </p:txBody>
      </p:sp>
      <p:sp>
        <p:nvSpPr>
          <p:cNvPr id="361" name="Google Shape;361;p4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Connected products exist in the physical world. </a:t>
            </a:r>
            <a:endParaRPr b="1"/>
          </a:p>
          <a:p>
            <a:pPr indent="0" lvl="0" marL="0" rtl="0" algn="l">
              <a:spcBef>
                <a:spcPts val="1600"/>
              </a:spcBef>
              <a:spcAft>
                <a:spcPts val="0"/>
              </a:spcAft>
              <a:buClr>
                <a:schemeClr val="dk1"/>
              </a:buClr>
              <a:buSzPts val="1100"/>
              <a:buFont typeface="Arial"/>
              <a:buNone/>
            </a:pPr>
            <a:r>
              <a:rPr lang="it"/>
              <a:t>Sensors enable us to capture data we did not have before for digital transmission, allowing us to take more informed actions in the real world. </a:t>
            </a:r>
            <a:endParaRPr/>
          </a:p>
          <a:p>
            <a:pPr indent="0" lvl="0" marL="0" rtl="0" algn="l">
              <a:spcBef>
                <a:spcPts val="1600"/>
              </a:spcBef>
              <a:spcAft>
                <a:spcPts val="0"/>
              </a:spcAft>
              <a:buClr>
                <a:schemeClr val="dk1"/>
              </a:buClr>
              <a:buSzPts val="1100"/>
              <a:buFont typeface="Arial"/>
              <a:buNone/>
            </a:pPr>
            <a:r>
              <a:rPr lang="it"/>
              <a:t>Actuators provide the capability for digital commands to produce real-world effects. </a:t>
            </a:r>
            <a:endParaRPr/>
          </a:p>
          <a:p>
            <a:pPr indent="0" lvl="0" marL="0" rtl="0" algn="l">
              <a:spcBef>
                <a:spcPts val="1600"/>
              </a:spcBef>
              <a:spcAft>
                <a:spcPts val="0"/>
              </a:spcAft>
              <a:buClr>
                <a:schemeClr val="dk1"/>
              </a:buClr>
              <a:buSzPts val="1100"/>
              <a:buFont typeface="Arial"/>
              <a:buNone/>
            </a:pPr>
            <a:r>
              <a:rPr lang="it"/>
              <a:t>They can be remotely controlled, or automated. But unlike digital commands, real-world actions often cannot be undone.</a:t>
            </a:r>
            <a:endParaRPr/>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1100" u="sng">
                <a:solidFill>
                  <a:schemeClr val="hlink"/>
                </a:solidFill>
                <a:hlinkClick r:id="rId3"/>
              </a:rPr>
              <a:t>https://www.oreilly.com/library/view/user-experience-design/9781492048145/</a:t>
            </a:r>
            <a:endParaRPr/>
          </a:p>
        </p:txBody>
      </p:sp>
      <p:pic>
        <p:nvPicPr>
          <p:cNvPr id="368" name="Google Shape;368;p45"/>
          <p:cNvPicPr preferRelativeResize="0"/>
          <p:nvPr/>
        </p:nvPicPr>
        <p:blipFill>
          <a:blip r:embed="rId4">
            <a:alphaModFix/>
          </a:blip>
          <a:stretch>
            <a:fillRect/>
          </a:stretch>
        </p:blipFill>
        <p:spPr>
          <a:xfrm>
            <a:off x="1573585" y="0"/>
            <a:ext cx="5996832" cy="514350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Real-World Context</a:t>
            </a:r>
            <a:endParaRPr/>
          </a:p>
          <a:p>
            <a:pPr indent="0" lvl="0" marL="0" rtl="0" algn="l">
              <a:spcBef>
                <a:spcPts val="0"/>
              </a:spcBef>
              <a:spcAft>
                <a:spcPts val="0"/>
              </a:spcAft>
              <a:buNone/>
            </a:pPr>
            <a:r>
              <a:t/>
            </a:r>
            <a:endParaRPr/>
          </a:p>
        </p:txBody>
      </p:sp>
      <p:sp>
        <p:nvSpPr>
          <p:cNvPr id="374" name="Google Shape;374;p4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physical context of use creates further challenges. </a:t>
            </a:r>
            <a:endParaRPr/>
          </a:p>
          <a:p>
            <a:pPr indent="0" lvl="0" marL="0" rtl="0" algn="l">
              <a:spcBef>
                <a:spcPts val="1600"/>
              </a:spcBef>
              <a:spcAft>
                <a:spcPts val="0"/>
              </a:spcAft>
              <a:buClr>
                <a:schemeClr val="dk1"/>
              </a:buClr>
              <a:buSzPts val="1100"/>
              <a:buFont typeface="Arial"/>
              <a:buNone/>
            </a:pPr>
            <a:r>
              <a:rPr lang="it"/>
              <a:t>Devices may need to be ruggedized for outdoor use. </a:t>
            </a:r>
            <a:endParaRPr/>
          </a:p>
          <a:p>
            <a:pPr indent="0" lvl="0" marL="0" rtl="0" algn="l">
              <a:spcBef>
                <a:spcPts val="1600"/>
              </a:spcBef>
              <a:spcAft>
                <a:spcPts val="0"/>
              </a:spcAft>
              <a:buClr>
                <a:schemeClr val="dk1"/>
              </a:buClr>
              <a:buSzPts val="1100"/>
              <a:buFont typeface="Arial"/>
              <a:buNone/>
            </a:pPr>
            <a:r>
              <a:rPr lang="it"/>
              <a:t>An in-car system needs to be designed to minimize distraction while driving. </a:t>
            </a:r>
            <a:endParaRPr/>
          </a:p>
          <a:p>
            <a:pPr indent="0" lvl="0" marL="0" rtl="0" algn="l">
              <a:spcBef>
                <a:spcPts val="1600"/>
              </a:spcBef>
              <a:spcAft>
                <a:spcPts val="0"/>
              </a:spcAft>
              <a:buClr>
                <a:schemeClr val="dk1"/>
              </a:buClr>
              <a:buSzPts val="1100"/>
              <a:buFont typeface="Arial"/>
              <a:buNone/>
            </a:pPr>
            <a:r>
              <a:rPr lang="it"/>
              <a:t>A remotely controlled oven needs to minimize the risk of fire. </a:t>
            </a:r>
            <a:endParaRPr/>
          </a:p>
          <a:p>
            <a:pPr indent="0" lvl="0" marL="0" rtl="0" algn="l">
              <a:spcBef>
                <a:spcPts val="1600"/>
              </a:spcBef>
              <a:spcAft>
                <a:spcPts val="0"/>
              </a:spcAft>
              <a:buClr>
                <a:schemeClr val="dk1"/>
              </a:buClr>
              <a:buSzPts val="1100"/>
              <a:buFont typeface="Arial"/>
              <a:buNone/>
            </a:pPr>
            <a:r>
              <a:rPr lang="it"/>
              <a:t>Devices must adhere to regulatory requirements such as radio interference or waste recycling standards. </a:t>
            </a:r>
            <a:endParaRPr/>
          </a:p>
          <a:p>
            <a:pPr indent="0" lvl="0" marL="0" rtl="0" algn="l">
              <a:spcBef>
                <a:spcPts val="1600"/>
              </a:spcBef>
              <a:spcAft>
                <a:spcPts val="0"/>
              </a:spcAft>
              <a:buClr>
                <a:schemeClr val="dk1"/>
              </a:buClr>
              <a:buSzPts val="1100"/>
              <a:buFont typeface="Arial"/>
              <a:buNone/>
            </a:pPr>
            <a:r>
              <a:rPr lang="it"/>
              <a:t>And the social context of use may be particularly complex, especially in the home.</a:t>
            </a:r>
            <a:endParaRPr/>
          </a:p>
          <a:p>
            <a:pPr indent="0" lvl="0" marL="0" rtl="0" algn="l">
              <a:spcBef>
                <a:spcPts val="1600"/>
              </a:spcBef>
              <a:spcAft>
                <a:spcPts val="0"/>
              </a:spcAft>
              <a:buClr>
                <a:schemeClr val="dk1"/>
              </a:buClr>
              <a:buSzPts val="1100"/>
              <a:buFont typeface="Arial"/>
              <a:buNone/>
            </a:pPr>
            <a:r>
              <a:rPr b="1" lang="it"/>
              <a:t>Techno-centric solutions which are insensitive to the needs of the occupants will fail. </a:t>
            </a:r>
            <a:r>
              <a:rPr lang="it"/>
              <a:t>For example, an assisted living product needs to balance the need of vulnerable people</a:t>
            </a:r>
            <a:endParaRPr/>
          </a:p>
          <a:p>
            <a:pPr indent="0" lvl="0" marL="0" rtl="0" algn="l">
              <a:spcBef>
                <a:spcPts val="1600"/>
              </a:spcBef>
              <a:spcAft>
                <a:spcPts val="0"/>
              </a:spcAft>
              <a:buClr>
                <a:schemeClr val="dk1"/>
              </a:buClr>
              <a:buSzPts val="1100"/>
              <a:buFont typeface="Arial"/>
              <a:buNone/>
            </a:pPr>
            <a:r>
              <a:rPr lang="it"/>
              <a:t>for safety and support, while preserving their privacy and</a:t>
            </a:r>
            <a:endParaRPr/>
          </a:p>
          <a:p>
            <a:pPr indent="0" lvl="0" marL="0" rtl="0" algn="l">
              <a:spcBef>
                <a:spcPts val="1600"/>
              </a:spcBef>
              <a:spcAft>
                <a:spcPts val="0"/>
              </a:spcAft>
              <a:buClr>
                <a:schemeClr val="dk1"/>
              </a:buClr>
              <a:buSzPts val="1100"/>
              <a:buFont typeface="Arial"/>
              <a:buNone/>
            </a:pPr>
            <a:r>
              <a:rPr lang="it"/>
              <a:t>autonomy.</a:t>
            </a:r>
            <a:endParaRPr/>
          </a:p>
          <a:p>
            <a:pPr indent="0" lvl="0" marL="0" rtl="0" algn="l">
              <a:spcBef>
                <a:spcPts val="1600"/>
              </a:spcBef>
              <a:spcAft>
                <a:spcPts val="16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Designing for Systems of Devices and Services</a:t>
            </a:r>
            <a:endParaRPr/>
          </a:p>
        </p:txBody>
      </p:sp>
      <p:sp>
        <p:nvSpPr>
          <p:cNvPr id="380" name="Google Shape;380;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a:t>
            </a:r>
            <a:r>
              <a:rPr lang="it"/>
              <a:t>any connected products are systems of diverse devices and services.</a:t>
            </a:r>
            <a:endParaRPr/>
          </a:p>
          <a:p>
            <a:pPr indent="0" lvl="0" marL="0" rtl="0" algn="l">
              <a:spcBef>
                <a:spcPts val="1600"/>
              </a:spcBef>
              <a:spcAft>
                <a:spcPts val="0"/>
              </a:spcAft>
              <a:buClr>
                <a:schemeClr val="dk1"/>
              </a:buClr>
              <a:buSzPts val="1100"/>
              <a:buFont typeface="Arial"/>
              <a:buNone/>
            </a:pPr>
            <a:r>
              <a:rPr b="1" lang="it"/>
              <a:t>Functionality may be distributed across multiple devices </a:t>
            </a:r>
            <a:r>
              <a:rPr lang="it"/>
              <a:t>with different capabilities.</a:t>
            </a:r>
            <a:endParaRPr/>
          </a:p>
          <a:p>
            <a:pPr indent="0" lvl="0" marL="0" rtl="0" algn="l">
              <a:spcBef>
                <a:spcPts val="1600"/>
              </a:spcBef>
              <a:spcAft>
                <a:spcPts val="0"/>
              </a:spcAft>
              <a:buClr>
                <a:schemeClr val="dk1"/>
              </a:buClr>
              <a:buSzPts val="1100"/>
              <a:buFont typeface="Arial"/>
              <a:buNone/>
            </a:pPr>
            <a:r>
              <a:rPr lang="it"/>
              <a:t>Designers need to </a:t>
            </a:r>
            <a:r>
              <a:rPr b="1" lang="it"/>
              <a:t>consider how best to distribute functionality</a:t>
            </a:r>
            <a:r>
              <a:rPr lang="it"/>
              <a:t> across devices. </a:t>
            </a:r>
            <a:endParaRPr/>
          </a:p>
          <a:p>
            <a:pPr indent="0" lvl="0" marL="0" rtl="0" algn="l">
              <a:spcBef>
                <a:spcPts val="1600"/>
              </a:spcBef>
              <a:spcAft>
                <a:spcPts val="0"/>
              </a:spcAft>
              <a:buClr>
                <a:schemeClr val="dk1"/>
              </a:buClr>
              <a:buSzPts val="1100"/>
              <a:buFont typeface="Arial"/>
              <a:buNone/>
            </a:pPr>
            <a:r>
              <a:rPr lang="it"/>
              <a:t>They need to </a:t>
            </a:r>
            <a:r>
              <a:rPr b="1" lang="it"/>
              <a:t>design UIs and interactions across the system as a whole</a:t>
            </a:r>
            <a:r>
              <a:rPr lang="it"/>
              <a:t> — not treating devices as standalone UIs — to ensure that the overall UX is coherent.</a:t>
            </a:r>
            <a:endParaRPr/>
          </a:p>
          <a:p>
            <a:pPr indent="0" lvl="0" marL="0" rtl="0" algn="l">
              <a:spcBef>
                <a:spcPts val="1600"/>
              </a:spcBef>
              <a:spcAft>
                <a:spcPts val="0"/>
              </a:spcAft>
              <a:buClr>
                <a:schemeClr val="dk1"/>
              </a:buClr>
              <a:buSzPts val="1100"/>
              <a:buFont typeface="Arial"/>
              <a:buNone/>
            </a:pPr>
            <a:r>
              <a:rPr lang="it"/>
              <a:t>This is </a:t>
            </a:r>
            <a:r>
              <a:rPr b="1" lang="it"/>
              <a:t>interusability.</a:t>
            </a:r>
            <a:r>
              <a:rPr lang="it"/>
              <a:t> Much of the information processing for an IoT product will often happen in the Internet service. So the whole system experience is often equally or more important than any single device UX.</a:t>
            </a:r>
            <a:endParaRPr/>
          </a:p>
          <a:p>
            <a:pPr indent="0" lvl="0" marL="0" rtl="0" algn="l">
              <a:spcBef>
                <a:spcPts val="1600"/>
              </a:spcBef>
              <a:spcAft>
                <a:spcPts val="16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87" name="Google Shape;387;p48"/>
          <p:cNvPicPr preferRelativeResize="0"/>
          <p:nvPr/>
        </p:nvPicPr>
        <p:blipFill>
          <a:blip r:embed="rId3">
            <a:alphaModFix/>
          </a:blip>
          <a:stretch>
            <a:fillRect/>
          </a:stretch>
        </p:blipFill>
        <p:spPr>
          <a:xfrm>
            <a:off x="2628672" y="0"/>
            <a:ext cx="3886654" cy="514349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Designing for Systems of Devices and Services</a:t>
            </a:r>
            <a:endParaRPr/>
          </a:p>
          <a:p>
            <a:pPr indent="0" lvl="0" marL="0" rtl="0" algn="l">
              <a:spcBef>
                <a:spcPts val="0"/>
              </a:spcBef>
              <a:spcAft>
                <a:spcPts val="0"/>
              </a:spcAft>
              <a:buNone/>
            </a:pPr>
            <a:r>
              <a:t/>
            </a:r>
            <a:endParaRPr/>
          </a:p>
        </p:txBody>
      </p:sp>
      <p:sp>
        <p:nvSpPr>
          <p:cNvPr id="393" name="Google Shape;393;p4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Furthermore, they need some understanding of how the system works. </a:t>
            </a:r>
            <a:endParaRPr/>
          </a:p>
          <a:p>
            <a:pPr indent="0" lvl="0" marL="0" rtl="0" algn="l">
              <a:spcBef>
                <a:spcPts val="1600"/>
              </a:spcBef>
              <a:spcAft>
                <a:spcPts val="0"/>
              </a:spcAft>
              <a:buClr>
                <a:schemeClr val="dk1"/>
              </a:buClr>
              <a:buSzPts val="1100"/>
              <a:buFont typeface="Arial"/>
              <a:buNone/>
            </a:pPr>
            <a:r>
              <a:rPr b="1" lang="it"/>
              <a:t>Even quite simple connected products are conceptually more complex than non-connected ones. </a:t>
            </a:r>
            <a:endParaRPr b="1"/>
          </a:p>
          <a:p>
            <a:pPr indent="0" lvl="0" marL="0" rtl="0" algn="l">
              <a:spcBef>
                <a:spcPts val="1600"/>
              </a:spcBef>
              <a:spcAft>
                <a:spcPts val="0"/>
              </a:spcAft>
              <a:buClr>
                <a:schemeClr val="dk1"/>
              </a:buClr>
              <a:buSzPts val="1100"/>
              <a:buFont typeface="Arial"/>
              <a:buNone/>
            </a:pPr>
            <a:r>
              <a:rPr lang="it"/>
              <a:t>Code can run in more places. Parts of the system will inevitably go offline from time to time.</a:t>
            </a:r>
            <a:endParaRPr/>
          </a:p>
          <a:p>
            <a:pPr indent="0" lvl="0" marL="0" rtl="0" algn="l">
              <a:spcBef>
                <a:spcPts val="1600"/>
              </a:spcBef>
              <a:spcAft>
                <a:spcPts val="0"/>
              </a:spcAft>
              <a:buClr>
                <a:schemeClr val="dk1"/>
              </a:buClr>
              <a:buSzPts val="1100"/>
              <a:buFont typeface="Arial"/>
              <a:buNone/>
            </a:pPr>
            <a:r>
              <a:rPr lang="it"/>
              <a:t>When this happens, basic knowledge of which component does </a:t>
            </a:r>
            <a:r>
              <a:rPr lang="it"/>
              <a:t>what will help users understand the consequences, and figure out what action may be required.</a:t>
            </a:r>
            <a:endParaRPr/>
          </a:p>
          <a:p>
            <a:pPr indent="0" lvl="0" marL="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Designing for Systems of Devices and Services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99" name="Google Shape;399;p5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this context, the designers and engineers of connected products should do their best to create </a:t>
            </a:r>
            <a:r>
              <a:rPr b="1" lang="it"/>
              <a:t>a unified environment for the IoT system</a:t>
            </a:r>
            <a:r>
              <a:rPr lang="it"/>
              <a:t>. </a:t>
            </a:r>
            <a:endParaRPr/>
          </a:p>
          <a:p>
            <a:pPr indent="0" lvl="0" marL="0" rtl="0" algn="l">
              <a:spcBef>
                <a:spcPts val="1600"/>
              </a:spcBef>
              <a:spcAft>
                <a:spcPts val="1600"/>
              </a:spcAft>
              <a:buNone/>
            </a:pPr>
            <a:r>
              <a:rPr lang="it"/>
              <a:t>In other words, the challenge of a seamless experience is to </a:t>
            </a:r>
            <a:r>
              <a:rPr b="1" lang="it"/>
              <a:t>integrate diverse independent components into a one-stop solution</a:t>
            </a:r>
            <a:r>
              <a:rPr lang="it"/>
              <a:t> while saving its functionality and reliability.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Direct vs remote configuration</a:t>
            </a:r>
            <a:endParaRPr/>
          </a:p>
        </p:txBody>
      </p:sp>
      <p:sp>
        <p:nvSpPr>
          <p:cNvPr id="405" name="Google Shape;405;p5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Over the last 30 years, the prevailing trend in UI design has been direct manipulation.</a:t>
            </a:r>
            <a:endParaRPr/>
          </a:p>
          <a:p>
            <a:pPr indent="0" lvl="0" marL="0" rtl="0" algn="l">
              <a:spcBef>
                <a:spcPts val="1600"/>
              </a:spcBef>
              <a:spcAft>
                <a:spcPts val="0"/>
              </a:spcAft>
              <a:buClr>
                <a:schemeClr val="dk1"/>
              </a:buClr>
              <a:buSzPts val="1100"/>
              <a:buFont typeface="Arial"/>
              <a:buNone/>
            </a:pPr>
            <a:r>
              <a:rPr lang="it"/>
              <a:t>Users control visual representations of objects and immediately see the outcome of their actions (which can be reversed) </a:t>
            </a:r>
            <a:endParaRPr/>
          </a:p>
          <a:p>
            <a:pPr indent="0" lvl="0" marL="0" rtl="0" algn="l">
              <a:spcBef>
                <a:spcPts val="1600"/>
              </a:spcBef>
              <a:spcAft>
                <a:spcPts val="1600"/>
              </a:spcAft>
              <a:buClr>
                <a:schemeClr val="dk1"/>
              </a:buClr>
              <a:buSzPts val="1100"/>
              <a:buFont typeface="Arial"/>
              <a:buNone/>
            </a:pPr>
            <a:r>
              <a:rPr lang="it"/>
              <a:t>But many IoT interactions are displaced in location (remote control) or time (automation). This breaks the link between user actions and visible, reversible consequences!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 for Networks</a:t>
            </a:r>
            <a:endParaRPr/>
          </a:p>
          <a:p>
            <a:pPr indent="0" lvl="0" marL="0" rtl="0" algn="l">
              <a:spcBef>
                <a:spcPts val="0"/>
              </a:spcBef>
              <a:spcAft>
                <a:spcPts val="0"/>
              </a:spcAft>
              <a:buNone/>
            </a:pPr>
            <a:r>
              <a:t/>
            </a:r>
            <a:endParaRPr/>
          </a:p>
        </p:txBody>
      </p:sp>
      <p:sp>
        <p:nvSpPr>
          <p:cNvPr id="411" name="Google Shape;411;p5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Another major factor is the impact of the network on UX. </a:t>
            </a:r>
            <a:endParaRPr/>
          </a:p>
          <a:p>
            <a:pPr indent="0" lvl="0" marL="0" rtl="0" algn="l">
              <a:spcBef>
                <a:spcPts val="1600"/>
              </a:spcBef>
              <a:spcAft>
                <a:spcPts val="0"/>
              </a:spcAft>
              <a:buClr>
                <a:schemeClr val="dk1"/>
              </a:buClr>
              <a:buSzPts val="1100"/>
              <a:buFont typeface="Arial"/>
              <a:buNone/>
            </a:pPr>
            <a:r>
              <a:rPr lang="it"/>
              <a:t>Designers from web and mobile software backgrounds have the luxury of assuming that devices will be nearly always connected.</a:t>
            </a:r>
            <a:endParaRPr/>
          </a:p>
          <a:p>
            <a:pPr indent="0" lvl="0" marL="0" rtl="0" algn="l">
              <a:spcBef>
                <a:spcPts val="1600"/>
              </a:spcBef>
              <a:spcAft>
                <a:spcPts val="1600"/>
              </a:spcAft>
              <a:buNone/>
            </a:pPr>
            <a:r>
              <a:rPr lang="it"/>
              <a:t>In IOT this is not true anymore!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for network</a:t>
            </a:r>
            <a:endParaRPr/>
          </a:p>
        </p:txBody>
      </p:sp>
      <p:sp>
        <p:nvSpPr>
          <p:cNvPr id="417" name="Google Shape;417;p5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Our experience of the physical world is that things respond to us immediately and reliably. </a:t>
            </a:r>
            <a:endParaRPr/>
          </a:p>
          <a:p>
            <a:pPr indent="0" lvl="0" marL="0" rtl="0" algn="l">
              <a:spcBef>
                <a:spcPts val="1600"/>
              </a:spcBef>
              <a:spcAft>
                <a:spcPts val="0"/>
              </a:spcAft>
              <a:buClr>
                <a:schemeClr val="dk1"/>
              </a:buClr>
              <a:buSzPts val="1100"/>
              <a:buFont typeface="Arial"/>
              <a:buNone/>
            </a:pPr>
            <a:r>
              <a:rPr lang="it"/>
              <a:t>Light switches do not “lose” our instructions or take 30 seconds to produce an effect. </a:t>
            </a:r>
            <a:endParaRPr/>
          </a:p>
          <a:p>
            <a:pPr indent="0" lvl="0" marL="0" rtl="0" algn="l">
              <a:spcBef>
                <a:spcPts val="1600"/>
              </a:spcBef>
              <a:spcAft>
                <a:spcPts val="0"/>
              </a:spcAft>
              <a:buClr>
                <a:schemeClr val="dk1"/>
              </a:buClr>
              <a:buSzPts val="1100"/>
              <a:buFont typeface="Arial"/>
              <a:buNone/>
            </a:pPr>
            <a:r>
              <a:rPr lang="it"/>
              <a:t>Delays and glitches are inherent properties of physical networks and transmission protocols.</a:t>
            </a:r>
            <a:endParaRPr/>
          </a:p>
          <a:p>
            <a:pPr indent="0" lvl="0" marL="0" rtl="0" algn="l">
              <a:spcBef>
                <a:spcPts val="1600"/>
              </a:spcBef>
              <a:spcAft>
                <a:spcPts val="0"/>
              </a:spcAft>
              <a:buClr>
                <a:schemeClr val="dk1"/>
              </a:buClr>
              <a:buSzPts val="1100"/>
              <a:buFont typeface="Arial"/>
              <a:buNone/>
            </a:pPr>
            <a:r>
              <a:rPr lang="it"/>
              <a:t>But they may feel strange experienced through “real-world” things. It’s impossible to engineer these issues entirely out of any Internet-connected system.</a:t>
            </a:r>
            <a:endParaRPr/>
          </a:p>
          <a:p>
            <a:pPr indent="0" lvl="0" marL="0" rtl="0" algn="l">
              <a:spcBef>
                <a:spcPts val="1600"/>
              </a:spcBef>
              <a:spcAft>
                <a:spcPts val="16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for power saving</a:t>
            </a:r>
            <a:endParaRPr/>
          </a:p>
        </p:txBody>
      </p:sp>
      <p:sp>
        <p:nvSpPr>
          <p:cNvPr id="423" name="Google Shape;423;p5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addition, the nature of connected devices is that they often connect only intermittently, in order to conserve power. </a:t>
            </a:r>
            <a:endParaRPr/>
          </a:p>
          <a:p>
            <a:pPr indent="0" lvl="0" marL="0" rtl="0" algn="l">
              <a:spcBef>
                <a:spcPts val="1600"/>
              </a:spcBef>
              <a:spcAft>
                <a:spcPts val="0"/>
              </a:spcAft>
              <a:buNone/>
            </a:pPr>
            <a:r>
              <a:rPr lang="it"/>
              <a:t>Computers promise to provide us with precise, accurate, and timely data about the world around us. </a:t>
            </a:r>
            <a:endParaRPr/>
          </a:p>
          <a:p>
            <a:pPr indent="0" lvl="0" marL="0" rtl="0" algn="l">
              <a:spcBef>
                <a:spcPts val="1600"/>
              </a:spcBef>
              <a:spcAft>
                <a:spcPts val="0"/>
              </a:spcAft>
              <a:buClr>
                <a:schemeClr val="dk1"/>
              </a:buClr>
              <a:buSzPts val="1100"/>
              <a:buFont typeface="Arial"/>
              <a:buNone/>
            </a:pPr>
            <a:r>
              <a:rPr lang="it"/>
              <a:t>But distributed IoT systems may not always be in sync, and different devices may therefore report different information about the state of the system.</a:t>
            </a:r>
            <a:endParaRPr/>
          </a:p>
          <a:p>
            <a:pPr indent="0" lvl="0" marL="0" rtl="0" algn="l">
              <a:spcBef>
                <a:spcPts val="1600"/>
              </a:spcBef>
              <a:spcAft>
                <a:spcPts val="16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5"/>
          <p:cNvSpPr txBox="1"/>
          <p:nvPr>
            <p:ph type="title"/>
          </p:nvPr>
        </p:nvSpPr>
        <p:spPr>
          <a:xfrm>
            <a:off x="311700" y="64025"/>
            <a:ext cx="4147200" cy="27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UX for IOT flow and architeture</a:t>
            </a:r>
            <a:endParaRPr/>
          </a:p>
        </p:txBody>
      </p:sp>
      <p:sp>
        <p:nvSpPr>
          <p:cNvPr id="429" name="Google Shape;429;p5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430" name="Google Shape;430;p55"/>
          <p:cNvPicPr preferRelativeResize="0"/>
          <p:nvPr/>
        </p:nvPicPr>
        <p:blipFill>
          <a:blip r:embed="rId3">
            <a:alphaModFix/>
          </a:blip>
          <a:stretch>
            <a:fillRect/>
          </a:stretch>
        </p:blipFill>
        <p:spPr>
          <a:xfrm>
            <a:off x="5378500" y="457200"/>
            <a:ext cx="3765500" cy="4134081"/>
          </a:xfrm>
          <a:prstGeom prst="rect">
            <a:avLst/>
          </a:prstGeom>
          <a:noFill/>
          <a:ln>
            <a:noFill/>
          </a:ln>
        </p:spPr>
      </p:pic>
      <p:pic>
        <p:nvPicPr>
          <p:cNvPr id="431" name="Google Shape;431;p55"/>
          <p:cNvPicPr preferRelativeResize="0"/>
          <p:nvPr/>
        </p:nvPicPr>
        <p:blipFill rotWithShape="1">
          <a:blip r:embed="rId4">
            <a:alphaModFix/>
          </a:blip>
          <a:srcRect b="0" l="0" r="5159" t="0"/>
          <a:stretch/>
        </p:blipFill>
        <p:spPr>
          <a:xfrm>
            <a:off x="0" y="64025"/>
            <a:ext cx="5378500" cy="5143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UX for IOT flow and architecture</a:t>
            </a:r>
            <a:endParaRPr/>
          </a:p>
          <a:p>
            <a:pPr indent="0" lvl="0" marL="0" rtl="0" algn="l">
              <a:spcBef>
                <a:spcPts val="0"/>
              </a:spcBef>
              <a:spcAft>
                <a:spcPts val="0"/>
              </a:spcAft>
              <a:buNone/>
            </a:pPr>
            <a:r>
              <a:t/>
            </a:r>
            <a:endParaRPr/>
          </a:p>
        </p:txBody>
      </p:sp>
      <p:sp>
        <p:nvSpPr>
          <p:cNvPr id="437" name="Google Shape;437;p5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 good overall product requires integrated thinking across all these layers. </a:t>
            </a:r>
            <a:endParaRPr/>
          </a:p>
          <a:p>
            <a:pPr indent="0" lvl="0" marL="0" rtl="0" algn="l">
              <a:spcBef>
                <a:spcPts val="1600"/>
              </a:spcBef>
              <a:spcAft>
                <a:spcPts val="0"/>
              </a:spcAft>
              <a:buClr>
                <a:schemeClr val="dk1"/>
              </a:buClr>
              <a:buSzPts val="1100"/>
              <a:buFont typeface="Arial"/>
              <a:buNone/>
            </a:pPr>
            <a:r>
              <a:rPr lang="it"/>
              <a:t>A stunning UI means nothing if your product concept makes no sense. </a:t>
            </a:r>
            <a:endParaRPr/>
          </a:p>
          <a:p>
            <a:pPr indent="0" lvl="0" marL="0" rtl="0" algn="l">
              <a:spcBef>
                <a:spcPts val="1600"/>
              </a:spcBef>
              <a:spcAft>
                <a:spcPts val="0"/>
              </a:spcAft>
              <a:buClr>
                <a:schemeClr val="dk1"/>
              </a:buClr>
              <a:buSzPts val="1100"/>
              <a:buFont typeface="Arial"/>
              <a:buNone/>
            </a:pPr>
            <a:r>
              <a:rPr lang="it"/>
              <a:t>A beautiful industrial design may sell products in the short term, but can’t mask terrible service.</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