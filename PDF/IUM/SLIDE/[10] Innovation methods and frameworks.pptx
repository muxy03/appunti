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93ef40b99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93ef40b99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2364fe60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2364fe60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93ef40b99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93ef40b99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93ef40b99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93ef40b99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a2364fe60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a2364fe60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93ef40b998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93ef40b998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93ef40b99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93ef40b99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15ed3592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15ed3592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15ed3592a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15ed3592a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93ef40b998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93ef40b998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60bcd3df5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60bcd3df5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93ef40b99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93ef40b99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60bcd3df5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60bcd3df5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43b0c90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43b0c90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043b0c90d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043b0c90d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043b0c90d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043b0c90d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93ef40b99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93ef40b99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93ef40b99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93ef40b99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a2364fe60d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a2364fe60d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93ef40b99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93ef40b99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a2364fe60d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a2364fe60d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93ef40b99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93ef40b99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a2364fe60d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a2364fe60d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60bcd3df5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60bcd3df5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60bcd3df5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60bcd3df5b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a2364fe60d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a2364fe60d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a2364fe60d_1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a2364fe60d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93ef40b998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93ef40b998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93ef40b998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93ef40b99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93ef40b99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93ef40b99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93ef40b998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93ef40b998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93ef40b998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93ef40b998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93ef40b998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93ef40b998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93ef40b99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93ef40b998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a2364fe60d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a2364fe60d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93ef40b998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93ef40b998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93ef40b998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93ef40b998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PROGRAMMAZIONE INTERFACCE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hyperlink" Target="https://hcldr.wordpress.com/2017/01/10/disruptive-innovation-in-healthcar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hyperlink" Target="https://blog.movingworlds.org/human-centered-design-vs-design-thinking-how-theyre-different-and-how-to-use-them-together-to-create-lasting-change/" TargetMode="External"/><Relationship Id="rId5" Type="http://schemas.openxmlformats.org/officeDocument/2006/relationships/hyperlink" Target="https://vimeo.com/10650530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hyperlink" Target="https://www.google.com/url?sa=i&amp;url=https%3A%2F%2Fwww.nceas.ucsb.edu%2Fnews%2Fhow-spark-joy-groan-zone-collaboration&amp;psig=AOvVaw0B1nOXeFH43ENeybwB_O-7&amp;ust=1616758420033000&amp;source=images&amp;cd=vfe&amp;ved=0CA0QjhxqFwoTCJCIvc2sy-8CFQAAAAAdAAAAABB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hyperlink" Target="https://www.google.com/url?sa=i&amp;url=https%3A%2F%2Fwww.nceas.ucsb.edu%2Fnews%2Fhow-spark-joy-groan-zone-collaboration&amp;psig=AOvVaw0B1nOXeFH43ENeybwB_O-7&amp;ust=1616758420033000&amp;source=images&amp;cd=vfe&amp;ved=0CA0QjhxqFwoTCJCIvc2sy-8CFQAAAAAdAAAAABB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png"/><Relationship Id="rId4" Type="http://schemas.openxmlformats.org/officeDocument/2006/relationships/hyperlink" Target="https://blog.movingworlds.org/human-centered-design-vs-design-thinking-how-theyre-different-and-how-to-use-them-together-to-create-lasting-chang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blog.movingworlds.org/human-centered-design-vs-design-thinking-how-theyre-different-and-how-to-use-them-together-to-create-lasting-chang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hyperlink" Target="https://ideadrop.co/examples-of-data-driven-innovatio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hyperlink" Target="https://ideadrop.co/examples-of-data-driven-innovation/"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agilemanifesto.org/" TargetMode="External"/><Relationship Id="rId4" Type="http://schemas.openxmlformats.org/officeDocument/2006/relationships/image" Target="../media/image10.png"/><Relationship Id="rId5" Type="http://schemas.openxmlformats.org/officeDocument/2006/relationships/hyperlink" Target="https://www.agilealliance.org/agile101/12-principles-behind-the-agile-manifesto/"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6.png"/><Relationship Id="rId4" Type="http://schemas.openxmlformats.org/officeDocument/2006/relationships/hyperlink" Target="https://www.agilemarketingitalia.com/2018/05/09/scrum-agile-market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Innovations Methods and Frameworks</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Innovation</a:t>
            </a:r>
            <a:endParaRPr/>
          </a:p>
        </p:txBody>
      </p:sp>
      <p:sp>
        <p:nvSpPr>
          <p:cNvPr id="62" name="Google Shape;62;p14"/>
          <p:cNvSpPr txBox="1"/>
          <p:nvPr>
            <p:ph idx="1" type="body"/>
          </p:nvPr>
        </p:nvSpPr>
        <p:spPr>
          <a:xfrm>
            <a:off x="311700" y="619075"/>
            <a:ext cx="53970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Innovation is commonly defined as the "</a:t>
            </a:r>
            <a:r>
              <a:rPr b="1" lang="it"/>
              <a:t>carrying out of new combinations</a:t>
            </a:r>
            <a:r>
              <a:rPr lang="it"/>
              <a:t>" that include "the introduction of new goods, ... new methods of production, ... the opening of new markets, ... the conquest of new sources of supply ... and the carrying out of a new organization of any industry" </a:t>
            </a:r>
            <a:endParaRPr/>
          </a:p>
          <a:p>
            <a:pPr indent="0" lvl="0" marL="0" rtl="0" algn="l">
              <a:spcBef>
                <a:spcPts val="1600"/>
              </a:spcBef>
              <a:spcAft>
                <a:spcPts val="0"/>
              </a:spcAft>
              <a:buClr>
                <a:schemeClr val="dk1"/>
              </a:buClr>
              <a:buSzPts val="1100"/>
              <a:buFont typeface="Arial"/>
              <a:buNone/>
            </a:pPr>
            <a:r>
              <a:rPr lang="it"/>
              <a:t>However, many scholars and governmental organizations has given their own definition of the concept. </a:t>
            </a:r>
            <a:endParaRPr/>
          </a:p>
          <a:p>
            <a:pPr indent="0" lvl="0" marL="0" rtl="0" algn="l">
              <a:spcBef>
                <a:spcPts val="1600"/>
              </a:spcBef>
              <a:spcAft>
                <a:spcPts val="1600"/>
              </a:spcAft>
              <a:buClr>
                <a:schemeClr val="dk1"/>
              </a:buClr>
              <a:buSzPts val="1100"/>
              <a:buFont typeface="Arial"/>
              <a:buNone/>
            </a:pPr>
            <a:r>
              <a:rPr lang="it"/>
              <a:t>Some common element in the different definitions is </a:t>
            </a:r>
            <a:r>
              <a:rPr b="1" lang="it"/>
              <a:t>a focus on newness, improvement and spread.</a:t>
            </a:r>
            <a:r>
              <a:rPr lang="it"/>
              <a:t> </a:t>
            </a:r>
            <a:endParaRPr/>
          </a:p>
        </p:txBody>
      </p:sp>
      <p:pic>
        <p:nvPicPr>
          <p:cNvPr id="63" name="Google Shape;63;p14"/>
          <p:cNvPicPr preferRelativeResize="0"/>
          <p:nvPr/>
        </p:nvPicPr>
        <p:blipFill>
          <a:blip r:embed="rId3">
            <a:alphaModFix/>
          </a:blip>
          <a:stretch>
            <a:fillRect/>
          </a:stretch>
        </p:blipFill>
        <p:spPr>
          <a:xfrm>
            <a:off x="5757998" y="0"/>
            <a:ext cx="3386003" cy="5143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Innovation</a:t>
            </a:r>
            <a:endParaRPr/>
          </a:p>
          <a:p>
            <a:pPr indent="0" lvl="0" marL="0" rtl="0" algn="l">
              <a:spcBef>
                <a:spcPts val="0"/>
              </a:spcBef>
              <a:spcAft>
                <a:spcPts val="0"/>
              </a:spcAft>
              <a:buNone/>
            </a:pPr>
            <a:r>
              <a:t/>
            </a:r>
            <a:endParaRPr/>
          </a:p>
        </p:txBody>
      </p:sp>
      <p:sp>
        <p:nvSpPr>
          <p:cNvPr id="69" name="Google Shape;69;p1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An innovation is something original and more effective</a:t>
            </a:r>
            <a:r>
              <a:rPr lang="it"/>
              <a:t> and, as a consequence, new, that </a:t>
            </a:r>
            <a:r>
              <a:rPr b="1" lang="it"/>
              <a:t>"breaks into"</a:t>
            </a:r>
            <a:r>
              <a:rPr lang="it"/>
              <a:t> the market or society. </a:t>
            </a:r>
            <a:endParaRPr/>
          </a:p>
          <a:p>
            <a:pPr indent="0" lvl="0" marL="0" rtl="0" algn="l">
              <a:spcBef>
                <a:spcPts val="1600"/>
              </a:spcBef>
              <a:spcAft>
                <a:spcPts val="0"/>
              </a:spcAft>
              <a:buNone/>
            </a:pPr>
            <a:r>
              <a:rPr b="1" lang="it"/>
              <a:t>Innovation is related to, but not the same as, invention:</a:t>
            </a:r>
            <a:r>
              <a:rPr lang="it"/>
              <a:t> innovation is more apt to involve the practical implementation of an invention to </a:t>
            </a:r>
            <a:r>
              <a:rPr b="1" lang="it"/>
              <a:t>make a meaningful impact in a market or society,</a:t>
            </a:r>
            <a:r>
              <a:rPr lang="it"/>
              <a:t> and not all innovations require a new invention.</a:t>
            </a:r>
            <a:endParaRPr/>
          </a:p>
          <a:p>
            <a:pPr indent="0" lvl="0" marL="0" rtl="0" algn="l">
              <a:spcBef>
                <a:spcPts val="1600"/>
              </a:spcBef>
              <a:spcAft>
                <a:spcPts val="0"/>
              </a:spcAft>
              <a:buClr>
                <a:schemeClr val="dk1"/>
              </a:buClr>
              <a:buSzPts val="1100"/>
              <a:buFont typeface="Arial"/>
              <a:buNone/>
            </a:pPr>
            <a:r>
              <a:rPr lang="it"/>
              <a:t>Technical Innovation often manifests itself via the engineering process when the problem being solved is of a technical or scientific nature. </a:t>
            </a:r>
            <a:endParaRPr sz="1600"/>
          </a:p>
          <a:p>
            <a:pPr indent="0" lvl="0" marL="0" rtl="0" algn="l">
              <a:spcBef>
                <a:spcPts val="1600"/>
              </a:spcBef>
              <a:spcAft>
                <a:spcPts val="1600"/>
              </a:spcAft>
              <a:buNone/>
            </a:pPr>
            <a:r>
              <a:rPr b="1" lang="it"/>
              <a:t>It is not possible to innovate without a HCD approach!</a:t>
            </a:r>
            <a:r>
              <a:rPr lang="it"/>
              <a:t> a product or service in order to be innovative must be usable!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Sustaining innovation </a:t>
            </a:r>
            <a:endParaRPr/>
          </a:p>
        </p:txBody>
      </p:sp>
      <p:sp>
        <p:nvSpPr>
          <p:cNvPr id="75" name="Google Shape;75;p16"/>
          <p:cNvSpPr txBox="1"/>
          <p:nvPr>
            <p:ph idx="1" type="body"/>
          </p:nvPr>
        </p:nvSpPr>
        <p:spPr>
          <a:xfrm>
            <a:off x="311700" y="619075"/>
            <a:ext cx="5394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Most of the innovation processes are based on incremental innovation. Minor </a:t>
            </a:r>
            <a:r>
              <a:rPr lang="it" sz="1700"/>
              <a:t>improvements</a:t>
            </a:r>
            <a:r>
              <a:rPr lang="it" sz="1700"/>
              <a:t> of existing products. </a:t>
            </a:r>
            <a:endParaRPr sz="1700"/>
          </a:p>
          <a:p>
            <a:pPr indent="-336550" lvl="0" marL="457200" rtl="0" algn="l">
              <a:spcBef>
                <a:spcPts val="1600"/>
              </a:spcBef>
              <a:spcAft>
                <a:spcPts val="0"/>
              </a:spcAft>
              <a:buSzPts val="1700"/>
              <a:buChar char="●"/>
            </a:pPr>
            <a:r>
              <a:rPr lang="it" sz="1700"/>
              <a:t>step by step process</a:t>
            </a:r>
            <a:endParaRPr sz="1700"/>
          </a:p>
          <a:p>
            <a:pPr indent="-336550" lvl="0" marL="457200" rtl="0" algn="l">
              <a:spcBef>
                <a:spcPts val="0"/>
              </a:spcBef>
              <a:spcAft>
                <a:spcPts val="0"/>
              </a:spcAft>
              <a:buSzPts val="1700"/>
              <a:buChar char="●"/>
            </a:pPr>
            <a:r>
              <a:rPr lang="it" sz="1700"/>
              <a:t>low risk</a:t>
            </a:r>
            <a:endParaRPr sz="1700"/>
          </a:p>
          <a:p>
            <a:pPr indent="-336550" lvl="0" marL="457200" rtl="0" algn="l">
              <a:spcBef>
                <a:spcPts val="0"/>
              </a:spcBef>
              <a:spcAft>
                <a:spcPts val="0"/>
              </a:spcAft>
              <a:buSzPts val="1700"/>
              <a:buChar char="●"/>
            </a:pPr>
            <a:r>
              <a:rPr lang="it" sz="1700"/>
              <a:t>low speed</a:t>
            </a:r>
            <a:endParaRPr sz="1700"/>
          </a:p>
          <a:p>
            <a:pPr indent="-336550" lvl="0" marL="457200" rtl="0" algn="l">
              <a:spcBef>
                <a:spcPts val="0"/>
              </a:spcBef>
              <a:spcAft>
                <a:spcPts val="0"/>
              </a:spcAft>
              <a:buSzPts val="1700"/>
              <a:buChar char="●"/>
            </a:pPr>
            <a:r>
              <a:rPr lang="it" sz="1700"/>
              <a:t>no changes to company organization required</a:t>
            </a:r>
            <a:endParaRPr sz="1700"/>
          </a:p>
          <a:p>
            <a:pPr indent="-336550" lvl="0" marL="457200" rtl="0" algn="l">
              <a:spcBef>
                <a:spcPts val="0"/>
              </a:spcBef>
              <a:spcAft>
                <a:spcPts val="0"/>
              </a:spcAft>
              <a:buSzPts val="1700"/>
              <a:buChar char="●"/>
            </a:pPr>
            <a:r>
              <a:rPr lang="it" sz="1700"/>
              <a:t>no user re-skilling required</a:t>
            </a:r>
            <a:endParaRPr sz="1700"/>
          </a:p>
          <a:p>
            <a:pPr indent="-336550" lvl="0" marL="457200" rtl="0" algn="l">
              <a:spcBef>
                <a:spcPts val="0"/>
              </a:spcBef>
              <a:spcAft>
                <a:spcPts val="0"/>
              </a:spcAft>
              <a:buSzPts val="1700"/>
              <a:buChar char="●"/>
            </a:pPr>
            <a:r>
              <a:rPr lang="it" sz="1700"/>
              <a:t>low probability to change/scale-up the business</a:t>
            </a:r>
            <a:endParaRPr sz="1700"/>
          </a:p>
          <a:p>
            <a:pPr indent="-336550" lvl="0" marL="457200" rtl="0" algn="l">
              <a:spcBef>
                <a:spcPts val="0"/>
              </a:spcBef>
              <a:spcAft>
                <a:spcPts val="0"/>
              </a:spcAft>
              <a:buSzPts val="1700"/>
              <a:buChar char="●"/>
            </a:pPr>
            <a:r>
              <a:rPr lang="it" sz="1700"/>
              <a:t>target user and market sector stable</a:t>
            </a:r>
            <a:endParaRPr sz="1700"/>
          </a:p>
          <a:p>
            <a:pPr indent="0" lvl="0" marL="0" rtl="0" algn="l">
              <a:spcBef>
                <a:spcPts val="1600"/>
              </a:spcBef>
              <a:spcAft>
                <a:spcPts val="0"/>
              </a:spcAft>
              <a:buClr>
                <a:schemeClr val="dk1"/>
              </a:buClr>
              <a:buSzPts val="1100"/>
              <a:buFont typeface="Arial"/>
              <a:buNone/>
            </a:pPr>
            <a:r>
              <a:t/>
            </a:r>
            <a:endParaRPr sz="1700"/>
          </a:p>
          <a:p>
            <a:pPr indent="0" lvl="0" marL="0" rtl="0" algn="l">
              <a:spcBef>
                <a:spcPts val="1600"/>
              </a:spcBef>
              <a:spcAft>
                <a:spcPts val="1600"/>
              </a:spcAft>
              <a:buNone/>
            </a:pPr>
            <a:r>
              <a:t/>
            </a:r>
            <a:endParaRPr sz="1700"/>
          </a:p>
        </p:txBody>
      </p:sp>
      <p:pic>
        <p:nvPicPr>
          <p:cNvPr id="76" name="Google Shape;76;p16"/>
          <p:cNvPicPr preferRelativeResize="0"/>
          <p:nvPr/>
        </p:nvPicPr>
        <p:blipFill>
          <a:blip r:embed="rId3">
            <a:alphaModFix/>
          </a:blip>
          <a:stretch>
            <a:fillRect/>
          </a:stretch>
        </p:blipFill>
        <p:spPr>
          <a:xfrm>
            <a:off x="5858400" y="64025"/>
            <a:ext cx="3133200" cy="2506560"/>
          </a:xfrm>
          <a:prstGeom prst="rect">
            <a:avLst/>
          </a:prstGeom>
          <a:noFill/>
          <a:ln>
            <a:noFill/>
          </a:ln>
        </p:spPr>
      </p:pic>
      <p:pic>
        <p:nvPicPr>
          <p:cNvPr id="77" name="Google Shape;77;p16"/>
          <p:cNvPicPr preferRelativeResize="0"/>
          <p:nvPr/>
        </p:nvPicPr>
        <p:blipFill>
          <a:blip r:embed="rId4">
            <a:alphaModFix/>
          </a:blip>
          <a:stretch>
            <a:fillRect/>
          </a:stretch>
        </p:blipFill>
        <p:spPr>
          <a:xfrm>
            <a:off x="5858400" y="2722973"/>
            <a:ext cx="3133200" cy="20850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Disruptive Innovation</a:t>
            </a:r>
            <a:endParaRPr/>
          </a:p>
        </p:txBody>
      </p:sp>
      <p:sp>
        <p:nvSpPr>
          <p:cNvPr id="83" name="Google Shape;83;p1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a:t>
            </a:r>
            <a:r>
              <a:rPr lang="it"/>
              <a:t> disruptive innovation is </a:t>
            </a:r>
            <a:r>
              <a:rPr b="1" lang="it"/>
              <a:t>an innovation that creates a new market</a:t>
            </a:r>
            <a:r>
              <a:rPr lang="it"/>
              <a:t> and value network and eventually </a:t>
            </a:r>
            <a:r>
              <a:rPr b="1" lang="it"/>
              <a:t>disrupts an existing market</a:t>
            </a:r>
            <a:r>
              <a:rPr lang="it"/>
              <a:t> and value network, displacing established market-leading firms, products, and alliances. </a:t>
            </a:r>
            <a:endParaRPr/>
          </a:p>
          <a:p>
            <a:pPr indent="0" lvl="0" marL="0" rtl="0" algn="l">
              <a:spcBef>
                <a:spcPts val="1600"/>
              </a:spcBef>
              <a:spcAft>
                <a:spcPts val="0"/>
              </a:spcAft>
              <a:buNone/>
            </a:pPr>
            <a:r>
              <a:rPr lang="it"/>
              <a:t>The term was defined and first analyzed by the American scholar Clayton M. Christensen and his collaborators beginning in 1995, and has been called the most influential business idea of the early 21st century.</a:t>
            </a:r>
            <a:endParaRPr/>
          </a:p>
          <a:p>
            <a:pPr indent="0" lvl="0" marL="0" rtl="0" algn="l">
              <a:spcBef>
                <a:spcPts val="1600"/>
              </a:spcBef>
              <a:spcAft>
                <a:spcPts val="0"/>
              </a:spcAft>
              <a:buNone/>
            </a:pPr>
            <a:r>
              <a:rPr b="1" lang="it"/>
              <a:t>The term is now generalized to identify disruptive science and technological advances.</a:t>
            </a:r>
            <a:endParaRPr b="1"/>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Disruptive Innovation</a:t>
            </a:r>
            <a:endParaRPr/>
          </a:p>
        </p:txBody>
      </p:sp>
      <p:sp>
        <p:nvSpPr>
          <p:cNvPr id="89" name="Google Shape;89;p18"/>
          <p:cNvSpPr txBox="1"/>
          <p:nvPr>
            <p:ph idx="1" type="body"/>
          </p:nvPr>
        </p:nvSpPr>
        <p:spPr>
          <a:xfrm>
            <a:off x="311700" y="619075"/>
            <a:ext cx="5638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Not all innovations are disruptive, even if they are revolutionary. </a:t>
            </a:r>
            <a:endParaRPr b="1"/>
          </a:p>
          <a:p>
            <a:pPr indent="0" lvl="0" marL="0" rtl="0" algn="l">
              <a:spcBef>
                <a:spcPts val="1600"/>
              </a:spcBef>
              <a:spcAft>
                <a:spcPts val="0"/>
              </a:spcAft>
              <a:buClr>
                <a:schemeClr val="dk1"/>
              </a:buClr>
              <a:buSzPts val="1100"/>
              <a:buFont typeface="Arial"/>
              <a:buNone/>
            </a:pPr>
            <a:r>
              <a:rPr lang="it"/>
              <a:t>For example, the first automobiles in the late 19th century were not a disruptive innovation, because early automobiles were expensive luxury items that did not disrupt the market for horse-drawn vehicles. The market for transportation essentially remained intact until the debut of the lower-priced Ford Model T in 1908. The mass-produced automobile was a disruptive innovation, because it changed the transportation market, whereas the first thirty years of automobiles did not.</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90" name="Google Shape;90;p18"/>
          <p:cNvPicPr preferRelativeResize="0"/>
          <p:nvPr/>
        </p:nvPicPr>
        <p:blipFill>
          <a:blip r:embed="rId3">
            <a:alphaModFix/>
          </a:blip>
          <a:stretch>
            <a:fillRect/>
          </a:stretch>
        </p:blipFill>
        <p:spPr>
          <a:xfrm>
            <a:off x="5988400" y="941525"/>
            <a:ext cx="3079400" cy="3495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97" name="Google Shape;97;p19"/>
          <p:cNvPicPr preferRelativeResize="0"/>
          <p:nvPr/>
        </p:nvPicPr>
        <p:blipFill>
          <a:blip r:embed="rId3">
            <a:alphaModFix/>
          </a:blip>
          <a:stretch>
            <a:fillRect/>
          </a:stretch>
        </p:blipFill>
        <p:spPr>
          <a:xfrm>
            <a:off x="1066800" y="47625"/>
            <a:ext cx="7010400" cy="4895850"/>
          </a:xfrm>
          <a:prstGeom prst="rect">
            <a:avLst/>
          </a:prstGeom>
          <a:noFill/>
          <a:ln>
            <a:noFill/>
          </a:ln>
        </p:spPr>
      </p:pic>
      <p:sp>
        <p:nvSpPr>
          <p:cNvPr id="98" name="Google Shape;98;p19"/>
          <p:cNvSpPr txBox="1"/>
          <p:nvPr/>
        </p:nvSpPr>
        <p:spPr>
          <a:xfrm>
            <a:off x="2050000" y="1676400"/>
            <a:ext cx="7094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1100" u="sng">
                <a:solidFill>
                  <a:schemeClr val="hlink"/>
                </a:solidFill>
                <a:hlinkClick r:id="rId4"/>
              </a:rPr>
              <a:t>https://hcldr.wordpress.com/2017/01/10/disruptive-innovation-in-healthcare/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Disruptive</a:t>
            </a:r>
            <a:r>
              <a:rPr lang="it"/>
              <a:t> Innovation and Human Centered Design</a:t>
            </a:r>
            <a:endParaRPr/>
          </a:p>
        </p:txBody>
      </p:sp>
      <p:sp>
        <p:nvSpPr>
          <p:cNvPr id="104" name="Google Shape;104;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a:t>D</a:t>
            </a:r>
            <a:r>
              <a:rPr b="1" lang="it"/>
              <a:t>isruptive innovation must be user centered!</a:t>
            </a:r>
            <a:endParaRPr b="1"/>
          </a:p>
          <a:p>
            <a:pPr indent="0" lvl="0" marL="0" rtl="0" algn="l">
              <a:spcBef>
                <a:spcPts val="1600"/>
              </a:spcBef>
              <a:spcAft>
                <a:spcPts val="0"/>
              </a:spcAft>
              <a:buClr>
                <a:schemeClr val="dk1"/>
              </a:buClr>
              <a:buSzPts val="1100"/>
              <a:buFont typeface="Arial"/>
              <a:buNone/>
            </a:pPr>
            <a:r>
              <a:rPr b="1" lang="it"/>
              <a:t>No users no innovation!</a:t>
            </a:r>
            <a:endParaRPr b="1"/>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Centered Design</a:t>
            </a:r>
            <a:endParaRPr/>
          </a:p>
        </p:txBody>
      </p:sp>
      <p:sp>
        <p:nvSpPr>
          <p:cNvPr id="110" name="Google Shape;110;p21"/>
          <p:cNvSpPr txBox="1"/>
          <p:nvPr>
            <p:ph idx="1" type="body"/>
          </p:nvPr>
        </p:nvSpPr>
        <p:spPr>
          <a:xfrm>
            <a:off x="375400" y="690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Human-centred design </a:t>
            </a:r>
            <a:r>
              <a:rPr b="1" lang="it"/>
              <a:t>is an approach to interactive systems development</a:t>
            </a:r>
            <a:r>
              <a:rPr lang="it"/>
              <a:t> that </a:t>
            </a:r>
            <a:r>
              <a:rPr b="1" lang="it"/>
              <a:t>aims to make systems usable and useful by focusing on the users</a:t>
            </a:r>
            <a:r>
              <a:rPr lang="it"/>
              <a:t>, their needs and requirements, and by applying human factors/ergonomics, usability knowledge, and techniques. </a:t>
            </a:r>
            <a:endParaRPr/>
          </a:p>
          <a:p>
            <a:pPr indent="0" lvl="0" marL="0" rtl="0" algn="l">
              <a:spcBef>
                <a:spcPts val="1600"/>
              </a:spcBef>
              <a:spcAft>
                <a:spcPts val="0"/>
              </a:spcAft>
              <a:buNone/>
            </a:pPr>
            <a:r>
              <a:rPr b="1" lang="it"/>
              <a:t>This approach enhances effectiveness and efficiency</a:t>
            </a:r>
            <a:r>
              <a:rPr lang="it"/>
              <a:t>, improves human well-being, user satisfaction, accessibility and sustainability; and counteracts possible adverse effects of use on human health, safety and performance. </a:t>
            </a:r>
            <a:endParaRPr/>
          </a:p>
          <a:p>
            <a:pPr indent="0" lvl="0" marL="0" rtl="0" algn="l">
              <a:spcBef>
                <a:spcPts val="1600"/>
              </a:spcBef>
              <a:spcAft>
                <a:spcPts val="1600"/>
              </a:spcAft>
              <a:buNone/>
            </a:pPr>
            <a:r>
              <a:rPr lang="it"/>
              <a:t>ISO 9241-210:2010(E)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Product Management Vs Product Development</a:t>
            </a:r>
            <a:endParaRPr/>
          </a:p>
        </p:txBody>
      </p:sp>
      <p:sp>
        <p:nvSpPr>
          <p:cNvPr id="116" name="Google Shape;116;p22"/>
          <p:cNvSpPr txBox="1"/>
          <p:nvPr>
            <p:ph idx="1" type="body"/>
          </p:nvPr>
        </p:nvSpPr>
        <p:spPr>
          <a:xfrm>
            <a:off x="311700" y="9238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product management</a:t>
            </a:r>
            <a:r>
              <a:rPr lang="it"/>
              <a:t> is about the </a:t>
            </a:r>
            <a:r>
              <a:rPr b="1" i="1" lang="it"/>
              <a:t>what</a:t>
            </a:r>
            <a:r>
              <a:rPr lang="it"/>
              <a:t>, while </a:t>
            </a:r>
            <a:r>
              <a:rPr b="1" lang="it"/>
              <a:t>product development</a:t>
            </a:r>
            <a:r>
              <a:rPr lang="it"/>
              <a:t> is more concerned with the </a:t>
            </a:r>
            <a:r>
              <a:rPr b="1" i="1" lang="it"/>
              <a:t>how</a:t>
            </a:r>
            <a:r>
              <a:rPr lang="it"/>
              <a:t>. Working alongside each other, product managers and product development teams create the ideal product.</a:t>
            </a:r>
            <a:endParaRPr/>
          </a:p>
          <a:p>
            <a:pPr indent="0" lvl="0" marL="0" rtl="0" algn="l">
              <a:spcBef>
                <a:spcPts val="1600"/>
              </a:spcBef>
              <a:spcAft>
                <a:spcPts val="0"/>
              </a:spcAft>
              <a:buNone/>
            </a:pPr>
            <a:r>
              <a:rPr lang="it"/>
              <a:t>The </a:t>
            </a:r>
            <a:r>
              <a:rPr b="1" lang="it"/>
              <a:t>product development team takes the requirements specified by the product manager and fashions them into a working product</a:t>
            </a:r>
            <a:r>
              <a:rPr lang="it"/>
              <a:t> that meets the organization’s quality standards. </a:t>
            </a:r>
            <a:endParaRPr/>
          </a:p>
          <a:p>
            <a:pPr indent="0" lvl="0" marL="0" rtl="0" algn="l">
              <a:spcBef>
                <a:spcPts val="1600"/>
              </a:spcBef>
              <a:spcAft>
                <a:spcPts val="0"/>
              </a:spcAft>
              <a:buClr>
                <a:schemeClr val="dk1"/>
              </a:buClr>
              <a:buSzPts val="1100"/>
              <a:buFont typeface="Arial"/>
              <a:buNone/>
            </a:pPr>
            <a:r>
              <a:rPr lang="it"/>
              <a:t>Product development, is the process of getting an idea from concept to market. Product development teams can consist of software developers, designers, engineers, quality assurance testers — anything it takes to bring the ideal product to life.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Methods and Frameworks for Disruptive Innovation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2800"/>
              <a:t>Human Centered Design Process</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 Process</a:t>
            </a:r>
            <a:endParaRPr/>
          </a:p>
          <a:p>
            <a:pPr indent="0" lvl="0" marL="0" rtl="0" algn="l">
              <a:spcBef>
                <a:spcPts val="0"/>
              </a:spcBef>
              <a:spcAft>
                <a:spcPts val="0"/>
              </a:spcAft>
              <a:buNone/>
            </a:pPr>
            <a:r>
              <a:t/>
            </a:r>
            <a:endParaRPr/>
          </a:p>
        </p:txBody>
      </p:sp>
      <p:sp>
        <p:nvSpPr>
          <p:cNvPr id="132" name="Google Shape;132;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IDEO is one of the most innovative and award-winning design firms in the world. </a:t>
            </a:r>
            <a:endParaRPr/>
          </a:p>
          <a:p>
            <a:pPr indent="0" lvl="0" marL="0" rtl="0" algn="l">
              <a:spcBef>
                <a:spcPts val="1600"/>
              </a:spcBef>
              <a:spcAft>
                <a:spcPts val="0"/>
              </a:spcAft>
              <a:buNone/>
            </a:pPr>
            <a:r>
              <a:rPr lang="it"/>
              <a:t>IDEO’s main tenet is empathy for the end-user of their products. They believe that the key to figuring out what humans really want lies in doing two things:</a:t>
            </a:r>
            <a:endParaRPr/>
          </a:p>
          <a:p>
            <a:pPr indent="-342900" lvl="0" marL="457200" rtl="0" algn="l">
              <a:spcBef>
                <a:spcPts val="1600"/>
              </a:spcBef>
              <a:spcAft>
                <a:spcPts val="0"/>
              </a:spcAft>
              <a:buSzPts val="1800"/>
              <a:buChar char="●"/>
            </a:pPr>
            <a:r>
              <a:rPr b="1" lang="it"/>
              <a:t>Observing user behavior:</a:t>
            </a:r>
            <a:r>
              <a:rPr lang="it"/>
              <a:t> Try to understand people by observing them. For example, if you’re designing a vacuum cleaner, watch people vacuum.</a:t>
            </a:r>
            <a:endParaRPr/>
          </a:p>
          <a:p>
            <a:pPr indent="-342900" lvl="0" marL="457200" rtl="0" algn="l">
              <a:spcBef>
                <a:spcPts val="0"/>
              </a:spcBef>
              <a:spcAft>
                <a:spcPts val="0"/>
              </a:spcAft>
              <a:buSzPts val="1800"/>
              <a:buChar char="●"/>
            </a:pPr>
            <a:r>
              <a:rPr b="1" lang="it"/>
              <a:t>Putting yourself in the situation of the end-user:</a:t>
            </a:r>
            <a:r>
              <a:rPr lang="it"/>
              <a:t> IDEO does this to understand what the user experience is really like; to feel what their users feel.</a:t>
            </a:r>
            <a:endParaRPr/>
          </a:p>
          <a:p>
            <a:pPr indent="0" lvl="0" marL="0" rtl="0" algn="l">
              <a:spcBef>
                <a:spcPts val="1600"/>
              </a:spcBef>
              <a:spcAft>
                <a:spcPts val="0"/>
              </a:spcAft>
              <a:buClr>
                <a:schemeClr val="dk1"/>
              </a:buClr>
              <a:buSzPts val="1100"/>
              <a:buFont typeface="Arial"/>
              <a:buNone/>
            </a:pPr>
            <a:r>
              <a:rPr lang="it"/>
              <a:t>Then, they use the information they gain to fuel their designs.</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 Process</a:t>
            </a:r>
            <a:endParaRPr/>
          </a:p>
          <a:p>
            <a:pPr indent="0" lvl="0" marL="0" rtl="0" algn="l">
              <a:spcBef>
                <a:spcPts val="0"/>
              </a:spcBef>
              <a:spcAft>
                <a:spcPts val="0"/>
              </a:spcAft>
              <a:buClr>
                <a:schemeClr val="dk1"/>
              </a:buClr>
              <a:buSzPts val="1100"/>
              <a:buFont typeface="Arial"/>
              <a:buNone/>
            </a:pPr>
            <a:r>
              <a:t/>
            </a:r>
            <a:endParaRPr/>
          </a:p>
        </p:txBody>
      </p:sp>
      <p:sp>
        <p:nvSpPr>
          <p:cNvPr id="138" name="Google Shape;138;p2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IDEO defines the human centered design process as a creative approach to problem-solving that starts with people and ends with innovative solutions that are tailor-made to suit their needs.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139" name="Google Shape;139;p26"/>
          <p:cNvPicPr preferRelativeResize="0"/>
          <p:nvPr/>
        </p:nvPicPr>
        <p:blipFill>
          <a:blip r:embed="rId3">
            <a:alphaModFix/>
          </a:blip>
          <a:stretch>
            <a:fillRect/>
          </a:stretch>
        </p:blipFill>
        <p:spPr>
          <a:xfrm>
            <a:off x="393063" y="2341398"/>
            <a:ext cx="6986276" cy="2814450"/>
          </a:xfrm>
          <a:prstGeom prst="rect">
            <a:avLst/>
          </a:prstGeom>
          <a:noFill/>
          <a:ln>
            <a:noFill/>
          </a:ln>
        </p:spPr>
      </p:pic>
      <p:sp>
        <p:nvSpPr>
          <p:cNvPr id="140" name="Google Shape;140;p26"/>
          <p:cNvSpPr txBox="1"/>
          <p:nvPr/>
        </p:nvSpPr>
        <p:spPr>
          <a:xfrm>
            <a:off x="7301225" y="4534500"/>
            <a:ext cx="1842900" cy="5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700" u="sng">
                <a:solidFill>
                  <a:schemeClr val="hlink"/>
                </a:solidFill>
                <a:hlinkClick r:id="rId4"/>
              </a:rPr>
              <a:t>https://blog.movingworlds.org/human-centered-design-vs-design-thinking-how-theyre-different-and-how-to-use-them-together-to-create-lasting-change/</a:t>
            </a:r>
            <a:endParaRPr sz="700"/>
          </a:p>
        </p:txBody>
      </p:sp>
      <p:sp>
        <p:nvSpPr>
          <p:cNvPr id="141" name="Google Shape;141;p26"/>
          <p:cNvSpPr txBox="1"/>
          <p:nvPr/>
        </p:nvSpPr>
        <p:spPr>
          <a:xfrm>
            <a:off x="6704075" y="2643400"/>
            <a:ext cx="2388900" cy="93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a:t>VIDEO </a:t>
            </a:r>
            <a:r>
              <a:rPr lang="it" sz="1100" u="sng">
                <a:solidFill>
                  <a:schemeClr val="hlink"/>
                </a:solidFill>
                <a:hlinkClick r:id="rId5"/>
              </a:rPr>
              <a:t>https://vimeo.com/106505300</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48" name="Google Shape;148;p27"/>
          <p:cNvPicPr preferRelativeResize="0"/>
          <p:nvPr/>
        </p:nvPicPr>
        <p:blipFill>
          <a:blip r:embed="rId3">
            <a:alphaModFix/>
          </a:blip>
          <a:stretch>
            <a:fillRect/>
          </a:stretch>
        </p:blipFill>
        <p:spPr>
          <a:xfrm>
            <a:off x="0" y="387006"/>
            <a:ext cx="9144001" cy="43694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55" name="Google Shape;155;p28"/>
          <p:cNvPicPr preferRelativeResize="0"/>
          <p:nvPr/>
        </p:nvPicPr>
        <p:blipFill>
          <a:blip r:embed="rId3">
            <a:alphaModFix/>
          </a:blip>
          <a:stretch>
            <a:fillRect/>
          </a:stretch>
        </p:blipFill>
        <p:spPr>
          <a:xfrm>
            <a:off x="1114926" y="0"/>
            <a:ext cx="7218948" cy="5143500"/>
          </a:xfrm>
          <a:prstGeom prst="rect">
            <a:avLst/>
          </a:prstGeom>
          <a:noFill/>
          <a:ln>
            <a:noFill/>
          </a:ln>
        </p:spPr>
      </p:pic>
      <p:sp>
        <p:nvSpPr>
          <p:cNvPr id="156" name="Google Shape;156;p28"/>
          <p:cNvSpPr txBox="1"/>
          <p:nvPr/>
        </p:nvSpPr>
        <p:spPr>
          <a:xfrm>
            <a:off x="277250" y="4829775"/>
            <a:ext cx="175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u="sng">
                <a:solidFill>
                  <a:schemeClr val="hlink"/>
                </a:solidFill>
                <a:hlinkClick r:id="rId4"/>
              </a:rPr>
              <a:t>image source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163" name="Google Shape;163;p29"/>
          <p:cNvPicPr preferRelativeResize="0"/>
          <p:nvPr/>
        </p:nvPicPr>
        <p:blipFill>
          <a:blip r:embed="rId3">
            <a:alphaModFix/>
          </a:blip>
          <a:stretch>
            <a:fillRect/>
          </a:stretch>
        </p:blipFill>
        <p:spPr>
          <a:xfrm>
            <a:off x="1114926" y="0"/>
            <a:ext cx="7218948" cy="5143500"/>
          </a:xfrm>
          <a:prstGeom prst="rect">
            <a:avLst/>
          </a:prstGeom>
          <a:noFill/>
          <a:ln>
            <a:noFill/>
          </a:ln>
        </p:spPr>
      </p:pic>
      <p:sp>
        <p:nvSpPr>
          <p:cNvPr id="164" name="Google Shape;164;p29"/>
          <p:cNvSpPr txBox="1"/>
          <p:nvPr/>
        </p:nvSpPr>
        <p:spPr>
          <a:xfrm>
            <a:off x="277250" y="4829775"/>
            <a:ext cx="175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u="sng">
                <a:solidFill>
                  <a:schemeClr val="hlink"/>
                </a:solidFill>
                <a:hlinkClick r:id="rId4"/>
              </a:rPr>
              <a:t>image source</a:t>
            </a:r>
            <a:endParaRPr/>
          </a:p>
        </p:txBody>
      </p:sp>
      <p:sp>
        <p:nvSpPr>
          <p:cNvPr id="165" name="Google Shape;165;p29"/>
          <p:cNvSpPr txBox="1"/>
          <p:nvPr/>
        </p:nvSpPr>
        <p:spPr>
          <a:xfrm>
            <a:off x="1820700" y="1794750"/>
            <a:ext cx="685800" cy="3231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900"/>
              <a:t>Solution</a:t>
            </a:r>
            <a:endParaRPr b="1" sz="900"/>
          </a:p>
        </p:txBody>
      </p:sp>
      <p:sp>
        <p:nvSpPr>
          <p:cNvPr id="166" name="Google Shape;166;p29"/>
          <p:cNvSpPr txBox="1"/>
          <p:nvPr/>
        </p:nvSpPr>
        <p:spPr>
          <a:xfrm>
            <a:off x="6817475" y="1713675"/>
            <a:ext cx="799200" cy="323100"/>
          </a:xfrm>
          <a:prstGeom prst="rect">
            <a:avLst/>
          </a:prstGeom>
          <a:solidFill>
            <a:srgbClr val="FF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900"/>
              <a:t>Prototype</a:t>
            </a:r>
            <a:endParaRPr b="1"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Human Centered Design Process</a:t>
            </a:r>
            <a:endParaRPr/>
          </a:p>
          <a:p>
            <a:pPr indent="0" lvl="0" marL="0" rtl="0" algn="l">
              <a:spcBef>
                <a:spcPts val="0"/>
              </a:spcBef>
              <a:spcAft>
                <a:spcPts val="0"/>
              </a:spcAft>
              <a:buNone/>
            </a:pPr>
            <a:r>
              <a:t/>
            </a:r>
            <a:endParaRPr/>
          </a:p>
        </p:txBody>
      </p:sp>
      <p:sp>
        <p:nvSpPr>
          <p:cNvPr id="172" name="Google Shape;172;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b="1" lang="it" sz="1300"/>
              <a:t>Inspiration</a:t>
            </a:r>
            <a:r>
              <a:rPr lang="it" sz="1300"/>
              <a:t>: The inspiration phase is all about understanding your user’s needs and challenges, and dropping any preconceived notions you might have about them. At this stage in the HCD process you need to remove any specific outcomes in mind, and instead open yourself to a wide variety of possible solutions. </a:t>
            </a:r>
            <a:endParaRPr sz="1300"/>
          </a:p>
          <a:p>
            <a:pPr indent="-311150" lvl="0" marL="457200" rtl="0" algn="l">
              <a:spcBef>
                <a:spcPts val="0"/>
              </a:spcBef>
              <a:spcAft>
                <a:spcPts val="0"/>
              </a:spcAft>
              <a:buSzPts val="1300"/>
              <a:buAutoNum type="arabicPeriod"/>
            </a:pPr>
            <a:r>
              <a:rPr b="1" lang="it" sz="1300"/>
              <a:t>Ideation: </a:t>
            </a:r>
            <a:r>
              <a:rPr lang="it" sz="1300"/>
              <a:t>After consolidating your research and findings, this phase is about visualizing, retargeting, brainstorming and discussing all the potential solutions. Penning down your ideas in front of you  - regardless of how flawed or impractical - helps you and your end-user hone in on what’s going to work and what’s not. At this stage, you don’t want to start off with expensive prototypes - all you need are some basic sketches, lists or small scale models to tap into your creativity without the pressure to produce a polished final product. What’s important about this phase is that once you’ve gotten feedback early, you can reiterate your best ideas until you’ve made your way to a well-developed concept that works for everyone, and is aimed at impacting your user in a positive way. </a:t>
            </a:r>
            <a:endParaRPr sz="1300"/>
          </a:p>
          <a:p>
            <a:pPr indent="-311150" lvl="0" marL="457200" rtl="0" algn="l">
              <a:spcBef>
                <a:spcPts val="0"/>
              </a:spcBef>
              <a:spcAft>
                <a:spcPts val="0"/>
              </a:spcAft>
              <a:buSzPts val="1300"/>
              <a:buAutoNum type="arabicPeriod"/>
            </a:pPr>
            <a:r>
              <a:rPr b="1" lang="it" sz="1300"/>
              <a:t>Implementation: </a:t>
            </a:r>
            <a:r>
              <a:rPr lang="it" sz="1300"/>
              <a:t>The first two phases were meant to set the ground for you and your team to find a concept that feels right, before moving forward and setting aside money to build and run rapid prototypes. In this phase, this contains the tail end of the pre-production phase, where a high fidelity prototype is put together for your users to try out, as well as the actual production of the object (or coding, for web and app-based projects). This is a good time to create a business model around the concept, make necessary partnerships and prepare your product for real-world use. </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Design Thinking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Thinking</a:t>
            </a:r>
            <a:endParaRPr/>
          </a:p>
        </p:txBody>
      </p:sp>
      <p:sp>
        <p:nvSpPr>
          <p:cNvPr id="183" name="Google Shape;183;p32"/>
          <p:cNvSpPr txBox="1"/>
          <p:nvPr>
            <p:ph idx="1" type="body"/>
          </p:nvPr>
        </p:nvSpPr>
        <p:spPr>
          <a:xfrm>
            <a:off x="311700" y="747475"/>
            <a:ext cx="3418200" cy="3821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a:t>Popularized by Stanford’s d.school, is a process that you go through to create solutions that will actually be adopted by people.</a:t>
            </a:r>
            <a:endParaRPr/>
          </a:p>
        </p:txBody>
      </p:sp>
      <p:pic>
        <p:nvPicPr>
          <p:cNvPr id="184" name="Google Shape;184;p32"/>
          <p:cNvPicPr preferRelativeResize="0"/>
          <p:nvPr/>
        </p:nvPicPr>
        <p:blipFill>
          <a:blip r:embed="rId3">
            <a:alphaModFix/>
          </a:blip>
          <a:stretch>
            <a:fillRect/>
          </a:stretch>
        </p:blipFill>
        <p:spPr>
          <a:xfrm>
            <a:off x="3764378" y="1152475"/>
            <a:ext cx="5249699" cy="3783775"/>
          </a:xfrm>
          <a:prstGeom prst="rect">
            <a:avLst/>
          </a:prstGeom>
          <a:noFill/>
          <a:ln>
            <a:noFill/>
          </a:ln>
        </p:spPr>
      </p:pic>
      <p:sp>
        <p:nvSpPr>
          <p:cNvPr id="185" name="Google Shape;185;p32"/>
          <p:cNvSpPr txBox="1"/>
          <p:nvPr/>
        </p:nvSpPr>
        <p:spPr>
          <a:xfrm>
            <a:off x="0" y="4403450"/>
            <a:ext cx="3000000" cy="5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800" u="sng">
                <a:solidFill>
                  <a:schemeClr val="hlink"/>
                </a:solidFill>
                <a:hlinkClick r:id="rId4"/>
              </a:rPr>
              <a:t>https://blog.movingworlds.org/human-centered-design-vs-design-thinking-how-theyre-different-and-how-to-use-them-together-to-create-lasting-change/</a:t>
            </a:r>
            <a:endParaRPr sz="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 Thinking</a:t>
            </a:r>
            <a:endParaRPr/>
          </a:p>
          <a:p>
            <a:pPr indent="0" lvl="0" marL="0" rtl="0" algn="l">
              <a:spcBef>
                <a:spcPts val="0"/>
              </a:spcBef>
              <a:spcAft>
                <a:spcPts val="0"/>
              </a:spcAft>
              <a:buNone/>
            </a:pPr>
            <a:r>
              <a:t/>
            </a:r>
            <a:endParaRPr/>
          </a:p>
        </p:txBody>
      </p:sp>
      <p:sp>
        <p:nvSpPr>
          <p:cNvPr id="191" name="Google Shape;191;p3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Design Thinking is an iterative process</a:t>
            </a:r>
            <a:r>
              <a:rPr lang="it"/>
              <a:t> in which we seek to understand the user, challenge assumptions, and redefine problems in an attempt to identify alternative strategies and solutions </a:t>
            </a:r>
            <a:r>
              <a:rPr b="1" lang="it"/>
              <a:t>that might not be instantly apparent with our initial level of understanding. </a:t>
            </a:r>
            <a:endParaRPr b="1"/>
          </a:p>
          <a:p>
            <a:pPr indent="0" lvl="0" marL="0" rtl="0" algn="l">
              <a:spcBef>
                <a:spcPts val="1600"/>
              </a:spcBef>
              <a:spcAft>
                <a:spcPts val="0"/>
              </a:spcAft>
              <a:buNone/>
            </a:pPr>
            <a:r>
              <a:rPr lang="it"/>
              <a:t>At the same time, Design Thinking provides </a:t>
            </a:r>
            <a:r>
              <a:rPr b="1" lang="it"/>
              <a:t>a solution-based approach to solving problems. </a:t>
            </a:r>
            <a:endParaRPr b="1"/>
          </a:p>
          <a:p>
            <a:pPr indent="0" lvl="0" marL="0" rtl="0" algn="l">
              <a:spcBef>
                <a:spcPts val="1600"/>
              </a:spcBef>
              <a:spcAft>
                <a:spcPts val="0"/>
              </a:spcAft>
              <a:buClr>
                <a:schemeClr val="dk1"/>
              </a:buClr>
              <a:buSzPts val="1100"/>
              <a:buFont typeface="Arial"/>
              <a:buNone/>
            </a:pPr>
            <a:r>
              <a:rPr b="1" lang="it"/>
              <a:t>It is a way of thinking and working</a:t>
            </a:r>
            <a:r>
              <a:rPr lang="it"/>
              <a:t> as well as a collection of hands-on methods.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 Thinking</a:t>
            </a:r>
            <a:endParaRPr/>
          </a:p>
          <a:p>
            <a:pPr indent="0" lvl="0" marL="0" rtl="0" algn="l">
              <a:spcBef>
                <a:spcPts val="0"/>
              </a:spcBef>
              <a:spcAft>
                <a:spcPts val="0"/>
              </a:spcAft>
              <a:buNone/>
            </a:pPr>
            <a:r>
              <a:t/>
            </a:r>
            <a:endParaRPr/>
          </a:p>
        </p:txBody>
      </p:sp>
      <p:sp>
        <p:nvSpPr>
          <p:cNvPr id="197" name="Google Shape;197;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Thinking is extremely useful in </a:t>
            </a:r>
            <a:r>
              <a:rPr b="1" lang="it"/>
              <a:t>tackling problems that are ill-defined or unknown, by re-framing the problem in human-centric ways, </a:t>
            </a:r>
            <a:r>
              <a:rPr lang="it"/>
              <a:t>creating many ideas in brainstorming sessions, and adopting a hands-on approach in prototyping and testing. </a:t>
            </a:r>
            <a:endParaRPr/>
          </a:p>
          <a:p>
            <a:pPr indent="0" lvl="0" marL="0" rtl="0" algn="l">
              <a:spcBef>
                <a:spcPts val="1600"/>
              </a:spcBef>
              <a:spcAft>
                <a:spcPts val="0"/>
              </a:spcAft>
              <a:buClr>
                <a:schemeClr val="dk1"/>
              </a:buClr>
              <a:buSzPts val="1100"/>
              <a:buFont typeface="Arial"/>
              <a:buNone/>
            </a:pPr>
            <a:r>
              <a:rPr lang="it"/>
              <a:t>Design Thinking also involves ongoing experimentation: sketching, prototyping, testing, and trying out concepts and ideas.</a:t>
            </a:r>
            <a:endParaRPr/>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 Thinking</a:t>
            </a:r>
            <a:endParaRPr/>
          </a:p>
          <a:p>
            <a:pPr indent="0" lvl="0" marL="0" rtl="0" algn="l">
              <a:spcBef>
                <a:spcPts val="0"/>
              </a:spcBef>
              <a:spcAft>
                <a:spcPts val="0"/>
              </a:spcAft>
              <a:buNone/>
            </a:pPr>
            <a:r>
              <a:t/>
            </a:r>
            <a:endParaRPr/>
          </a:p>
        </p:txBody>
      </p:sp>
      <p:sp>
        <p:nvSpPr>
          <p:cNvPr id="203" name="Google Shape;203;p35"/>
          <p:cNvSpPr txBox="1"/>
          <p:nvPr>
            <p:ph idx="1" type="body"/>
          </p:nvPr>
        </p:nvSpPr>
        <p:spPr>
          <a:xfrm>
            <a:off x="311700" y="619075"/>
            <a:ext cx="4484100" cy="428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600"/>
              <a:t>5 phases:</a:t>
            </a:r>
            <a:endParaRPr sz="1600"/>
          </a:p>
          <a:p>
            <a:pPr indent="-330200" lvl="0" marL="457200" rtl="0" algn="l">
              <a:spcBef>
                <a:spcPts val="1600"/>
              </a:spcBef>
              <a:spcAft>
                <a:spcPts val="0"/>
              </a:spcAft>
              <a:buSzPts val="1600"/>
              <a:buAutoNum type="arabicPeriod"/>
            </a:pPr>
            <a:r>
              <a:rPr b="1" lang="it" sz="1600"/>
              <a:t>Empathise:</a:t>
            </a:r>
            <a:r>
              <a:rPr lang="it" sz="1600"/>
              <a:t> study your users</a:t>
            </a:r>
            <a:endParaRPr sz="1600"/>
          </a:p>
          <a:p>
            <a:pPr indent="-330200" lvl="0" marL="457200" rtl="0" algn="l">
              <a:spcBef>
                <a:spcPts val="0"/>
              </a:spcBef>
              <a:spcAft>
                <a:spcPts val="0"/>
              </a:spcAft>
              <a:buSzPts val="1600"/>
              <a:buAutoNum type="arabicPeriod"/>
            </a:pPr>
            <a:r>
              <a:rPr b="1" lang="it" sz="1600"/>
              <a:t>Define</a:t>
            </a:r>
            <a:r>
              <a:rPr lang="it" sz="1600"/>
              <a:t> your users’ needs, their problem, and your insights</a:t>
            </a:r>
            <a:endParaRPr sz="1600"/>
          </a:p>
          <a:p>
            <a:pPr indent="-330200" lvl="0" marL="457200" rtl="0" algn="l">
              <a:spcBef>
                <a:spcPts val="0"/>
              </a:spcBef>
              <a:spcAft>
                <a:spcPts val="0"/>
              </a:spcAft>
              <a:buSzPts val="1600"/>
              <a:buAutoNum type="arabicPeriod"/>
            </a:pPr>
            <a:r>
              <a:rPr b="1" lang="it" sz="1600"/>
              <a:t>Ideate</a:t>
            </a:r>
            <a:r>
              <a:rPr lang="it" sz="1600"/>
              <a:t> by challenging assumptions and creating ideas for innovative solutions</a:t>
            </a:r>
            <a:endParaRPr sz="1600"/>
          </a:p>
          <a:p>
            <a:pPr indent="-330200" lvl="0" marL="457200" rtl="0" algn="l">
              <a:spcBef>
                <a:spcPts val="0"/>
              </a:spcBef>
              <a:spcAft>
                <a:spcPts val="0"/>
              </a:spcAft>
              <a:buSzPts val="1600"/>
              <a:buAutoNum type="arabicPeriod"/>
            </a:pPr>
            <a:r>
              <a:rPr b="1" lang="it" sz="1600"/>
              <a:t>Prototype</a:t>
            </a:r>
            <a:r>
              <a:rPr lang="it" sz="1600"/>
              <a:t> </a:t>
            </a:r>
            <a:endParaRPr sz="1600"/>
          </a:p>
          <a:p>
            <a:pPr indent="-330200" lvl="0" marL="457200" rtl="0" algn="l">
              <a:spcBef>
                <a:spcPts val="0"/>
              </a:spcBef>
              <a:spcAft>
                <a:spcPts val="0"/>
              </a:spcAft>
              <a:buSzPts val="1600"/>
              <a:buAutoNum type="arabicPeriod"/>
            </a:pPr>
            <a:r>
              <a:rPr b="1" lang="it" sz="1600"/>
              <a:t>Test</a:t>
            </a:r>
            <a:endParaRPr b="1" sz="1600"/>
          </a:p>
          <a:p>
            <a:pPr indent="0" lvl="0" marL="0" rtl="0" algn="l">
              <a:spcBef>
                <a:spcPts val="1600"/>
              </a:spcBef>
              <a:spcAft>
                <a:spcPts val="1600"/>
              </a:spcAft>
              <a:buNone/>
            </a:pPr>
            <a:r>
              <a:t/>
            </a:r>
            <a:endParaRPr/>
          </a:p>
        </p:txBody>
      </p:sp>
      <p:pic>
        <p:nvPicPr>
          <p:cNvPr id="204" name="Google Shape;204;p35"/>
          <p:cNvPicPr preferRelativeResize="0"/>
          <p:nvPr/>
        </p:nvPicPr>
        <p:blipFill>
          <a:blip r:embed="rId3">
            <a:alphaModFix/>
          </a:blip>
          <a:stretch>
            <a:fillRect/>
          </a:stretch>
        </p:blipFill>
        <p:spPr>
          <a:xfrm>
            <a:off x="5044550" y="943725"/>
            <a:ext cx="3944024" cy="2842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HCD process + Design Thinking</a:t>
            </a:r>
            <a:endParaRPr/>
          </a:p>
        </p:txBody>
      </p:sp>
      <p:sp>
        <p:nvSpPr>
          <p:cNvPr id="210" name="Google Shape;210;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11" name="Google Shape;211;p36"/>
          <p:cNvPicPr preferRelativeResize="0"/>
          <p:nvPr/>
        </p:nvPicPr>
        <p:blipFill>
          <a:blip r:embed="rId3">
            <a:alphaModFix/>
          </a:blip>
          <a:stretch>
            <a:fillRect/>
          </a:stretch>
        </p:blipFill>
        <p:spPr>
          <a:xfrm>
            <a:off x="0" y="1019175"/>
            <a:ext cx="9144000" cy="3105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Design Thinking vs HCD</a:t>
            </a:r>
            <a:endParaRPr/>
          </a:p>
        </p:txBody>
      </p:sp>
      <p:sp>
        <p:nvSpPr>
          <p:cNvPr id="217" name="Google Shape;217;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make this more clear, any business can use </a:t>
            </a:r>
            <a:r>
              <a:rPr b="1" lang="it"/>
              <a:t>Design Thinking to build a solution that is capable of making money.</a:t>
            </a:r>
            <a:r>
              <a:rPr lang="it"/>
              <a:t> </a:t>
            </a:r>
            <a:endParaRPr/>
          </a:p>
          <a:p>
            <a:pPr indent="0" lvl="0" marL="0" rtl="0" algn="l">
              <a:spcBef>
                <a:spcPts val="1600"/>
              </a:spcBef>
              <a:spcAft>
                <a:spcPts val="0"/>
              </a:spcAft>
              <a:buNone/>
            </a:pPr>
            <a:r>
              <a:rPr lang="it"/>
              <a:t>For example, a company may use Design Thinking to create a video game or TV show for kids. </a:t>
            </a:r>
            <a:endParaRPr/>
          </a:p>
          <a:p>
            <a:pPr indent="0" lvl="0" marL="0" rtl="0" algn="l">
              <a:spcBef>
                <a:spcPts val="1600"/>
              </a:spcBef>
              <a:spcAft>
                <a:spcPts val="1600"/>
              </a:spcAft>
              <a:buNone/>
            </a:pPr>
            <a:r>
              <a:rPr b="1" lang="it"/>
              <a:t>Applying Human-Centered Design on top of this will ensure that the show actually serves the needs of the people watching it</a:t>
            </a:r>
            <a:r>
              <a:rPr lang="it"/>
              <a:t>.</a:t>
            </a:r>
            <a:endParaRPr/>
          </a:p>
        </p:txBody>
      </p:sp>
      <p:sp>
        <p:nvSpPr>
          <p:cNvPr id="218" name="Google Shape;218;p37"/>
          <p:cNvSpPr txBox="1"/>
          <p:nvPr/>
        </p:nvSpPr>
        <p:spPr>
          <a:xfrm>
            <a:off x="0" y="4403450"/>
            <a:ext cx="3000000" cy="5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800" u="sng">
                <a:solidFill>
                  <a:schemeClr val="hlink"/>
                </a:solidFill>
                <a:hlinkClick r:id="rId3"/>
              </a:rPr>
              <a:t>https://blog.movingworlds.org/human-centered-design-vs-design-thinking-how-theyre-different-and-how-to-use-them-together-to-create-lasting-change/</a:t>
            </a:r>
            <a:endParaRPr sz="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Design Thinking vs HCD Process vs HCD</a:t>
            </a:r>
            <a:endParaRPr/>
          </a:p>
          <a:p>
            <a:pPr indent="0" lvl="0" marL="0" rtl="0" algn="l">
              <a:spcBef>
                <a:spcPts val="0"/>
              </a:spcBef>
              <a:spcAft>
                <a:spcPts val="0"/>
              </a:spcAft>
              <a:buNone/>
            </a:pPr>
            <a:r>
              <a:t/>
            </a:r>
            <a:endParaRPr/>
          </a:p>
        </p:txBody>
      </p:sp>
      <p:grpSp>
        <p:nvGrpSpPr>
          <p:cNvPr id="224" name="Google Shape;224;p38"/>
          <p:cNvGrpSpPr/>
          <p:nvPr/>
        </p:nvGrpSpPr>
        <p:grpSpPr>
          <a:xfrm>
            <a:off x="1860900" y="817850"/>
            <a:ext cx="5422200" cy="2715000"/>
            <a:chOff x="2953925" y="1122650"/>
            <a:chExt cx="5422200" cy="2715000"/>
          </a:xfrm>
        </p:grpSpPr>
        <p:sp>
          <p:nvSpPr>
            <p:cNvPr id="225" name="Google Shape;225;p38"/>
            <p:cNvSpPr/>
            <p:nvPr/>
          </p:nvSpPr>
          <p:spPr>
            <a:xfrm>
              <a:off x="2953925" y="1122650"/>
              <a:ext cx="5422200" cy="27150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it"/>
                <a:t>Human Centered Design</a:t>
              </a:r>
              <a:endParaRPr/>
            </a:p>
          </p:txBody>
        </p:sp>
        <p:sp>
          <p:nvSpPr>
            <p:cNvPr id="226" name="Google Shape;226;p38"/>
            <p:cNvSpPr/>
            <p:nvPr/>
          </p:nvSpPr>
          <p:spPr>
            <a:xfrm>
              <a:off x="3190544" y="2019032"/>
              <a:ext cx="2238000" cy="13272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HCD Process</a:t>
              </a:r>
              <a:endParaRPr/>
            </a:p>
          </p:txBody>
        </p:sp>
        <p:sp>
          <p:nvSpPr>
            <p:cNvPr id="227" name="Google Shape;227;p38"/>
            <p:cNvSpPr/>
            <p:nvPr/>
          </p:nvSpPr>
          <p:spPr>
            <a:xfrm>
              <a:off x="5942492" y="2019032"/>
              <a:ext cx="2238000" cy="13272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it"/>
                <a:t>Design Thinking</a:t>
              </a:r>
              <a:endParaRPr/>
            </a:p>
          </p:txBody>
        </p:sp>
      </p:grpSp>
      <p:sp>
        <p:nvSpPr>
          <p:cNvPr id="228" name="Google Shape;228;p38"/>
          <p:cNvSpPr txBox="1"/>
          <p:nvPr/>
        </p:nvSpPr>
        <p:spPr>
          <a:xfrm>
            <a:off x="183125" y="3766050"/>
            <a:ext cx="8774100" cy="103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a:t>HCD is a mindset. </a:t>
            </a:r>
            <a:endParaRPr/>
          </a:p>
          <a:p>
            <a:pPr indent="0" lvl="0" marL="0" rtl="0" algn="l">
              <a:spcBef>
                <a:spcPts val="0"/>
              </a:spcBef>
              <a:spcAft>
                <a:spcPts val="0"/>
              </a:spcAft>
              <a:buNone/>
            </a:pPr>
            <a:r>
              <a:rPr lang="it"/>
              <a:t>HCD Process e Design Thinking are design methods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House of Cards by Netflix</a:t>
            </a:r>
            <a:endParaRPr/>
          </a:p>
        </p:txBody>
      </p:sp>
      <p:sp>
        <p:nvSpPr>
          <p:cNvPr id="234" name="Google Shape;234;p39"/>
          <p:cNvSpPr txBox="1"/>
          <p:nvPr>
            <p:ph idx="1" type="body"/>
          </p:nvPr>
        </p:nvSpPr>
        <p:spPr>
          <a:xfrm>
            <a:off x="311700" y="619075"/>
            <a:ext cx="5941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Before starting the production of House of Card, by analysing their data sets carefully, Netflix noticed that </a:t>
            </a:r>
            <a:r>
              <a:rPr b="1" lang="it"/>
              <a:t>there was a correlation between fans of the original BBC House of Cards TV show and fans of both Kevin Spacey and director David Fincher. </a:t>
            </a:r>
            <a:endParaRPr b="1"/>
          </a:p>
          <a:p>
            <a:pPr indent="0" lvl="0" marL="0" rtl="0" algn="l">
              <a:spcBef>
                <a:spcPts val="1600"/>
              </a:spcBef>
              <a:spcAft>
                <a:spcPts val="0"/>
              </a:spcAft>
              <a:buClr>
                <a:schemeClr val="dk1"/>
              </a:buClr>
              <a:buSzPts val="1100"/>
              <a:buFont typeface="Arial"/>
              <a:buNone/>
            </a:pPr>
            <a:r>
              <a:rPr lang="it"/>
              <a:t>Netflix brought together these three elements in one show and, voila, instant cult classic.</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35" name="Google Shape;235;p39"/>
          <p:cNvPicPr preferRelativeResize="0"/>
          <p:nvPr/>
        </p:nvPicPr>
        <p:blipFill>
          <a:blip r:embed="rId3">
            <a:alphaModFix/>
          </a:blip>
          <a:stretch>
            <a:fillRect/>
          </a:stretch>
        </p:blipFill>
        <p:spPr>
          <a:xfrm>
            <a:off x="6405900" y="789125"/>
            <a:ext cx="2585701" cy="3607668"/>
          </a:xfrm>
          <a:prstGeom prst="rect">
            <a:avLst/>
          </a:prstGeom>
          <a:noFill/>
          <a:ln>
            <a:noFill/>
          </a:ln>
        </p:spPr>
      </p:pic>
      <p:sp>
        <p:nvSpPr>
          <p:cNvPr id="236" name="Google Shape;236;p39"/>
          <p:cNvSpPr txBox="1"/>
          <p:nvPr/>
        </p:nvSpPr>
        <p:spPr>
          <a:xfrm>
            <a:off x="0" y="4613675"/>
            <a:ext cx="6209100" cy="29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1200" u="sng">
                <a:solidFill>
                  <a:schemeClr val="hlink"/>
                </a:solidFill>
                <a:hlinkClick r:id="rId4"/>
              </a:rPr>
              <a:t>https://ideadrop.co/examples-of-data-driven-innovation/</a:t>
            </a:r>
            <a:endParaRPr sz="1200" u="sng">
              <a:solidFill>
                <a:schemeClr val="hlink"/>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Nappies and beer, Walmart</a:t>
            </a:r>
            <a:endParaRPr/>
          </a:p>
        </p:txBody>
      </p:sp>
      <p:sp>
        <p:nvSpPr>
          <p:cNvPr id="242" name="Google Shape;242;p40"/>
          <p:cNvSpPr txBox="1"/>
          <p:nvPr>
            <p:ph idx="1" type="body"/>
          </p:nvPr>
        </p:nvSpPr>
        <p:spPr>
          <a:xfrm>
            <a:off x="311700" y="619075"/>
            <a:ext cx="5956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Beer and baby nappies aren’t two things that you’d usually associate with each other. However, these two products have become infamous in data science circles because of their unique relationship.</a:t>
            </a:r>
            <a:endParaRPr/>
          </a:p>
          <a:p>
            <a:pPr indent="0" lvl="0" marL="0" rtl="0" algn="l">
              <a:spcBef>
                <a:spcPts val="1600"/>
              </a:spcBef>
              <a:spcAft>
                <a:spcPts val="0"/>
              </a:spcAft>
              <a:buClr>
                <a:schemeClr val="dk1"/>
              </a:buClr>
              <a:buSzPts val="1100"/>
              <a:buFont typeface="Arial"/>
              <a:buNone/>
            </a:pPr>
            <a:r>
              <a:rPr lang="it"/>
              <a:t>In 1992, Karen Heath – an analyst at Teradata – discovered that </a:t>
            </a:r>
            <a:r>
              <a:rPr b="1" lang="it"/>
              <a:t>men visiting Walmart were extremely likely to buy beer whenever they stopped in to buy babies nappies.</a:t>
            </a:r>
            <a:r>
              <a:rPr lang="it"/>
              <a:t> By placing the two items near to each other in the outlet, she was able to increase sales of both items by a significant margin.</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pic>
        <p:nvPicPr>
          <p:cNvPr id="243" name="Google Shape;243;p40"/>
          <p:cNvPicPr preferRelativeResize="0"/>
          <p:nvPr/>
        </p:nvPicPr>
        <p:blipFill>
          <a:blip r:embed="rId3">
            <a:alphaModFix/>
          </a:blip>
          <a:stretch>
            <a:fillRect/>
          </a:stretch>
        </p:blipFill>
        <p:spPr>
          <a:xfrm>
            <a:off x="6420900" y="789125"/>
            <a:ext cx="2570700" cy="3225617"/>
          </a:xfrm>
          <a:prstGeom prst="rect">
            <a:avLst/>
          </a:prstGeom>
          <a:noFill/>
          <a:ln>
            <a:noFill/>
          </a:ln>
        </p:spPr>
      </p:pic>
      <p:sp>
        <p:nvSpPr>
          <p:cNvPr id="244" name="Google Shape;244;p40"/>
          <p:cNvSpPr txBox="1"/>
          <p:nvPr/>
        </p:nvSpPr>
        <p:spPr>
          <a:xfrm>
            <a:off x="0" y="4658075"/>
            <a:ext cx="6231300" cy="24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it" sz="1200" u="sng">
                <a:solidFill>
                  <a:schemeClr val="hlink"/>
                </a:solidFill>
                <a:hlinkClick r:id="rId4"/>
              </a:rPr>
              <a:t>https://ideadrop.co/examples-of-data-driven-innovation/</a:t>
            </a:r>
            <a:endParaRPr sz="1200" u="sng">
              <a:solidFill>
                <a:schemeClr val="hlink"/>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Development methods for innovative products:</a:t>
            </a:r>
            <a:endParaRPr/>
          </a:p>
          <a:p>
            <a:pPr indent="0" lvl="0" marL="0" rtl="0" algn="ctr">
              <a:spcBef>
                <a:spcPts val="0"/>
              </a:spcBef>
              <a:spcAft>
                <a:spcPts val="0"/>
              </a:spcAft>
              <a:buNone/>
            </a:pPr>
            <a:r>
              <a:rPr lang="it"/>
              <a:t>Agile, Scrum and Devops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Waterfall Development</a:t>
            </a:r>
            <a:endParaRPr/>
          </a:p>
        </p:txBody>
      </p:sp>
      <p:sp>
        <p:nvSpPr>
          <p:cNvPr id="255" name="Google Shape;255;p4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Waterfall methodology is a linear project management approach</a:t>
            </a:r>
            <a:r>
              <a:rPr lang="it"/>
              <a:t>, where stakeholder and customer </a:t>
            </a:r>
            <a:r>
              <a:rPr b="1" lang="it"/>
              <a:t>requirements are gathered at the beginning</a:t>
            </a:r>
            <a:r>
              <a:rPr lang="it"/>
              <a:t> of the project, and then a </a:t>
            </a:r>
            <a:r>
              <a:rPr b="1" lang="it"/>
              <a:t>sequential project plan</a:t>
            </a:r>
            <a:r>
              <a:rPr lang="it"/>
              <a:t> is created to accommodate those requirements. </a:t>
            </a:r>
            <a:endParaRPr/>
          </a:p>
          <a:p>
            <a:pPr indent="0" lvl="0" marL="0" rtl="0" algn="l">
              <a:spcBef>
                <a:spcPts val="1600"/>
              </a:spcBef>
              <a:spcAft>
                <a:spcPts val="0"/>
              </a:spcAft>
              <a:buNone/>
            </a:pPr>
            <a:r>
              <a:rPr lang="it"/>
              <a:t>The waterfall method is so named because </a:t>
            </a:r>
            <a:r>
              <a:rPr b="1" lang="it"/>
              <a:t>each phase of the project cascades</a:t>
            </a:r>
            <a:r>
              <a:rPr lang="it"/>
              <a:t> into the next, following steadily down like a waterfall.</a:t>
            </a:r>
            <a:endParaRPr/>
          </a:p>
          <a:p>
            <a:pPr indent="0" lvl="0" marL="0" rtl="0" algn="l">
              <a:spcBef>
                <a:spcPts val="1600"/>
              </a:spcBef>
              <a:spcAft>
                <a:spcPts val="0"/>
              </a:spcAft>
              <a:buNone/>
            </a:pPr>
            <a:r>
              <a:rPr lang="it"/>
              <a:t>It’s a thorough, structured methodology and one that’s been around for a long time, because it works. Some of the industries that regularly use the waterfall method include construction, IT and software development. </a:t>
            </a:r>
            <a:endParaRPr/>
          </a:p>
          <a:p>
            <a:pPr indent="0" lvl="0" marL="0" rtl="0" algn="l">
              <a:spcBef>
                <a:spcPts val="1600"/>
              </a:spcBef>
              <a:spcAft>
                <a:spcPts val="1600"/>
              </a:spcAft>
              <a:buNone/>
            </a:pPr>
            <a:r>
              <a:rPr lang="it"/>
              <a:t>However, the term “waterfall” is usually used in a software context.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Agile</a:t>
            </a:r>
            <a:endParaRPr/>
          </a:p>
        </p:txBody>
      </p:sp>
      <p:sp>
        <p:nvSpPr>
          <p:cNvPr id="261" name="Google Shape;261;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Agile is the ability to create and respond to change.</a:t>
            </a:r>
            <a:r>
              <a:rPr lang="it"/>
              <a:t> It is a way of dealing with, and ultimately succeeding in, an uncertain and turbulent environment.</a:t>
            </a:r>
            <a:endParaRPr/>
          </a:p>
          <a:p>
            <a:pPr indent="0" lvl="0" marL="0" rtl="0" algn="l">
              <a:spcBef>
                <a:spcPts val="1600"/>
              </a:spcBef>
              <a:spcAft>
                <a:spcPts val="0"/>
              </a:spcAft>
              <a:buClr>
                <a:schemeClr val="dk1"/>
              </a:buClr>
              <a:buSzPts val="1100"/>
              <a:buFont typeface="Arial"/>
              <a:buNone/>
            </a:pPr>
            <a:r>
              <a:rPr lang="it"/>
              <a:t>It’s really about thinking through how you can understand what’s going on in the environment that you’re in today, identify what uncertainty you’re facing, and figure out how you can adapt to that as you go along.</a:t>
            </a:r>
            <a:endParaRPr/>
          </a:p>
          <a:p>
            <a:pPr indent="0" lvl="0" marL="0" rtl="0" algn="l">
              <a:spcBef>
                <a:spcPts val="1600"/>
              </a:spcBef>
              <a:spcAft>
                <a:spcPts val="0"/>
              </a:spcAft>
              <a:buClr>
                <a:schemeClr val="dk1"/>
              </a:buClr>
              <a:buSzPts val="1100"/>
              <a:buFont typeface="Arial"/>
              <a:buNone/>
            </a:pPr>
            <a:r>
              <a:rPr lang="it"/>
              <a:t>Agile software development is more than frameworks such as Scrum, Extreme Programming or Feature-Driven Development (FDD).</a:t>
            </a:r>
            <a:endParaRPr/>
          </a:p>
          <a:p>
            <a:pPr indent="0" lvl="0" marL="0" rtl="0" algn="l">
              <a:spcBef>
                <a:spcPts val="1600"/>
              </a:spcBef>
              <a:spcAft>
                <a:spcPts val="0"/>
              </a:spcAft>
              <a:buClr>
                <a:schemeClr val="dk1"/>
              </a:buClr>
              <a:buSzPts val="1100"/>
              <a:buFont typeface="Arial"/>
              <a:buNone/>
            </a:pPr>
            <a:r>
              <a:rPr lang="it"/>
              <a:t>Agile software development is an umbrella term for a set of frameworks and practices based on the values and principles expressed in the Manifesto for Agile Software Development and the 12 Principles behind it.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AGILE MANIFESTO and Principles</a:t>
            </a:r>
            <a:endParaRPr/>
          </a:p>
        </p:txBody>
      </p:sp>
      <p:sp>
        <p:nvSpPr>
          <p:cNvPr id="267" name="Google Shape;267;p44"/>
          <p:cNvSpPr txBox="1"/>
          <p:nvPr>
            <p:ph idx="1" type="body"/>
          </p:nvPr>
        </p:nvSpPr>
        <p:spPr>
          <a:xfrm>
            <a:off x="0" y="2132675"/>
            <a:ext cx="2363400" cy="256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it" sz="1100" u="sng">
                <a:solidFill>
                  <a:schemeClr val="hlink"/>
                </a:solidFill>
                <a:hlinkClick r:id="rId3"/>
              </a:rPr>
              <a:t>https://agilemanifesto.org/</a:t>
            </a:r>
            <a:endParaRPr/>
          </a:p>
        </p:txBody>
      </p:sp>
      <p:pic>
        <p:nvPicPr>
          <p:cNvPr id="268" name="Google Shape;268;p44"/>
          <p:cNvPicPr preferRelativeResize="0"/>
          <p:nvPr/>
        </p:nvPicPr>
        <p:blipFill>
          <a:blip r:embed="rId4">
            <a:alphaModFix/>
          </a:blip>
          <a:stretch>
            <a:fillRect/>
          </a:stretch>
        </p:blipFill>
        <p:spPr>
          <a:xfrm>
            <a:off x="3435650" y="636724"/>
            <a:ext cx="5625500" cy="4303349"/>
          </a:xfrm>
          <a:prstGeom prst="rect">
            <a:avLst/>
          </a:prstGeom>
          <a:noFill/>
          <a:ln>
            <a:noFill/>
          </a:ln>
        </p:spPr>
      </p:pic>
      <p:sp>
        <p:nvSpPr>
          <p:cNvPr id="269" name="Google Shape;269;p44"/>
          <p:cNvSpPr txBox="1"/>
          <p:nvPr/>
        </p:nvSpPr>
        <p:spPr>
          <a:xfrm>
            <a:off x="0" y="2571750"/>
            <a:ext cx="3000000" cy="42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it" sz="1100" u="sng">
                <a:solidFill>
                  <a:schemeClr val="accent5"/>
                </a:solidFill>
                <a:hlinkClick r:id="rId5">
                  <a:extLst>
                    <a:ext uri="{A12FA001-AC4F-418D-AE19-62706E023703}">
                      <ahyp:hlinkClr val="tx"/>
                    </a:ext>
                  </a:extLst>
                </a:hlinkClick>
              </a:rPr>
              <a:t>https://www.agilealliance.org/agile101/12-principles-behind-the-agile-manifesto/</a:t>
            </a: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Agile</a:t>
            </a:r>
            <a:endParaRPr/>
          </a:p>
        </p:txBody>
      </p:sp>
      <p:sp>
        <p:nvSpPr>
          <p:cNvPr id="275" name="Google Shape;275;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One thing that separates Agile from other approaches to software development is the </a:t>
            </a:r>
            <a:r>
              <a:rPr b="1" lang="it"/>
              <a:t>focus on the people doing the work and how they work together.</a:t>
            </a:r>
            <a:r>
              <a:rPr lang="it"/>
              <a:t> </a:t>
            </a:r>
            <a:endParaRPr/>
          </a:p>
          <a:p>
            <a:pPr indent="0" lvl="0" marL="0" rtl="0" algn="l">
              <a:spcBef>
                <a:spcPts val="1600"/>
              </a:spcBef>
              <a:spcAft>
                <a:spcPts val="0"/>
              </a:spcAft>
              <a:buClr>
                <a:schemeClr val="dk1"/>
              </a:buClr>
              <a:buSzPts val="1100"/>
              <a:buFont typeface="Arial"/>
              <a:buNone/>
            </a:pPr>
            <a:r>
              <a:rPr lang="it"/>
              <a:t>Solutions evolve through collaboration between self-organizing cross-functional teams utilizing the appropriate practices for their context.</a:t>
            </a:r>
            <a:endParaRPr/>
          </a:p>
          <a:p>
            <a:pPr indent="0" lvl="0" marL="0" rtl="0" algn="l">
              <a:spcBef>
                <a:spcPts val="1600"/>
              </a:spcBef>
              <a:spcAft>
                <a:spcPts val="0"/>
              </a:spcAft>
              <a:buClr>
                <a:schemeClr val="dk1"/>
              </a:buClr>
              <a:buSzPts val="1100"/>
              <a:buFont typeface="Arial"/>
              <a:buNone/>
            </a:pPr>
            <a:r>
              <a:rPr lang="it"/>
              <a:t>There’s a big focus in the Agile software development community on collaboration and the self-organizing team.</a:t>
            </a:r>
            <a:endParaRPr/>
          </a:p>
          <a:p>
            <a:pPr indent="0" lvl="0" marL="0" rtl="0" algn="l">
              <a:spcBef>
                <a:spcPts val="1600"/>
              </a:spcBef>
              <a:spcAft>
                <a:spcPts val="1600"/>
              </a:spcAft>
              <a:buNone/>
            </a:pPr>
            <a:r>
              <a:rPr b="1" lang="it"/>
              <a:t>Agile is the best </a:t>
            </a:r>
            <a:r>
              <a:rPr b="1" lang="it"/>
              <a:t>building</a:t>
            </a:r>
            <a:r>
              <a:rPr b="1" lang="it"/>
              <a:t> method for HCD and Design thinking </a:t>
            </a:r>
            <a:r>
              <a:rPr lang="it"/>
              <a:t>where c</a:t>
            </a:r>
            <a:r>
              <a:rPr lang="it"/>
              <a:t>ontinuous</a:t>
            </a:r>
            <a:r>
              <a:rPr lang="it"/>
              <a:t> iterations are required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Risk in product development</a:t>
            </a:r>
            <a:endParaRPr/>
          </a:p>
        </p:txBody>
      </p:sp>
      <p:pic>
        <p:nvPicPr>
          <p:cNvPr id="281" name="Google Shape;281;p46"/>
          <p:cNvPicPr preferRelativeResize="0"/>
          <p:nvPr/>
        </p:nvPicPr>
        <p:blipFill rotWithShape="1">
          <a:blip r:embed="rId3">
            <a:alphaModFix/>
          </a:blip>
          <a:srcRect b="-20979" l="-5124" r="-3914" t="11939"/>
          <a:stretch/>
        </p:blipFill>
        <p:spPr>
          <a:xfrm>
            <a:off x="528418" y="726900"/>
            <a:ext cx="8087165" cy="51435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Scrum</a:t>
            </a:r>
            <a:endParaRPr/>
          </a:p>
        </p:txBody>
      </p:sp>
      <p:sp>
        <p:nvSpPr>
          <p:cNvPr id="287" name="Google Shape;287;p4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a:t>Scrum is an agile framework for developing</a:t>
            </a:r>
            <a:r>
              <a:rPr lang="it"/>
              <a:t>, delivering, and sustaining complex products, with an initial emphasis on </a:t>
            </a:r>
            <a:r>
              <a:rPr b="1" lang="it"/>
              <a:t>software </a:t>
            </a:r>
            <a:r>
              <a:rPr lang="it"/>
              <a:t>development, although it has been used in other fields including </a:t>
            </a:r>
            <a:r>
              <a:rPr b="1" lang="it"/>
              <a:t>research, sales, marketing and advanced technologies.</a:t>
            </a:r>
            <a:endParaRPr b="1"/>
          </a:p>
          <a:p>
            <a:pPr indent="0" lvl="0" marL="0" rtl="0" algn="l">
              <a:spcBef>
                <a:spcPts val="1600"/>
              </a:spcBef>
              <a:spcAft>
                <a:spcPts val="0"/>
              </a:spcAft>
              <a:buNone/>
            </a:pPr>
            <a:r>
              <a:rPr lang="it"/>
              <a:t>It is designed for </a:t>
            </a:r>
            <a:r>
              <a:rPr b="1" lang="it"/>
              <a:t>teams of ten or fewer members</a:t>
            </a:r>
            <a:r>
              <a:rPr lang="it"/>
              <a:t>, who break their work into </a:t>
            </a:r>
            <a:r>
              <a:rPr b="1" lang="it"/>
              <a:t>goals that can be completed within timeboxed iterations, called sprints</a:t>
            </a:r>
            <a:r>
              <a:rPr lang="it"/>
              <a:t>, no longer than one month and most commonly </a:t>
            </a:r>
            <a:r>
              <a:rPr b="1" lang="it"/>
              <a:t>two weeks</a:t>
            </a:r>
            <a:r>
              <a:rPr lang="it"/>
              <a:t>. </a:t>
            </a:r>
            <a:endParaRPr/>
          </a:p>
          <a:p>
            <a:pPr indent="0" lvl="0" marL="0" rtl="0" algn="l">
              <a:spcBef>
                <a:spcPts val="1600"/>
              </a:spcBef>
              <a:spcAft>
                <a:spcPts val="1600"/>
              </a:spcAft>
              <a:buNone/>
            </a:pPr>
            <a:r>
              <a:rPr lang="it"/>
              <a:t>The Scrum Team track progress in 15-minute time-boxed daily meetings, called daily scrums. At the end of the sprint, the team holds sprint review, to demonstrate the work done, and sprint retrospective to improve continuously.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Scrum</a:t>
            </a:r>
            <a:endParaRPr/>
          </a:p>
        </p:txBody>
      </p:sp>
      <p:sp>
        <p:nvSpPr>
          <p:cNvPr id="293" name="Google Shape;293;p4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A key principle of Scrum is the dual recognition that </a:t>
            </a:r>
            <a:r>
              <a:rPr b="1" lang="it"/>
              <a:t>customers will change their minds about what they want or need</a:t>
            </a:r>
            <a:r>
              <a:rPr lang="it"/>
              <a:t> (often called requirements volatility) and that there will be unpredictable challenges for which a predictive or planned approach is not suited.</a:t>
            </a:r>
            <a:endParaRPr/>
          </a:p>
          <a:p>
            <a:pPr indent="0" lvl="0" marL="0" rtl="0" algn="l">
              <a:spcBef>
                <a:spcPts val="1600"/>
              </a:spcBef>
              <a:spcAft>
                <a:spcPts val="0"/>
              </a:spcAft>
              <a:buClr>
                <a:schemeClr val="dk1"/>
              </a:buClr>
              <a:buSzPts val="1100"/>
              <a:buFont typeface="Arial"/>
              <a:buNone/>
            </a:pPr>
            <a:r>
              <a:rPr lang="it"/>
              <a:t>As such, </a:t>
            </a:r>
            <a:r>
              <a:rPr b="1" lang="it"/>
              <a:t>Scrum adopts an evidence-based empirical approach</a:t>
            </a:r>
            <a:r>
              <a:rPr lang="it"/>
              <a:t> – accepting that </a:t>
            </a:r>
            <a:r>
              <a:rPr b="1" lang="it"/>
              <a:t>the problem cannot be fully understood or defined up front</a:t>
            </a:r>
            <a:r>
              <a:rPr lang="it"/>
              <a:t>, and instead focusing on how to maximize the team's ability to deliver </a:t>
            </a:r>
            <a:r>
              <a:rPr b="1" lang="it"/>
              <a:t>quickly, to respond to emerging requirements</a:t>
            </a:r>
            <a:r>
              <a:rPr lang="it"/>
              <a:t>, and to adapt to evolving technologies and changes in market conditions</a:t>
            </a:r>
            <a:endParaRPr/>
          </a:p>
          <a:p>
            <a:pPr indent="0" lvl="0" marL="0" rtl="0" algn="l">
              <a:spcBef>
                <a:spcPts val="1600"/>
              </a:spcBef>
              <a:spcAft>
                <a:spcPts val="16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Scrum</a:t>
            </a:r>
            <a:endParaRPr/>
          </a:p>
        </p:txBody>
      </p:sp>
      <p:sp>
        <p:nvSpPr>
          <p:cNvPr id="299" name="Google Shape;299;p4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it" sz="1700"/>
              <a:t>A sprint is the basic unit of development in Scrum.</a:t>
            </a:r>
            <a:r>
              <a:rPr lang="it" sz="1700"/>
              <a:t> The sprint is a timeboxed effort where the length is agreed and fixed in advance for each sprint and is normally between one week and one month, with two weeks being the most common.</a:t>
            </a:r>
            <a:endParaRPr sz="1700"/>
          </a:p>
          <a:p>
            <a:pPr indent="0" lvl="0" marL="0" rtl="0" algn="l">
              <a:spcBef>
                <a:spcPts val="1600"/>
              </a:spcBef>
              <a:spcAft>
                <a:spcPts val="0"/>
              </a:spcAft>
              <a:buNone/>
            </a:pPr>
            <a:r>
              <a:rPr lang="it" sz="1700"/>
              <a:t>Each sprint starts with a sprint planning event that establishes a sprint goal and the required product backlog items. </a:t>
            </a:r>
            <a:endParaRPr sz="1700"/>
          </a:p>
          <a:p>
            <a:pPr indent="0" lvl="0" marL="0" rtl="0" algn="l">
              <a:spcBef>
                <a:spcPts val="1600"/>
              </a:spcBef>
              <a:spcAft>
                <a:spcPts val="1600"/>
              </a:spcAft>
              <a:buNone/>
            </a:pPr>
            <a:r>
              <a:rPr lang="it" sz="1700"/>
              <a:t>Each sprint ends with a sprint review and sprint retrospective, that reviews progress to show to stakeholders and identify lessons and improvements for the next sprints.</a:t>
            </a:r>
            <a:endParaRPr sz="1700"/>
          </a:p>
        </p:txBody>
      </p:sp>
      <p:pic>
        <p:nvPicPr>
          <p:cNvPr id="300" name="Google Shape;300;p49"/>
          <p:cNvPicPr preferRelativeResize="0"/>
          <p:nvPr/>
        </p:nvPicPr>
        <p:blipFill>
          <a:blip r:embed="rId3">
            <a:alphaModFix/>
          </a:blip>
          <a:stretch>
            <a:fillRect/>
          </a:stretch>
        </p:blipFill>
        <p:spPr>
          <a:xfrm>
            <a:off x="1878612" y="3348925"/>
            <a:ext cx="5386776" cy="16519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Scrum</a:t>
            </a:r>
            <a:endParaRPr/>
          </a:p>
        </p:txBody>
      </p:sp>
      <p:sp>
        <p:nvSpPr>
          <p:cNvPr id="306" name="Google Shape;306;p5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There are three roles in the Scrum framework. </a:t>
            </a:r>
            <a:endParaRPr/>
          </a:p>
          <a:p>
            <a:pPr indent="-330200" lvl="0" marL="457200" rtl="0" algn="l">
              <a:spcBef>
                <a:spcPts val="1600"/>
              </a:spcBef>
              <a:spcAft>
                <a:spcPts val="0"/>
              </a:spcAft>
              <a:buSzPts val="1600"/>
              <a:buChar char="●"/>
            </a:pPr>
            <a:r>
              <a:rPr b="1" lang="it" sz="1600"/>
              <a:t>The product owner</a:t>
            </a:r>
            <a:r>
              <a:rPr lang="it" sz="1600"/>
              <a:t>, representing the product's stakeholders and the voice of the customer, is responsible for delivering good business results.The product owner defines the product in customer-centric terms (typically user stories), adds them to the Product Backlog, and prioritizes them based on importance and dependencies.</a:t>
            </a:r>
            <a:endParaRPr sz="1600"/>
          </a:p>
          <a:p>
            <a:pPr indent="-330200" lvl="0" marL="457200" rtl="0" algn="l">
              <a:spcBef>
                <a:spcPts val="0"/>
              </a:spcBef>
              <a:spcAft>
                <a:spcPts val="0"/>
              </a:spcAft>
              <a:buSzPts val="1600"/>
              <a:buChar char="●"/>
            </a:pPr>
            <a:r>
              <a:rPr b="1" lang="it" sz="1600"/>
              <a:t>The development team </a:t>
            </a:r>
            <a:endParaRPr b="1" sz="1600"/>
          </a:p>
          <a:p>
            <a:pPr indent="-330200" lvl="0" marL="457200" rtl="0" algn="l">
              <a:spcBef>
                <a:spcPts val="0"/>
              </a:spcBef>
              <a:spcAft>
                <a:spcPts val="0"/>
              </a:spcAft>
              <a:buSzPts val="1600"/>
              <a:buChar char="●"/>
            </a:pPr>
            <a:r>
              <a:rPr b="1" lang="it" sz="1600"/>
              <a:t>The scrum master </a:t>
            </a:r>
            <a:r>
              <a:rPr lang="it" sz="1600"/>
              <a:t>is not a traditional </a:t>
            </a:r>
            <a:br>
              <a:rPr lang="it" sz="1600"/>
            </a:br>
            <a:r>
              <a:rPr lang="it" sz="1600"/>
              <a:t>team lead or project manager but acts </a:t>
            </a:r>
            <a:br>
              <a:rPr lang="it" sz="1600"/>
            </a:br>
            <a:r>
              <a:rPr lang="it" sz="1600"/>
              <a:t>as a buffer between the team and any </a:t>
            </a:r>
            <a:br>
              <a:rPr lang="it" sz="1600"/>
            </a:br>
            <a:r>
              <a:rPr lang="it" sz="1600"/>
              <a:t>distracting influences. The scrum </a:t>
            </a:r>
            <a:br>
              <a:rPr lang="it" sz="1600"/>
            </a:br>
            <a:r>
              <a:rPr lang="it" sz="1600"/>
              <a:t>master ensures that the scrum </a:t>
            </a:r>
            <a:br>
              <a:rPr lang="it" sz="1600"/>
            </a:br>
            <a:r>
              <a:rPr lang="it" sz="1600"/>
              <a:t>framework is followed.  </a:t>
            </a:r>
            <a:endParaRPr sz="1600"/>
          </a:p>
        </p:txBody>
      </p:sp>
      <p:pic>
        <p:nvPicPr>
          <p:cNvPr id="307" name="Google Shape;307;p50"/>
          <p:cNvPicPr preferRelativeResize="0"/>
          <p:nvPr/>
        </p:nvPicPr>
        <p:blipFill rotWithShape="1">
          <a:blip r:embed="rId3">
            <a:alphaModFix/>
          </a:blip>
          <a:srcRect b="17716" l="0" r="0" t="19124"/>
          <a:stretch/>
        </p:blipFill>
        <p:spPr>
          <a:xfrm>
            <a:off x="4325600" y="2321325"/>
            <a:ext cx="4786150" cy="2267124"/>
          </a:xfrm>
          <a:prstGeom prst="rect">
            <a:avLst/>
          </a:prstGeom>
          <a:noFill/>
          <a:ln>
            <a:noFill/>
          </a:ln>
        </p:spPr>
      </p:pic>
      <p:sp>
        <p:nvSpPr>
          <p:cNvPr id="308" name="Google Shape;308;p50"/>
          <p:cNvSpPr txBox="1"/>
          <p:nvPr/>
        </p:nvSpPr>
        <p:spPr>
          <a:xfrm>
            <a:off x="4387100" y="4689775"/>
            <a:ext cx="3546600" cy="2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 sz="700" u="sng">
                <a:solidFill>
                  <a:schemeClr val="hlink"/>
                </a:solidFill>
                <a:hlinkClick r:id="rId4"/>
              </a:rPr>
              <a:t>https://www.agilemarketingitalia.com/2018/05/09/scrum-agile-marketing/</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