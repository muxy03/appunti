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60bc5bd8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60bc5bd8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96f79df6b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96f79df6b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0510df36f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60510df36f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96f79df6b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96f79df6b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96f79df6b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96f79df6b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96f79df6b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96f79df6b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60510df36f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60510df36f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971ccfae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971ccfae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0510df36f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60510df36f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60b122d3c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60b122d3c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60510df36f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60510df36f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60b122d3c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60b122d3c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60b122d3c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60b122d3c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60b122d3c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60b122d3c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558425" y="4834400"/>
            <a:ext cx="80313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</a:rPr>
              <a:t>DANIELE MAZZEI - </a:t>
            </a:r>
            <a:r>
              <a:rPr lang="it" sz="1000"/>
              <a:t>IUM</a:t>
            </a:r>
            <a:r>
              <a:rPr lang="it" sz="1000"/>
              <a:t> 24-25</a:t>
            </a:r>
            <a:r>
              <a:rPr lang="it"/>
              <a:t> </a:t>
            </a:r>
            <a:r>
              <a:rPr lang="it" sz="700"/>
              <a:t>(</a:t>
            </a:r>
            <a:r>
              <a:rPr lang="it" sz="700"/>
              <a:t>all rights reserved)</a:t>
            </a:r>
            <a:endParaRPr sz="7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Progettare l’interazione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3600"/>
              <a:t>Progettare l’interazione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/>
              <a:t>Esistono solo due tipi di design, riuscito e fallito; buono e cattivo</a:t>
            </a:r>
            <a:r>
              <a:rPr lang="it"/>
              <a:t> </a:t>
            </a:r>
            <a:br>
              <a:rPr lang="it"/>
            </a:br>
            <a:r>
              <a:rPr lang="it"/>
              <a:t>(D. Norman).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Il problema è che il buon design non è universale. Un progetto, prodotto o sistema apprezzato da tutti non esiste perché l'esperienza di interazione è soggettiva e quindi dipende più dalla persona che non </a:t>
            </a:r>
            <a:r>
              <a:rPr lang="it"/>
              <a:t>dell'artefatto</a:t>
            </a:r>
            <a:r>
              <a:rPr lang="it"/>
              <a:t> e di conseguenza è statisticamente impossibile progettare qualcosa che sia apprezzato da chiunque.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Two of the most important characteristics of good design are </a:t>
            </a:r>
            <a:r>
              <a:rPr b="1" lang="it"/>
              <a:t>discoverability </a:t>
            </a:r>
            <a:r>
              <a:rPr lang="it"/>
              <a:t>and </a:t>
            </a:r>
            <a:r>
              <a:rPr b="1" lang="it"/>
              <a:t>understanding</a:t>
            </a:r>
            <a:r>
              <a:rPr lang="it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Discoverability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619075"/>
            <a:ext cx="534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è la capacità di un sistema di veicolare e comunicare i propri possibili usi all'utente.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Un sistema che a prima vista fa capire all'utente a cosa serve e che cosa ci si può fare ha una buona Discoverability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 avere una buona discoverability si usa tipicamente la </a:t>
            </a:r>
            <a:r>
              <a:rPr b="1" lang="it"/>
              <a:t>visibilità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it"/>
              <a:t>Non è detto però che una volta capito cosa si può fare si riesca a farlo. 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7775" y="769525"/>
            <a:ext cx="33337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Discoverability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619075"/>
            <a:ext cx="539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è la capacità di un sistema di veicolare e comunicare i propri possibili usi all'utente.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Un sistema che a prima vista fa capire all'utente a cosa serve e che cosa ci si può fare ha una buona Discoverability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Per avere una buona discoverability si usa tipicamente la </a:t>
            </a:r>
            <a:r>
              <a:rPr b="1" lang="it"/>
              <a:t>visibilità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it"/>
              <a:t>Non è detto però che una volta capito cosa si può fare si riesca a farlo. 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7775" y="76952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 rotWithShape="1">
          <a:blip r:embed="rId4">
            <a:alphaModFix/>
          </a:blip>
          <a:srcRect b="0" l="18889" r="17723" t="0"/>
          <a:stretch/>
        </p:blipFill>
        <p:spPr>
          <a:xfrm flipH="1">
            <a:off x="5880550" y="269625"/>
            <a:ext cx="2890225" cy="455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Discoverability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288" y="1177975"/>
            <a:ext cx="25050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6775" y="1177975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 rotWithShape="1">
          <a:blip r:embed="rId5">
            <a:alphaModFix/>
          </a:blip>
          <a:srcRect b="0" l="18018" r="18845" t="0"/>
          <a:stretch/>
        </p:blipFill>
        <p:spPr>
          <a:xfrm>
            <a:off x="6203625" y="1177975"/>
            <a:ext cx="27549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>
            <a:off x="2014400" y="3654600"/>
            <a:ext cx="875700" cy="63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 rot="5400000">
            <a:off x="4176725" y="104750"/>
            <a:ext cx="836100" cy="8565900"/>
          </a:xfrm>
          <a:prstGeom prst="triangle">
            <a:avLst>
              <a:gd fmla="val 5000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3364600" y="4168250"/>
            <a:ext cx="20304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DISCOVERABILITY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Understanding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è invece la capacità del prodotto di farsi usare correttamente dall'utente.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la discoverability è la misura di quanto bene si capisce </a:t>
            </a:r>
            <a:r>
              <a:rPr b="1" lang="it"/>
              <a:t>cosa</a:t>
            </a:r>
            <a:r>
              <a:rPr lang="it"/>
              <a:t> si può fare con il prodotto, la understanding invece è la proprietà associata a quanto bene un prodotto dice </a:t>
            </a:r>
            <a:r>
              <a:rPr b="1" lang="it"/>
              <a:t>come</a:t>
            </a:r>
            <a:r>
              <a:rPr lang="it"/>
              <a:t> si usano le funzioni disponibili.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 capire come si usa un prodotto non basta infatti </a:t>
            </a:r>
            <a:br>
              <a:rPr lang="it"/>
            </a:br>
            <a:r>
              <a:rPr lang="it"/>
              <a:t>aver identificato quali sono i controlli, è necessario </a:t>
            </a:r>
            <a:br>
              <a:rPr lang="it"/>
            </a:br>
            <a:r>
              <a:rPr lang="it"/>
              <a:t>dare con facilità risposta alle seguenti domande: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Come si usa il prodotto?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Che funzione ha ciascun controllo?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Come si combinano i controlli?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1775" y="1813575"/>
            <a:ext cx="3178925" cy="317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Understanding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0139"/>
            <a:ext cx="9144001" cy="367842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 rot="-5400000">
            <a:off x="4151225" y="148400"/>
            <a:ext cx="822300" cy="8949600"/>
          </a:xfrm>
          <a:prstGeom prst="triangle">
            <a:avLst>
              <a:gd fmla="val 5074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3364600" y="4396850"/>
            <a:ext cx="20304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UNDERSTANDING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Design of </a:t>
            </a:r>
            <a:r>
              <a:rPr lang="it"/>
              <a:t>useful</a:t>
            </a:r>
            <a:r>
              <a:rPr lang="it"/>
              <a:t> things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it"/>
              <a:t>Quando le cose vanno bene, si dimenticano subito, quando vanno male non si dimenticano mai!</a:t>
            </a:r>
            <a:endParaRPr b="1"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863" y="1305100"/>
            <a:ext cx="318027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Design of useful things 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619075"/>
            <a:ext cx="50016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Design is concerned with how things work, how they are controlled, and the nature of the interaction between people and technology.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/>
              <a:t>When done well, the results are brilliant, pleasurable products. When done badly, the products are unusable, leading to great frustration and irritation.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4049" y="836000"/>
            <a:ext cx="3505474" cy="26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Design of useful things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Machines, are conceived, designed, and constructed by people.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By human standards, </a:t>
            </a:r>
            <a:r>
              <a:rPr b="1" lang="it"/>
              <a:t>machines are pretty limited</a:t>
            </a:r>
            <a:r>
              <a:rPr lang="it"/>
              <a:t>. Instead, machines usually follow rather simple, rigid rules of behavior. If we get the rules wrong even slightly, </a:t>
            </a:r>
            <a:r>
              <a:rPr b="1" lang="it"/>
              <a:t>the machine does what it is told, no matter how insensible and illogical.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People are imaginative and creative, filled with </a:t>
            </a:r>
            <a:r>
              <a:rPr b="1" lang="it"/>
              <a:t>common sense</a:t>
            </a:r>
            <a:r>
              <a:rPr lang="it"/>
              <a:t>; that is, a lot of valuable knowledge built up over years of experience. But instead of capitalizing on these strengths, </a:t>
            </a:r>
            <a:r>
              <a:rPr b="1" lang="it"/>
              <a:t>machines require us to be precise and accurate, things we are not very good at.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Machines have no leeway or common sense. Moreover, </a:t>
            </a:r>
            <a:r>
              <a:rPr lang="it" u="sng"/>
              <a:t>many of the rules followed by a machine are known only by the machine and its designers.</a:t>
            </a:r>
            <a:endParaRPr u="sng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Design of useful things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It is time to reverse the situation: to cast the blame upon the machines and their design. </a:t>
            </a:r>
            <a:r>
              <a:rPr b="1" lang="it"/>
              <a:t>It is the machine and its design that are at fault.</a:t>
            </a:r>
            <a:r>
              <a:rPr lang="it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/>
              <a:t>It is the duty of machines and those who design them to understand people.</a:t>
            </a:r>
            <a:r>
              <a:rPr lang="it"/>
              <a:t> It is not our duty to understand the arbitrary, meaningless dictates of machines.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The reasons for the deficiencies in human-machine interaction are numerous. But </a:t>
            </a:r>
            <a:r>
              <a:rPr b="1" lang="it"/>
              <a:t>most of the problems come from a complete lack of understanding of the design principles</a:t>
            </a:r>
            <a:r>
              <a:rPr lang="it"/>
              <a:t> necessary for effective human-machine interaction.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it"/>
              <a:t>Why this deficiency? </a:t>
            </a:r>
            <a:r>
              <a:rPr b="1" lang="it"/>
              <a:t>Because much of the design is done by developers who are experts in technology but limited in their understanding of people. 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Design of useful things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“We are people ourselves,” they think, “so we understand people.”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But in fact, we humans are amazingly complex.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Developers typically </a:t>
            </a:r>
            <a:r>
              <a:rPr b="1" lang="it"/>
              <a:t>make the mistake of thinking that logical explanation is sufficient:</a:t>
            </a:r>
            <a:r>
              <a:rPr lang="it"/>
              <a:t> “If only people would read the instructions, everything would be all right.”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Engineers are trained to think logically. As a result, </a:t>
            </a:r>
            <a:r>
              <a:rPr b="1" lang="it"/>
              <a:t>they come to believe that all people must think this way, and they design their machines accordingly.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Design of useful things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The problem with the designs of most engineers is that they are too logical.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We have to accept human behavior the way it is, not the way we would wish it to be.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 rotWithShape="1">
          <a:blip r:embed="rId3">
            <a:alphaModFix/>
          </a:blip>
          <a:srcRect b="21544" l="0" r="0" t="13776"/>
          <a:stretch/>
        </p:blipFill>
        <p:spPr>
          <a:xfrm>
            <a:off x="5327850" y="1600375"/>
            <a:ext cx="3816150" cy="332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Design of useful things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Donald Norman: </a:t>
            </a:r>
            <a:r>
              <a:rPr i="1" lang="it"/>
              <a:t>“we were designing things for people, so we needed to  understand both technology and people. But that’s a difficult step for many engineers: machines are so logical, so orderly. If we didn’t have people, everything would work so much better. Yup, that’s how I used to think.”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Three Mile Island accident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it" sz="1050">
                <a:solidFill>
                  <a:srgbClr val="222222"/>
                </a:solidFill>
                <a:highlight>
                  <a:srgbClr val="FFFFFF"/>
                </a:highlight>
              </a:rPr>
              <a:t>Critical user interface engineering problems</a:t>
            </a:r>
            <a:r>
              <a:rPr lang="it" sz="1050">
                <a:solidFill>
                  <a:srgbClr val="222222"/>
                </a:solidFill>
                <a:highlight>
                  <a:srgbClr val="FFFFFF"/>
                </a:highlight>
              </a:rPr>
              <a:t> were revealed in the investigation of the reactor control system's user interface. Despite the valve being stuck open, a light on the control panel ostensibly indicated that the valve was </a:t>
            </a:r>
            <a:r>
              <a:rPr i="1" lang="it" sz="1050">
                <a:solidFill>
                  <a:srgbClr val="222222"/>
                </a:solidFill>
                <a:highlight>
                  <a:srgbClr val="FFFFFF"/>
                </a:highlight>
              </a:rPr>
              <a:t>closed</a:t>
            </a:r>
            <a:r>
              <a:rPr lang="it" sz="1050">
                <a:solidFill>
                  <a:srgbClr val="222222"/>
                </a:solidFill>
                <a:highlight>
                  <a:srgbClr val="FFFFFF"/>
                </a:highlight>
              </a:rPr>
              <a:t>. In fact </a:t>
            </a:r>
            <a:r>
              <a:rPr b="1" lang="it" sz="1050">
                <a:solidFill>
                  <a:srgbClr val="222222"/>
                </a:solidFill>
                <a:highlight>
                  <a:srgbClr val="FFFFFF"/>
                </a:highlight>
              </a:rPr>
              <a:t>the light did not indicate the position of the valve, only the status of the solenoid being powered or not</a:t>
            </a:r>
            <a:r>
              <a:rPr lang="it" sz="1050">
                <a:solidFill>
                  <a:srgbClr val="222222"/>
                </a:solidFill>
                <a:highlight>
                  <a:srgbClr val="FFFFFF"/>
                </a:highlight>
              </a:rPr>
              <a:t>, thus giving false evidence of a closed valve. </a:t>
            </a:r>
            <a:r>
              <a:rPr b="1" lang="it" sz="1050">
                <a:solidFill>
                  <a:srgbClr val="222222"/>
                </a:solidFill>
                <a:highlight>
                  <a:srgbClr val="FFFFFF"/>
                </a:highlight>
              </a:rPr>
              <a:t>As a result, the operators did not correctly diagnose the problem for several hours</a:t>
            </a:r>
            <a:endParaRPr b="1" sz="105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it" sz="1050">
                <a:solidFill>
                  <a:srgbClr val="222222"/>
                </a:solidFill>
                <a:highlight>
                  <a:srgbClr val="FFFFFF"/>
                </a:highlight>
              </a:rPr>
              <a:t>https://it.wikipedia.org/wiki/Incidente_di_Three_Mile_Island</a:t>
            </a:r>
            <a:endParaRPr b="1" sz="105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EZIONI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