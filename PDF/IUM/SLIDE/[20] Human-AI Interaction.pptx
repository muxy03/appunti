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143500" cx="9144000"/>
  <p:notesSz cx="6858000" cy="9144000"/>
  <p:embeddedFontLst>
    <p:embeddedFont>
      <p:font typeface="Noto Naskh Arabic"/>
      <p:regular r:id="rId80"/>
      <p:bold r:id="rId81"/>
    </p:embeddedFont>
    <p:embeddedFont>
      <p:font typeface="Noto Sans Symbols"/>
      <p:regular r:id="rId82"/>
      <p:bold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NotoSansSymbols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NotoNaskhArabic-regular.fntdata"/><Relationship Id="rId82" Type="http://schemas.openxmlformats.org/officeDocument/2006/relationships/font" Target="fonts/NotoSansSymbols-regular.fntdata"/><Relationship Id="rId81" Type="http://schemas.openxmlformats.org/officeDocument/2006/relationships/font" Target="fonts/NotoNaskhArabic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b510ebc27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1b510ebc27_2_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b510ebc27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1b510ebc27_2_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510ebc27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1b510ebc27_2_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510ebc27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1b510ebc27_2_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b510ebc27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1b510ebc27_2_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b510ebc27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1b510ebc27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b510ebc27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1b510ebc27_2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b510ebc27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1b510ebc27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b510ebc27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1b510ebc27_2_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b510ebc27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1b510ebc27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b510ebc27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1b510ebc27_2_1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b510ebc27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1b510ebc27_2_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b510ebc27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1b510ebc27_2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b510ebc27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1b510ebc27_2_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b510ebc27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1b510ebc27_2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b510ebc27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1b510ebc27_2_1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b510ebc27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1b510ebc27_2_1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b510ebc27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1b510ebc27_2_1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b510ebc27_2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1b510ebc27_2_1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b510ebc27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1b510ebc27_2_1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b510ebc27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1b510ebc27_2_1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b510ebc27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1b510ebc27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b510ebc27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1b510ebc27_2_2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b510ebc27_2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1b510ebc27_2_2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b510ebc27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1b510ebc27_2_2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1b510ebc27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1b510ebc27_2_2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1b510ebc27_2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1b510ebc27_2_2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b510ebc27_2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1b510ebc27_2_2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1b510ebc27_2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1b510ebc27_2_2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1b510ebc27_2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1b510ebc27_2_2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1b510ebc27_2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1b510ebc27_2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1b510ebc27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1b510ebc27_2_2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b510ebc27_2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1b510ebc27_2_2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b510ebc27_2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1b510ebc27_2_2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b510ebc27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1b510ebc27_2_3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b510ebc27_2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1b510ebc27_2_3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1b510ebc27_2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1b510ebc27_2_3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1b510ebc27_2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1b510ebc27_2_3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1b510ebc27_2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1b510ebc27_2_3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1b510ebc27_2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1b510ebc27_2_3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1b510ebc27_2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1b510ebc27_2_3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1b510ebc27_2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1b510ebc27_2_3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1b510ebc27_2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1b510ebc27_2_3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1b510ebc27_2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1b510ebc27_2_3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1b510ebc27_2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1b510ebc27_2_3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1b510ebc27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1b510ebc27_2_3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1b510ebc27_2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1b510ebc27_2_3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1b510ebc27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1b510ebc27_2_4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1b510ebc27_2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1b510ebc27_2_4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1b510ebc2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1b510ebc27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1b510ebc27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1b510ebc27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1b510ebc27_2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1b510ebc27_2_4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1b510ebc27_2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1b510ebc27_2_4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1b510ebc27_2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1b510ebc27_2_4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1b510ebc27_2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1b510ebc27_2_4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1b510ebc27_2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1b510ebc27_2_4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1b510ebc27_2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1b510ebc27_2_4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1b510ebc27_2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1b510ebc27_2_4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1b510ebc27_2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1b510ebc27_2_4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1b510ebc27_2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1b510ebc27_2_5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1b510ebc27_2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1b510ebc27_2_5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1b510ebc27_2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1b510ebc27_2_5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1b510ebc27_2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1b510ebc27_2_5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1b510ebc27_2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1b510ebc27_2_5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1b510ebc27_2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1b510ebc27_2_5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1b510ebc27_2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1b510ebc27_2_5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1b510ebc27_2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1b510ebc27_2_5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1b510ebc27_2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1b510ebc27_2_5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1b510ebc27_2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1b510ebc27_2_5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1b510ebc27_2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1b510ebc27_2_5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1b510ebc27_2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1b510ebc27_2_5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1b510ebc27_2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1b510ebc27_2_5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87704" y="1215770"/>
            <a:ext cx="7743825" cy="328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4132046" y="4943800"/>
            <a:ext cx="1306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4132045" y="4943800"/>
            <a:ext cx="1397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4132059" y="4943798"/>
            <a:ext cx="88058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32006" y="4787565"/>
            <a:ext cx="17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9pPr>
          </a:lstStyle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682942" y="2393060"/>
            <a:ext cx="7440930" cy="1347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4132050" y="4800925"/>
            <a:ext cx="1505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32006" y="4787565"/>
            <a:ext cx="17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9pPr>
          </a:lstStyle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4132059" y="4943798"/>
            <a:ext cx="88058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32006" y="4787565"/>
            <a:ext cx="17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Noto Naskh Arabic"/>
                <a:ea typeface="Noto Naskh Arabic"/>
                <a:cs typeface="Noto Naskh Arabic"/>
                <a:sym typeface="Noto Naskh Arabic"/>
              </a:defRPr>
            </a:lvl9pPr>
          </a:lstStyle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834517"/>
            <a:ext cx="9144000" cy="309086"/>
          </a:xfrm>
          <a:custGeom>
            <a:rect b="b" l="l" r="r" t="t"/>
            <a:pathLst>
              <a:path extrusionOk="0" h="412115" w="12192000">
                <a:moveTo>
                  <a:pt x="12192000" y="0"/>
                </a:moveTo>
                <a:lnTo>
                  <a:pt x="0" y="0"/>
                </a:lnTo>
                <a:lnTo>
                  <a:pt x="0" y="411976"/>
                </a:lnTo>
                <a:lnTo>
                  <a:pt x="12192000" y="4119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7293" y="4732142"/>
            <a:ext cx="9136856" cy="102394"/>
          </a:xfrm>
          <a:custGeom>
            <a:rect b="b" l="l" r="r" t="t"/>
            <a:pathLst>
              <a:path extrusionOk="0" h="136525" w="12182475">
                <a:moveTo>
                  <a:pt x="0" y="136499"/>
                </a:moveTo>
                <a:lnTo>
                  <a:pt x="12182275" y="136499"/>
                </a:lnTo>
                <a:lnTo>
                  <a:pt x="12182275" y="0"/>
                </a:lnTo>
                <a:lnTo>
                  <a:pt x="0" y="0"/>
                </a:lnTo>
                <a:lnTo>
                  <a:pt x="0" y="136499"/>
                </a:lnTo>
                <a:close/>
              </a:path>
            </a:pathLst>
          </a:custGeom>
          <a:solidFill>
            <a:srgbClr val="EEEEEE">
              <a:alpha val="4666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8347491" y="4701812"/>
            <a:ext cx="335756" cy="335756"/>
          </a:xfrm>
          <a:custGeom>
            <a:rect b="b" l="l" r="r" t="t"/>
            <a:pathLst>
              <a:path extrusionOk="0" h="447675" w="447675">
                <a:moveTo>
                  <a:pt x="223799" y="0"/>
                </a:moveTo>
                <a:lnTo>
                  <a:pt x="178697" y="4546"/>
                </a:lnTo>
                <a:lnTo>
                  <a:pt x="136688" y="17587"/>
                </a:lnTo>
                <a:lnTo>
                  <a:pt x="98673" y="38221"/>
                </a:lnTo>
                <a:lnTo>
                  <a:pt x="65551" y="65549"/>
                </a:lnTo>
                <a:lnTo>
                  <a:pt x="38222" y="98671"/>
                </a:lnTo>
                <a:lnTo>
                  <a:pt x="17587" y="136687"/>
                </a:lnTo>
                <a:lnTo>
                  <a:pt x="4546" y="178697"/>
                </a:lnTo>
                <a:lnTo>
                  <a:pt x="0" y="223800"/>
                </a:lnTo>
                <a:lnTo>
                  <a:pt x="4546" y="268904"/>
                </a:lnTo>
                <a:lnTo>
                  <a:pt x="17587" y="310913"/>
                </a:lnTo>
                <a:lnTo>
                  <a:pt x="38222" y="348929"/>
                </a:lnTo>
                <a:lnTo>
                  <a:pt x="65551" y="382050"/>
                </a:lnTo>
                <a:lnTo>
                  <a:pt x="98673" y="409378"/>
                </a:lnTo>
                <a:lnTo>
                  <a:pt x="136688" y="430012"/>
                </a:lnTo>
                <a:lnTo>
                  <a:pt x="178697" y="443053"/>
                </a:lnTo>
                <a:lnTo>
                  <a:pt x="223799" y="447600"/>
                </a:lnTo>
                <a:lnTo>
                  <a:pt x="268905" y="443053"/>
                </a:lnTo>
                <a:lnTo>
                  <a:pt x="310915" y="430012"/>
                </a:lnTo>
                <a:lnTo>
                  <a:pt x="348931" y="409378"/>
                </a:lnTo>
                <a:lnTo>
                  <a:pt x="382052" y="382050"/>
                </a:lnTo>
                <a:lnTo>
                  <a:pt x="409379" y="348929"/>
                </a:lnTo>
                <a:lnTo>
                  <a:pt x="430012" y="310913"/>
                </a:lnTo>
                <a:lnTo>
                  <a:pt x="443052" y="268904"/>
                </a:lnTo>
                <a:lnTo>
                  <a:pt x="447598" y="223800"/>
                </a:lnTo>
                <a:lnTo>
                  <a:pt x="443052" y="178697"/>
                </a:lnTo>
                <a:lnTo>
                  <a:pt x="430012" y="136687"/>
                </a:lnTo>
                <a:lnTo>
                  <a:pt x="409379" y="98671"/>
                </a:lnTo>
                <a:lnTo>
                  <a:pt x="382052" y="65549"/>
                </a:lnTo>
                <a:lnTo>
                  <a:pt x="348931" y="38221"/>
                </a:lnTo>
                <a:lnTo>
                  <a:pt x="310915" y="17587"/>
                </a:lnTo>
                <a:lnTo>
                  <a:pt x="268905" y="4546"/>
                </a:lnTo>
                <a:lnTo>
                  <a:pt x="223799" y="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87704" y="1215770"/>
            <a:ext cx="7743825" cy="328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132059" y="4943798"/>
            <a:ext cx="88058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ctr">
              <a:buNone/>
              <a:defRPr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17.jpg"/><Relationship Id="rId6" Type="http://schemas.openxmlformats.org/officeDocument/2006/relationships/image" Target="../media/image9.jpg"/><Relationship Id="rId7" Type="http://schemas.openxmlformats.org/officeDocument/2006/relationships/image" Target="../media/image2.jpg"/><Relationship Id="rId8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VbVoTK-lM00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cientificamerican.com/article/artificial-intelligence-is-rushing-into-patient-care-and-could-raise-risk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cs.cmu.edu/~jbigha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145/3419764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Relationship Id="rId4" Type="http://schemas.openxmlformats.org/officeDocument/2006/relationships/image" Target="../media/image1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Relationship Id="rId4" Type="http://schemas.openxmlformats.org/officeDocument/2006/relationships/hyperlink" Target="https://www.youtube.com/watch?v=tlThdr3O5Qo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hyperlink" Target="https://doi.org/10.1080/10447318.2020.1741118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Relationship Id="rId4" Type="http://schemas.openxmlformats.org/officeDocument/2006/relationships/hyperlink" Target="https://doi.org/10.1080/10447318.2020.1741118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Relationship Id="rId4" Type="http://schemas.openxmlformats.org/officeDocument/2006/relationships/hyperlink" Target="https://doi.org/10.1109/TTS.2020.2992669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Relationship Id="rId4" Type="http://schemas.openxmlformats.org/officeDocument/2006/relationships/hyperlink" Target="https://doi.org/10.1109/TTS.2020.2992669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hyperlink" Target="https://doi.org/10.1145/3185517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jpg"/><Relationship Id="rId4" Type="http://schemas.openxmlformats.org/officeDocument/2006/relationships/hyperlink" Target="https://doi.org/10.1080/10447318.2020.1741118" TargetMode="External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png"/><Relationship Id="rId8" Type="http://schemas.openxmlformats.org/officeDocument/2006/relationships/image" Target="../media/image2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youtube.com/watch?v=20367DapHlc" TargetMode="External"/><Relationship Id="rId4" Type="http://schemas.openxmlformats.org/officeDocument/2006/relationships/image" Target="../media/image3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jpg"/><Relationship Id="rId4" Type="http://schemas.openxmlformats.org/officeDocument/2006/relationships/hyperlink" Target="https://www.youtube.com/watch?v=Ymewnb3gJJQ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youtube.com/watch?v=XQCHoKAq9xA" TargetMode="External"/><Relationship Id="rId4" Type="http://schemas.openxmlformats.org/officeDocument/2006/relationships/image" Target="../media/image3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7.jpg"/><Relationship Id="rId4" Type="http://schemas.openxmlformats.org/officeDocument/2006/relationships/hyperlink" Target="https://www.youtube.com/watch?v=e2R0NSKtVA0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jpg"/><Relationship Id="rId4" Type="http://schemas.openxmlformats.org/officeDocument/2006/relationships/image" Target="../media/image24.png"/><Relationship Id="rId5" Type="http://schemas.openxmlformats.org/officeDocument/2006/relationships/image" Target="../media/image2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Relationship Id="rId4" Type="http://schemas.openxmlformats.org/officeDocument/2006/relationships/image" Target="../media/image35.jpg"/><Relationship Id="rId5" Type="http://schemas.openxmlformats.org/officeDocument/2006/relationships/image" Target="../media/image2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jpg"/><Relationship Id="rId4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jpg"/><Relationship Id="rId4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jpg"/><Relationship Id="rId4" Type="http://schemas.openxmlformats.org/officeDocument/2006/relationships/image" Target="../media/image25.jpg"/><Relationship Id="rId5" Type="http://schemas.openxmlformats.org/officeDocument/2006/relationships/image" Target="../media/image42.jpg"/><Relationship Id="rId6" Type="http://schemas.openxmlformats.org/officeDocument/2006/relationships/image" Target="../media/image35.jpg"/><Relationship Id="rId7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europeansources.info/record/communication-artificial-intelligence-for-europe/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europeansources.info/record/communication-artificial-intelligence-for-europe/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www.europeansources.info/record/communication-artificial-intelligence-for-europe/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5.jpg"/><Relationship Id="rId4" Type="http://schemas.openxmlformats.org/officeDocument/2006/relationships/image" Target="../media/image23.jpg"/><Relationship Id="rId5" Type="http://schemas.openxmlformats.org/officeDocument/2006/relationships/image" Target="../media/image25.jpg"/><Relationship Id="rId6" Type="http://schemas.openxmlformats.org/officeDocument/2006/relationships/image" Target="../media/image2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png"/><Relationship Id="rId4" Type="http://schemas.openxmlformats.org/officeDocument/2006/relationships/hyperlink" Target="https://pair.withgoogle.com/worksheet/user-needs.pdf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developer.apple.com/design/human-interface-guidelines/machine-learning/overview/roles/" TargetMode="External"/><Relationship Id="rId4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3.png"/><Relationship Id="rId4" Type="http://schemas.openxmlformats.org/officeDocument/2006/relationships/hyperlink" Target="https://www.microsoft.com/en-us/research/project/guidelines-for-human-ai-interaction/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9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0.jpg"/><Relationship Id="rId4" Type="http://schemas.openxmlformats.org/officeDocument/2006/relationships/image" Target="../media/image5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8.jpg"/><Relationship Id="rId4" Type="http://schemas.openxmlformats.org/officeDocument/2006/relationships/image" Target="../media/image5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7.jpg"/><Relationship Id="rId4" Type="http://schemas.openxmlformats.org/officeDocument/2006/relationships/image" Target="../media/image54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pair.withgoogle.com/guidebook/" TargetMode="External"/><Relationship Id="rId4" Type="http://schemas.openxmlformats.org/officeDocument/2006/relationships/hyperlink" Target="https://developer.apple.com/design/human-interface-guidelines/machine-learning/" TargetMode="External"/><Relationship Id="rId5" Type="http://schemas.openxmlformats.org/officeDocument/2006/relationships/hyperlink" Target="https://www.microsoft.com/en-us/haxtoolk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Tommaso Turchi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288032" y="4353948"/>
            <a:ext cx="867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Adapted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from: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https://elite.polito.it/2024-haii-materials/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is everywhere!</a:t>
            </a:r>
            <a:endParaRPr/>
          </a:p>
        </p:txBody>
      </p:sp>
      <p:grpSp>
        <p:nvGrpSpPr>
          <p:cNvPr id="99" name="Google Shape;99;p20"/>
          <p:cNvGrpSpPr/>
          <p:nvPr/>
        </p:nvGrpSpPr>
        <p:grpSpPr>
          <a:xfrm>
            <a:off x="306728" y="368083"/>
            <a:ext cx="8530537" cy="4187861"/>
            <a:chOff x="408971" y="490778"/>
            <a:chExt cx="11374049" cy="5583814"/>
          </a:xfrm>
        </p:grpSpPr>
        <p:pic>
          <p:nvPicPr>
            <p:cNvPr id="100" name="Google Shape;10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4205" y="1558137"/>
              <a:ext cx="1842566" cy="2369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39213" y="3022902"/>
              <a:ext cx="3137789" cy="2908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79177" y="1776526"/>
              <a:ext cx="4473054" cy="3519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82801" y="2951853"/>
              <a:ext cx="4400219" cy="3122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30542" y="490778"/>
              <a:ext cx="4700549" cy="22049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8971" y="4777066"/>
              <a:ext cx="2412123" cy="12307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4132046" y="4943800"/>
            <a:ext cx="131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687699" y="1263775"/>
            <a:ext cx="3728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When it "works", it's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great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is everywhere!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687700" y="1215775"/>
            <a:ext cx="57615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When it "fails", it does it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spectacularly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…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0" rtl="0" algn="l">
              <a:lnSpc>
                <a:spcPct val="109166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e.g., Tesla Smart Summon, 	</a:t>
            </a:r>
            <a:r>
              <a:rPr lang="en-GB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https://www.youtube.com/watch?v=VbVoTK-lM00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is everywhere!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800" y="2485247"/>
            <a:ext cx="3372867" cy="1884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050" y="2347527"/>
            <a:ext cx="2095500" cy="2114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700050" y="1112400"/>
            <a:ext cx="83655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/>
              <a:t>… and/or it is </a:t>
            </a:r>
            <a:r>
              <a:rPr b="1" i="1" lang="en-GB" u="sng">
                <a:latin typeface="Arial"/>
                <a:ea typeface="Arial"/>
                <a:cs typeface="Arial"/>
                <a:sym typeface="Arial"/>
              </a:rPr>
              <a:t>very</a:t>
            </a:r>
            <a:r>
              <a:rPr b="1" i="1" lang="en-GB" u="non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u="none"/>
              <a:t>problematic, for instance:</a:t>
            </a:r>
            <a:endParaRPr/>
          </a:p>
          <a:p>
            <a:pPr indent="-266700" lvl="1" marL="482600" marR="0" rtl="0" algn="l">
              <a:lnSpc>
                <a:spcPct val="109166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"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IBM boasted that its AI could 'outthink cancer.' Others say computer systems 	that read X-rays will make radiologists obsolete…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"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254000" rtl="0" algn="l">
              <a:lnSpc>
                <a:spcPct val="107916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"Systems developed in one hospital often flop when deployed in a different 	facility.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82600" rtl="0" algn="l">
              <a:lnSpc>
                <a:spcPct val="101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Software used in the care of millions of Americans has been shown to</a:t>
            </a:r>
            <a:endParaRPr/>
          </a:p>
          <a:p>
            <a:pPr indent="0" lvl="0" marL="482600" rtl="0" algn="l">
              <a:lnSpc>
                <a:spcPct val="10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discriminate against minorities.</a:t>
            </a:r>
            <a:endParaRPr/>
          </a:p>
          <a:p>
            <a:pPr indent="0" lvl="0" marL="482600" marR="203200" rtl="0" algn="l">
              <a:lnSpc>
                <a:spcPct val="904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And AI systems sometimes learn to make predictions based on factors that have less to do with disease than the brand of MRI machine used, the time a blood test is taken or whether a patient was visited by a chaplain."</a:t>
            </a:r>
            <a:endParaRPr/>
          </a:p>
          <a:p>
            <a:pPr indent="0" lvl="0" marL="5461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[source:  </a:t>
            </a: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https://www.scientificamerican.com/article/artificial-intelligence-is-rushing-into-patient-care-and-could-raise-risks/</a:t>
            </a:r>
            <a:r>
              <a:rPr lang="en-GB" sz="1100" u="none">
                <a:latin typeface="Arial"/>
                <a:ea typeface="Arial"/>
                <a:cs typeface="Arial"/>
                <a:sym typeface="Arial"/>
              </a:rPr>
              <a:t>]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/>
              <a:t>Why?</a:t>
            </a:r>
            <a:endParaRPr/>
          </a:p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is everywhere!</a:t>
            </a:r>
            <a:endParaRPr/>
          </a:p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Possible Reason: The Typical Approach</a:t>
            </a:r>
            <a:endParaRPr/>
          </a:p>
        </p:txBody>
      </p:sp>
      <p:grpSp>
        <p:nvGrpSpPr>
          <p:cNvPr id="139" name="Google Shape;139;p24"/>
          <p:cNvGrpSpPr/>
          <p:nvPr/>
        </p:nvGrpSpPr>
        <p:grpSpPr>
          <a:xfrm>
            <a:off x="757238" y="3023130"/>
            <a:ext cx="1319689" cy="730568"/>
            <a:chOff x="1009651" y="4030840"/>
            <a:chExt cx="1759585" cy="974090"/>
          </a:xfrm>
        </p:grpSpPr>
        <p:pic>
          <p:nvPicPr>
            <p:cNvPr id="140" name="Google Shape;1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9651" y="4030840"/>
              <a:ext cx="1759228" cy="974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4"/>
            <p:cNvSpPr/>
            <p:nvPr/>
          </p:nvSpPr>
          <p:spPr>
            <a:xfrm>
              <a:off x="1009651" y="4030840"/>
              <a:ext cx="1759585" cy="974090"/>
            </a:xfrm>
            <a:custGeom>
              <a:rect b="b" l="l" r="r" t="t"/>
              <a:pathLst>
                <a:path extrusionOk="0" h="974089" w="1759585">
                  <a:moveTo>
                    <a:pt x="0" y="162342"/>
                  </a:moveTo>
                  <a:lnTo>
                    <a:pt x="5799" y="119185"/>
                  </a:lnTo>
                  <a:lnTo>
                    <a:pt x="22164" y="80404"/>
                  </a:lnTo>
                  <a:lnTo>
                    <a:pt x="47548" y="47548"/>
                  </a:lnTo>
                  <a:lnTo>
                    <a:pt x="80404" y="22164"/>
                  </a:lnTo>
                  <a:lnTo>
                    <a:pt x="119185" y="5799"/>
                  </a:lnTo>
                  <a:lnTo>
                    <a:pt x="162342" y="0"/>
                  </a:lnTo>
                  <a:lnTo>
                    <a:pt x="1596880" y="0"/>
                  </a:lnTo>
                  <a:lnTo>
                    <a:pt x="1640038" y="5799"/>
                  </a:lnTo>
                  <a:lnTo>
                    <a:pt x="1678820" y="22164"/>
                  </a:lnTo>
                  <a:lnTo>
                    <a:pt x="1711678" y="47548"/>
                  </a:lnTo>
                  <a:lnTo>
                    <a:pt x="1737064" y="80404"/>
                  </a:lnTo>
                  <a:lnTo>
                    <a:pt x="1753431" y="119185"/>
                  </a:lnTo>
                  <a:lnTo>
                    <a:pt x="1759231" y="162342"/>
                  </a:lnTo>
                  <a:lnTo>
                    <a:pt x="1759231" y="811693"/>
                  </a:lnTo>
                  <a:lnTo>
                    <a:pt x="1753431" y="854850"/>
                  </a:lnTo>
                  <a:lnTo>
                    <a:pt x="1737064" y="893630"/>
                  </a:lnTo>
                  <a:lnTo>
                    <a:pt x="1711678" y="926486"/>
                  </a:lnTo>
                  <a:lnTo>
                    <a:pt x="1678820" y="951871"/>
                  </a:lnTo>
                  <a:lnTo>
                    <a:pt x="1640038" y="968236"/>
                  </a:lnTo>
                  <a:lnTo>
                    <a:pt x="1596880" y="974035"/>
                  </a:lnTo>
                  <a:lnTo>
                    <a:pt x="162342" y="974035"/>
                  </a:lnTo>
                  <a:lnTo>
                    <a:pt x="119185" y="968236"/>
                  </a:lnTo>
                  <a:lnTo>
                    <a:pt x="80404" y="951871"/>
                  </a:lnTo>
                  <a:lnTo>
                    <a:pt x="47548" y="926486"/>
                  </a:lnTo>
                  <a:lnTo>
                    <a:pt x="22164" y="893630"/>
                  </a:lnTo>
                  <a:lnTo>
                    <a:pt x="5799" y="854850"/>
                  </a:lnTo>
                  <a:lnTo>
                    <a:pt x="0" y="811693"/>
                  </a:lnTo>
                  <a:lnTo>
                    <a:pt x="0" y="162342"/>
                  </a:lnTo>
                  <a:close/>
                </a:path>
              </a:pathLst>
            </a:custGeom>
            <a:noFill/>
            <a:ln cap="flat" cmpd="sng" w="9525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142" name="Google Shape;142;p24"/>
          <p:cNvSpPr txBox="1"/>
          <p:nvPr/>
        </p:nvSpPr>
        <p:spPr>
          <a:xfrm>
            <a:off x="1236564" y="3266312"/>
            <a:ext cx="47269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24"/>
          <p:cNvGrpSpPr/>
          <p:nvPr/>
        </p:nvGrpSpPr>
        <p:grpSpPr>
          <a:xfrm>
            <a:off x="3122752" y="2432656"/>
            <a:ext cx="1946434" cy="1911668"/>
            <a:chOff x="4163669" y="3243541"/>
            <a:chExt cx="2595245" cy="2548890"/>
          </a:xfrm>
        </p:grpSpPr>
        <p:sp>
          <p:nvSpPr>
            <p:cNvPr id="144" name="Google Shape;144;p24"/>
            <p:cNvSpPr/>
            <p:nvPr/>
          </p:nvSpPr>
          <p:spPr>
            <a:xfrm>
              <a:off x="4163669" y="3243541"/>
              <a:ext cx="2595245" cy="2548890"/>
            </a:xfrm>
            <a:custGeom>
              <a:rect b="b" l="l" r="r" t="t"/>
              <a:pathLst>
                <a:path extrusionOk="0" h="2548890" w="2595245">
                  <a:moveTo>
                    <a:pt x="2170163" y="0"/>
                  </a:moveTo>
                  <a:lnTo>
                    <a:pt x="424776" y="0"/>
                  </a:lnTo>
                  <a:lnTo>
                    <a:pt x="378493" y="2492"/>
                  </a:lnTo>
                  <a:lnTo>
                    <a:pt x="333653" y="9797"/>
                  </a:lnTo>
                  <a:lnTo>
                    <a:pt x="290515" y="21655"/>
                  </a:lnTo>
                  <a:lnTo>
                    <a:pt x="249340" y="37808"/>
                  </a:lnTo>
                  <a:lnTo>
                    <a:pt x="210385" y="57995"/>
                  </a:lnTo>
                  <a:lnTo>
                    <a:pt x="173910" y="81958"/>
                  </a:lnTo>
                  <a:lnTo>
                    <a:pt x="140175" y="109437"/>
                  </a:lnTo>
                  <a:lnTo>
                    <a:pt x="109437" y="140175"/>
                  </a:lnTo>
                  <a:lnTo>
                    <a:pt x="81958" y="173910"/>
                  </a:lnTo>
                  <a:lnTo>
                    <a:pt x="57995" y="210385"/>
                  </a:lnTo>
                  <a:lnTo>
                    <a:pt x="37808" y="249340"/>
                  </a:lnTo>
                  <a:lnTo>
                    <a:pt x="21655" y="290515"/>
                  </a:lnTo>
                  <a:lnTo>
                    <a:pt x="9797" y="333653"/>
                  </a:lnTo>
                  <a:lnTo>
                    <a:pt x="2492" y="378493"/>
                  </a:lnTo>
                  <a:lnTo>
                    <a:pt x="0" y="424776"/>
                  </a:lnTo>
                  <a:lnTo>
                    <a:pt x="0" y="2123846"/>
                  </a:lnTo>
                  <a:lnTo>
                    <a:pt x="2492" y="2170131"/>
                  </a:lnTo>
                  <a:lnTo>
                    <a:pt x="9797" y="2214972"/>
                  </a:lnTo>
                  <a:lnTo>
                    <a:pt x="21655" y="2258110"/>
                  </a:lnTo>
                  <a:lnTo>
                    <a:pt x="37808" y="2299286"/>
                  </a:lnTo>
                  <a:lnTo>
                    <a:pt x="57995" y="2338241"/>
                  </a:lnTo>
                  <a:lnTo>
                    <a:pt x="81958" y="2374716"/>
                  </a:lnTo>
                  <a:lnTo>
                    <a:pt x="109437" y="2408452"/>
                  </a:lnTo>
                  <a:lnTo>
                    <a:pt x="140175" y="2439189"/>
                  </a:lnTo>
                  <a:lnTo>
                    <a:pt x="173910" y="2466669"/>
                  </a:lnTo>
                  <a:lnTo>
                    <a:pt x="210385" y="2490632"/>
                  </a:lnTo>
                  <a:lnTo>
                    <a:pt x="249340" y="2510819"/>
                  </a:lnTo>
                  <a:lnTo>
                    <a:pt x="290515" y="2526971"/>
                  </a:lnTo>
                  <a:lnTo>
                    <a:pt x="333653" y="2538829"/>
                  </a:lnTo>
                  <a:lnTo>
                    <a:pt x="378493" y="2546134"/>
                  </a:lnTo>
                  <a:lnTo>
                    <a:pt x="424776" y="2548627"/>
                  </a:lnTo>
                  <a:lnTo>
                    <a:pt x="2170163" y="2548627"/>
                  </a:lnTo>
                  <a:lnTo>
                    <a:pt x="2216446" y="2546134"/>
                  </a:lnTo>
                  <a:lnTo>
                    <a:pt x="2261286" y="2538829"/>
                  </a:lnTo>
                  <a:lnTo>
                    <a:pt x="2304424" y="2526971"/>
                  </a:lnTo>
                  <a:lnTo>
                    <a:pt x="2345600" y="2510819"/>
                  </a:lnTo>
                  <a:lnTo>
                    <a:pt x="2384554" y="2490632"/>
                  </a:lnTo>
                  <a:lnTo>
                    <a:pt x="2421029" y="2466669"/>
                  </a:lnTo>
                  <a:lnTo>
                    <a:pt x="2454765" y="2439189"/>
                  </a:lnTo>
                  <a:lnTo>
                    <a:pt x="2485502" y="2408452"/>
                  </a:lnTo>
                  <a:lnTo>
                    <a:pt x="2512981" y="2374716"/>
                  </a:lnTo>
                  <a:lnTo>
                    <a:pt x="2536944" y="2338241"/>
                  </a:lnTo>
                  <a:lnTo>
                    <a:pt x="2557132" y="2299286"/>
                  </a:lnTo>
                  <a:lnTo>
                    <a:pt x="2573284" y="2258110"/>
                  </a:lnTo>
                  <a:lnTo>
                    <a:pt x="2585142" y="2214972"/>
                  </a:lnTo>
                  <a:lnTo>
                    <a:pt x="2592447" y="2170131"/>
                  </a:lnTo>
                  <a:lnTo>
                    <a:pt x="2594940" y="2123846"/>
                  </a:lnTo>
                  <a:lnTo>
                    <a:pt x="2594940" y="424776"/>
                  </a:lnTo>
                  <a:lnTo>
                    <a:pt x="2592447" y="378493"/>
                  </a:lnTo>
                  <a:lnTo>
                    <a:pt x="2585142" y="333653"/>
                  </a:lnTo>
                  <a:lnTo>
                    <a:pt x="2573284" y="290515"/>
                  </a:lnTo>
                  <a:lnTo>
                    <a:pt x="2557132" y="249340"/>
                  </a:lnTo>
                  <a:lnTo>
                    <a:pt x="2536944" y="210385"/>
                  </a:lnTo>
                  <a:lnTo>
                    <a:pt x="2512981" y="173910"/>
                  </a:lnTo>
                  <a:lnTo>
                    <a:pt x="2485502" y="140175"/>
                  </a:lnTo>
                  <a:lnTo>
                    <a:pt x="2454765" y="109437"/>
                  </a:lnTo>
                  <a:lnTo>
                    <a:pt x="2421029" y="81958"/>
                  </a:lnTo>
                  <a:lnTo>
                    <a:pt x="2384554" y="57995"/>
                  </a:lnTo>
                  <a:lnTo>
                    <a:pt x="2345600" y="37808"/>
                  </a:lnTo>
                  <a:lnTo>
                    <a:pt x="2304424" y="21655"/>
                  </a:lnTo>
                  <a:lnTo>
                    <a:pt x="2261286" y="9797"/>
                  </a:lnTo>
                  <a:lnTo>
                    <a:pt x="2216446" y="2492"/>
                  </a:lnTo>
                  <a:lnTo>
                    <a:pt x="217016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45" name="Google Shape;145;p24"/>
            <p:cNvSpPr/>
            <p:nvPr/>
          </p:nvSpPr>
          <p:spPr>
            <a:xfrm>
              <a:off x="4163669" y="3243541"/>
              <a:ext cx="2595245" cy="2548890"/>
            </a:xfrm>
            <a:custGeom>
              <a:rect b="b" l="l" r="r" t="t"/>
              <a:pathLst>
                <a:path extrusionOk="0" h="2548890" w="2595245">
                  <a:moveTo>
                    <a:pt x="0" y="424780"/>
                  </a:moveTo>
                  <a:lnTo>
                    <a:pt x="2492" y="378495"/>
                  </a:lnTo>
                  <a:lnTo>
                    <a:pt x="9797" y="333654"/>
                  </a:lnTo>
                  <a:lnTo>
                    <a:pt x="21655" y="290516"/>
                  </a:lnTo>
                  <a:lnTo>
                    <a:pt x="37807" y="249340"/>
                  </a:lnTo>
                  <a:lnTo>
                    <a:pt x="57994" y="210385"/>
                  </a:lnTo>
                  <a:lnTo>
                    <a:pt x="81957" y="173910"/>
                  </a:lnTo>
                  <a:lnTo>
                    <a:pt x="109437" y="140174"/>
                  </a:lnTo>
                  <a:lnTo>
                    <a:pt x="140174" y="109437"/>
                  </a:lnTo>
                  <a:lnTo>
                    <a:pt x="173910" y="81957"/>
                  </a:lnTo>
                  <a:lnTo>
                    <a:pt x="210385" y="57994"/>
                  </a:lnTo>
                  <a:lnTo>
                    <a:pt x="249340" y="37807"/>
                  </a:lnTo>
                  <a:lnTo>
                    <a:pt x="290516" y="21655"/>
                  </a:lnTo>
                  <a:lnTo>
                    <a:pt x="333654" y="9797"/>
                  </a:lnTo>
                  <a:lnTo>
                    <a:pt x="378495" y="2492"/>
                  </a:lnTo>
                  <a:lnTo>
                    <a:pt x="424780" y="0"/>
                  </a:lnTo>
                  <a:lnTo>
                    <a:pt x="2170161" y="0"/>
                  </a:lnTo>
                  <a:lnTo>
                    <a:pt x="2216445" y="2492"/>
                  </a:lnTo>
                  <a:lnTo>
                    <a:pt x="2261286" y="9797"/>
                  </a:lnTo>
                  <a:lnTo>
                    <a:pt x="2304424" y="21655"/>
                  </a:lnTo>
                  <a:lnTo>
                    <a:pt x="2345601" y="37807"/>
                  </a:lnTo>
                  <a:lnTo>
                    <a:pt x="2384556" y="57994"/>
                  </a:lnTo>
                  <a:lnTo>
                    <a:pt x="2421031" y="81957"/>
                  </a:lnTo>
                  <a:lnTo>
                    <a:pt x="2454766" y="109437"/>
                  </a:lnTo>
                  <a:lnTo>
                    <a:pt x="2485504" y="140174"/>
                  </a:lnTo>
                  <a:lnTo>
                    <a:pt x="2512983" y="173910"/>
                  </a:lnTo>
                  <a:lnTo>
                    <a:pt x="2536946" y="210385"/>
                  </a:lnTo>
                  <a:lnTo>
                    <a:pt x="2557133" y="249340"/>
                  </a:lnTo>
                  <a:lnTo>
                    <a:pt x="2573285" y="290516"/>
                  </a:lnTo>
                  <a:lnTo>
                    <a:pt x="2585144" y="333654"/>
                  </a:lnTo>
                  <a:lnTo>
                    <a:pt x="2592448" y="378495"/>
                  </a:lnTo>
                  <a:lnTo>
                    <a:pt x="2594941" y="424780"/>
                  </a:lnTo>
                  <a:lnTo>
                    <a:pt x="2594941" y="2123851"/>
                  </a:lnTo>
                  <a:lnTo>
                    <a:pt x="2592448" y="2170135"/>
                  </a:lnTo>
                  <a:lnTo>
                    <a:pt x="2585144" y="2214976"/>
                  </a:lnTo>
                  <a:lnTo>
                    <a:pt x="2573285" y="2258114"/>
                  </a:lnTo>
                  <a:lnTo>
                    <a:pt x="2557133" y="2299291"/>
                  </a:lnTo>
                  <a:lnTo>
                    <a:pt x="2536946" y="2338246"/>
                  </a:lnTo>
                  <a:lnTo>
                    <a:pt x="2512983" y="2374721"/>
                  </a:lnTo>
                  <a:lnTo>
                    <a:pt x="2485504" y="2408456"/>
                  </a:lnTo>
                  <a:lnTo>
                    <a:pt x="2454766" y="2439193"/>
                  </a:lnTo>
                  <a:lnTo>
                    <a:pt x="2421031" y="2466673"/>
                  </a:lnTo>
                  <a:lnTo>
                    <a:pt x="2384556" y="2490636"/>
                  </a:lnTo>
                  <a:lnTo>
                    <a:pt x="2345601" y="2510823"/>
                  </a:lnTo>
                  <a:lnTo>
                    <a:pt x="2304424" y="2526975"/>
                  </a:lnTo>
                  <a:lnTo>
                    <a:pt x="2261286" y="2538834"/>
                  </a:lnTo>
                  <a:lnTo>
                    <a:pt x="2216445" y="2546138"/>
                  </a:lnTo>
                  <a:lnTo>
                    <a:pt x="2170161" y="2548631"/>
                  </a:lnTo>
                  <a:lnTo>
                    <a:pt x="424780" y="2548631"/>
                  </a:lnTo>
                  <a:lnTo>
                    <a:pt x="378495" y="2546138"/>
                  </a:lnTo>
                  <a:lnTo>
                    <a:pt x="333654" y="2538834"/>
                  </a:lnTo>
                  <a:lnTo>
                    <a:pt x="290516" y="2526975"/>
                  </a:lnTo>
                  <a:lnTo>
                    <a:pt x="249340" y="2510823"/>
                  </a:lnTo>
                  <a:lnTo>
                    <a:pt x="210385" y="2490636"/>
                  </a:lnTo>
                  <a:lnTo>
                    <a:pt x="173910" y="2466673"/>
                  </a:lnTo>
                  <a:lnTo>
                    <a:pt x="140174" y="2439193"/>
                  </a:lnTo>
                  <a:lnTo>
                    <a:pt x="109437" y="2408456"/>
                  </a:lnTo>
                  <a:lnTo>
                    <a:pt x="81957" y="2374721"/>
                  </a:lnTo>
                  <a:lnTo>
                    <a:pt x="57994" y="2338246"/>
                  </a:lnTo>
                  <a:lnTo>
                    <a:pt x="37807" y="2299291"/>
                  </a:lnTo>
                  <a:lnTo>
                    <a:pt x="21655" y="2258114"/>
                  </a:lnTo>
                  <a:lnTo>
                    <a:pt x="9797" y="2214976"/>
                  </a:lnTo>
                  <a:lnTo>
                    <a:pt x="2492" y="2170135"/>
                  </a:lnTo>
                  <a:lnTo>
                    <a:pt x="0" y="2123851"/>
                  </a:lnTo>
                  <a:lnTo>
                    <a:pt x="0" y="42478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146" name="Google Shape;146;p24"/>
          <p:cNvSpPr txBox="1"/>
          <p:nvPr/>
        </p:nvSpPr>
        <p:spPr>
          <a:xfrm>
            <a:off x="3772004" y="3266312"/>
            <a:ext cx="79999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Magic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24"/>
          <p:cNvGrpSpPr/>
          <p:nvPr/>
        </p:nvGrpSpPr>
        <p:grpSpPr>
          <a:xfrm>
            <a:off x="6115049" y="3023130"/>
            <a:ext cx="1319690" cy="730568"/>
            <a:chOff x="8153399" y="4030840"/>
            <a:chExt cx="1759586" cy="974090"/>
          </a:xfrm>
        </p:grpSpPr>
        <p:pic>
          <p:nvPicPr>
            <p:cNvPr id="148" name="Google Shape;14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53399" y="4030840"/>
              <a:ext cx="1759229" cy="974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24"/>
            <p:cNvSpPr/>
            <p:nvPr/>
          </p:nvSpPr>
          <p:spPr>
            <a:xfrm>
              <a:off x="8153400" y="4030840"/>
              <a:ext cx="1759585" cy="974090"/>
            </a:xfrm>
            <a:custGeom>
              <a:rect b="b" l="l" r="r" t="t"/>
              <a:pathLst>
                <a:path extrusionOk="0" h="974089" w="1759584">
                  <a:moveTo>
                    <a:pt x="0" y="162342"/>
                  </a:moveTo>
                  <a:lnTo>
                    <a:pt x="5799" y="119185"/>
                  </a:lnTo>
                  <a:lnTo>
                    <a:pt x="22164" y="80404"/>
                  </a:lnTo>
                  <a:lnTo>
                    <a:pt x="47548" y="47548"/>
                  </a:lnTo>
                  <a:lnTo>
                    <a:pt x="80404" y="22164"/>
                  </a:lnTo>
                  <a:lnTo>
                    <a:pt x="119185" y="5799"/>
                  </a:lnTo>
                  <a:lnTo>
                    <a:pt x="162342" y="0"/>
                  </a:lnTo>
                  <a:lnTo>
                    <a:pt x="1596880" y="0"/>
                  </a:lnTo>
                  <a:lnTo>
                    <a:pt x="1640038" y="5799"/>
                  </a:lnTo>
                  <a:lnTo>
                    <a:pt x="1678820" y="22164"/>
                  </a:lnTo>
                  <a:lnTo>
                    <a:pt x="1711678" y="47548"/>
                  </a:lnTo>
                  <a:lnTo>
                    <a:pt x="1737064" y="80404"/>
                  </a:lnTo>
                  <a:lnTo>
                    <a:pt x="1753431" y="119185"/>
                  </a:lnTo>
                  <a:lnTo>
                    <a:pt x="1759231" y="162342"/>
                  </a:lnTo>
                  <a:lnTo>
                    <a:pt x="1759231" y="811693"/>
                  </a:lnTo>
                  <a:lnTo>
                    <a:pt x="1753431" y="854850"/>
                  </a:lnTo>
                  <a:lnTo>
                    <a:pt x="1737064" y="893630"/>
                  </a:lnTo>
                  <a:lnTo>
                    <a:pt x="1711678" y="926486"/>
                  </a:lnTo>
                  <a:lnTo>
                    <a:pt x="1678820" y="951871"/>
                  </a:lnTo>
                  <a:lnTo>
                    <a:pt x="1640038" y="968236"/>
                  </a:lnTo>
                  <a:lnTo>
                    <a:pt x="1596880" y="974035"/>
                  </a:lnTo>
                  <a:lnTo>
                    <a:pt x="162342" y="974035"/>
                  </a:lnTo>
                  <a:lnTo>
                    <a:pt x="119185" y="968236"/>
                  </a:lnTo>
                  <a:lnTo>
                    <a:pt x="80404" y="951871"/>
                  </a:lnTo>
                  <a:lnTo>
                    <a:pt x="47548" y="926486"/>
                  </a:lnTo>
                  <a:lnTo>
                    <a:pt x="22164" y="893630"/>
                  </a:lnTo>
                  <a:lnTo>
                    <a:pt x="5799" y="854850"/>
                  </a:lnTo>
                  <a:lnTo>
                    <a:pt x="0" y="811693"/>
                  </a:lnTo>
                  <a:lnTo>
                    <a:pt x="0" y="162342"/>
                  </a:lnTo>
                  <a:close/>
                </a:path>
              </a:pathLst>
            </a:custGeom>
            <a:noFill/>
            <a:ln cap="flat" cmpd="sng" w="9525">
              <a:solidFill>
                <a:srgbClr val="70AD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150" name="Google Shape;150;p24"/>
          <p:cNvSpPr txBox="1"/>
          <p:nvPr/>
        </p:nvSpPr>
        <p:spPr>
          <a:xfrm>
            <a:off x="6337202" y="3163442"/>
            <a:ext cx="977999" cy="4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00">
            <a:spAutoFit/>
          </a:bodyPr>
          <a:lstStyle/>
          <a:p>
            <a:pPr indent="-165100" lvl="0" marL="177800" marR="0" rtl="0" algn="l">
              <a:lnSpc>
                <a:spcPct val="11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Predictions/ Results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24"/>
          <p:cNvGrpSpPr/>
          <p:nvPr/>
        </p:nvGrpSpPr>
        <p:grpSpPr>
          <a:xfrm>
            <a:off x="3431485" y="1244669"/>
            <a:ext cx="1319689" cy="730567"/>
            <a:chOff x="4575314" y="1659559"/>
            <a:chExt cx="1759585" cy="974090"/>
          </a:xfrm>
        </p:grpSpPr>
        <p:pic>
          <p:nvPicPr>
            <p:cNvPr id="152" name="Google Shape;152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5314" y="1659559"/>
              <a:ext cx="1759229" cy="974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4"/>
            <p:cNvSpPr/>
            <p:nvPr/>
          </p:nvSpPr>
          <p:spPr>
            <a:xfrm>
              <a:off x="4575314" y="1659559"/>
              <a:ext cx="1759585" cy="974090"/>
            </a:xfrm>
            <a:custGeom>
              <a:rect b="b" l="l" r="r" t="t"/>
              <a:pathLst>
                <a:path extrusionOk="0" h="974089" w="1759585">
                  <a:moveTo>
                    <a:pt x="0" y="162342"/>
                  </a:moveTo>
                  <a:lnTo>
                    <a:pt x="5799" y="119185"/>
                  </a:lnTo>
                  <a:lnTo>
                    <a:pt x="22164" y="80404"/>
                  </a:lnTo>
                  <a:lnTo>
                    <a:pt x="47548" y="47548"/>
                  </a:lnTo>
                  <a:lnTo>
                    <a:pt x="80404" y="22164"/>
                  </a:lnTo>
                  <a:lnTo>
                    <a:pt x="119185" y="5799"/>
                  </a:lnTo>
                  <a:lnTo>
                    <a:pt x="162342" y="0"/>
                  </a:lnTo>
                  <a:lnTo>
                    <a:pt x="1596880" y="0"/>
                  </a:lnTo>
                  <a:lnTo>
                    <a:pt x="1640038" y="5799"/>
                  </a:lnTo>
                  <a:lnTo>
                    <a:pt x="1678820" y="22164"/>
                  </a:lnTo>
                  <a:lnTo>
                    <a:pt x="1711678" y="47548"/>
                  </a:lnTo>
                  <a:lnTo>
                    <a:pt x="1737064" y="80404"/>
                  </a:lnTo>
                  <a:lnTo>
                    <a:pt x="1753431" y="119185"/>
                  </a:lnTo>
                  <a:lnTo>
                    <a:pt x="1759231" y="162342"/>
                  </a:lnTo>
                  <a:lnTo>
                    <a:pt x="1759231" y="811693"/>
                  </a:lnTo>
                  <a:lnTo>
                    <a:pt x="1753431" y="854850"/>
                  </a:lnTo>
                  <a:lnTo>
                    <a:pt x="1737064" y="893630"/>
                  </a:lnTo>
                  <a:lnTo>
                    <a:pt x="1711678" y="926486"/>
                  </a:lnTo>
                  <a:lnTo>
                    <a:pt x="1678820" y="951871"/>
                  </a:lnTo>
                  <a:lnTo>
                    <a:pt x="1640038" y="968236"/>
                  </a:lnTo>
                  <a:lnTo>
                    <a:pt x="1596880" y="974035"/>
                  </a:lnTo>
                  <a:lnTo>
                    <a:pt x="162342" y="974035"/>
                  </a:lnTo>
                  <a:lnTo>
                    <a:pt x="119185" y="968236"/>
                  </a:lnTo>
                  <a:lnTo>
                    <a:pt x="80404" y="951871"/>
                  </a:lnTo>
                  <a:lnTo>
                    <a:pt x="47548" y="926486"/>
                  </a:lnTo>
                  <a:lnTo>
                    <a:pt x="22164" y="893630"/>
                  </a:lnTo>
                  <a:lnTo>
                    <a:pt x="5799" y="854850"/>
                  </a:lnTo>
                  <a:lnTo>
                    <a:pt x="0" y="811693"/>
                  </a:lnTo>
                  <a:lnTo>
                    <a:pt x="0" y="162342"/>
                  </a:lnTo>
                  <a:close/>
                </a:path>
              </a:pathLst>
            </a:custGeom>
            <a:noFill/>
            <a:ln cap="flat" cmpd="sng" w="9525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154" name="Google Shape;154;p24"/>
          <p:cNvSpPr txBox="1"/>
          <p:nvPr/>
        </p:nvSpPr>
        <p:spPr>
          <a:xfrm>
            <a:off x="3737580" y="1487805"/>
            <a:ext cx="834419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Instances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076659" y="1975170"/>
            <a:ext cx="4038600" cy="1442085"/>
          </a:xfrm>
          <a:custGeom>
            <a:rect b="b" l="l" r="r" t="t"/>
            <a:pathLst>
              <a:path extrusionOk="0" h="1922779" w="5384800">
                <a:moveTo>
                  <a:pt x="1394790" y="1884299"/>
                </a:moveTo>
                <a:lnTo>
                  <a:pt x="1388440" y="1881124"/>
                </a:lnTo>
                <a:lnTo>
                  <a:pt x="1318590" y="1846199"/>
                </a:lnTo>
                <a:lnTo>
                  <a:pt x="1318590" y="1881124"/>
                </a:lnTo>
                <a:lnTo>
                  <a:pt x="0" y="1881124"/>
                </a:lnTo>
                <a:lnTo>
                  <a:pt x="0" y="1887474"/>
                </a:lnTo>
                <a:lnTo>
                  <a:pt x="1318590" y="1887474"/>
                </a:lnTo>
                <a:lnTo>
                  <a:pt x="1318590" y="1922399"/>
                </a:lnTo>
                <a:lnTo>
                  <a:pt x="1388440" y="1887474"/>
                </a:lnTo>
                <a:lnTo>
                  <a:pt x="1394790" y="1884299"/>
                </a:lnTo>
                <a:close/>
              </a:path>
              <a:path extrusionOk="0" h="1922779" w="5384800">
                <a:moveTo>
                  <a:pt x="2729585" y="533400"/>
                </a:moveTo>
                <a:lnTo>
                  <a:pt x="2694648" y="533755"/>
                </a:lnTo>
                <a:lnTo>
                  <a:pt x="2689225" y="0"/>
                </a:lnTo>
                <a:lnTo>
                  <a:pt x="2682875" y="76"/>
                </a:lnTo>
                <a:lnTo>
                  <a:pt x="2688298" y="533831"/>
                </a:lnTo>
                <a:lnTo>
                  <a:pt x="2653385" y="534174"/>
                </a:lnTo>
                <a:lnTo>
                  <a:pt x="2692260" y="609981"/>
                </a:lnTo>
                <a:lnTo>
                  <a:pt x="2723184" y="546519"/>
                </a:lnTo>
                <a:lnTo>
                  <a:pt x="2729585" y="533400"/>
                </a:lnTo>
                <a:close/>
              </a:path>
              <a:path extrusionOk="0" h="1922779" w="5384800">
                <a:moveTo>
                  <a:pt x="5384520" y="1884299"/>
                </a:moveTo>
                <a:lnTo>
                  <a:pt x="5378170" y="1881124"/>
                </a:lnTo>
                <a:lnTo>
                  <a:pt x="5308320" y="1846199"/>
                </a:lnTo>
                <a:lnTo>
                  <a:pt x="5308320" y="1881124"/>
                </a:lnTo>
                <a:lnTo>
                  <a:pt x="3989730" y="1881124"/>
                </a:lnTo>
                <a:lnTo>
                  <a:pt x="3989730" y="1887474"/>
                </a:lnTo>
                <a:lnTo>
                  <a:pt x="5308320" y="1887474"/>
                </a:lnTo>
                <a:lnTo>
                  <a:pt x="5308320" y="1922399"/>
                </a:lnTo>
                <a:lnTo>
                  <a:pt x="5378170" y="1887474"/>
                </a:lnTo>
                <a:lnTo>
                  <a:pt x="5384520" y="18842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56" name="Google Shape;156;p24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687704" y="1195196"/>
            <a:ext cx="7673400" cy="20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Most AI/ML courses consider “user interfaces” or humans as an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afterthought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near the end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several times they do not even think about "humans" </a:t>
            </a:r>
            <a:r>
              <a:rPr lang="en-GB" sz="1800">
                <a:latin typeface="Noto Sans Symbols"/>
                <a:ea typeface="Noto Sans Symbols"/>
                <a:cs typeface="Noto Sans Symbols"/>
                <a:sym typeface="Noto Sans Symbols"/>
              </a:rPr>
              <a:t>☹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they focus on algorithms/models, basically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68580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Why do not consider people from the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beginning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along the design, algorithmic choices, … in an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iterative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way?!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</a:t>
            </a:r>
            <a:endParaRPr/>
          </a:p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Ultimately, AI Systems Are…</a:t>
            </a:r>
            <a:endParaRPr/>
          </a:p>
        </p:txBody>
      </p:sp>
      <p:sp>
        <p:nvSpPr>
          <p:cNvPr id="171" name="Google Shape;171;p26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687699" y="1263775"/>
            <a:ext cx="7389600" cy="2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Designed by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humans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To solve a problem framed by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humans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With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humans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taking specific choices (e.g., which algorithm to use)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Evaluated and tested by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humans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With an outcome for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humans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(often)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Presented to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humans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with a user interface (sometimes)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687700" y="1215775"/>
            <a:ext cx="6182700" cy="3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Algorithms are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not always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 “answer”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165100" rtl="0" algn="l">
              <a:lnSpc>
                <a:spcPct val="109166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for instance: if you go to Netflix for the first time, what 	should it recommend you watch?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63500" rtl="0" algn="l">
              <a:lnSpc>
                <a:spcPct val="107916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this is the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cold start problem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it is not really and fully 	solved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9550" lvl="2" marL="6858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algorithmically speaking, at least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5880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suitable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user interface is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critical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to overcome some limitations!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0" rtl="0" algn="l">
              <a:lnSpc>
                <a:spcPct val="109166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Keeping people involved and considering them since the 	beginning is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fundamental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 As The (Main) Answer?</a:t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9734" y="815211"/>
            <a:ext cx="1753800" cy="3513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687704" y="1195196"/>
            <a:ext cx="7448074" cy="1923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to ensure that people use AI-powered interfaces and systems with joy and trust rather than frustration and disappointment?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can we design and evaluate human-centered AI systems?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1651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can we avoid (or minimize) problems, failures, ethical issues, … in AI systems?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" name="Google Shape;188;p28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</a:t>
            </a:r>
            <a:endParaRPr/>
          </a:p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687700" y="1195200"/>
            <a:ext cx="79647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1905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“The two hardest problems in computer science are: (i) people, (ii), convincing computer scientists that the hardest problem in computer science is people, and, (iii) off by one errors.”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50165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Prof. Jeffrey P. Bigham, 2018 </a:t>
            </a:r>
            <a:r>
              <a:rPr lang="en-GB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http://www.cs.cmu.edu/~jbigham/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197" name="Google Shape;197;p29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People &amp; Computers</a:t>
            </a:r>
            <a:endParaRPr/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687704" y="1195196"/>
            <a:ext cx="5361623" cy="241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AI-based systems are typically performed under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uncertainty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often producing false positives and false negatives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they can be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incorrect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marR="8890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They may demonstrate unpredictable behaviors that can be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disruptive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confusing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offensive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even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dangerous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for users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30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Different in Interactive AI Systems?</a:t>
            </a: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7988" y="1514475"/>
            <a:ext cx="20955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/>
        </p:nvSpPr>
        <p:spPr>
          <a:xfrm>
            <a:off x="687704" y="1195196"/>
            <a:ext cx="7123271" cy="217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Human-centered AI focuses on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amplifying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augmenting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enhancing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human performance in ways that make AI systems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safe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trustworthy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marR="6350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Shift from measuring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algorithm performance to evaluating human performance and satisfaction, with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human-centered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participatory approaches (for evaluation, too)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3973698" y="4943800"/>
            <a:ext cx="156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rPr>
              <a:t>Human-AI Interaction</a:t>
            </a:r>
            <a:endParaRPr sz="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735472" y="3761232"/>
            <a:ext cx="7672387" cy="453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114300" lvl="0" marL="127000" marR="0" rtl="0" algn="l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rebuchet MS"/>
                <a:ea typeface="Trebuchet MS"/>
                <a:cs typeface="Trebuchet MS"/>
                <a:sym typeface="Trebuchet MS"/>
              </a:rPr>
              <a:t>Ben Shneiderman, </a:t>
            </a:r>
            <a:r>
              <a:rPr i="1" lang="en-GB" sz="1100">
                <a:latin typeface="Arial"/>
                <a:ea typeface="Arial"/>
                <a:cs typeface="Arial"/>
                <a:sym typeface="Arial"/>
              </a:rPr>
              <a:t>Bridging the Gap Between Ethics and Practice: Guidelines for Reliable, Safe, and Trustworthy Human-centered AI Systems</a:t>
            </a:r>
            <a:r>
              <a:rPr lang="en-GB" sz="1100">
                <a:latin typeface="Trebuchet MS"/>
                <a:ea typeface="Trebuchet MS"/>
                <a:cs typeface="Trebuchet MS"/>
                <a:sym typeface="Trebuchet MS"/>
              </a:rPr>
              <a:t>. ACM Transactions on Interactive Intelligent Systems, Vol. 10, No. 4, Article 26, 2020, </a:t>
            </a:r>
            <a:r>
              <a:rPr lang="en-GB" sz="11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https://doi.org/10.1145/3419764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Human-Centered AI</a:t>
            </a:r>
            <a:endParaRPr/>
          </a:p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Paradigmatic Change</a:t>
            </a:r>
            <a:endParaRPr/>
          </a:p>
        </p:txBody>
      </p:sp>
      <p:pic>
        <p:nvPicPr>
          <p:cNvPr id="222" name="Google Shape;2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666" y="1350275"/>
            <a:ext cx="6692396" cy="2870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2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24" name="Google Shape;224;p32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/>
        </p:nvSpPr>
        <p:spPr>
          <a:xfrm>
            <a:off x="687700" y="1215775"/>
            <a:ext cx="7932300" cy="3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AutoNum type="arabicPeriod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Should we design and develop </a:t>
            </a:r>
            <a:r>
              <a:rPr lang="en-GB" sz="1800" u="sng">
                <a:latin typeface="Trebuchet MS"/>
                <a:ea typeface="Trebuchet MS"/>
                <a:cs typeface="Trebuchet MS"/>
                <a:sym typeface="Trebuchet MS"/>
              </a:rPr>
              <a:t>technology</a:t>
            </a:r>
            <a:r>
              <a:rPr lang="en-GB" sz="1800" u="none">
                <a:latin typeface="Trebuchet MS"/>
                <a:ea typeface="Trebuchet MS"/>
                <a:cs typeface="Trebuchet MS"/>
                <a:sym typeface="Trebuchet MS"/>
              </a:rPr>
              <a:t> that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automatizes people's actions, replaces humans (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Artificial Intelligence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or augments them (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Intelligent Augmentation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)?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7813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Is there a clear winner?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AutoNum type="arabicPeriod" startAt="2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Which kind of human-AI collaboration can we envision?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full human control… no human involvement?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full AI autonomy… no AI?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 which cases?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" name="Google Shape;230;p33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31" name="Google Shape;231;p33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AI and People Really Work Together?</a:t>
            </a:r>
            <a:endParaRPr/>
          </a:p>
        </p:txBody>
      </p:sp>
      <p:sp>
        <p:nvSpPr>
          <p:cNvPr id="232" name="Google Shape;232;p3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687700" y="443875"/>
            <a:ext cx="81021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Artificial Intelligence vs. Intelligent Augmentation?</a:t>
            </a:r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116045"/>
            <a:ext cx="3886200" cy="162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1836572"/>
            <a:ext cx="3886200" cy="218830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687699" y="1215775"/>
            <a:ext cx="4206300" cy="2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About speech recognition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why do you need to point?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why do you need to talk?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what might go wrong?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About people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would this augment them?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might it fail?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35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48" name="Google Shape;248;p35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Put-That-There: Assumptions</a:t>
            </a:r>
            <a:endParaRPr/>
          </a:p>
        </p:txBody>
      </p:sp>
      <p:sp>
        <p:nvSpPr>
          <p:cNvPr id="249" name="Google Shape;249;p3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/>
        </p:nvSpPr>
        <p:spPr>
          <a:xfrm>
            <a:off x="687700" y="1263775"/>
            <a:ext cx="45222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do we measure “intelligence” in AI?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We can more accurately measure the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joint performance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of a task for a human together with AI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25400" rtl="0" algn="l">
              <a:lnSpc>
                <a:spcPct val="892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How human and machine together can 	achieve something that a human or the 	machine alone cannot (or would do 	worse)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Collaboration is the key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Measuring Intelligence…</a:t>
            </a:r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8417" y="1660702"/>
            <a:ext cx="3346932" cy="227312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58" name="Google Shape;258;p36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/>
        </p:nvSpPr>
        <p:spPr>
          <a:xfrm>
            <a:off x="687700" y="1113675"/>
            <a:ext cx="8345400" cy="3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50">
            <a:spAutoFit/>
          </a:bodyPr>
          <a:lstStyle/>
          <a:p>
            <a:pPr indent="-20955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It is essential that people </a:t>
            </a: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feel 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in control of their lives and surroundings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When we “put intelligence” in things, people should: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1" marL="482600" rtl="0" algn="l">
              <a:lnSpc>
                <a:spcPct val="119545"/>
              </a:lnSpc>
              <a:spcBef>
                <a:spcPts val="2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be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comfortable 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with the actions made by the intelligent system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1" marL="482600" rtl="0" algn="l">
              <a:lnSpc>
                <a:spcPct val="118409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understand 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why some actions are happening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1" marL="4826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trust 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the intelligent system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Automation 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is typically met with </a:t>
            </a: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resistance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however, it can reduce the workload and allow to complete dangerous tasks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We should avoid (and consider) over-exaggerated expectations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1" marL="482600" rtl="0" algn="l">
              <a:lnSpc>
                <a:spcPct val="119545"/>
              </a:lnSpc>
              <a:spcBef>
                <a:spcPts val="2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claimed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: “we have reach human-parity in speech recognition!”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1" marL="482600" marR="152400" rtl="0" algn="l">
              <a:lnSpc>
                <a:spcPct val="79100"/>
              </a:lnSpc>
              <a:spcBef>
                <a:spcPts val="4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pre-assumed</a:t>
            </a:r>
            <a:r>
              <a:rPr lang="en-GB" sz="1700">
                <a:latin typeface="Trebuchet MS"/>
                <a:ea typeface="Trebuchet MS"/>
                <a:cs typeface="Trebuchet MS"/>
                <a:sym typeface="Trebuchet MS"/>
              </a:rPr>
              <a:t>: "I can speak with it, it understands my words, THUS it has full language understanding”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4" name="Google Shape;264;p37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Humans or AI: Who Should Have The Conn?</a:t>
            </a:r>
            <a:endParaRPr/>
          </a:p>
        </p:txBody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687700" y="1263775"/>
            <a:ext cx="64581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Who should be in control? When? What can go wrong? Why?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38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Full Self-Driving Cars</a:t>
            </a:r>
            <a:endParaRPr/>
          </a:p>
        </p:txBody>
      </p:sp>
      <p:pic>
        <p:nvPicPr>
          <p:cNvPr id="273" name="Google Shape;2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787128"/>
            <a:ext cx="4572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2608059" y="4430267"/>
            <a:ext cx="392811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rebuchet MS"/>
                <a:ea typeface="Trebuchet MS"/>
                <a:cs typeface="Trebuchet MS"/>
                <a:sym typeface="Trebuchet MS"/>
              </a:rPr>
              <a:t>source: </a:t>
            </a:r>
            <a:r>
              <a:rPr lang="en-GB" sz="13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https://www.youtube.com/watch?v=tlThdr3O5Qo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38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76" name="Google Shape;276;p38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/>
        </p:nvSpPr>
        <p:spPr>
          <a:xfrm>
            <a:off x="687704" y="1263776"/>
            <a:ext cx="7238524" cy="2293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Remember: collaboration, human-centered AI, …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“Human-centered AI focuses on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amplifying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augmenting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enhancing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human performance in ways that make AI systems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safe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trustworthy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Examples from the real world?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39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83" name="Google Shape;283;p39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Not Automating WHILE Augmenting?</a:t>
            </a:r>
            <a:endParaRPr/>
          </a:p>
        </p:txBody>
      </p:sp>
      <p:sp>
        <p:nvSpPr>
          <p:cNvPr id="284" name="Google Shape;284;p39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/>
        </p:nvSpPr>
        <p:spPr>
          <a:xfrm>
            <a:off x="687700" y="1263775"/>
            <a:ext cx="766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Until now, we have seen human control in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contraposition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to automation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This is also very typical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e.g., think about the levels of driving automation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40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Human-Centered AI Framework</a:t>
            </a:r>
            <a:endParaRPr/>
          </a:p>
        </p:txBody>
      </p:sp>
      <p:pic>
        <p:nvPicPr>
          <p:cNvPr id="291" name="Google Shape;2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188" y="2746981"/>
            <a:ext cx="3848100" cy="91916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0"/>
          <p:cNvSpPr txBox="1"/>
          <p:nvPr/>
        </p:nvSpPr>
        <p:spPr>
          <a:xfrm>
            <a:off x="879229" y="4181475"/>
            <a:ext cx="7386638" cy="38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spAutoFit/>
          </a:bodyPr>
          <a:lstStyle/>
          <a:p>
            <a:pPr indent="-1244600" lvl="0" marL="12573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Ben Shneiderman, </a:t>
            </a:r>
            <a:r>
              <a:rPr i="1" lang="en-GB" sz="1200">
                <a:latin typeface="Arial"/>
                <a:ea typeface="Arial"/>
                <a:cs typeface="Arial"/>
                <a:sym typeface="Arial"/>
              </a:rPr>
              <a:t>Human-Centered Artificial Intelligence: Reliable, Safe &amp; Trustworthy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2020. International Journal of Human-Computer Interaction. </a:t>
            </a:r>
            <a:r>
              <a:rPr lang="en-GB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https://doi.org/10.1080/10447318.2020.1741118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0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294" name="Google Shape;294;p4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/>
        </p:nvSpPr>
        <p:spPr>
          <a:xfrm>
            <a:off x="687699" y="1263775"/>
            <a:ext cx="5113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What if do we move to a 2D framework?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0" name="Google Shape;300;p4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Human-Centered AI Framework</a:t>
            </a:r>
            <a:endParaRPr/>
          </a:p>
        </p:txBody>
      </p:sp>
      <p:pic>
        <p:nvPicPr>
          <p:cNvPr id="301" name="Google Shape;3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827" y="1547260"/>
            <a:ext cx="4317425" cy="259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1"/>
          <p:cNvSpPr txBox="1"/>
          <p:nvPr/>
        </p:nvSpPr>
        <p:spPr>
          <a:xfrm>
            <a:off x="879229" y="4181475"/>
            <a:ext cx="7386638" cy="38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spAutoFit/>
          </a:bodyPr>
          <a:lstStyle/>
          <a:p>
            <a:pPr indent="-1244600" lvl="0" marL="12573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Ben Shneiderman, </a:t>
            </a:r>
            <a:r>
              <a:rPr i="1" lang="en-GB" sz="1200">
                <a:latin typeface="Arial"/>
                <a:ea typeface="Arial"/>
                <a:cs typeface="Arial"/>
                <a:sym typeface="Arial"/>
              </a:rPr>
              <a:t>Human-Centered Artificial Intelligence: Reliable, Safe &amp; Trustworthy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2020. International Journal of Human-Computer Interaction. </a:t>
            </a:r>
            <a:r>
              <a:rPr lang="en-GB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https://doi.org/10.1080/10447318.2020.1741118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1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/>
        </p:nvSpPr>
        <p:spPr>
          <a:xfrm>
            <a:off x="687700" y="1263775"/>
            <a:ext cx="7827000" cy="29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Automation: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carrying out requirements anticipated at design time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759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vs.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Autonomy: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supporting unanticipated goals and emergent behaviors based on new sensed data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330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Emulation belief: AI systems can be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autonomous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independent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capable of setting goals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self-directed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self-monitoring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teammates, partners, collaborators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embodied intelligence through humanoid robots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0" name="Google Shape;310;p42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Goal: Emulation</a:t>
            </a:r>
            <a:endParaRPr/>
          </a:p>
        </p:txBody>
      </p:sp>
      <p:pic>
        <p:nvPicPr>
          <p:cNvPr id="311" name="Google Shape;3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7096" y="296609"/>
            <a:ext cx="2628307" cy="6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 txBox="1"/>
          <p:nvPr/>
        </p:nvSpPr>
        <p:spPr>
          <a:xfrm>
            <a:off x="950071" y="4282880"/>
            <a:ext cx="72437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Ben Shneiderman, </a:t>
            </a:r>
            <a:r>
              <a:rPr i="1" lang="en-GB" sz="1200">
                <a:latin typeface="Arial"/>
                <a:ea typeface="Arial"/>
                <a:cs typeface="Arial"/>
                <a:sym typeface="Arial"/>
              </a:rPr>
              <a:t>Design Lessons From AI’s Two Grand Goals: Human Emulation and Useful Applications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2020. IEEE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Transactions on Technology and Society. </a:t>
            </a:r>
            <a:r>
              <a:rPr lang="en-GB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https://doi.org/10.1109/TTS.2020.2992669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2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14" name="Google Shape;314;p42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/>
        </p:nvSpPr>
        <p:spPr>
          <a:xfrm>
            <a:off x="687700" y="1195200"/>
            <a:ext cx="4344000" cy="25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127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Development of widely used products and services by applying AI methods, fulfilling some design goals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3810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High-levels of human control and high levels of computer automation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HCI methods applied to identify needs and design goals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0" name="Google Shape;320;p43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Goal: Application</a:t>
            </a:r>
            <a:endParaRPr/>
          </a:p>
        </p:txBody>
      </p:sp>
      <p:pic>
        <p:nvPicPr>
          <p:cNvPr id="321" name="Google Shape;3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5861" y="1317207"/>
            <a:ext cx="4064724" cy="240871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3"/>
          <p:cNvSpPr txBox="1"/>
          <p:nvPr/>
        </p:nvSpPr>
        <p:spPr>
          <a:xfrm>
            <a:off x="950071" y="4282880"/>
            <a:ext cx="72437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Ben Shneiderman, </a:t>
            </a:r>
            <a:r>
              <a:rPr i="1" lang="en-GB" sz="1200">
                <a:latin typeface="Arial"/>
                <a:ea typeface="Arial"/>
                <a:cs typeface="Arial"/>
                <a:sym typeface="Arial"/>
              </a:rPr>
              <a:t>Design Lessons From AI’s Two Grand Goals: Human Emulation and Useful Applications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2020. IEEE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Transactions on Technology and Society. </a:t>
            </a:r>
            <a:r>
              <a:rPr lang="en-GB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https://doi.org/10.1109/TTS.2020.2992669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3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24" name="Google Shape;324;p4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/>
        </p:nvSpPr>
        <p:spPr>
          <a:xfrm>
            <a:off x="687704" y="1195196"/>
            <a:ext cx="7688580" cy="31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4318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“An Artificial Intelligence that enables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interactive exploration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manipulation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 real time and is designed with a clear purpose for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human benefit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while being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transparent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about who has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control over data and algorithms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.”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Trebuchet MS"/>
                <a:ea typeface="Trebuchet MS"/>
                <a:cs typeface="Trebuchet MS"/>
                <a:sym typeface="Trebuchet MS"/>
              </a:rPr>
              <a:t>[A. Schmidt. </a:t>
            </a:r>
            <a:r>
              <a:rPr i="1" lang="en-GB" sz="1300">
                <a:latin typeface="Arial"/>
                <a:ea typeface="Arial"/>
                <a:cs typeface="Arial"/>
                <a:sym typeface="Arial"/>
              </a:rPr>
              <a:t>Interactive Human Centered Artificial Intelligence: A Definition and Research Challenges. </a:t>
            </a:r>
            <a:r>
              <a:rPr lang="en-GB" sz="1300">
                <a:latin typeface="Trebuchet MS"/>
                <a:ea typeface="Trebuchet MS"/>
                <a:cs typeface="Trebuchet MS"/>
                <a:sym typeface="Trebuchet MS"/>
              </a:rPr>
              <a:t>AVI 2020]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Interaction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as a key for the collaboration between human and AI: the channel for the AI algorithm to support the users and for the users to control the algorithm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Observable Intelligence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4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31" name="Google Shape;331;p44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Interactive Human-Centered AI</a:t>
            </a:r>
            <a:endParaRPr/>
          </a:p>
        </p:txBody>
      </p:sp>
      <p:sp>
        <p:nvSpPr>
          <p:cNvPr id="332" name="Google Shape;332;p4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/>
        </p:nvSpPr>
        <p:spPr>
          <a:xfrm>
            <a:off x="687700" y="1202050"/>
            <a:ext cx="8353500" cy="3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47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AutoNum type="arabicPeriod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Individuals can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interact in real time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with the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algorithms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data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can manipulate and control all relevant parameters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14199"/>
              </a:lnSpc>
              <a:spcBef>
                <a:spcPts val="800"/>
              </a:spcBef>
              <a:spcAft>
                <a:spcPts val="0"/>
              </a:spcAft>
              <a:buSzPts val="1800"/>
              <a:buFont typeface="Trebuchet MS"/>
              <a:buAutoNum type="arabicPeriod" startAt="2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 impact of changes 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manipulations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made by the user can be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observed in real time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127000" rtl="0" algn="l">
              <a:lnSpc>
                <a:spcPct val="116300"/>
              </a:lnSpc>
              <a:spcBef>
                <a:spcPts val="700"/>
              </a:spcBef>
              <a:spcAft>
                <a:spcPts val="0"/>
              </a:spcAft>
              <a:buSzPts val="1800"/>
              <a:buFont typeface="Trebuchet MS"/>
              <a:buAutoNum type="arabicPeriod" startAt="2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Individuals can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interactively explore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why and how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specific decisions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are made and find out how changes in the parameters, data and models impact outcomes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Trebuchet MS"/>
              <a:buAutoNum type="arabicPeriod" startAt="2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 fast processes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the speed can be reduced to allow interaction,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interventions and manipulations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8" name="Google Shape;338;p45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39" name="Google Shape;339;p45"/>
          <p:cNvSpPr txBox="1"/>
          <p:nvPr>
            <p:ph type="title"/>
          </p:nvPr>
        </p:nvSpPr>
        <p:spPr>
          <a:xfrm>
            <a:off x="687700" y="528450"/>
            <a:ext cx="7332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Interactive Human-Centered AI</a:t>
            </a:r>
            <a:endParaRPr/>
          </a:p>
        </p:txBody>
      </p:sp>
      <p:sp>
        <p:nvSpPr>
          <p:cNvPr id="340" name="Google Shape;340;p4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/>
          <p:nvPr>
            <p:ph idx="1" type="body"/>
          </p:nvPr>
        </p:nvSpPr>
        <p:spPr>
          <a:xfrm>
            <a:off x="687704" y="1215770"/>
            <a:ext cx="7743825" cy="328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5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 startAt="5"/>
            </a:pPr>
            <a:r>
              <a:rPr lang="en-GB"/>
              <a:t>It states clearly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how humans can benefit </a:t>
            </a:r>
            <a:r>
              <a:rPr lang="en-GB"/>
              <a:t>form the AI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 startAt="5"/>
            </a:pPr>
            <a:r>
              <a:rPr lang="en-GB"/>
              <a:t>It explains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what risks the AI poses </a:t>
            </a:r>
            <a:r>
              <a:rPr lang="en-GB"/>
              <a:t>for individuals as well as on societal level</a:t>
            </a:r>
            <a:endParaRPr/>
          </a:p>
          <a:p>
            <a:pPr indent="-342900" lvl="0" marL="3556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 startAt="5"/>
            </a:pPr>
            <a:r>
              <a:rPr lang="en-GB"/>
              <a:t>It is visible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who has control </a:t>
            </a:r>
            <a:r>
              <a:rPr lang="en-GB"/>
              <a:t>on the AI, who has the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power over data, models, algorithms</a:t>
            </a:r>
            <a:endParaRPr/>
          </a:p>
          <a:p>
            <a:pPr indent="-342900" lvl="0" marL="355600" marR="330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 startAt="5"/>
            </a:pPr>
            <a:r>
              <a:rPr lang="en-GB"/>
              <a:t>It is visible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what data, knowledge base, and information </a:t>
            </a:r>
            <a:r>
              <a:rPr lang="en-GB"/>
              <a:t>is used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to create and inform </a:t>
            </a:r>
            <a:r>
              <a:rPr lang="en-GB"/>
              <a:t>the AI</a:t>
            </a:r>
            <a:endParaRPr/>
          </a:p>
        </p:txBody>
      </p:sp>
      <p:sp>
        <p:nvSpPr>
          <p:cNvPr id="346" name="Google Shape;346;p46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47" name="Google Shape;347;p46"/>
          <p:cNvSpPr txBox="1"/>
          <p:nvPr>
            <p:ph type="title"/>
          </p:nvPr>
        </p:nvSpPr>
        <p:spPr>
          <a:xfrm>
            <a:off x="687700" y="528450"/>
            <a:ext cx="7276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Interactive Human-Centered AI</a:t>
            </a:r>
            <a:endParaRPr/>
          </a:p>
        </p:txBody>
      </p:sp>
      <p:sp>
        <p:nvSpPr>
          <p:cNvPr id="348" name="Google Shape;348;p46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/>
          <p:nvPr/>
        </p:nvSpPr>
        <p:spPr>
          <a:xfrm>
            <a:off x="687704" y="1215770"/>
            <a:ext cx="4243864" cy="1713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lang="en-GB" sz="1800" u="sng">
                <a:latin typeface="Trebuchet MS"/>
                <a:ea typeface="Trebuchet MS"/>
                <a:cs typeface="Trebuchet MS"/>
                <a:sym typeface="Trebuchet MS"/>
              </a:rPr>
              <a:t>only</a:t>
            </a:r>
            <a:r>
              <a:rPr lang="en-GB" sz="1800" u="none">
                <a:latin typeface="Trebuchet MS"/>
                <a:ea typeface="Trebuchet MS"/>
                <a:cs typeface="Trebuchet MS"/>
                <a:sym typeface="Trebuchet MS"/>
              </a:rPr>
              <a:t> opening code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not understandable for many people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little insights even for AI specialists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Design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goals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functionality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that the AI system is supposed to support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4" name="Google Shape;354;p47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Systems</a:t>
            </a:r>
            <a:endParaRPr/>
          </a:p>
        </p:txBody>
      </p:sp>
      <p:pic>
        <p:nvPicPr>
          <p:cNvPr id="355" name="Google Shape;3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795" y="582372"/>
            <a:ext cx="3075423" cy="223129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7"/>
          <p:cNvSpPr txBox="1"/>
          <p:nvPr/>
        </p:nvSpPr>
        <p:spPr>
          <a:xfrm>
            <a:off x="5447290" y="2966084"/>
            <a:ext cx="3406616" cy="666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12700" marR="0" rtl="0" algn="l">
              <a:lnSpc>
                <a:spcPct val="10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rebuchet MS"/>
                <a:ea typeface="Trebuchet MS"/>
                <a:cs typeface="Trebuchet MS"/>
                <a:sym typeface="Trebuchet MS"/>
              </a:rPr>
              <a:t>John J. Dudley and Per Ola Kristensson. 2018. A Review of User Interface Design for Interactive Machine Learning. </a:t>
            </a:r>
            <a:r>
              <a:rPr i="1" lang="en-GB" sz="1100">
                <a:latin typeface="Arial"/>
                <a:ea typeface="Arial"/>
                <a:cs typeface="Arial"/>
                <a:sym typeface="Arial"/>
              </a:rPr>
              <a:t>ACM Trans. Interact. Intell. Syst. </a:t>
            </a:r>
            <a:r>
              <a:rPr lang="en-GB" sz="1100">
                <a:latin typeface="Trebuchet MS"/>
                <a:ea typeface="Trebuchet MS"/>
                <a:cs typeface="Trebuchet MS"/>
                <a:sym typeface="Trebuchet MS"/>
              </a:rPr>
              <a:t>8, 2, Article 8 (June 2018), </a:t>
            </a:r>
            <a:r>
              <a:rPr lang="en-GB" sz="11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https://doi.org/10.1145/3185517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7" name="Google Shape;357;p47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58" name="Google Shape;358;p47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/>
        </p:nvSpPr>
        <p:spPr>
          <a:xfrm>
            <a:off x="687700" y="1215775"/>
            <a:ext cx="6960300" cy="3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Output review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visualizing (a selection of) output samples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Feedback assignment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corrections and/or creation of new samples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Model inspection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Evaluation of the model quality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Task overview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Contextualizing tasks to help the assessment by naive users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Anything else?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48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65" name="Google Shape;365;p48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Distinct Interface Elements</a:t>
            </a:r>
            <a:endParaRPr/>
          </a:p>
        </p:txBody>
      </p:sp>
      <p:sp>
        <p:nvSpPr>
          <p:cNvPr id="366" name="Google Shape;366;p48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/>
        </p:nvSpPr>
        <p:spPr>
          <a:xfrm>
            <a:off x="687699" y="1263775"/>
            <a:ext cx="480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What if do we move to a 2D framework?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" name="Google Shape;372;p49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Human-Centered AI Framework</a:t>
            </a:r>
            <a:endParaRPr/>
          </a:p>
        </p:txBody>
      </p:sp>
      <p:pic>
        <p:nvPicPr>
          <p:cNvPr id="373" name="Google Shape;37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827" y="1547260"/>
            <a:ext cx="4317425" cy="259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9"/>
          <p:cNvSpPr txBox="1"/>
          <p:nvPr/>
        </p:nvSpPr>
        <p:spPr>
          <a:xfrm>
            <a:off x="879229" y="4181475"/>
            <a:ext cx="7386638" cy="38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50">
            <a:spAutoFit/>
          </a:bodyPr>
          <a:lstStyle/>
          <a:p>
            <a:pPr indent="-1244600" lvl="0" marL="12573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Ben Shneiderman, </a:t>
            </a:r>
            <a:r>
              <a:rPr i="1" lang="en-GB" sz="1200">
                <a:latin typeface="Arial"/>
                <a:ea typeface="Arial"/>
                <a:cs typeface="Arial"/>
                <a:sym typeface="Arial"/>
              </a:rPr>
              <a:t>Human-Centered Artificial Intelligence: Reliable, Safe &amp; Trustworthy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2020. International Journal of Human-Computer Interaction. </a:t>
            </a:r>
            <a:r>
              <a:rPr lang="en-GB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https://doi.org/10.1080/10447318.2020.1741118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8543" y="2303064"/>
            <a:ext cx="763130" cy="63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6190" y="369488"/>
            <a:ext cx="1122572" cy="631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7493" y="1290428"/>
            <a:ext cx="702079" cy="690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93567" y="3149077"/>
            <a:ext cx="726106" cy="89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9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80" name="Google Shape;380;p49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/>
        </p:nvSpPr>
        <p:spPr>
          <a:xfrm>
            <a:off x="687704" y="1263776"/>
            <a:ext cx="2161223" cy="1415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No input needed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User can override decisions already taken by the system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6" name="Google Shape;386;p50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Gmail spam filter</a:t>
            </a:r>
            <a:endParaRPr/>
          </a:p>
        </p:txBody>
      </p:sp>
      <p:pic>
        <p:nvPicPr>
          <p:cNvPr id="387" name="Google Shape;38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4637" y="1020938"/>
            <a:ext cx="5192029" cy="292051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0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89" name="Google Shape;389;p5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/>
          <p:nvPr/>
        </p:nvSpPr>
        <p:spPr>
          <a:xfrm>
            <a:off x="687704" y="1263776"/>
            <a:ext cx="2206943" cy="2540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Initial set up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Automatic learning (very sensitive in the first two weeks, much less after)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889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Continuous adjustments in time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5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Nest thermostat</a:t>
            </a:r>
            <a:endParaRPr/>
          </a:p>
        </p:txBody>
      </p:sp>
      <p:sp>
        <p:nvSpPr>
          <p:cNvPr id="396" name="Google Shape;396;p51"/>
          <p:cNvSpPr txBox="1"/>
          <p:nvPr/>
        </p:nvSpPr>
        <p:spPr>
          <a:xfrm>
            <a:off x="4242454" y="4173855"/>
            <a:ext cx="3605213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https://www.youtube.com/watch?v=20367DapHlc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0000" y="1128598"/>
            <a:ext cx="5211003" cy="29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1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399" name="Google Shape;399;p5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2"/>
          <p:cNvSpPr txBox="1"/>
          <p:nvPr/>
        </p:nvSpPr>
        <p:spPr>
          <a:xfrm>
            <a:off x="687704" y="1195196"/>
            <a:ext cx="2206943" cy="217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Automatic learning (very sensitive in the first two weeks, much less after)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8890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Continuous adjustments in time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5" name="Google Shape;405;p52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Nest thermostat</a:t>
            </a:r>
            <a:endParaRPr/>
          </a:p>
        </p:txBody>
      </p:sp>
      <p:pic>
        <p:nvPicPr>
          <p:cNvPr id="406" name="Google Shape;40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5399" y="1392355"/>
            <a:ext cx="4939292" cy="234647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2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08" name="Google Shape;408;p52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3"/>
          <p:cNvSpPr txBox="1"/>
          <p:nvPr/>
        </p:nvSpPr>
        <p:spPr>
          <a:xfrm>
            <a:off x="687704" y="1195196"/>
            <a:ext cx="2180273" cy="1484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1143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Vocal commands in natural language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Vocal responses and actions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4" name="Google Shape;414;p53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Alexa</a:t>
            </a:r>
            <a:endParaRPr/>
          </a:p>
        </p:txBody>
      </p:sp>
      <p:pic>
        <p:nvPicPr>
          <p:cNvPr id="415" name="Google Shape;41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0134" y="1129465"/>
            <a:ext cx="5209823" cy="294354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3"/>
          <p:cNvSpPr txBox="1"/>
          <p:nvPr/>
        </p:nvSpPr>
        <p:spPr>
          <a:xfrm>
            <a:off x="4242454" y="4173855"/>
            <a:ext cx="3731419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https://www.youtube.com/watch?v=Ymewnb3gJJQ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3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18" name="Google Shape;418;p5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/>
        </p:nvSpPr>
        <p:spPr>
          <a:xfrm>
            <a:off x="687704" y="1195196"/>
            <a:ext cx="1981200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Sorry, I’m having problems in understanding you right now…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4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Alexa</a:t>
            </a:r>
            <a:endParaRPr/>
          </a:p>
        </p:txBody>
      </p:sp>
      <p:sp>
        <p:nvSpPr>
          <p:cNvPr id="425" name="Google Shape;425;p54"/>
          <p:cNvSpPr txBox="1"/>
          <p:nvPr/>
        </p:nvSpPr>
        <p:spPr>
          <a:xfrm>
            <a:off x="4242454" y="4173855"/>
            <a:ext cx="376094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https://www.youtube.com/watch?v=XQCHoKAq9xA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0000" y="1128598"/>
            <a:ext cx="5211003" cy="29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4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28" name="Google Shape;428;p5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5475" y="1292446"/>
            <a:ext cx="5353050" cy="302476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5"/>
          <p:cNvSpPr txBox="1"/>
          <p:nvPr/>
        </p:nvSpPr>
        <p:spPr>
          <a:xfrm>
            <a:off x="5218880" y="4486275"/>
            <a:ext cx="2866072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https://www.youtube.com/watch?v=e2R0NSKtVA0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p55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36" name="Google Shape;436;p55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Home</a:t>
            </a:r>
            <a:endParaRPr/>
          </a:p>
        </p:txBody>
      </p:sp>
      <p:sp>
        <p:nvSpPr>
          <p:cNvPr id="437" name="Google Shape;437;p5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6"/>
          <p:cNvSpPr txBox="1"/>
          <p:nvPr>
            <p:ph type="title"/>
          </p:nvPr>
        </p:nvSpPr>
        <p:spPr>
          <a:xfrm>
            <a:off x="687699" y="528450"/>
            <a:ext cx="50973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AI-based systems as smart tools</a:t>
            </a:r>
            <a:endParaRPr/>
          </a:p>
        </p:txBody>
      </p:sp>
      <p:pic>
        <p:nvPicPr>
          <p:cNvPr id="443" name="Google Shape;44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5706" y="1869767"/>
            <a:ext cx="3514672" cy="197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71" y="1936522"/>
            <a:ext cx="1904954" cy="187389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6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46" name="Google Shape;446;p56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7" name="Google Shape;44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3499" y="223627"/>
            <a:ext cx="988142" cy="1019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 txBox="1"/>
          <p:nvPr/>
        </p:nvSpPr>
        <p:spPr>
          <a:xfrm>
            <a:off x="687704" y="1591437"/>
            <a:ext cx="7621905" cy="248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75">
            <a:spAutoFit/>
          </a:bodyPr>
          <a:lstStyle/>
          <a:p>
            <a:pPr indent="-209550" lvl="0" marL="21590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Digital technologies are Cognitive Artifacts: physical objects designed to display or operate about information for enhancing human cognition (Norman, 1991; Hutchins, 2002)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Cognitive Artifacts + Artificial Intelligence = smart tools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19545"/>
              </a:lnSpc>
              <a:spcBef>
                <a:spcPts val="2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look like standard GUIs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18409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aim to alleviate some tasks by acting autonomously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17727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users are meant to be in control through the interface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marR="4318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might be confusing in terms of autonomy vs control because of probabilistic model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7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AI-based systems as smart tools</a:t>
            </a:r>
            <a:endParaRPr/>
          </a:p>
        </p:txBody>
      </p:sp>
      <p:pic>
        <p:nvPicPr>
          <p:cNvPr id="454" name="Google Shape;45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499" y="223627"/>
            <a:ext cx="988142" cy="1019441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7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56" name="Google Shape;456;p57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AI-based systems as artificial companions</a:t>
            </a:r>
            <a:endParaRPr/>
          </a:p>
        </p:txBody>
      </p:sp>
      <p:pic>
        <p:nvPicPr>
          <p:cNvPr id="462" name="Google Shape;46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169" y="226166"/>
            <a:ext cx="1319559" cy="939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9216" y="1469683"/>
            <a:ext cx="1679467" cy="1390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3768" y="2080507"/>
            <a:ext cx="1655851" cy="203218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8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66" name="Google Shape;466;p58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9"/>
          <p:cNvSpPr txBox="1"/>
          <p:nvPr/>
        </p:nvSpPr>
        <p:spPr>
          <a:xfrm>
            <a:off x="687700" y="1224150"/>
            <a:ext cx="52107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550" lvl="0" marL="215900" marR="53340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▪"/>
            </a:pPr>
            <a:r>
              <a:rPr lang="en-GB" sz="1500">
                <a:latin typeface="Trebuchet MS"/>
                <a:ea typeface="Trebuchet MS"/>
                <a:cs typeface="Trebuchet MS"/>
                <a:sym typeface="Trebuchet MS"/>
              </a:rPr>
              <a:t>Interaction with intelligent systems based on the metaphor of human-human interaction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Noto Sans Symbols"/>
              <a:buChar char="▪"/>
            </a:pPr>
            <a:r>
              <a:rPr lang="en-GB" sz="1500">
                <a:latin typeface="Trebuchet MS"/>
                <a:ea typeface="Trebuchet MS"/>
                <a:cs typeface="Trebuchet MS"/>
                <a:sym typeface="Trebuchet MS"/>
              </a:rPr>
              <a:t>Human beings are coded to adopt an intentional stance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1" marL="482600" marR="63500" rtl="0" algn="l">
              <a:lnSpc>
                <a:spcPct val="71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Courier New"/>
              <a:buChar char="o"/>
            </a:pPr>
            <a:r>
              <a:rPr lang="en-GB" sz="1500">
                <a:latin typeface="Trebuchet MS"/>
                <a:ea typeface="Trebuchet MS"/>
                <a:cs typeface="Trebuchet MS"/>
                <a:sym typeface="Trebuchet MS"/>
              </a:rPr>
              <a:t>a tendency to anthropomorphize tools (e.g. Heider- Simmel illusion): yet, that does not imply that we actually believe that tools are intelligent (Reeves and Nass, 1996)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9550" lvl="0" marL="215900" marR="52070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Noto Sans Symbols"/>
              <a:buChar char="▪"/>
            </a:pPr>
            <a:r>
              <a:rPr lang="en-GB" sz="1500">
                <a:latin typeface="Trebuchet MS"/>
                <a:ea typeface="Trebuchet MS"/>
                <a:cs typeface="Trebuchet MS"/>
                <a:sym typeface="Trebuchet MS"/>
              </a:rPr>
              <a:t>There is evidence that anthropomorphic features increases UX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2" name="Google Shape;472;p59"/>
          <p:cNvSpPr txBox="1"/>
          <p:nvPr/>
        </p:nvSpPr>
        <p:spPr>
          <a:xfrm>
            <a:off x="891076" y="3290700"/>
            <a:ext cx="46590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725">
            <a:spAutoFit/>
          </a:bodyPr>
          <a:lstStyle/>
          <a:p>
            <a:pPr indent="-273050" lvl="0" marL="279400" marR="0" rtl="0" algn="l">
              <a:lnSpc>
                <a:spcPct val="71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o"/>
            </a:pPr>
            <a:r>
              <a:rPr lang="en-GB" sz="1500">
                <a:latin typeface="Trebuchet MS"/>
                <a:ea typeface="Trebuchet MS"/>
                <a:cs typeface="Trebuchet MS"/>
                <a:sym typeface="Trebuchet MS"/>
              </a:rPr>
              <a:t>anthropomorphic features increase trust in an automated car (Waytz, Heafner, and Epley 2014)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3050" lvl="0" marL="279400" marR="215900" rtl="0" algn="l">
              <a:lnSpc>
                <a:spcPct val="70500"/>
              </a:lnSpc>
              <a:spcBef>
                <a:spcPts val="300"/>
              </a:spcBef>
              <a:spcAft>
                <a:spcPts val="0"/>
              </a:spcAft>
              <a:buSzPts val="1500"/>
              <a:buFont typeface="Courier New"/>
              <a:buChar char="o"/>
            </a:pPr>
            <a:r>
              <a:rPr lang="en-GB" sz="1500">
                <a:latin typeface="Trebuchet MS"/>
                <a:ea typeface="Trebuchet MS"/>
                <a:cs typeface="Trebuchet MS"/>
                <a:sym typeface="Trebuchet MS"/>
              </a:rPr>
              <a:t>expression of emotions improves efficacy in collaborative decision making tasks (de Melo, Gratch, and Carnevale 2015)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AI-based systems as artificial companions</a:t>
            </a:r>
            <a:endParaRPr/>
          </a:p>
        </p:txBody>
      </p:sp>
      <p:pic>
        <p:nvPicPr>
          <p:cNvPr id="474" name="Google Shape;47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225" y="1686172"/>
            <a:ext cx="2440972" cy="1830734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9"/>
          <p:cNvSpPr txBox="1"/>
          <p:nvPr/>
        </p:nvSpPr>
        <p:spPr>
          <a:xfrm>
            <a:off x="6110192" y="3618357"/>
            <a:ext cx="212121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Heider-Simmel Illusion (1944)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9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77" name="Google Shape;477;p59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8" name="Google Shape;47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69" y="226166"/>
            <a:ext cx="1319559" cy="939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/>
        </p:nvSpPr>
        <p:spPr>
          <a:xfrm>
            <a:off x="687700" y="1225675"/>
            <a:ext cx="48207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9550" lvl="0" marL="2159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Yet, in the long term, UX can worsen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marR="0" rtl="0" algn="l">
              <a:lnSpc>
                <a:spcPct val="68200"/>
              </a:lnSpc>
              <a:spcBef>
                <a:spcPts val="6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the presence of an anthropomorphized helper reduces enjoyment in games (Kim et al., 2016)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marR="3175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over-reliance and over-trust can in the long term bring to security and safety issues (Chung et al., 2017)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2921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Small aspects can induce larger and unwanted effects, e.g. people attribute negative stereotypes to female-presenting chatterbots more often than they do to male-presenting chatterbots (Brahnam &amp; De Angeli, 2012)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Keep attention to the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Uncanny Valley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!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0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AI-based systems as artificial companions</a:t>
            </a:r>
            <a:endParaRPr/>
          </a:p>
        </p:txBody>
      </p:sp>
      <p:pic>
        <p:nvPicPr>
          <p:cNvPr id="485" name="Google Shape;48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288" y="1758267"/>
            <a:ext cx="3203981" cy="181025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0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487" name="Google Shape;487;p6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8" name="Google Shape;48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69" y="226166"/>
            <a:ext cx="1319559" cy="939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AI-based systems as artificial companions</a:t>
            </a:r>
            <a:endParaRPr/>
          </a:p>
        </p:txBody>
      </p:sp>
      <p:grpSp>
        <p:nvGrpSpPr>
          <p:cNvPr id="494" name="Google Shape;494;p61"/>
          <p:cNvGrpSpPr/>
          <p:nvPr/>
        </p:nvGrpSpPr>
        <p:grpSpPr>
          <a:xfrm>
            <a:off x="1851894" y="1163107"/>
            <a:ext cx="4231061" cy="3470668"/>
            <a:chOff x="2469192" y="1550809"/>
            <a:chExt cx="5641415" cy="4627557"/>
          </a:xfrm>
        </p:grpSpPr>
        <p:pic>
          <p:nvPicPr>
            <p:cNvPr id="495" name="Google Shape;495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69192" y="1550809"/>
              <a:ext cx="5641415" cy="3537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3715" y="5127209"/>
              <a:ext cx="856498" cy="1051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56197" y="5209363"/>
              <a:ext cx="922506" cy="92250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8" name="Google Shape;498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4059" y="3940298"/>
            <a:ext cx="752399" cy="623098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1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00" name="Google Shape;500;p6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1" name="Google Shape;501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0169" y="226166"/>
            <a:ext cx="1319559" cy="939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2"/>
          <p:cNvSpPr txBox="1"/>
          <p:nvPr>
            <p:ph type="title"/>
          </p:nvPr>
        </p:nvSpPr>
        <p:spPr>
          <a:xfrm>
            <a:off x="687698" y="443875"/>
            <a:ext cx="25053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up</a:t>
            </a:r>
            <a:endParaRPr/>
          </a:p>
        </p:txBody>
      </p:sp>
      <p:sp>
        <p:nvSpPr>
          <p:cNvPr id="507" name="Google Shape;507;p62"/>
          <p:cNvSpPr txBox="1"/>
          <p:nvPr>
            <p:ph idx="11" type="ftr"/>
          </p:nvPr>
        </p:nvSpPr>
        <p:spPr>
          <a:xfrm>
            <a:off x="4132048" y="4943800"/>
            <a:ext cx="110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08" name="Google Shape;508;p62"/>
          <p:cNvSpPr txBox="1"/>
          <p:nvPr/>
        </p:nvSpPr>
        <p:spPr>
          <a:xfrm>
            <a:off x="687704" y="1179956"/>
            <a:ext cx="3432334" cy="250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DB9CA"/>
                </a:solidFill>
                <a:latin typeface="Arial"/>
                <a:ea typeface="Arial"/>
                <a:cs typeface="Arial"/>
                <a:sym typeface="Arial"/>
              </a:rPr>
              <a:t>Smart Tools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Smarter but less predictable than objects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Opaque mental model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Principles of Interaction Design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New principles to manage AI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9" name="Google Shape;509;p62"/>
          <p:cNvSpPr txBox="1"/>
          <p:nvPr/>
        </p:nvSpPr>
        <p:spPr>
          <a:xfrm>
            <a:off x="4688205" y="1179956"/>
            <a:ext cx="2935605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DB9CA"/>
                </a:solidFill>
                <a:latin typeface="Arial"/>
                <a:ea typeface="Arial"/>
                <a:cs typeface="Arial"/>
                <a:sym typeface="Arial"/>
              </a:rPr>
              <a:t>Artificial Companions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Almost but not like humans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Encourage social attribution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Uncanny valley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Different principles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0" name="Google Shape;510;p62"/>
          <p:cNvSpPr txBox="1"/>
          <p:nvPr>
            <p:ph idx="12" type="sldNum"/>
          </p:nvPr>
        </p:nvSpPr>
        <p:spPr>
          <a:xfrm>
            <a:off x="8377023" y="4787575"/>
            <a:ext cx="231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3"/>
          <p:cNvSpPr txBox="1"/>
          <p:nvPr>
            <p:ph type="title"/>
          </p:nvPr>
        </p:nvSpPr>
        <p:spPr>
          <a:xfrm>
            <a:off x="682942" y="2038731"/>
            <a:ext cx="6796088" cy="1324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Arial"/>
                <a:ea typeface="Arial"/>
                <a:cs typeface="Arial"/>
                <a:sym typeface="Arial"/>
              </a:rPr>
              <a:t>AI: Risks, Benefits, and User Tolerance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63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17" name="Google Shape;517;p6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"/>
          <p:cNvSpPr txBox="1"/>
          <p:nvPr/>
        </p:nvSpPr>
        <p:spPr>
          <a:xfrm>
            <a:off x="687700" y="1195200"/>
            <a:ext cx="5620200" cy="23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AI-based systems are typically performed under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uncertainty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often producing false positives and false negatives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8890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They may demonstrate unpredictable behaviors that can be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disruptive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confusing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offensive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, and even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dangerous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for users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3" name="Google Shape;523;p64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Different in Interactive AI Systems?</a:t>
            </a:r>
            <a:endParaRPr/>
          </a:p>
        </p:txBody>
      </p:sp>
      <p:pic>
        <p:nvPicPr>
          <p:cNvPr id="524" name="Google Shape;52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7988" y="1514475"/>
            <a:ext cx="20955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4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26" name="Google Shape;526;p6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5"/>
          <p:cNvSpPr txBox="1"/>
          <p:nvPr/>
        </p:nvSpPr>
        <p:spPr>
          <a:xfrm>
            <a:off x="687700" y="1215775"/>
            <a:ext cx="8456400" cy="3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Relevance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errors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Airbnb suggesting "fun local activities" when you are traveling for a funeral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254000" rtl="0" algn="l">
              <a:lnSpc>
                <a:spcPct val="104999"/>
              </a:lnSpc>
              <a:spcBef>
                <a:spcPts val="5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Exercise app suggesting "time to get up and walk!" when you are seated 	on a long car trip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Multiple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users,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similar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Use Spotify to play 1970s pop jams at a thematic party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Use Spotify to play your favorite study jams at home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36830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Use Spotify to hate-listen to &lt;insert here an artist you dislike&gt; with your 	roommate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What music should Spotify recommend this account play?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5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33" name="Google Shape;533;p65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Low-stake Examples</a:t>
            </a:r>
            <a:endParaRPr/>
          </a:p>
        </p:txBody>
      </p:sp>
      <p:sp>
        <p:nvSpPr>
          <p:cNvPr id="534" name="Google Shape;534;p6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6"/>
          <p:cNvSpPr txBox="1"/>
          <p:nvPr/>
        </p:nvSpPr>
        <p:spPr>
          <a:xfrm>
            <a:off x="687700" y="936113"/>
            <a:ext cx="84564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User: low stakes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8863"/>
              </a:lnSpc>
              <a:spcBef>
                <a:spcPts val="1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 feature is annoying or interrupting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7727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 feature is often wrong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 feature is useless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User: high stakes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9545"/>
              </a:lnSpc>
              <a:spcBef>
                <a:spcPts val="2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 causes active harm (e.g., recidivism prediction or hiring prediction)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8409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 reveals information someone wanted kept private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AI shows offensive content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Product/Service organization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9545"/>
              </a:lnSpc>
              <a:spcBef>
                <a:spcPts val="2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Users stop using your app/service because of poor AI performance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8409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Bad press or legal troubles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4826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Bad reviews discouraging others from using the app/service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6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41" name="Google Shape;541;p66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Stakes For AI Failure?</a:t>
            </a:r>
            <a:endParaRPr/>
          </a:p>
        </p:txBody>
      </p:sp>
      <p:sp>
        <p:nvSpPr>
          <p:cNvPr id="542" name="Google Shape;542;p66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7"/>
          <p:cNvSpPr txBox="1"/>
          <p:nvPr/>
        </p:nvSpPr>
        <p:spPr>
          <a:xfrm>
            <a:off x="687704" y="1195196"/>
            <a:ext cx="7748111" cy="2789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AI-based systems can also violate established usability guidelines of traditional user interface design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for instance: consistency or error prevention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Many AI components are inherently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inconsistent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1" marL="482600" marR="101600" rtl="0" algn="l">
              <a:lnSpc>
                <a:spcPct val="887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they may respond differently to the same text input over time (e.g., 	autocompletion systems suggesting different words after language model 	updates)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67310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or behave differently from one user to the next (e.g., search engines 	returning different results due to personalization)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8" name="Google Shape;548;p67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49" name="Google Shape;549;p67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Traditional Guidelines and AI</a:t>
            </a:r>
            <a:endParaRPr/>
          </a:p>
        </p:txBody>
      </p:sp>
      <p:sp>
        <p:nvSpPr>
          <p:cNvPr id="550" name="Google Shape;550;p67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8"/>
          <p:cNvSpPr txBox="1"/>
          <p:nvPr/>
        </p:nvSpPr>
        <p:spPr>
          <a:xfrm>
            <a:off x="687704" y="1195196"/>
            <a:ext cx="7529512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Artificial intelligence (AI) refers to systems that display intelligent behaviour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by analysing their environment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taking actions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– with some degree of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autonomy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– to achieve specific goals.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6" name="Google Shape;556;p68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57" name="Google Shape;557;p68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an AI-based System?</a:t>
            </a:r>
            <a:endParaRPr/>
          </a:p>
        </p:txBody>
      </p:sp>
      <p:sp>
        <p:nvSpPr>
          <p:cNvPr id="558" name="Google Shape;558;p68"/>
          <p:cNvSpPr txBox="1"/>
          <p:nvPr/>
        </p:nvSpPr>
        <p:spPr>
          <a:xfrm>
            <a:off x="1979904" y="4457700"/>
            <a:ext cx="5078730" cy="14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Arial"/>
                <a:ea typeface="Arial"/>
                <a:cs typeface="Arial"/>
                <a:sym typeface="Arial"/>
              </a:rPr>
              <a:t>AI for Europe, COM/2018/237 </a:t>
            </a:r>
            <a:r>
              <a:rPr lang="en-GB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https://www.europeansources.info/record/communication-artificial-intelligence-for-europe/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68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9"/>
          <p:cNvSpPr/>
          <p:nvPr/>
        </p:nvSpPr>
        <p:spPr>
          <a:xfrm>
            <a:off x="1979898" y="1560475"/>
            <a:ext cx="3364484" cy="276225"/>
          </a:xfrm>
          <a:custGeom>
            <a:rect b="b" l="l" r="r" t="t"/>
            <a:pathLst>
              <a:path extrusionOk="0" h="368300" w="3759200">
                <a:moveTo>
                  <a:pt x="3759200" y="0"/>
                </a:moveTo>
                <a:lnTo>
                  <a:pt x="0" y="0"/>
                </a:lnTo>
                <a:lnTo>
                  <a:pt x="0" y="368300"/>
                </a:lnTo>
                <a:lnTo>
                  <a:pt x="3759200" y="368300"/>
                </a:lnTo>
                <a:lnTo>
                  <a:pt x="375920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5" name="Google Shape;565;p69"/>
          <p:cNvSpPr txBox="1"/>
          <p:nvPr/>
        </p:nvSpPr>
        <p:spPr>
          <a:xfrm>
            <a:off x="687704" y="1195196"/>
            <a:ext cx="7529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Artificial intelligence (AI) refers to systems that display intelligent behaviour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by analysing their environment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taking actions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– with some degree of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autonomy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– to achieve specific goals.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6" name="Google Shape;566;p69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an AI-based System?</a:t>
            </a:r>
            <a:endParaRPr/>
          </a:p>
        </p:txBody>
      </p:sp>
      <p:sp>
        <p:nvSpPr>
          <p:cNvPr id="567" name="Google Shape;567;p69"/>
          <p:cNvSpPr txBox="1"/>
          <p:nvPr/>
        </p:nvSpPr>
        <p:spPr>
          <a:xfrm>
            <a:off x="1979904" y="4457700"/>
            <a:ext cx="507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Arial"/>
                <a:ea typeface="Arial"/>
                <a:cs typeface="Arial"/>
                <a:sym typeface="Arial"/>
              </a:rPr>
              <a:t>AI for Europe, COM/2018/237 </a:t>
            </a:r>
            <a:r>
              <a:rPr lang="en-GB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https://www.europeansources.info/record/communication-artificial-intelligence-for-europe/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9"/>
          <p:cNvSpPr txBox="1"/>
          <p:nvPr/>
        </p:nvSpPr>
        <p:spPr>
          <a:xfrm>
            <a:off x="2655350" y="3019675"/>
            <a:ext cx="1639200" cy="323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rebuchet MS"/>
                <a:ea typeface="Trebuchet MS"/>
                <a:cs typeface="Trebuchet MS"/>
                <a:sym typeface="Trebuchet MS"/>
              </a:rPr>
              <a:t>Recognition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9" name="Google Shape;569;p69"/>
          <p:cNvSpPr/>
          <p:nvPr/>
        </p:nvSpPr>
        <p:spPr>
          <a:xfrm>
            <a:off x="2655722" y="1857022"/>
            <a:ext cx="758666" cy="1138238"/>
          </a:xfrm>
          <a:custGeom>
            <a:rect b="b" l="l" r="r" t="t"/>
            <a:pathLst>
              <a:path extrusionOk="0" h="1517650" w="1011554">
                <a:moveTo>
                  <a:pt x="893152" y="1389625"/>
                </a:moveTo>
                <a:lnTo>
                  <a:pt x="845400" y="1421028"/>
                </a:lnTo>
                <a:lnTo>
                  <a:pt x="1011224" y="1517167"/>
                </a:lnTo>
                <a:lnTo>
                  <a:pt x="998933" y="1413497"/>
                </a:lnTo>
                <a:lnTo>
                  <a:pt x="908850" y="1413497"/>
                </a:lnTo>
                <a:lnTo>
                  <a:pt x="893152" y="1389625"/>
                </a:lnTo>
                <a:close/>
              </a:path>
              <a:path extrusionOk="0" h="1517650" w="1011554">
                <a:moveTo>
                  <a:pt x="940900" y="1358225"/>
                </a:moveTo>
                <a:lnTo>
                  <a:pt x="893152" y="1389625"/>
                </a:lnTo>
                <a:lnTo>
                  <a:pt x="908850" y="1413497"/>
                </a:lnTo>
                <a:lnTo>
                  <a:pt x="956602" y="1382102"/>
                </a:lnTo>
                <a:lnTo>
                  <a:pt x="940900" y="1358225"/>
                </a:lnTo>
                <a:close/>
              </a:path>
              <a:path extrusionOk="0" h="1517650" w="1011554">
                <a:moveTo>
                  <a:pt x="988656" y="1326819"/>
                </a:moveTo>
                <a:lnTo>
                  <a:pt x="940900" y="1358225"/>
                </a:lnTo>
                <a:lnTo>
                  <a:pt x="956602" y="1382102"/>
                </a:lnTo>
                <a:lnTo>
                  <a:pt x="908850" y="1413497"/>
                </a:lnTo>
                <a:lnTo>
                  <a:pt x="998933" y="1413497"/>
                </a:lnTo>
                <a:lnTo>
                  <a:pt x="988656" y="1326819"/>
                </a:lnTo>
                <a:close/>
              </a:path>
              <a:path extrusionOk="0" h="1517650" w="1011554">
                <a:moveTo>
                  <a:pt x="47739" y="0"/>
                </a:moveTo>
                <a:lnTo>
                  <a:pt x="0" y="31407"/>
                </a:lnTo>
                <a:lnTo>
                  <a:pt x="893152" y="1389625"/>
                </a:lnTo>
                <a:lnTo>
                  <a:pt x="940900" y="1358225"/>
                </a:lnTo>
                <a:lnTo>
                  <a:pt x="477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0" name="Google Shape;570;p69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71" name="Google Shape;571;p69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0"/>
          <p:cNvSpPr/>
          <p:nvPr/>
        </p:nvSpPr>
        <p:spPr>
          <a:xfrm>
            <a:off x="5880280" y="1560475"/>
            <a:ext cx="1635252" cy="276225"/>
          </a:xfrm>
          <a:custGeom>
            <a:rect b="b" l="l" r="r" t="t"/>
            <a:pathLst>
              <a:path extrusionOk="0" h="368300" w="3759200">
                <a:moveTo>
                  <a:pt x="3759200" y="0"/>
                </a:moveTo>
                <a:lnTo>
                  <a:pt x="0" y="0"/>
                </a:lnTo>
                <a:lnTo>
                  <a:pt x="0" y="368300"/>
                </a:lnTo>
                <a:lnTo>
                  <a:pt x="3759200" y="368300"/>
                </a:lnTo>
                <a:lnTo>
                  <a:pt x="375920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7" name="Google Shape;577;p70"/>
          <p:cNvSpPr/>
          <p:nvPr/>
        </p:nvSpPr>
        <p:spPr>
          <a:xfrm>
            <a:off x="1979898" y="1560475"/>
            <a:ext cx="3364484" cy="276225"/>
          </a:xfrm>
          <a:custGeom>
            <a:rect b="b" l="l" r="r" t="t"/>
            <a:pathLst>
              <a:path extrusionOk="0" h="368300" w="3759200">
                <a:moveTo>
                  <a:pt x="3759200" y="0"/>
                </a:moveTo>
                <a:lnTo>
                  <a:pt x="0" y="0"/>
                </a:lnTo>
                <a:lnTo>
                  <a:pt x="0" y="368300"/>
                </a:lnTo>
                <a:lnTo>
                  <a:pt x="3759200" y="368300"/>
                </a:lnTo>
                <a:lnTo>
                  <a:pt x="375920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8" name="Google Shape;578;p70"/>
          <p:cNvSpPr txBox="1"/>
          <p:nvPr/>
        </p:nvSpPr>
        <p:spPr>
          <a:xfrm>
            <a:off x="687704" y="1195196"/>
            <a:ext cx="7529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Artificial intelligence (AI) refers to systems that display intelligent behaviour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by analysing their environment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taking actions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– with some degree of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autonomy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– to achieve specific goals.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9" name="Google Shape;579;p70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an AI-based System?</a:t>
            </a:r>
            <a:endParaRPr/>
          </a:p>
        </p:txBody>
      </p:sp>
      <p:sp>
        <p:nvSpPr>
          <p:cNvPr id="580" name="Google Shape;580;p70"/>
          <p:cNvSpPr txBox="1"/>
          <p:nvPr/>
        </p:nvSpPr>
        <p:spPr>
          <a:xfrm>
            <a:off x="1979904" y="4457700"/>
            <a:ext cx="507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Arial"/>
                <a:ea typeface="Arial"/>
                <a:cs typeface="Arial"/>
                <a:sym typeface="Arial"/>
              </a:rPr>
              <a:t>AI for Europe, COM/2018/237 </a:t>
            </a:r>
            <a:r>
              <a:rPr lang="en-GB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https://www.europeansources.info/record/communication-artificial-intelligence-for-europe/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0"/>
          <p:cNvSpPr txBox="1"/>
          <p:nvPr/>
        </p:nvSpPr>
        <p:spPr>
          <a:xfrm>
            <a:off x="2655350" y="3019675"/>
            <a:ext cx="1639200" cy="323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rebuchet MS"/>
                <a:ea typeface="Trebuchet MS"/>
                <a:cs typeface="Trebuchet MS"/>
                <a:sym typeface="Trebuchet MS"/>
              </a:rPr>
              <a:t>Recognition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2" name="Google Shape;582;p70"/>
          <p:cNvSpPr/>
          <p:nvPr/>
        </p:nvSpPr>
        <p:spPr>
          <a:xfrm>
            <a:off x="2655722" y="1857022"/>
            <a:ext cx="758666" cy="1138238"/>
          </a:xfrm>
          <a:custGeom>
            <a:rect b="b" l="l" r="r" t="t"/>
            <a:pathLst>
              <a:path extrusionOk="0" h="1517650" w="1011554">
                <a:moveTo>
                  <a:pt x="893152" y="1389625"/>
                </a:moveTo>
                <a:lnTo>
                  <a:pt x="845400" y="1421028"/>
                </a:lnTo>
                <a:lnTo>
                  <a:pt x="1011224" y="1517167"/>
                </a:lnTo>
                <a:lnTo>
                  <a:pt x="998933" y="1413497"/>
                </a:lnTo>
                <a:lnTo>
                  <a:pt x="908850" y="1413497"/>
                </a:lnTo>
                <a:lnTo>
                  <a:pt x="893152" y="1389625"/>
                </a:lnTo>
                <a:close/>
              </a:path>
              <a:path extrusionOk="0" h="1517650" w="1011554">
                <a:moveTo>
                  <a:pt x="940900" y="1358225"/>
                </a:moveTo>
                <a:lnTo>
                  <a:pt x="893152" y="1389625"/>
                </a:lnTo>
                <a:lnTo>
                  <a:pt x="908850" y="1413497"/>
                </a:lnTo>
                <a:lnTo>
                  <a:pt x="956602" y="1382102"/>
                </a:lnTo>
                <a:lnTo>
                  <a:pt x="940900" y="1358225"/>
                </a:lnTo>
                <a:close/>
              </a:path>
              <a:path extrusionOk="0" h="1517650" w="1011554">
                <a:moveTo>
                  <a:pt x="988656" y="1326819"/>
                </a:moveTo>
                <a:lnTo>
                  <a:pt x="940900" y="1358225"/>
                </a:lnTo>
                <a:lnTo>
                  <a:pt x="956602" y="1382102"/>
                </a:lnTo>
                <a:lnTo>
                  <a:pt x="908850" y="1413497"/>
                </a:lnTo>
                <a:lnTo>
                  <a:pt x="998933" y="1413497"/>
                </a:lnTo>
                <a:lnTo>
                  <a:pt x="988656" y="1326819"/>
                </a:lnTo>
                <a:close/>
              </a:path>
              <a:path extrusionOk="0" h="1517650" w="1011554">
                <a:moveTo>
                  <a:pt x="47739" y="0"/>
                </a:moveTo>
                <a:lnTo>
                  <a:pt x="0" y="31407"/>
                </a:lnTo>
                <a:lnTo>
                  <a:pt x="893152" y="1389625"/>
                </a:lnTo>
                <a:lnTo>
                  <a:pt x="940900" y="1358225"/>
                </a:lnTo>
                <a:lnTo>
                  <a:pt x="477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3" name="Google Shape;583;p70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84" name="Google Shape;584;p7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5" name="Google Shape;585;p70"/>
          <p:cNvSpPr txBox="1"/>
          <p:nvPr/>
        </p:nvSpPr>
        <p:spPr>
          <a:xfrm>
            <a:off x="7046799" y="3536350"/>
            <a:ext cx="1384800" cy="323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rebuchet MS"/>
                <a:ea typeface="Trebuchet MS"/>
                <a:cs typeface="Trebuchet MS"/>
                <a:sym typeface="Trebuchet MS"/>
              </a:rPr>
              <a:t>Prediction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6" name="Google Shape;586;p70"/>
          <p:cNvSpPr/>
          <p:nvPr/>
        </p:nvSpPr>
        <p:spPr>
          <a:xfrm>
            <a:off x="6508861" y="1857014"/>
            <a:ext cx="1129188" cy="1654969"/>
          </a:xfrm>
          <a:custGeom>
            <a:rect b="b" l="l" r="r" t="t"/>
            <a:pathLst>
              <a:path extrusionOk="0" h="2206625" w="1505584">
                <a:moveTo>
                  <a:pt x="1385684" y="2080086"/>
                </a:moveTo>
                <a:lnTo>
                  <a:pt x="1338351" y="2112111"/>
                </a:lnTo>
                <a:lnTo>
                  <a:pt x="1505432" y="2206078"/>
                </a:lnTo>
                <a:lnTo>
                  <a:pt x="1491927" y="2103755"/>
                </a:lnTo>
                <a:lnTo>
                  <a:pt x="1401699" y="2103755"/>
                </a:lnTo>
                <a:lnTo>
                  <a:pt x="1385684" y="2080086"/>
                </a:lnTo>
                <a:close/>
              </a:path>
              <a:path extrusionOk="0" h="2206625" w="1505584">
                <a:moveTo>
                  <a:pt x="1433019" y="2048059"/>
                </a:moveTo>
                <a:lnTo>
                  <a:pt x="1385684" y="2080086"/>
                </a:lnTo>
                <a:lnTo>
                  <a:pt x="1401699" y="2103755"/>
                </a:lnTo>
                <a:lnTo>
                  <a:pt x="1449031" y="2071725"/>
                </a:lnTo>
                <a:lnTo>
                  <a:pt x="1433019" y="2048059"/>
                </a:lnTo>
                <a:close/>
              </a:path>
              <a:path extrusionOk="0" h="2206625" w="1505584">
                <a:moveTo>
                  <a:pt x="1480350" y="2016036"/>
                </a:moveTo>
                <a:lnTo>
                  <a:pt x="1433019" y="2048059"/>
                </a:lnTo>
                <a:lnTo>
                  <a:pt x="1449031" y="2071725"/>
                </a:lnTo>
                <a:lnTo>
                  <a:pt x="1401699" y="2103755"/>
                </a:lnTo>
                <a:lnTo>
                  <a:pt x="1491927" y="2103755"/>
                </a:lnTo>
                <a:lnTo>
                  <a:pt x="1480350" y="2016036"/>
                </a:lnTo>
                <a:close/>
              </a:path>
              <a:path extrusionOk="0" h="2206625" w="1505584">
                <a:moveTo>
                  <a:pt x="47332" y="0"/>
                </a:moveTo>
                <a:lnTo>
                  <a:pt x="0" y="32029"/>
                </a:lnTo>
                <a:lnTo>
                  <a:pt x="1385684" y="2080086"/>
                </a:lnTo>
                <a:lnTo>
                  <a:pt x="1433019" y="2048059"/>
                </a:lnTo>
                <a:lnTo>
                  <a:pt x="473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1"/>
          <p:cNvSpPr txBox="1"/>
          <p:nvPr>
            <p:ph type="title"/>
          </p:nvPr>
        </p:nvSpPr>
        <p:spPr>
          <a:xfrm>
            <a:off x="687699" y="528450"/>
            <a:ext cx="79161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Optimizing for Precision vs. Optimizing for Recall</a:t>
            </a:r>
            <a:endParaRPr/>
          </a:p>
        </p:txBody>
      </p:sp>
      <p:pic>
        <p:nvPicPr>
          <p:cNvPr id="592" name="Google Shape;59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63" y="1306322"/>
            <a:ext cx="3152907" cy="320376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71"/>
          <p:cNvSpPr txBox="1"/>
          <p:nvPr>
            <p:ph idx="11" type="ftr"/>
          </p:nvPr>
        </p:nvSpPr>
        <p:spPr>
          <a:xfrm>
            <a:off x="4132045" y="4943800"/>
            <a:ext cx="139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594" name="Google Shape;594;p7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2"/>
          <p:cNvSpPr txBox="1"/>
          <p:nvPr/>
        </p:nvSpPr>
        <p:spPr>
          <a:xfrm>
            <a:off x="687699" y="528450"/>
            <a:ext cx="7744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latin typeface="Trebuchet MS"/>
                <a:ea typeface="Trebuchet MS"/>
                <a:cs typeface="Trebuchet MS"/>
                <a:sym typeface="Trebuchet MS"/>
              </a:rPr>
              <a:t>Optimizing for Precision vs. Optimizing for Recall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00" name="Google Shape;60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63" y="1306322"/>
            <a:ext cx="3152907" cy="320376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2"/>
          <p:cNvSpPr txBox="1"/>
          <p:nvPr/>
        </p:nvSpPr>
        <p:spPr>
          <a:xfrm>
            <a:off x="4371555" y="2449448"/>
            <a:ext cx="2086394" cy="971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PRECISION = RECALL =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2"/>
          <p:cNvSpPr txBox="1"/>
          <p:nvPr>
            <p:ph idx="11" type="ftr"/>
          </p:nvPr>
        </p:nvSpPr>
        <p:spPr>
          <a:xfrm>
            <a:off x="4132045" y="4943800"/>
            <a:ext cx="1337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03" name="Google Shape;603;p72"/>
          <p:cNvSpPr txBox="1"/>
          <p:nvPr>
            <p:ph idx="12" type="sldNum"/>
          </p:nvPr>
        </p:nvSpPr>
        <p:spPr>
          <a:xfrm>
            <a:off x="8432006" y="4787565"/>
            <a:ext cx="1761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solidFill>
                <a:srgbClr val="EEEEE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3"/>
          <p:cNvSpPr txBox="1"/>
          <p:nvPr>
            <p:ph type="title"/>
          </p:nvPr>
        </p:nvSpPr>
        <p:spPr>
          <a:xfrm>
            <a:off x="687699" y="528450"/>
            <a:ext cx="7972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Optimizing for Precision vs. Optimizing for Recall</a:t>
            </a:r>
            <a:endParaRPr/>
          </a:p>
        </p:txBody>
      </p:sp>
      <p:pic>
        <p:nvPicPr>
          <p:cNvPr id="609" name="Google Shape;60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63" y="1306322"/>
            <a:ext cx="3152907" cy="320376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3"/>
          <p:cNvSpPr txBox="1"/>
          <p:nvPr/>
        </p:nvSpPr>
        <p:spPr>
          <a:xfrm>
            <a:off x="4371549" y="2449450"/>
            <a:ext cx="41676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PRECISION = </a:t>
            </a:r>
            <a:r>
              <a:rPr lang="en-GB" sz="2400">
                <a:latin typeface="Trebuchet MS"/>
                <a:ea typeface="Trebuchet MS"/>
                <a:cs typeface="Trebuchet MS"/>
                <a:sym typeface="Trebuchet MS"/>
              </a:rPr>
              <a:t>TP / (TP + FP)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RECALL = </a:t>
            </a:r>
            <a:r>
              <a:rPr lang="en-GB" sz="2400">
                <a:latin typeface="Trebuchet MS"/>
                <a:ea typeface="Trebuchet MS"/>
                <a:cs typeface="Trebuchet MS"/>
                <a:sym typeface="Trebuchet MS"/>
              </a:rPr>
              <a:t>TP / (TP + FN)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1" name="Google Shape;611;p73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12" name="Google Shape;612;p7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4"/>
          <p:cNvSpPr txBox="1"/>
          <p:nvPr>
            <p:ph type="title"/>
          </p:nvPr>
        </p:nvSpPr>
        <p:spPr>
          <a:xfrm>
            <a:off x="687699" y="528450"/>
            <a:ext cx="8232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Optimizing for Precision vs. Optimizing for Recall</a:t>
            </a:r>
            <a:endParaRPr/>
          </a:p>
        </p:txBody>
      </p:sp>
      <p:pic>
        <p:nvPicPr>
          <p:cNvPr id="618" name="Google Shape;61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278" y="1268015"/>
            <a:ext cx="4233443" cy="3002927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74"/>
          <p:cNvSpPr txBox="1"/>
          <p:nvPr/>
        </p:nvSpPr>
        <p:spPr>
          <a:xfrm>
            <a:off x="1085269" y="2347341"/>
            <a:ext cx="104203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worst thing is a false alarm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4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21" name="Google Shape;621;p74"/>
          <p:cNvSpPr txBox="1"/>
          <p:nvPr/>
        </p:nvSpPr>
        <p:spPr>
          <a:xfrm>
            <a:off x="6941687" y="2347341"/>
            <a:ext cx="1121569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worst thing is missing a positive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"/>
          <p:cNvSpPr txBox="1"/>
          <p:nvPr>
            <p:ph type="title"/>
          </p:nvPr>
        </p:nvSpPr>
        <p:spPr>
          <a:xfrm>
            <a:off x="687699" y="528450"/>
            <a:ext cx="79971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Should we optimizing for precision or recall?</a:t>
            </a:r>
            <a:endParaRPr/>
          </a:p>
        </p:txBody>
      </p:sp>
      <p:pic>
        <p:nvPicPr>
          <p:cNvPr id="628" name="Google Shape;62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502" y="1833008"/>
            <a:ext cx="1086545" cy="89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105" y="1569905"/>
            <a:ext cx="2542841" cy="1430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5965" y="2129502"/>
            <a:ext cx="1080197" cy="132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73394" y="2710883"/>
            <a:ext cx="1270460" cy="124974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75"/>
          <p:cNvSpPr txBox="1"/>
          <p:nvPr/>
        </p:nvSpPr>
        <p:spPr>
          <a:xfrm>
            <a:off x="5261600" y="2783966"/>
            <a:ext cx="592931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3. Alexa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5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34" name="Google Shape;634;p75"/>
          <p:cNvSpPr txBox="1"/>
          <p:nvPr/>
        </p:nvSpPr>
        <p:spPr>
          <a:xfrm>
            <a:off x="3425723" y="3974973"/>
            <a:ext cx="1057751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2. Google nest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75"/>
          <p:cNvSpPr txBox="1"/>
          <p:nvPr/>
        </p:nvSpPr>
        <p:spPr>
          <a:xfrm>
            <a:off x="928091" y="3083433"/>
            <a:ext cx="1412081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1. Gmail spam filter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5"/>
          <p:cNvSpPr txBox="1"/>
          <p:nvPr/>
        </p:nvSpPr>
        <p:spPr>
          <a:xfrm>
            <a:off x="6916549" y="3490341"/>
            <a:ext cx="493871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4. Jibo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5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6"/>
          <p:cNvSpPr txBox="1"/>
          <p:nvPr/>
        </p:nvSpPr>
        <p:spPr>
          <a:xfrm>
            <a:off x="687704" y="1195196"/>
            <a:ext cx="763143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By shifting from measuring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algorithm performance to evaluating human performance and satisfaction, with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human-centered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participatory approaches (for evaluation, too)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Deciding when "to AI" and when "not to AI"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711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Understanding when to automate (i.e., replace the user) and when to augment users' capabilities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6985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Balancing the uncertainty of AI systems with proper expectations and feedback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3" name="Google Shape;643;p76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44" name="Google Shape;644;p76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Can We Design Interactive AI Systems?</a:t>
            </a:r>
            <a:endParaRPr/>
          </a:p>
        </p:txBody>
      </p:sp>
      <p:sp>
        <p:nvSpPr>
          <p:cNvPr id="645" name="Google Shape;645;p76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4206" y="123444"/>
            <a:ext cx="4517135" cy="4535424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77"/>
          <p:cNvSpPr txBox="1"/>
          <p:nvPr/>
        </p:nvSpPr>
        <p:spPr>
          <a:xfrm>
            <a:off x="214176" y="4479416"/>
            <a:ext cx="354663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rebuchet MS"/>
                <a:ea typeface="Trebuchet MS"/>
                <a:cs typeface="Trebuchet MS"/>
                <a:sym typeface="Trebuchet MS"/>
              </a:rPr>
              <a:t>source: </a:t>
            </a:r>
            <a:r>
              <a:rPr lang="en-GB" sz="11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https://pair.withgoogle.com/worksheet/user-needs.pdf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2" name="Google Shape;652;p77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53" name="Google Shape;653;p77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"To AI or not to AI?"</a:t>
            </a:r>
            <a:endParaRPr/>
          </a:p>
        </p:txBody>
      </p:sp>
      <p:sp>
        <p:nvSpPr>
          <p:cNvPr id="654" name="Google Shape;654;p77"/>
          <p:cNvSpPr txBox="1"/>
          <p:nvPr/>
        </p:nvSpPr>
        <p:spPr>
          <a:xfrm>
            <a:off x="687706" y="1195196"/>
            <a:ext cx="2909888" cy="2513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After identifying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user needs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understanding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you can solve each of those needs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1270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Ask yourselves: can AI solve the user need in a unique way? Why?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5" name="Google Shape;655;p77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8"/>
          <p:cNvSpPr txBox="1"/>
          <p:nvPr/>
        </p:nvSpPr>
        <p:spPr>
          <a:xfrm>
            <a:off x="687700" y="1262250"/>
            <a:ext cx="85074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955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User </a:t>
            </a:r>
            <a:r>
              <a:rPr i="1" lang="en-GB" sz="1700">
                <a:latin typeface="Arial"/>
                <a:ea typeface="Arial"/>
                <a:cs typeface="Arial"/>
                <a:sym typeface="Arial"/>
              </a:rPr>
              <a:t>tolerance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to AI features depends on the </a:t>
            </a:r>
            <a:r>
              <a:rPr lang="en-GB" sz="1700" u="sng">
                <a:latin typeface="Arial"/>
                <a:ea typeface="Arial"/>
                <a:cs typeface="Arial"/>
                <a:sym typeface="Arial"/>
              </a:rPr>
              <a:t>role(s)</a:t>
            </a:r>
            <a:r>
              <a:rPr lang="en-GB" sz="1700" u="none">
                <a:latin typeface="Arial"/>
                <a:ea typeface="Arial"/>
                <a:cs typeface="Arial"/>
                <a:sym typeface="Arial"/>
              </a:rPr>
              <a:t> of the feature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Critical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Complementary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if a system can still work without the feature that AI enables, AI is complementary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Proactive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Reactive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Proactive: it provides results without people requesting it to do so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marR="114300" rtl="0" algn="l">
              <a:lnSpc>
                <a:spcPct val="109090"/>
              </a:lnSpc>
              <a:spcBef>
                <a:spcPts val="3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Reactive: it provides results when people ask for them or when they take certain actions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Visible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Invisible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Dynamic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Static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73050" lvl="1" marL="482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Courier New"/>
              <a:buChar char="o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how features evolve over time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78"/>
          <p:cNvSpPr txBox="1"/>
          <p:nvPr/>
        </p:nvSpPr>
        <p:spPr>
          <a:xfrm>
            <a:off x="687699" y="528450"/>
            <a:ext cx="3841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latin typeface="Trebuchet MS"/>
                <a:ea typeface="Trebuchet MS"/>
                <a:cs typeface="Trebuchet MS"/>
                <a:sym typeface="Trebuchet MS"/>
              </a:rPr>
              <a:t>AI Features Meet Users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2" name="Google Shape;662;p78"/>
          <p:cNvSpPr txBox="1"/>
          <p:nvPr/>
        </p:nvSpPr>
        <p:spPr>
          <a:xfrm>
            <a:off x="3918093" y="54339"/>
            <a:ext cx="50841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https://developer.apple.com/design/human-interface-guidelines/machine-learning/overview/roles/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3" name="Google Shape;663;p78"/>
          <p:cNvGrpSpPr/>
          <p:nvPr/>
        </p:nvGrpSpPr>
        <p:grpSpPr>
          <a:xfrm>
            <a:off x="5351687" y="350806"/>
            <a:ext cx="3617119" cy="914400"/>
            <a:chOff x="7135583" y="467741"/>
            <a:chExt cx="4822825" cy="1219200"/>
          </a:xfrm>
        </p:grpSpPr>
        <p:pic>
          <p:nvPicPr>
            <p:cNvPr id="664" name="Google Shape;664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35584" y="467741"/>
              <a:ext cx="4822367" cy="1219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78"/>
            <p:cNvSpPr/>
            <p:nvPr/>
          </p:nvSpPr>
          <p:spPr>
            <a:xfrm>
              <a:off x="7135583" y="467741"/>
              <a:ext cx="4822825" cy="1219200"/>
            </a:xfrm>
            <a:custGeom>
              <a:rect b="b" l="l" r="r" t="t"/>
              <a:pathLst>
                <a:path extrusionOk="0" h="1219200" w="4822825">
                  <a:moveTo>
                    <a:pt x="0" y="203205"/>
                  </a:moveTo>
                  <a:lnTo>
                    <a:pt x="5366" y="156612"/>
                  </a:lnTo>
                  <a:lnTo>
                    <a:pt x="20654" y="113840"/>
                  </a:lnTo>
                  <a:lnTo>
                    <a:pt x="44641" y="76110"/>
                  </a:lnTo>
                  <a:lnTo>
                    <a:pt x="76110" y="44641"/>
                  </a:lnTo>
                  <a:lnTo>
                    <a:pt x="113840" y="20654"/>
                  </a:lnTo>
                  <a:lnTo>
                    <a:pt x="156612" y="5366"/>
                  </a:lnTo>
                  <a:lnTo>
                    <a:pt x="203205" y="0"/>
                  </a:lnTo>
                  <a:lnTo>
                    <a:pt x="4619172" y="0"/>
                  </a:lnTo>
                  <a:lnTo>
                    <a:pt x="4665763" y="5366"/>
                  </a:lnTo>
                  <a:lnTo>
                    <a:pt x="4708533" y="20654"/>
                  </a:lnTo>
                  <a:lnTo>
                    <a:pt x="4746262" y="44641"/>
                  </a:lnTo>
                  <a:lnTo>
                    <a:pt x="4777730" y="76110"/>
                  </a:lnTo>
                  <a:lnTo>
                    <a:pt x="4801718" y="113840"/>
                  </a:lnTo>
                  <a:lnTo>
                    <a:pt x="4817005" y="156612"/>
                  </a:lnTo>
                  <a:lnTo>
                    <a:pt x="4822372" y="203205"/>
                  </a:lnTo>
                  <a:lnTo>
                    <a:pt x="4822372" y="1016000"/>
                  </a:lnTo>
                  <a:lnTo>
                    <a:pt x="4817005" y="1062591"/>
                  </a:lnTo>
                  <a:lnTo>
                    <a:pt x="4801718" y="1105360"/>
                  </a:lnTo>
                  <a:lnTo>
                    <a:pt x="4777730" y="1143090"/>
                  </a:lnTo>
                  <a:lnTo>
                    <a:pt x="4746262" y="1174558"/>
                  </a:lnTo>
                  <a:lnTo>
                    <a:pt x="4708533" y="1198546"/>
                  </a:lnTo>
                  <a:lnTo>
                    <a:pt x="4665763" y="1213833"/>
                  </a:lnTo>
                  <a:lnTo>
                    <a:pt x="4619172" y="1219200"/>
                  </a:lnTo>
                  <a:lnTo>
                    <a:pt x="203205" y="1219200"/>
                  </a:lnTo>
                  <a:lnTo>
                    <a:pt x="156612" y="1213833"/>
                  </a:lnTo>
                  <a:lnTo>
                    <a:pt x="113840" y="1198546"/>
                  </a:lnTo>
                  <a:lnTo>
                    <a:pt x="76110" y="1174558"/>
                  </a:lnTo>
                  <a:lnTo>
                    <a:pt x="44641" y="1143090"/>
                  </a:lnTo>
                  <a:lnTo>
                    <a:pt x="20654" y="1105360"/>
                  </a:lnTo>
                  <a:lnTo>
                    <a:pt x="5366" y="1062591"/>
                  </a:lnTo>
                  <a:lnTo>
                    <a:pt x="0" y="1016000"/>
                  </a:lnTo>
                  <a:lnTo>
                    <a:pt x="0" y="203205"/>
                  </a:lnTo>
                  <a:close/>
                </a:path>
              </a:pathLst>
            </a:custGeom>
            <a:noFill/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666" name="Google Shape;666;p78"/>
          <p:cNvSpPr txBox="1"/>
          <p:nvPr/>
        </p:nvSpPr>
        <p:spPr>
          <a:xfrm>
            <a:off x="5387162" y="376808"/>
            <a:ext cx="3609400" cy="83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marR="0" rtl="0" algn="ctr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"Human-centered AI focuses on amplifying, augmenting, and enhancing human performance in ways that make systems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safe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trustworthy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"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78"/>
          <p:cNvGrpSpPr/>
          <p:nvPr/>
        </p:nvGrpSpPr>
        <p:grpSpPr>
          <a:xfrm>
            <a:off x="775607" y="1102319"/>
            <a:ext cx="5184756" cy="489719"/>
            <a:chOff x="1034143" y="1469758"/>
            <a:chExt cx="6913008" cy="652958"/>
          </a:xfrm>
        </p:grpSpPr>
        <p:sp>
          <p:nvSpPr>
            <p:cNvPr id="668" name="Google Shape;668;p78"/>
            <p:cNvSpPr/>
            <p:nvPr/>
          </p:nvSpPr>
          <p:spPr>
            <a:xfrm>
              <a:off x="1034143" y="1602016"/>
              <a:ext cx="1959610" cy="520700"/>
            </a:xfrm>
            <a:custGeom>
              <a:rect b="b" l="l" r="r" t="t"/>
              <a:pathLst>
                <a:path extrusionOk="0" h="520700" w="1959610">
                  <a:moveTo>
                    <a:pt x="0" y="260350"/>
                  </a:moveTo>
                  <a:lnTo>
                    <a:pt x="10622" y="221877"/>
                  </a:lnTo>
                  <a:lnTo>
                    <a:pt x="41480" y="185157"/>
                  </a:lnTo>
                  <a:lnTo>
                    <a:pt x="91057" y="150593"/>
                  </a:lnTo>
                  <a:lnTo>
                    <a:pt x="157838" y="118586"/>
                  </a:lnTo>
                  <a:lnTo>
                    <a:pt x="197206" y="103668"/>
                  </a:lnTo>
                  <a:lnTo>
                    <a:pt x="240307" y="89541"/>
                  </a:lnTo>
                  <a:lnTo>
                    <a:pt x="286951" y="76254"/>
                  </a:lnTo>
                  <a:lnTo>
                    <a:pt x="336950" y="63859"/>
                  </a:lnTo>
                  <a:lnTo>
                    <a:pt x="390112" y="52405"/>
                  </a:lnTo>
                  <a:lnTo>
                    <a:pt x="446250" y="41944"/>
                  </a:lnTo>
                  <a:lnTo>
                    <a:pt x="505173" y="32524"/>
                  </a:lnTo>
                  <a:lnTo>
                    <a:pt x="566692" y="24197"/>
                  </a:lnTo>
                  <a:lnTo>
                    <a:pt x="630617" y="17013"/>
                  </a:lnTo>
                  <a:lnTo>
                    <a:pt x="696760" y="11022"/>
                  </a:lnTo>
                  <a:lnTo>
                    <a:pt x="764931" y="6275"/>
                  </a:lnTo>
                  <a:lnTo>
                    <a:pt x="834940" y="2822"/>
                  </a:lnTo>
                  <a:lnTo>
                    <a:pt x="906598" y="714"/>
                  </a:lnTo>
                  <a:lnTo>
                    <a:pt x="979715" y="0"/>
                  </a:lnTo>
                  <a:lnTo>
                    <a:pt x="1052833" y="714"/>
                  </a:lnTo>
                  <a:lnTo>
                    <a:pt x="1124491" y="2822"/>
                  </a:lnTo>
                  <a:lnTo>
                    <a:pt x="1194500" y="6275"/>
                  </a:lnTo>
                  <a:lnTo>
                    <a:pt x="1262671" y="11022"/>
                  </a:lnTo>
                  <a:lnTo>
                    <a:pt x="1328814" y="17013"/>
                  </a:lnTo>
                  <a:lnTo>
                    <a:pt x="1392740" y="24197"/>
                  </a:lnTo>
                  <a:lnTo>
                    <a:pt x="1454259" y="32524"/>
                  </a:lnTo>
                  <a:lnTo>
                    <a:pt x="1513182" y="41944"/>
                  </a:lnTo>
                  <a:lnTo>
                    <a:pt x="1569319" y="52405"/>
                  </a:lnTo>
                  <a:lnTo>
                    <a:pt x="1622482" y="63859"/>
                  </a:lnTo>
                  <a:lnTo>
                    <a:pt x="1672480" y="76254"/>
                  </a:lnTo>
                  <a:lnTo>
                    <a:pt x="1719124" y="89541"/>
                  </a:lnTo>
                  <a:lnTo>
                    <a:pt x="1762225" y="103668"/>
                  </a:lnTo>
                  <a:lnTo>
                    <a:pt x="1801593" y="118586"/>
                  </a:lnTo>
                  <a:lnTo>
                    <a:pt x="1837039" y="134245"/>
                  </a:lnTo>
                  <a:lnTo>
                    <a:pt x="1895408" y="167580"/>
                  </a:lnTo>
                  <a:lnTo>
                    <a:pt x="1935814" y="203273"/>
                  </a:lnTo>
                  <a:lnTo>
                    <a:pt x="1956743" y="240919"/>
                  </a:lnTo>
                  <a:lnTo>
                    <a:pt x="1959431" y="260350"/>
                  </a:lnTo>
                  <a:lnTo>
                    <a:pt x="1956743" y="279780"/>
                  </a:lnTo>
                  <a:lnTo>
                    <a:pt x="1935814" y="317426"/>
                  </a:lnTo>
                  <a:lnTo>
                    <a:pt x="1895408" y="353119"/>
                  </a:lnTo>
                  <a:lnTo>
                    <a:pt x="1837039" y="386455"/>
                  </a:lnTo>
                  <a:lnTo>
                    <a:pt x="1801593" y="402113"/>
                  </a:lnTo>
                  <a:lnTo>
                    <a:pt x="1762225" y="417031"/>
                  </a:lnTo>
                  <a:lnTo>
                    <a:pt x="1719124" y="431158"/>
                  </a:lnTo>
                  <a:lnTo>
                    <a:pt x="1672480" y="444445"/>
                  </a:lnTo>
                  <a:lnTo>
                    <a:pt x="1622482" y="456840"/>
                  </a:lnTo>
                  <a:lnTo>
                    <a:pt x="1569319" y="468294"/>
                  </a:lnTo>
                  <a:lnTo>
                    <a:pt x="1513182" y="478756"/>
                  </a:lnTo>
                  <a:lnTo>
                    <a:pt x="1454259" y="488175"/>
                  </a:lnTo>
                  <a:lnTo>
                    <a:pt x="1392740" y="496502"/>
                  </a:lnTo>
                  <a:lnTo>
                    <a:pt x="1328814" y="503686"/>
                  </a:lnTo>
                  <a:lnTo>
                    <a:pt x="1262671" y="509677"/>
                  </a:lnTo>
                  <a:lnTo>
                    <a:pt x="1194500" y="514424"/>
                  </a:lnTo>
                  <a:lnTo>
                    <a:pt x="1124491" y="517877"/>
                  </a:lnTo>
                  <a:lnTo>
                    <a:pt x="1052833" y="519986"/>
                  </a:lnTo>
                  <a:lnTo>
                    <a:pt x="979715" y="520700"/>
                  </a:lnTo>
                  <a:lnTo>
                    <a:pt x="906598" y="519986"/>
                  </a:lnTo>
                  <a:lnTo>
                    <a:pt x="834940" y="517877"/>
                  </a:lnTo>
                  <a:lnTo>
                    <a:pt x="764931" y="514424"/>
                  </a:lnTo>
                  <a:lnTo>
                    <a:pt x="696760" y="509677"/>
                  </a:lnTo>
                  <a:lnTo>
                    <a:pt x="630617" y="503686"/>
                  </a:lnTo>
                  <a:lnTo>
                    <a:pt x="566692" y="496502"/>
                  </a:lnTo>
                  <a:lnTo>
                    <a:pt x="505173" y="488175"/>
                  </a:lnTo>
                  <a:lnTo>
                    <a:pt x="446250" y="478756"/>
                  </a:lnTo>
                  <a:lnTo>
                    <a:pt x="390112" y="468294"/>
                  </a:lnTo>
                  <a:lnTo>
                    <a:pt x="336950" y="456840"/>
                  </a:lnTo>
                  <a:lnTo>
                    <a:pt x="286951" y="444445"/>
                  </a:lnTo>
                  <a:lnTo>
                    <a:pt x="240307" y="431158"/>
                  </a:lnTo>
                  <a:lnTo>
                    <a:pt x="197206" y="417031"/>
                  </a:lnTo>
                  <a:lnTo>
                    <a:pt x="157838" y="402113"/>
                  </a:lnTo>
                  <a:lnTo>
                    <a:pt x="122391" y="386455"/>
                  </a:lnTo>
                  <a:lnTo>
                    <a:pt x="64023" y="353119"/>
                  </a:lnTo>
                  <a:lnTo>
                    <a:pt x="23616" y="317426"/>
                  </a:lnTo>
                  <a:lnTo>
                    <a:pt x="2687" y="279780"/>
                  </a:lnTo>
                  <a:lnTo>
                    <a:pt x="0" y="260350"/>
                  </a:lnTo>
                  <a:close/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669" name="Google Shape;669;p78"/>
            <p:cNvSpPr/>
            <p:nvPr/>
          </p:nvSpPr>
          <p:spPr>
            <a:xfrm>
              <a:off x="2992881" y="1469758"/>
              <a:ext cx="4954270" cy="402590"/>
            </a:xfrm>
            <a:custGeom>
              <a:rect b="b" l="l" r="r" t="t"/>
              <a:pathLst>
                <a:path extrusionOk="0" h="402589" w="4954270">
                  <a:moveTo>
                    <a:pt x="4876996" y="28492"/>
                  </a:moveTo>
                  <a:lnTo>
                    <a:pt x="0" y="383108"/>
                  </a:lnTo>
                  <a:lnTo>
                    <a:pt x="1384" y="402107"/>
                  </a:lnTo>
                  <a:lnTo>
                    <a:pt x="4878380" y="47491"/>
                  </a:lnTo>
                  <a:lnTo>
                    <a:pt x="4876996" y="28492"/>
                  </a:lnTo>
                  <a:close/>
                </a:path>
                <a:path extrusionOk="0" h="402589" w="4954270">
                  <a:moveTo>
                    <a:pt x="4941795" y="27571"/>
                  </a:moveTo>
                  <a:lnTo>
                    <a:pt x="4889665" y="27571"/>
                  </a:lnTo>
                  <a:lnTo>
                    <a:pt x="4891036" y="46570"/>
                  </a:lnTo>
                  <a:lnTo>
                    <a:pt x="4878380" y="47491"/>
                  </a:lnTo>
                  <a:lnTo>
                    <a:pt x="4880457" y="75996"/>
                  </a:lnTo>
                  <a:lnTo>
                    <a:pt x="4953685" y="32473"/>
                  </a:lnTo>
                  <a:lnTo>
                    <a:pt x="4941795" y="27571"/>
                  </a:lnTo>
                  <a:close/>
                </a:path>
                <a:path extrusionOk="0" h="402589" w="4954270">
                  <a:moveTo>
                    <a:pt x="4889665" y="27571"/>
                  </a:moveTo>
                  <a:lnTo>
                    <a:pt x="4876996" y="28492"/>
                  </a:lnTo>
                  <a:lnTo>
                    <a:pt x="4878380" y="47491"/>
                  </a:lnTo>
                  <a:lnTo>
                    <a:pt x="4891036" y="46570"/>
                  </a:lnTo>
                  <a:lnTo>
                    <a:pt x="4889665" y="27571"/>
                  </a:lnTo>
                  <a:close/>
                </a:path>
                <a:path extrusionOk="0" h="402589" w="4954270">
                  <a:moveTo>
                    <a:pt x="4874920" y="0"/>
                  </a:moveTo>
                  <a:lnTo>
                    <a:pt x="4876996" y="28492"/>
                  </a:lnTo>
                  <a:lnTo>
                    <a:pt x="4889665" y="27571"/>
                  </a:lnTo>
                  <a:lnTo>
                    <a:pt x="4941795" y="27571"/>
                  </a:lnTo>
                  <a:lnTo>
                    <a:pt x="487492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670" name="Google Shape;670;p78"/>
          <p:cNvSpPr txBox="1"/>
          <p:nvPr>
            <p:ph idx="11" type="ftr"/>
          </p:nvPr>
        </p:nvSpPr>
        <p:spPr>
          <a:xfrm>
            <a:off x="4132047" y="4943800"/>
            <a:ext cx="121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71" name="Google Shape;671;p78"/>
          <p:cNvSpPr txBox="1"/>
          <p:nvPr>
            <p:ph idx="12" type="sldNum"/>
          </p:nvPr>
        </p:nvSpPr>
        <p:spPr>
          <a:xfrm>
            <a:off x="8432006" y="4787565"/>
            <a:ext cx="1761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solidFill>
                <a:srgbClr val="EEEEE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9"/>
          <p:cNvSpPr txBox="1"/>
          <p:nvPr/>
        </p:nvSpPr>
        <p:spPr>
          <a:xfrm>
            <a:off x="687704" y="1195196"/>
            <a:ext cx="7660958" cy="3075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 general, the more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critical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 app feature is, the more people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need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accurate and reliable results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21590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On the other hand, if a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complementary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feature delivers results that are not always of the highest quality, people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may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be more forgiving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Examples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Face ID -&gt; critical or complementary?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marR="1435100" rtl="0" algn="l">
              <a:lnSpc>
                <a:spcPct val="104166"/>
              </a:lnSpc>
              <a:spcBef>
                <a:spcPts val="5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Word suggestions (on smartphones keyboards) -&gt; critical or 	complementary?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What happens if they fail?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7" name="Google Shape;677;p79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78" name="Google Shape;678;p79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Tolerance: Critical or Complimentary</a:t>
            </a:r>
            <a:endParaRPr/>
          </a:p>
        </p:txBody>
      </p:sp>
      <p:sp>
        <p:nvSpPr>
          <p:cNvPr id="679" name="Google Shape;679;p79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0"/>
          <p:cNvSpPr txBox="1"/>
          <p:nvPr/>
        </p:nvSpPr>
        <p:spPr>
          <a:xfrm>
            <a:off x="687704" y="1195196"/>
            <a:ext cx="7450931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406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Proactive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features can prompt new tasks and interactions by providing </a:t>
            </a:r>
            <a:r>
              <a:rPr lang="en-GB" sz="1800" u="sng">
                <a:latin typeface="Trebuchet MS"/>
                <a:ea typeface="Trebuchet MS"/>
                <a:cs typeface="Trebuchet MS"/>
                <a:sym typeface="Trebuchet MS"/>
              </a:rPr>
              <a:t>unexpected</a:t>
            </a:r>
            <a:r>
              <a:rPr lang="en-GB" sz="1800" u="none">
                <a:latin typeface="Trebuchet MS"/>
                <a:ea typeface="Trebuchet MS"/>
                <a:cs typeface="Trebuchet MS"/>
                <a:sym typeface="Trebuchet MS"/>
              </a:rPr>
              <a:t>, sometimes serendipitous results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Reactive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features typically </a:t>
            </a:r>
            <a:r>
              <a:rPr lang="en-GB" sz="1800" u="sng">
                <a:latin typeface="Trebuchet MS"/>
                <a:ea typeface="Trebuchet MS"/>
                <a:cs typeface="Trebuchet MS"/>
                <a:sym typeface="Trebuchet MS"/>
              </a:rPr>
              <a:t>help</a:t>
            </a:r>
            <a:r>
              <a:rPr lang="en-GB" sz="1800" u="none">
                <a:latin typeface="Trebuchet MS"/>
                <a:ea typeface="Trebuchet MS"/>
                <a:cs typeface="Trebuchet MS"/>
                <a:sym typeface="Trebuchet MS"/>
              </a:rPr>
              <a:t> people as they perform their current task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Because people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do not ask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for the results that a proactive feature provides, they may have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less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tolerance for low-quality information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such features have more potential to be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annoying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80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86" name="Google Shape;686;p80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Tolerance: Proactive or Reactive</a:t>
            </a:r>
            <a:endParaRPr/>
          </a:p>
        </p:txBody>
      </p:sp>
      <p:sp>
        <p:nvSpPr>
          <p:cNvPr id="687" name="Google Shape;687;p80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1"/>
          <p:cNvSpPr txBox="1"/>
          <p:nvPr/>
        </p:nvSpPr>
        <p:spPr>
          <a:xfrm>
            <a:off x="687704" y="1215770"/>
            <a:ext cx="3398044" cy="124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Proactive features can be helpful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in small amounts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at the "right" moment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if they are easy to dismiss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3" name="Google Shape;693;p8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Tolerance: Proactive or Reactive</a:t>
            </a:r>
            <a:endParaRPr/>
          </a:p>
        </p:txBody>
      </p:sp>
      <p:pic>
        <p:nvPicPr>
          <p:cNvPr id="694" name="Google Shape;69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1962" y="1886895"/>
            <a:ext cx="3274705" cy="1409068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81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696" name="Google Shape;696;p8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2"/>
          <p:cNvSpPr txBox="1"/>
          <p:nvPr>
            <p:ph idx="1" type="body"/>
          </p:nvPr>
        </p:nvSpPr>
        <p:spPr>
          <a:xfrm>
            <a:off x="687704" y="1215770"/>
            <a:ext cx="7743825" cy="328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marR="6858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/>
              <a:t>People's impression of the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reliability </a:t>
            </a:r>
            <a:r>
              <a:rPr lang="en-GB"/>
              <a:t>of results can differ depending on whether a feature is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visible </a:t>
            </a:r>
            <a:r>
              <a:rPr lang="en-GB"/>
              <a:t>or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invisible</a:t>
            </a:r>
            <a:endParaRPr/>
          </a:p>
          <a:p>
            <a:pPr indent="-203200" lvl="0" marL="215900" marR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/>
              <a:t>With a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visible </a:t>
            </a:r>
            <a:r>
              <a:rPr lang="en-GB"/>
              <a:t>feature, people form an opinion about the feature's reliability as they choose from among its results</a:t>
            </a:r>
            <a:endParaRPr/>
          </a:p>
          <a:p>
            <a:pPr indent="-203200" lvl="0" marL="215900" marR="584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/>
              <a:t>It is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harder </a:t>
            </a:r>
            <a:r>
              <a:rPr lang="en-GB"/>
              <a:t>for an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invisible </a:t>
            </a:r>
            <a:r>
              <a:rPr lang="en-GB"/>
              <a:t>feature to communicate its reliability — and potentially receive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feedback </a:t>
            </a:r>
            <a:r>
              <a:rPr lang="en-GB"/>
              <a:t>— because people may not be aware of the feature at all</a:t>
            </a:r>
            <a:endParaRPr/>
          </a:p>
          <a:p>
            <a:pPr indent="-203200" lvl="0" marL="2159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/>
              <a:t>Examples?</a:t>
            </a:r>
            <a:endParaRPr/>
          </a:p>
        </p:txBody>
      </p:sp>
      <p:sp>
        <p:nvSpPr>
          <p:cNvPr id="702" name="Google Shape;702;p82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03" name="Google Shape;703;p82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Tolerance: Visible or Invisible</a:t>
            </a:r>
            <a:endParaRPr/>
          </a:p>
        </p:txBody>
      </p:sp>
      <p:sp>
        <p:nvSpPr>
          <p:cNvPr id="704" name="Google Shape;704;p82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3"/>
          <p:cNvSpPr txBox="1"/>
          <p:nvPr/>
        </p:nvSpPr>
        <p:spPr>
          <a:xfrm>
            <a:off x="687700" y="1243200"/>
            <a:ext cx="84564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Dynamic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features are those that improve as people interact with the system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e.g., face recognition for unlocking the phone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Static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features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optionally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improve with a new system update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e.g., the quality of face recognitions in the photo library on a smartphone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Such improvements affect other parts of the user experience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dynamic features often incorporate some forms of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calibration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feedback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8260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(either implicit or explicit)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18541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static features may not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152400" rtl="0" algn="l">
              <a:lnSpc>
                <a:spcPct val="1183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Depending on the feature, such updates can modify the perceived reliability, safety, and/or trustworthiness of a system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0" name="Google Shape;710;p83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11" name="Google Shape;711;p83"/>
          <p:cNvSpPr txBox="1"/>
          <p:nvPr>
            <p:ph type="title"/>
          </p:nvPr>
        </p:nvSpPr>
        <p:spPr>
          <a:xfrm>
            <a:off x="687704" y="528446"/>
            <a:ext cx="6832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Tolerance: Dynamic or Static</a:t>
            </a:r>
            <a:endParaRPr/>
          </a:p>
        </p:txBody>
      </p:sp>
      <p:sp>
        <p:nvSpPr>
          <p:cNvPr id="712" name="Google Shape;712;p83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4"/>
          <p:cNvSpPr txBox="1"/>
          <p:nvPr/>
        </p:nvSpPr>
        <p:spPr>
          <a:xfrm>
            <a:off x="687700" y="1215775"/>
            <a:ext cx="83535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Do not </a:t>
            </a:r>
            <a:r>
              <a:rPr i="1" lang="en-GB" sz="1800">
                <a:latin typeface="Arial"/>
                <a:ea typeface="Arial"/>
                <a:cs typeface="Arial"/>
                <a:sym typeface="Arial"/>
              </a:rPr>
              <a:t>overuse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feedback requests or users will get annoyed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1" marL="48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People would not like to feel like the AI is so stupid that it needs their help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Save for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high stakes </a:t>
            </a: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failure, is possible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8" name="Google Shape;718;p84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19" name="Google Shape;719;p84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Tolerance To Give Feedback</a:t>
            </a:r>
            <a:endParaRPr/>
          </a:p>
        </p:txBody>
      </p:sp>
      <p:sp>
        <p:nvSpPr>
          <p:cNvPr id="720" name="Google Shape;720;p84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5"/>
          <p:cNvSpPr txBox="1"/>
          <p:nvPr>
            <p:ph type="ctrTitle"/>
          </p:nvPr>
        </p:nvSpPr>
        <p:spPr>
          <a:xfrm>
            <a:off x="682942" y="2393060"/>
            <a:ext cx="7440930" cy="1347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2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Arial"/>
                <a:ea typeface="Arial"/>
                <a:cs typeface="Arial"/>
                <a:sym typeface="Arial"/>
              </a:rPr>
              <a:t>Choosing the People+AI Path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rPr>
              <a:t>Guidelines for mitigating risks, increasing tolerance, and highlighting benefits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6" name="Google Shape;726;p85"/>
          <p:cNvSpPr txBox="1"/>
          <p:nvPr>
            <p:ph idx="11" type="ftr"/>
          </p:nvPr>
        </p:nvSpPr>
        <p:spPr>
          <a:xfrm>
            <a:off x="4132049" y="4943800"/>
            <a:ext cx="1021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27" name="Google Shape;727;p85"/>
          <p:cNvSpPr txBox="1"/>
          <p:nvPr>
            <p:ph idx="12" type="sldNum"/>
          </p:nvPr>
        </p:nvSpPr>
        <p:spPr>
          <a:xfrm>
            <a:off x="8385123" y="4787575"/>
            <a:ext cx="222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solidFill>
                  <a:srgbClr val="EEEEEE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solidFill>
                <a:srgbClr val="EEEEE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9546" y="4"/>
            <a:ext cx="5124897" cy="4653638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86"/>
          <p:cNvSpPr txBox="1"/>
          <p:nvPr/>
        </p:nvSpPr>
        <p:spPr>
          <a:xfrm>
            <a:off x="1446009" y="4566285"/>
            <a:ext cx="625221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rebuchet MS"/>
                <a:ea typeface="Trebuchet MS"/>
                <a:cs typeface="Trebuchet MS"/>
                <a:sym typeface="Trebuchet MS"/>
              </a:rPr>
              <a:t>By Microsoft Research: </a:t>
            </a:r>
            <a:r>
              <a:rPr lang="en-GB" sz="11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https://www.microsoft.com/en-us/research/project/guidelines-for-human-ai-interaction/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4" name="Google Shape;734;p86"/>
          <p:cNvSpPr txBox="1"/>
          <p:nvPr>
            <p:ph idx="11" type="ftr"/>
          </p:nvPr>
        </p:nvSpPr>
        <p:spPr>
          <a:xfrm>
            <a:off x="4132047" y="4943800"/>
            <a:ext cx="1215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35" name="Google Shape;735;p86"/>
          <p:cNvSpPr txBox="1"/>
          <p:nvPr>
            <p:ph idx="12" type="sldNum"/>
          </p:nvPr>
        </p:nvSpPr>
        <p:spPr>
          <a:xfrm>
            <a:off x="8409424" y="4787575"/>
            <a:ext cx="1986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1064" y="546748"/>
            <a:ext cx="5821871" cy="4050001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87"/>
          <p:cNvSpPr txBox="1"/>
          <p:nvPr>
            <p:ph idx="11" type="ftr"/>
          </p:nvPr>
        </p:nvSpPr>
        <p:spPr>
          <a:xfrm>
            <a:off x="4132045" y="4943800"/>
            <a:ext cx="1377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42" name="Google Shape;742;p87"/>
          <p:cNvSpPr txBox="1"/>
          <p:nvPr>
            <p:ph idx="12" type="sldNum"/>
          </p:nvPr>
        </p:nvSpPr>
        <p:spPr>
          <a:xfrm>
            <a:off x="8344622" y="4787575"/>
            <a:ext cx="2634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9932" y="545399"/>
            <a:ext cx="2639873" cy="405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185" y="547879"/>
            <a:ext cx="2632091" cy="4050221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88"/>
          <p:cNvSpPr txBox="1"/>
          <p:nvPr>
            <p:ph idx="11" type="ftr"/>
          </p:nvPr>
        </p:nvSpPr>
        <p:spPr>
          <a:xfrm>
            <a:off x="4132042" y="4943800"/>
            <a:ext cx="162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50" name="Google Shape;750;p88"/>
          <p:cNvSpPr txBox="1"/>
          <p:nvPr>
            <p:ph idx="12" type="sldNum"/>
          </p:nvPr>
        </p:nvSpPr>
        <p:spPr>
          <a:xfrm>
            <a:off x="8344622" y="4787575"/>
            <a:ext cx="2634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087" y="546748"/>
            <a:ext cx="2667467" cy="405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6436" y="546748"/>
            <a:ext cx="2615279" cy="4050001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89"/>
          <p:cNvSpPr txBox="1"/>
          <p:nvPr>
            <p:ph idx="11" type="ftr"/>
          </p:nvPr>
        </p:nvSpPr>
        <p:spPr>
          <a:xfrm>
            <a:off x="4132045" y="4943800"/>
            <a:ext cx="1345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58" name="Google Shape;758;p89"/>
          <p:cNvSpPr txBox="1"/>
          <p:nvPr>
            <p:ph idx="12" type="sldNum"/>
          </p:nvPr>
        </p:nvSpPr>
        <p:spPr>
          <a:xfrm>
            <a:off x="8312221" y="4787575"/>
            <a:ext cx="295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8347" y="546748"/>
            <a:ext cx="2572073" cy="405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9097" y="546748"/>
            <a:ext cx="2686555" cy="4050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90"/>
          <p:cNvSpPr txBox="1"/>
          <p:nvPr>
            <p:ph idx="11" type="ftr"/>
          </p:nvPr>
        </p:nvSpPr>
        <p:spPr>
          <a:xfrm>
            <a:off x="4132045" y="4943800"/>
            <a:ext cx="136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66" name="Google Shape;766;p90"/>
          <p:cNvSpPr txBox="1"/>
          <p:nvPr>
            <p:ph idx="12" type="sldNum"/>
          </p:nvPr>
        </p:nvSpPr>
        <p:spPr>
          <a:xfrm>
            <a:off x="8385123" y="4787575"/>
            <a:ext cx="222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200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1"/>
          <p:cNvSpPr txBox="1"/>
          <p:nvPr/>
        </p:nvSpPr>
        <p:spPr>
          <a:xfrm>
            <a:off x="687704" y="1263776"/>
            <a:ext cx="7305199" cy="2197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032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Google's People+AI Guidebook: </a:t>
            </a:r>
            <a:r>
              <a:rPr lang="en-GB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https://pair.withgoogle.com/guidebook/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2540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>
                <a:latin typeface="Trebuchet MS"/>
                <a:ea typeface="Trebuchet MS"/>
                <a:cs typeface="Trebuchet MS"/>
                <a:sym typeface="Trebuchet MS"/>
              </a:rPr>
              <a:t>Apple's Human Interface Guidelines for Machine Learning: </a:t>
            </a:r>
            <a:r>
              <a:rPr lang="en-GB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https://developer.apple.com/design/human-interface-guidelines/machine- learning/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15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GB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5"/>
              </a:rPr>
              <a:t>Microsoft's Human-AI eXperience Toolkit: https://www.microsoft.com/en- us/haxtoolkit/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2" name="Google Shape;772;p91"/>
          <p:cNvSpPr txBox="1"/>
          <p:nvPr>
            <p:ph idx="11" type="ftr"/>
          </p:nvPr>
        </p:nvSpPr>
        <p:spPr>
          <a:xfrm>
            <a:off x="4132046" y="4943800"/>
            <a:ext cx="130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Human-AI Interaction</a:t>
            </a:r>
            <a:endParaRPr/>
          </a:p>
        </p:txBody>
      </p:sp>
      <p:sp>
        <p:nvSpPr>
          <p:cNvPr id="773" name="Google Shape;773;p91"/>
          <p:cNvSpPr txBox="1"/>
          <p:nvPr>
            <p:ph type="title"/>
          </p:nvPr>
        </p:nvSpPr>
        <p:spPr>
          <a:xfrm>
            <a:off x="687704" y="528446"/>
            <a:ext cx="6832283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Guidelines</a:t>
            </a:r>
            <a:endParaRPr/>
          </a:p>
        </p:txBody>
      </p:sp>
      <p:sp>
        <p:nvSpPr>
          <p:cNvPr id="774" name="Google Shape;774;p91"/>
          <p:cNvSpPr txBox="1"/>
          <p:nvPr>
            <p:ph idx="12" type="sldNum"/>
          </p:nvPr>
        </p:nvSpPr>
        <p:spPr>
          <a:xfrm>
            <a:off x="8241034" y="467288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