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5143500" cx="9144000"/>
  <p:notesSz cx="7315200" cy="96012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2D200454-40CA-4A62-9FC3-DE9A4176ACB9}">
      <p15:notesGuideLst>
        <p15:guide id="1" orient="horz" pos="2268">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notesViewPr>
    <p:cSldViewPr snapToGrid="0">
      <p:cViewPr varScale="1">
        <p:scale>
          <a:sx n="100" d="100"/>
          <a:sy n="100" d="100"/>
        </p:scale>
        <p:origin x="0" y="0"/>
      </p:cViewPr>
      <p:guideLst>
        <p:guide pos="2268" orient="horz"/>
        <p:guide pos="2304"/>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70238" cy="48101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143375" y="0"/>
            <a:ext cx="3170238" cy="481013"/>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731838" y="4560888"/>
            <a:ext cx="5851525" cy="4319587"/>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18600"/>
            <a:ext cx="3170238" cy="4810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143375" y="9118600"/>
            <a:ext cx="3170238" cy="4810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1:notes"/>
          <p:cNvSpPr txBox="1"/>
          <p:nvPr>
            <p:ph idx="1" type="body"/>
          </p:nvPr>
        </p:nvSpPr>
        <p:spPr>
          <a:xfrm>
            <a:off x="731838" y="4560888"/>
            <a:ext cx="5851525" cy="431958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7" name="Google Shape;57;p1: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2:notes"/>
          <p:cNvSpPr txBox="1"/>
          <p:nvPr>
            <p:ph idx="1" type="body"/>
          </p:nvPr>
        </p:nvSpPr>
        <p:spPr>
          <a:xfrm>
            <a:off x="731838" y="4560888"/>
            <a:ext cx="5851525" cy="431958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4" name="Google Shape;64;p2: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46cfece022_0_2: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72" name="Google Shape;72;g46cfece022_0_2: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3" name="Google Shape;73;g46cfece022_0_2:notes"/>
          <p:cNvSpPr txBox="1"/>
          <p:nvPr>
            <p:ph idx="12" type="sldNum"/>
          </p:nvPr>
        </p:nvSpPr>
        <p:spPr>
          <a:xfrm>
            <a:off x="4143375" y="9118600"/>
            <a:ext cx="3170100" cy="480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a2ec305b79_0_32: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82" name="Google Shape;82;ga2ec305b79_0_32: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3" name="Google Shape;83;ga2ec305b79_0_32:notes"/>
          <p:cNvSpPr txBox="1"/>
          <p:nvPr>
            <p:ph idx="12" type="sldNum"/>
          </p:nvPr>
        </p:nvSpPr>
        <p:spPr>
          <a:xfrm>
            <a:off x="4143375" y="9118600"/>
            <a:ext cx="3170100" cy="480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46cfece022_0_1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91" name="Google Shape;91;g46cfece022_0_1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2" name="Google Shape;92;g46cfece022_0_10:notes"/>
          <p:cNvSpPr txBox="1"/>
          <p:nvPr>
            <p:ph idx="12" type="sldNum"/>
          </p:nvPr>
        </p:nvSpPr>
        <p:spPr>
          <a:xfrm>
            <a:off x="4143375" y="9118600"/>
            <a:ext cx="3170100" cy="480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a2ec305b79_0_2: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a2ec305b79_0_2: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2" name="Google Shape;102;ga2ec305b79_0_2:notes"/>
          <p:cNvSpPr txBox="1"/>
          <p:nvPr>
            <p:ph idx="12" type="sldNum"/>
          </p:nvPr>
        </p:nvSpPr>
        <p:spPr>
          <a:xfrm>
            <a:off x="4143375" y="9118600"/>
            <a:ext cx="3170100" cy="480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a2ec305b79_0_24: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a2ec305b79_0_24: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2" name="Google Shape;112;ga2ec305b79_0_24:notes"/>
          <p:cNvSpPr txBox="1"/>
          <p:nvPr>
            <p:ph idx="12" type="sldNum"/>
          </p:nvPr>
        </p:nvSpPr>
        <p:spPr>
          <a:xfrm>
            <a:off x="4143375" y="9118600"/>
            <a:ext cx="3170100" cy="480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txBox="1"/>
          <p:nvPr>
            <p:ph idx="1" type="body"/>
          </p:nvPr>
        </p:nvSpPr>
        <p:spPr>
          <a:xfrm>
            <a:off x="731838" y="4560888"/>
            <a:ext cx="5851525" cy="431958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1" name="Google Shape;121;p4: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notes"/>
          <p:cNvSpPr txBox="1"/>
          <p:nvPr>
            <p:ph idx="1" type="body"/>
          </p:nvPr>
        </p:nvSpPr>
        <p:spPr>
          <a:xfrm>
            <a:off x="731838" y="4560888"/>
            <a:ext cx="5851525" cy="431958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8" name="Google Shape;128;p5: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46cfece022_0_18: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46cfece022_0_18: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6" name="Google Shape;136;g46cfece022_0_18:notes"/>
          <p:cNvSpPr txBox="1"/>
          <p:nvPr>
            <p:ph idx="12" type="sldNum"/>
          </p:nvPr>
        </p:nvSpPr>
        <p:spPr>
          <a:xfrm>
            <a:off x="4143375" y="9118600"/>
            <a:ext cx="3170100" cy="480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46cfece022_0_26: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46cfece022_0_26: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5" name="Google Shape;145;g46cfece022_0_26:notes"/>
          <p:cNvSpPr txBox="1"/>
          <p:nvPr>
            <p:ph idx="12" type="sldNum"/>
          </p:nvPr>
        </p:nvSpPr>
        <p:spPr>
          <a:xfrm>
            <a:off x="4143375" y="9118600"/>
            <a:ext cx="3170100" cy="480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46cfece022_0_34: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46cfece022_0_34: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4" name="Google Shape;154;g46cfece022_0_34:notes"/>
          <p:cNvSpPr txBox="1"/>
          <p:nvPr>
            <p:ph idx="12" type="sldNum"/>
          </p:nvPr>
        </p:nvSpPr>
        <p:spPr>
          <a:xfrm>
            <a:off x="4143375" y="9118600"/>
            <a:ext cx="3170100" cy="480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aca3b27c18_0_91: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aca3b27c18_0_91: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3" name="Google Shape;163;gaca3b27c18_0_91:notes"/>
          <p:cNvSpPr txBox="1"/>
          <p:nvPr>
            <p:ph idx="12" type="sldNum"/>
          </p:nvPr>
        </p:nvSpPr>
        <p:spPr>
          <a:xfrm>
            <a:off x="4143375" y="9118600"/>
            <a:ext cx="3170100" cy="480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6:notes"/>
          <p:cNvSpPr txBox="1"/>
          <p:nvPr>
            <p:ph idx="1" type="body"/>
          </p:nvPr>
        </p:nvSpPr>
        <p:spPr>
          <a:xfrm>
            <a:off x="731838" y="4560888"/>
            <a:ext cx="5851525" cy="431958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2" name="Google Shape;172;p6: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7:notes"/>
          <p:cNvSpPr txBox="1"/>
          <p:nvPr>
            <p:ph idx="1" type="body"/>
          </p:nvPr>
        </p:nvSpPr>
        <p:spPr>
          <a:xfrm>
            <a:off x="731838" y="4560888"/>
            <a:ext cx="5851525" cy="431958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1" name="Google Shape;181;p7: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8:notes"/>
          <p:cNvSpPr txBox="1"/>
          <p:nvPr>
            <p:ph idx="1" type="body"/>
          </p:nvPr>
        </p:nvSpPr>
        <p:spPr>
          <a:xfrm>
            <a:off x="731838" y="4560888"/>
            <a:ext cx="5851525" cy="431958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1" name="Google Shape;191;p8: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6b12eac785_0_172: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6b12eac785_0_172: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1" name="Google Shape;201;g6b12eac785_0_172:notes"/>
          <p:cNvSpPr txBox="1"/>
          <p:nvPr>
            <p:ph idx="12" type="sldNum"/>
          </p:nvPr>
        </p:nvSpPr>
        <p:spPr>
          <a:xfrm>
            <a:off x="4143375" y="9118600"/>
            <a:ext cx="3170100" cy="480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6b12eac785_0_162: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6b12eac785_0_162: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1" name="Google Shape;211;g6b12eac785_0_162:notes"/>
          <p:cNvSpPr txBox="1"/>
          <p:nvPr>
            <p:ph idx="12" type="sldNum"/>
          </p:nvPr>
        </p:nvSpPr>
        <p:spPr>
          <a:xfrm>
            <a:off x="4143375" y="9118600"/>
            <a:ext cx="3170100" cy="480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6b12eac785_0_58: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6b12eac785_0_58: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0" name="Google Shape;220;g6b12eac785_0_58:notes"/>
          <p:cNvSpPr txBox="1"/>
          <p:nvPr>
            <p:ph idx="12" type="sldNum"/>
          </p:nvPr>
        </p:nvSpPr>
        <p:spPr>
          <a:xfrm>
            <a:off x="4143375" y="9118600"/>
            <a:ext cx="3170100" cy="480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9:notes"/>
          <p:cNvSpPr txBox="1"/>
          <p:nvPr>
            <p:ph idx="1" type="body"/>
          </p:nvPr>
        </p:nvSpPr>
        <p:spPr>
          <a:xfrm>
            <a:off x="731838" y="4560888"/>
            <a:ext cx="5851525" cy="431958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9" name="Google Shape;229;p9: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6b12eac785_0_66: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6b12eac785_0_66: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9" name="Google Shape;239;g6b12eac785_0_66:notes"/>
          <p:cNvSpPr txBox="1"/>
          <p:nvPr>
            <p:ph idx="12" type="sldNum"/>
          </p:nvPr>
        </p:nvSpPr>
        <p:spPr>
          <a:xfrm>
            <a:off x="4143375" y="9118600"/>
            <a:ext cx="3170100" cy="480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6b12eac785_0_85: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6b12eac785_0_85: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9" name="Google Shape;249;g6b12eac785_0_85:notes"/>
          <p:cNvSpPr txBox="1"/>
          <p:nvPr>
            <p:ph idx="12" type="sldNum"/>
          </p:nvPr>
        </p:nvSpPr>
        <p:spPr>
          <a:xfrm>
            <a:off x="4143375" y="9118600"/>
            <a:ext cx="3170100" cy="480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0:notes"/>
          <p:cNvSpPr txBox="1"/>
          <p:nvPr>
            <p:ph idx="1" type="body"/>
          </p:nvPr>
        </p:nvSpPr>
        <p:spPr>
          <a:xfrm>
            <a:off x="731838" y="4560888"/>
            <a:ext cx="5851525" cy="431958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8" name="Google Shape;258;p1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6b12eac785_0_93: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6b12eac785_0_93: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8" name="Google Shape;268;g6b12eac785_0_93:notes"/>
          <p:cNvSpPr txBox="1"/>
          <p:nvPr>
            <p:ph idx="12" type="sldNum"/>
          </p:nvPr>
        </p:nvSpPr>
        <p:spPr>
          <a:xfrm>
            <a:off x="4143375" y="9118600"/>
            <a:ext cx="3170100" cy="480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6b12eac785_0_12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6b12eac785_0_12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7" name="Google Shape;277;g6b12eac785_0_120:notes"/>
          <p:cNvSpPr txBox="1"/>
          <p:nvPr>
            <p:ph idx="12" type="sldNum"/>
          </p:nvPr>
        </p:nvSpPr>
        <p:spPr>
          <a:xfrm>
            <a:off x="4143375" y="9118600"/>
            <a:ext cx="3170100" cy="480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1:notes"/>
          <p:cNvSpPr txBox="1"/>
          <p:nvPr>
            <p:ph idx="1" type="body"/>
          </p:nvPr>
        </p:nvSpPr>
        <p:spPr>
          <a:xfrm>
            <a:off x="731838" y="4560888"/>
            <a:ext cx="5851525" cy="431958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6" name="Google Shape;286;p11: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6b12eac785_0_77: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6b12eac785_0_77: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8" name="Google Shape;298;g6b12eac785_0_77:notes"/>
          <p:cNvSpPr txBox="1"/>
          <p:nvPr>
            <p:ph idx="12" type="sldNum"/>
          </p:nvPr>
        </p:nvSpPr>
        <p:spPr>
          <a:xfrm>
            <a:off x="4143375" y="9118600"/>
            <a:ext cx="3170100" cy="480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2:notes"/>
          <p:cNvSpPr txBox="1"/>
          <p:nvPr>
            <p:ph idx="1" type="body"/>
          </p:nvPr>
        </p:nvSpPr>
        <p:spPr>
          <a:xfrm>
            <a:off x="731838" y="4560888"/>
            <a:ext cx="5851525" cy="431958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7" name="Google Shape;307;p12: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6b12eac785_0_101: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6b12eac785_0_101: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18" name="Google Shape;318;g6b12eac785_0_101:notes"/>
          <p:cNvSpPr txBox="1"/>
          <p:nvPr>
            <p:ph idx="12" type="sldNum"/>
          </p:nvPr>
        </p:nvSpPr>
        <p:spPr>
          <a:xfrm>
            <a:off x="4143375" y="9118600"/>
            <a:ext cx="3170100" cy="480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3:notes"/>
          <p:cNvSpPr txBox="1"/>
          <p:nvPr>
            <p:ph idx="1" type="body"/>
          </p:nvPr>
        </p:nvSpPr>
        <p:spPr>
          <a:xfrm>
            <a:off x="731838" y="4560888"/>
            <a:ext cx="5851525" cy="431958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27" name="Google Shape;327;p13: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6b12eac785_0_143: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6b12eac785_0_143: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8" name="Google Shape;338;g6b12eac785_0_143:notes"/>
          <p:cNvSpPr txBox="1"/>
          <p:nvPr>
            <p:ph idx="12" type="sldNum"/>
          </p:nvPr>
        </p:nvSpPr>
        <p:spPr>
          <a:xfrm>
            <a:off x="4143375" y="9118600"/>
            <a:ext cx="3170100" cy="480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6b12eac785_0_155: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6b12eac785_0_155: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48" name="Google Shape;348;g6b12eac785_0_155:notes"/>
          <p:cNvSpPr txBox="1"/>
          <p:nvPr>
            <p:ph idx="12" type="sldNum"/>
          </p:nvPr>
        </p:nvSpPr>
        <p:spPr>
          <a:xfrm>
            <a:off x="4143375" y="9118600"/>
            <a:ext cx="3170100" cy="480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14:notes"/>
          <p:cNvSpPr txBox="1"/>
          <p:nvPr>
            <p:ph idx="1" type="body"/>
          </p:nvPr>
        </p:nvSpPr>
        <p:spPr>
          <a:xfrm>
            <a:off x="731838" y="4560888"/>
            <a:ext cx="5851525" cy="431958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54" name="Google Shape;354;p14: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5:notes"/>
          <p:cNvSpPr txBox="1"/>
          <p:nvPr>
            <p:ph idx="1" type="body"/>
          </p:nvPr>
        </p:nvSpPr>
        <p:spPr>
          <a:xfrm>
            <a:off x="731838" y="4560888"/>
            <a:ext cx="5851525" cy="431958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64" name="Google Shape;364;p15: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aca3b27c18_0_99: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aca3b27c18_0_99: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75" name="Google Shape;375;gaca3b27c18_0_99:notes"/>
          <p:cNvSpPr txBox="1"/>
          <p:nvPr>
            <p:ph idx="12" type="sldNum"/>
          </p:nvPr>
        </p:nvSpPr>
        <p:spPr>
          <a:xfrm>
            <a:off x="4143375" y="9118600"/>
            <a:ext cx="3170100" cy="480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a2ec305b79_0_4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a2ec305b79_0_4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83" name="Google Shape;383;ga2ec305b79_0_40:notes"/>
          <p:cNvSpPr txBox="1"/>
          <p:nvPr>
            <p:ph idx="12" type="sldNum"/>
          </p:nvPr>
        </p:nvSpPr>
        <p:spPr>
          <a:xfrm>
            <a:off x="4143375" y="9118600"/>
            <a:ext cx="3170100" cy="480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a2ec305b79_0_88: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a2ec305b79_0_88: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93" name="Google Shape;393;ga2ec305b79_0_88:notes"/>
          <p:cNvSpPr txBox="1"/>
          <p:nvPr>
            <p:ph idx="12" type="sldNum"/>
          </p:nvPr>
        </p:nvSpPr>
        <p:spPr>
          <a:xfrm>
            <a:off x="4143375" y="9118600"/>
            <a:ext cx="3170100" cy="480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19c6400419_1_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19c6400419_1_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01" name="Google Shape;401;g319c6400419_1_0:notes"/>
          <p:cNvSpPr txBox="1"/>
          <p:nvPr>
            <p:ph idx="12" type="sldNum"/>
          </p:nvPr>
        </p:nvSpPr>
        <p:spPr>
          <a:xfrm>
            <a:off x="4143375" y="9118600"/>
            <a:ext cx="3170100" cy="480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6" name="Google Shape;16;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7" name="Google Shape;17;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8" name="Shape 18"/>
        <p:cNvGrpSpPr/>
        <p:nvPr/>
      </p:nvGrpSpPr>
      <p:grpSpPr>
        <a:xfrm>
          <a:off x="0" y="0"/>
          <a:ext cx="0" cy="0"/>
          <a:chOff x="0" y="0"/>
          <a:chExt cx="0" cy="0"/>
        </a:xfrm>
      </p:grpSpPr>
      <p:sp>
        <p:nvSpPr>
          <p:cNvPr id="19" name="Google Shape;19;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0" name="Google Shape;20;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5" name="Google Shape;35;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9" name="Google Shape;39;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0" name="Shape 40"/>
        <p:cNvGrpSpPr/>
        <p:nvPr/>
      </p:nvGrpSpPr>
      <p:grpSpPr>
        <a:xfrm>
          <a:off x="0" y="0"/>
          <a:ext cx="0" cy="0"/>
          <a:chOff x="0" y="0"/>
          <a:chExt cx="0" cy="0"/>
        </a:xfrm>
      </p:grpSpPr>
      <p:sp>
        <p:nvSpPr>
          <p:cNvPr id="41" name="Google Shape;41;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1" name="Google Shape;11;p1"/>
          <p:cNvSpPr txBox="1"/>
          <p:nvPr>
            <p:ph idx="1" type="body"/>
          </p:nvPr>
        </p:nvSpPr>
        <p:spPr>
          <a:xfrm>
            <a:off x="311700" y="6190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12" name="Google Shape;12;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
        <p:nvSpPr>
          <p:cNvPr id="13" name="Google Shape;13;p1"/>
          <p:cNvSpPr txBox="1"/>
          <p:nvPr/>
        </p:nvSpPr>
        <p:spPr>
          <a:xfrm>
            <a:off x="558425" y="4834400"/>
            <a:ext cx="8031300" cy="33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chemeClr val="dk1"/>
                </a:solidFill>
              </a:rPr>
              <a:t>DANIELE MAZZEI, TOMMASO TURCHI - IUM 24-25</a:t>
            </a:r>
            <a:r>
              <a:rPr lang="en-GB"/>
              <a:t> </a:t>
            </a:r>
            <a:r>
              <a:rPr lang="en-GB" sz="700"/>
              <a:t>(</a:t>
            </a:r>
            <a:r>
              <a:rPr lang="en-GB" sz="700"/>
              <a:t>all rights reserved)</a:t>
            </a:r>
            <a:endParaRPr sz="700"/>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www.pretotyping.or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6.png"/><Relationship Id="rId4" Type="http://schemas.openxmlformats.org/officeDocument/2006/relationships/hyperlink" Target="http://www.pretotyping.org/"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7.png"/><Relationship Id="rId4" Type="http://schemas.openxmlformats.org/officeDocument/2006/relationships/hyperlink" Target="http://www.pretotyping.org"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hyperlink" Target="http://www.pretotyping.or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hyperlink" Target="http://www.pretotyping.org"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hyperlink" Target="http://www.pretotyping.org"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hyperlink" Target="http://www.pretotyping.org"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hyperlink" Target="http://www.pretotyping.org"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hyperlink" Target="http://www.pretotyping.org"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hyperlink" Target="http://www.pretotyping.org"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www.pretotyping.org"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hyperlink" Target="http://www.pretotyping.org"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16.png"/><Relationship Id="rId5" Type="http://schemas.openxmlformats.org/officeDocument/2006/relationships/hyperlink" Target="http://www.pretotyping.org"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14.png"/><Relationship Id="rId6" Type="http://schemas.openxmlformats.org/officeDocument/2006/relationships/hyperlink" Target="http://www.pretotyping.org"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6.png"/><Relationship Id="rId4" Type="http://schemas.openxmlformats.org/officeDocument/2006/relationships/image" Target="../media/image10.png"/><Relationship Id="rId5" Type="http://schemas.openxmlformats.org/officeDocument/2006/relationships/hyperlink" Target="http://www.pretotyping.org"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www.pretotyping.org" TargetMode="Externa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www.youtube.com/watch?v=4sZMHAMN0DQ&amp;ab_channel=TheRightIt%E2%80%94VideolessonsbyAlbertoSavoia" TargetMode="External"/><Relationship Id="rId4" Type="http://schemas.openxmlformats.org/officeDocument/2006/relationships/hyperlink" Target="https://www.albertosavoia.com/uploads/1/4/0/9/14099067/hypozooming_video.pdf" TargetMode="External"/><Relationship Id="rId5" Type="http://schemas.openxmlformats.org/officeDocument/2006/relationships/hyperlink" Target="https://www.youtube.com/watch?v=bKfBbYsJlZc&amp;ab_channel=TheRightIt%E2%80%94VideolessonsbyAlbertoSavoia" TargetMode="External"/><Relationship Id="rId6" Type="http://schemas.openxmlformats.org/officeDocument/2006/relationships/hyperlink" Target="http://www.pretotyping.org"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hyperlink" Target="https://www.nesta.org.uk/blog/development-and-testing-for-public-labs-fake-it-before-you-make-it/"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9.png"/><Relationship Id="rId4" Type="http://schemas.openxmlformats.org/officeDocument/2006/relationships/image" Target="../media/image16.png"/><Relationship Id="rId5" Type="http://schemas.openxmlformats.org/officeDocument/2006/relationships/hyperlink" Target="http://www.pretotyping.org"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4.png"/><Relationship Id="rId4" Type="http://schemas.openxmlformats.org/officeDocument/2006/relationships/hyperlink" Target="https://hackernoon.com/fake-door-the-mvp-before-the-mvp-61197ed264a3"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8.png"/><Relationship Id="rId4" Type="http://schemas.openxmlformats.org/officeDocument/2006/relationships/hyperlink" Target="https://www.nesta.org.uk/blog/development-and-testing-for-public-labs-fake-it-before-you-make-it/"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6.png"/><Relationship Id="rId4" Type="http://schemas.openxmlformats.org/officeDocument/2006/relationships/image" Target="../media/image16.png"/><Relationship Id="rId5" Type="http://schemas.openxmlformats.org/officeDocument/2006/relationships/hyperlink" Target="http://www.pretotyping.org"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0.png"/><Relationship Id="rId4" Type="http://schemas.openxmlformats.org/officeDocument/2006/relationships/hyperlink" Target="https://www.nesta.org.uk/blog/development-and-testing-for-public-labs-fake-it-before-you-make-it/" TargetMode="External"/><Relationship Id="rId5" Type="http://schemas.openxmlformats.org/officeDocument/2006/relationships/hyperlink" Target="https://vimeo.com/79313674"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6.png"/><Relationship Id="rId4" Type="http://schemas.openxmlformats.org/officeDocument/2006/relationships/image" Target="../media/image19.png"/><Relationship Id="rId5" Type="http://schemas.openxmlformats.org/officeDocument/2006/relationships/hyperlink" Target="http://www.pretotyping.org" TargetMode="External"/><Relationship Id="rId6" Type="http://schemas.openxmlformats.org/officeDocument/2006/relationships/hyperlink" Target="https://vimeo.com/79313674"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6.png"/><Relationship Id="rId4" Type="http://schemas.openxmlformats.org/officeDocument/2006/relationships/image" Target="../media/image33.png"/><Relationship Id="rId5" Type="http://schemas.openxmlformats.org/officeDocument/2006/relationships/hyperlink" Target="http://www.pretotyping.org"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3.png"/><Relationship Id="rId4" Type="http://schemas.openxmlformats.org/officeDocument/2006/relationships/hyperlink" Target="https://www.nesta.org.uk/blog/development-and-testing-for-public-labs-fake-it-before-you-make-it/"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6.png"/><Relationship Id="rId4" Type="http://schemas.openxmlformats.org/officeDocument/2006/relationships/image" Target="../media/image27.png"/><Relationship Id="rId5" Type="http://schemas.openxmlformats.org/officeDocument/2006/relationships/hyperlink" Target="http://www.pretotyping.org"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4.png"/><Relationship Id="rId4" Type="http://schemas.openxmlformats.org/officeDocument/2006/relationships/hyperlink" Target="https://www.youtube.com/watch?v=9ko6oFb-jQY"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6.png"/><Relationship Id="rId4" Type="http://schemas.openxmlformats.org/officeDocument/2006/relationships/image" Target="../media/image31.png"/><Relationship Id="rId5" Type="http://schemas.openxmlformats.org/officeDocument/2006/relationships/hyperlink" Target="http://www.pretotyping.org"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6.png"/><Relationship Id="rId4" Type="http://schemas.openxmlformats.org/officeDocument/2006/relationships/image" Target="../media/image29.png"/><Relationship Id="rId5" Type="http://schemas.openxmlformats.org/officeDocument/2006/relationships/hyperlink" Target="http://www.pretotyping.org"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s://www.weebly.com/" TargetMode="External"/><Relationship Id="rId4" Type="http://schemas.openxmlformats.org/officeDocument/2006/relationships/hyperlink" Target="https://www.omnigroup.com/omnigraffle" TargetMode="External"/><Relationship Id="rId10" Type="http://schemas.openxmlformats.org/officeDocument/2006/relationships/hyperlink" Target="https://www.shopify.com/" TargetMode="External"/><Relationship Id="rId9" Type="http://schemas.openxmlformats.org/officeDocument/2006/relationships/hyperlink" Target="http://www.theappbuilder.com/" TargetMode="External"/><Relationship Id="rId5" Type="http://schemas.openxmlformats.org/officeDocument/2006/relationships/hyperlink" Target="https://appery.io/appbuilder" TargetMode="External"/><Relationship Id="rId6" Type="http://schemas.openxmlformats.org/officeDocument/2006/relationships/hyperlink" Target="http://appery.io" TargetMode="External"/><Relationship Id="rId7" Type="http://schemas.openxmlformats.org/officeDocument/2006/relationships/hyperlink" Target="https://www.figma.com/" TargetMode="External"/><Relationship Id="rId8" Type="http://schemas.openxmlformats.org/officeDocument/2006/relationships/hyperlink" Target="https://careerfoundry.com/en/blog/ux-design/prototyping-tools/"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hyperlink" Target="https://www.youtube.com/watch?v=3sUozPcH4fY&amp;feature=emb_logo"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hyperlink" Target="http://www.youtube.com/watch?v=6reLWfFNer0" TargetMode="External"/><Relationship Id="rId4" Type="http://schemas.openxmlformats.org/officeDocument/2006/relationships/image" Target="../media/image25.jpg"/><Relationship Id="rId5" Type="http://schemas.openxmlformats.org/officeDocument/2006/relationships/hyperlink" Target="https://readmake.com/" TargetMode="External"/><Relationship Id="rId6"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311708" y="744575"/>
            <a:ext cx="8520600" cy="2052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chemeClr val="dk1"/>
              </a:buClr>
              <a:buSzPts val="1800"/>
              <a:buFont typeface="Arial"/>
              <a:buNone/>
            </a:pPr>
            <a:r>
              <a:rPr lang="en-GB"/>
              <a:t>PRETOTYPING</a:t>
            </a:r>
            <a:endParaRPr/>
          </a:p>
        </p:txBody>
      </p:sp>
      <p:sp>
        <p:nvSpPr>
          <p:cNvPr id="60" name="Google Shape;60;p13"/>
          <p:cNvSpPr txBox="1"/>
          <p:nvPr>
            <p:ph idx="1" type="subTitle"/>
          </p:nvPr>
        </p:nvSpPr>
        <p:spPr>
          <a:xfrm>
            <a:off x="311700" y="2834125"/>
            <a:ext cx="8520600" cy="7926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1800"/>
              <a:buNone/>
            </a:pPr>
            <a:r>
              <a:rPr lang="en-GB" sz="1800" u="sng">
                <a:solidFill>
                  <a:schemeClr val="hlink"/>
                </a:solidFill>
                <a:hlinkClick r:id="rId3"/>
              </a:rPr>
              <a:t>https://www.pretotyping.org/</a:t>
            </a:r>
            <a:endParaRPr sz="1800"/>
          </a:p>
        </p:txBody>
      </p:sp>
      <p:sp>
        <p:nvSpPr>
          <p:cNvPr id="61" name="Google Shape;61;p13"/>
          <p:cNvSpPr txBox="1"/>
          <p:nvPr>
            <p:ph idx="12" type="sldNum"/>
          </p:nvPr>
        </p:nvSpPr>
        <p:spPr>
          <a:xfrm>
            <a:off x="8472458" y="4663217"/>
            <a:ext cx="548700" cy="3936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type="title"/>
          </p:nvPr>
        </p:nvSpPr>
        <p:spPr>
          <a:xfrm>
            <a:off x="311700" y="64025"/>
            <a:ext cx="8520600" cy="5727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67" name="Google Shape;67;p14"/>
          <p:cNvPicPr preferRelativeResize="0"/>
          <p:nvPr>
            <p:ph idx="1" type="body"/>
          </p:nvPr>
        </p:nvPicPr>
        <p:blipFill rotWithShape="1">
          <a:blip r:embed="rId3">
            <a:alphaModFix/>
          </a:blip>
          <a:srcRect b="0" l="0" r="0" t="0"/>
          <a:stretch/>
        </p:blipFill>
        <p:spPr>
          <a:xfrm>
            <a:off x="2659650" y="-17521"/>
            <a:ext cx="3824700" cy="4476600"/>
          </a:xfrm>
          <a:prstGeom prst="rect">
            <a:avLst/>
          </a:prstGeom>
          <a:noFill/>
          <a:ln>
            <a:noFill/>
          </a:ln>
        </p:spPr>
      </p:pic>
      <p:sp>
        <p:nvSpPr>
          <p:cNvPr id="68" name="Google Shape;68;p14"/>
          <p:cNvSpPr txBox="1"/>
          <p:nvPr>
            <p:ph idx="12" type="sldNum"/>
          </p:nvPr>
        </p:nvSpPr>
        <p:spPr>
          <a:xfrm>
            <a:off x="8472458" y="4663217"/>
            <a:ext cx="548700" cy="3936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69" name="Google Shape;69;p14"/>
          <p:cNvSpPr/>
          <p:nvPr/>
        </p:nvSpPr>
        <p:spPr>
          <a:xfrm>
            <a:off x="-25" y="4588450"/>
            <a:ext cx="6465300" cy="481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GB" sz="1800" u="sng" cap="none" strike="noStrike">
                <a:solidFill>
                  <a:schemeClr val="hlink"/>
                </a:solidFill>
                <a:latin typeface="Calibri"/>
                <a:ea typeface="Calibri"/>
                <a:cs typeface="Calibri"/>
                <a:sym typeface="Calibri"/>
                <a:hlinkClick r:id="rId4"/>
              </a:rPr>
              <a:t>http://www.pretotyping.org/</a:t>
            </a:r>
            <a:r>
              <a:rPr b="0" i="0" lang="en-GB" sz="1800" u="none" cap="none" strike="noStrike">
                <a:solidFill>
                  <a:schemeClr val="dk1"/>
                </a:solidFill>
                <a:latin typeface="Calibri"/>
                <a:ea typeface="Calibri"/>
                <a:cs typeface="Calibri"/>
                <a:sym typeface="Calibri"/>
              </a:rPr>
              <a:t>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78" name="Google Shape;78;p15"/>
          <p:cNvPicPr preferRelativeResize="0"/>
          <p:nvPr/>
        </p:nvPicPr>
        <p:blipFill>
          <a:blip r:embed="rId3">
            <a:alphaModFix/>
          </a:blip>
          <a:stretch>
            <a:fillRect/>
          </a:stretch>
        </p:blipFill>
        <p:spPr>
          <a:xfrm>
            <a:off x="1688362" y="-12"/>
            <a:ext cx="5767276" cy="4961924"/>
          </a:xfrm>
          <a:prstGeom prst="rect">
            <a:avLst/>
          </a:prstGeom>
          <a:noFill/>
          <a:ln>
            <a:noFill/>
          </a:ln>
        </p:spPr>
      </p:pic>
      <p:sp>
        <p:nvSpPr>
          <p:cNvPr id="79" name="Google Shape;79;p15"/>
          <p:cNvSpPr txBox="1"/>
          <p:nvPr/>
        </p:nvSpPr>
        <p:spPr>
          <a:xfrm>
            <a:off x="5884602" y="4600450"/>
            <a:ext cx="2923200" cy="276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Source: </a:t>
            </a:r>
            <a:r>
              <a:rPr lang="en-GB" u="sng">
                <a:solidFill>
                  <a:schemeClr val="hlink"/>
                </a:solidFill>
                <a:hlinkClick r:id="rId4"/>
              </a:rPr>
              <a:t>www.pretotyping.org</a:t>
            </a:r>
            <a:r>
              <a:rPr lang="en-GB"/>
              <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law of market failure</a:t>
            </a:r>
            <a:endParaRPr/>
          </a:p>
        </p:txBody>
      </p:sp>
      <p:sp>
        <p:nvSpPr>
          <p:cNvPr id="86" name="Google Shape;86;p1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
        <p:nvSpPr>
          <p:cNvPr id="87" name="Google Shape;87;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88" name="Google Shape;88;p16"/>
          <p:cNvPicPr preferRelativeResize="0"/>
          <p:nvPr/>
        </p:nvPicPr>
        <p:blipFill rotWithShape="1">
          <a:blip r:embed="rId3">
            <a:alphaModFix/>
          </a:blip>
          <a:srcRect b="0" l="0" r="8483" t="0"/>
          <a:stretch/>
        </p:blipFill>
        <p:spPr>
          <a:xfrm>
            <a:off x="0" y="795375"/>
            <a:ext cx="8368275" cy="35527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
        <p:nvSpPr>
          <p:cNvPr id="96" name="Google Shape;96;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97" name="Google Shape;97;p17"/>
          <p:cNvPicPr preferRelativeResize="0"/>
          <p:nvPr/>
        </p:nvPicPr>
        <p:blipFill>
          <a:blip r:embed="rId3">
            <a:alphaModFix/>
          </a:blip>
          <a:stretch>
            <a:fillRect/>
          </a:stretch>
        </p:blipFill>
        <p:spPr>
          <a:xfrm>
            <a:off x="0" y="1064746"/>
            <a:ext cx="9143999" cy="2411200"/>
          </a:xfrm>
          <a:prstGeom prst="rect">
            <a:avLst/>
          </a:prstGeom>
          <a:noFill/>
          <a:ln>
            <a:noFill/>
          </a:ln>
        </p:spPr>
      </p:pic>
      <p:sp>
        <p:nvSpPr>
          <p:cNvPr id="98" name="Google Shape;98;p17"/>
          <p:cNvSpPr txBox="1"/>
          <p:nvPr/>
        </p:nvSpPr>
        <p:spPr>
          <a:xfrm>
            <a:off x="5884602" y="4600450"/>
            <a:ext cx="2923200" cy="276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Source: </a:t>
            </a:r>
            <a:r>
              <a:rPr lang="en-GB" u="sng">
                <a:solidFill>
                  <a:schemeClr val="hlink"/>
                </a:solidFill>
                <a:hlinkClick r:id="rId4"/>
              </a:rPr>
              <a:t>www.pretotyping.org</a:t>
            </a:r>
            <a:r>
              <a:rPr lang="en-GB"/>
              <a:t>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law of market failure</a:t>
            </a:r>
            <a:endParaRPr/>
          </a:p>
        </p:txBody>
      </p:sp>
      <p:sp>
        <p:nvSpPr>
          <p:cNvPr id="105" name="Google Shape;105;p1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rgbClr val="3E3E3E"/>
                </a:solidFill>
                <a:highlight>
                  <a:srgbClr val="FFFFFF"/>
                </a:highlight>
              </a:rPr>
              <a:t>There is only one way to fight the Law of Market Failure: </a:t>
            </a:r>
            <a:r>
              <a:rPr b="1" lang="en-GB" sz="1300">
                <a:solidFill>
                  <a:srgbClr val="3E3E3E"/>
                </a:solidFill>
                <a:highlight>
                  <a:srgbClr val="FFFFFF"/>
                </a:highlight>
              </a:rPr>
              <a:t>test the market</a:t>
            </a:r>
            <a:r>
              <a:rPr lang="en-GB" sz="1300">
                <a:solidFill>
                  <a:srgbClr val="3E3E3E"/>
                </a:solidFill>
                <a:highlight>
                  <a:srgbClr val="FFFFFF"/>
                </a:highlight>
              </a:rPr>
              <a:t> for your ideas objectively, rigorously, and </a:t>
            </a:r>
            <a:r>
              <a:rPr b="1" lang="en-GB" sz="1300">
                <a:solidFill>
                  <a:srgbClr val="3E3E3E"/>
                </a:solidFill>
                <a:highlight>
                  <a:srgbClr val="FFFFFF"/>
                </a:highlight>
              </a:rPr>
              <a:t>quickly before you invest to develop them.</a:t>
            </a:r>
            <a:endParaRPr b="1" sz="1300">
              <a:solidFill>
                <a:srgbClr val="3E3E3E"/>
              </a:solidFill>
              <a:highlight>
                <a:srgbClr val="FFFFFF"/>
              </a:highlight>
            </a:endParaRPr>
          </a:p>
          <a:p>
            <a:pPr indent="0" lvl="0" marL="0" rtl="0" algn="l">
              <a:spcBef>
                <a:spcPts val="1600"/>
              </a:spcBef>
              <a:spcAft>
                <a:spcPts val="0"/>
              </a:spcAft>
              <a:buClr>
                <a:schemeClr val="dk1"/>
              </a:buClr>
              <a:buSzPts val="1100"/>
              <a:buFont typeface="Arial"/>
              <a:buNone/>
            </a:pPr>
            <a:r>
              <a:rPr lang="en-GB" sz="1300">
                <a:solidFill>
                  <a:srgbClr val="3E3E3E"/>
                </a:solidFill>
                <a:highlight>
                  <a:srgbClr val="FFFFFF"/>
                </a:highlight>
              </a:rPr>
              <a:t>Pretotyping provides you with the tools and techniques you need to validate your idea with minimal resources and in a very short time (as little as a few hours.)</a:t>
            </a:r>
            <a:endParaRPr sz="1300">
              <a:solidFill>
                <a:srgbClr val="3E3E3E"/>
              </a:solidFill>
              <a:highlight>
                <a:srgbClr val="FFFFFF"/>
              </a:highlight>
            </a:endParaRPr>
          </a:p>
          <a:p>
            <a:pPr indent="0" lvl="0" marL="0" rtl="0" algn="l">
              <a:spcBef>
                <a:spcPts val="1600"/>
              </a:spcBef>
              <a:spcAft>
                <a:spcPts val="0"/>
              </a:spcAft>
              <a:buClr>
                <a:schemeClr val="dk1"/>
              </a:buClr>
              <a:buSzPts val="1100"/>
              <a:buFont typeface="Arial"/>
              <a:buNone/>
            </a:pPr>
            <a:r>
              <a:t/>
            </a:r>
            <a:endParaRPr sz="1300">
              <a:solidFill>
                <a:srgbClr val="3E3E3E"/>
              </a:solidFill>
              <a:highlight>
                <a:srgbClr val="FFFFFF"/>
              </a:highlight>
            </a:endParaRPr>
          </a:p>
          <a:p>
            <a:pPr indent="0" lvl="0" marL="0" rtl="0" algn="l">
              <a:spcBef>
                <a:spcPts val="1600"/>
              </a:spcBef>
              <a:spcAft>
                <a:spcPts val="1600"/>
              </a:spcAft>
              <a:buNone/>
            </a:pPr>
            <a:r>
              <a:t/>
            </a:r>
            <a:endParaRPr sz="1300">
              <a:solidFill>
                <a:srgbClr val="3E3E3E"/>
              </a:solidFill>
              <a:highlight>
                <a:srgbClr val="FFFFFF"/>
              </a:highlight>
            </a:endParaRPr>
          </a:p>
        </p:txBody>
      </p:sp>
      <p:sp>
        <p:nvSpPr>
          <p:cNvPr id="106" name="Google Shape;106;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descr="Picture" id="107" name="Google Shape;107;p18"/>
          <p:cNvPicPr preferRelativeResize="0"/>
          <p:nvPr/>
        </p:nvPicPr>
        <p:blipFill rotWithShape="1">
          <a:blip r:embed="rId3">
            <a:alphaModFix/>
          </a:blip>
          <a:srcRect b="8251" l="0" r="0" t="19425"/>
          <a:stretch/>
        </p:blipFill>
        <p:spPr>
          <a:xfrm>
            <a:off x="858325" y="1896756"/>
            <a:ext cx="7274950" cy="3000469"/>
          </a:xfrm>
          <a:prstGeom prst="rect">
            <a:avLst/>
          </a:prstGeom>
          <a:noFill/>
          <a:ln>
            <a:noFill/>
          </a:ln>
        </p:spPr>
      </p:pic>
      <p:sp>
        <p:nvSpPr>
          <p:cNvPr id="108" name="Google Shape;108;p18"/>
          <p:cNvSpPr txBox="1"/>
          <p:nvPr/>
        </p:nvSpPr>
        <p:spPr>
          <a:xfrm>
            <a:off x="5884602" y="4600450"/>
            <a:ext cx="2923200" cy="276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Source: </a:t>
            </a:r>
            <a:r>
              <a:rPr lang="en-GB" u="sng">
                <a:solidFill>
                  <a:schemeClr val="hlink"/>
                </a:solidFill>
                <a:hlinkClick r:id="rId4"/>
              </a:rPr>
              <a:t>www.pretotyping.org</a:t>
            </a:r>
            <a:r>
              <a:rPr lang="en-GB"/>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law of market failure in innvoation</a:t>
            </a:r>
            <a:endParaRPr/>
          </a:p>
        </p:txBody>
      </p:sp>
      <p:sp>
        <p:nvSpPr>
          <p:cNvPr id="115" name="Google Shape;115;p1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
        <p:nvSpPr>
          <p:cNvPr id="116" name="Google Shape;116;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117" name="Google Shape;117;p19"/>
          <p:cNvPicPr preferRelativeResize="0"/>
          <p:nvPr/>
        </p:nvPicPr>
        <p:blipFill>
          <a:blip r:embed="rId3">
            <a:alphaModFix/>
          </a:blip>
          <a:stretch>
            <a:fillRect/>
          </a:stretch>
        </p:blipFill>
        <p:spPr>
          <a:xfrm>
            <a:off x="1057887" y="828875"/>
            <a:ext cx="7028226" cy="4009825"/>
          </a:xfrm>
          <a:prstGeom prst="rect">
            <a:avLst/>
          </a:prstGeom>
          <a:noFill/>
          <a:ln>
            <a:noFill/>
          </a:ln>
        </p:spPr>
      </p:pic>
      <p:sp>
        <p:nvSpPr>
          <p:cNvPr id="118" name="Google Shape;118;p19"/>
          <p:cNvSpPr txBox="1"/>
          <p:nvPr/>
        </p:nvSpPr>
        <p:spPr>
          <a:xfrm>
            <a:off x="5884602" y="4600450"/>
            <a:ext cx="2923200" cy="276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Source: </a:t>
            </a:r>
            <a:r>
              <a:rPr lang="en-GB" u="sng">
                <a:solidFill>
                  <a:schemeClr val="hlink"/>
                </a:solidFill>
                <a:hlinkClick r:id="rId4"/>
              </a:rPr>
              <a:t>www.pretotyping.org</a:t>
            </a:r>
            <a:r>
              <a:rPr lang="en-GB"/>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0"/>
          <p:cNvSpPr txBox="1"/>
          <p:nvPr>
            <p:ph idx="12" type="sldNum"/>
          </p:nvPr>
        </p:nvSpPr>
        <p:spPr>
          <a:xfrm>
            <a:off x="8472458" y="4663217"/>
            <a:ext cx="548700" cy="3936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pic>
        <p:nvPicPr>
          <p:cNvPr id="124" name="Google Shape;124;p20"/>
          <p:cNvPicPr preferRelativeResize="0"/>
          <p:nvPr/>
        </p:nvPicPr>
        <p:blipFill rotWithShape="1">
          <a:blip r:embed="rId3">
            <a:alphaModFix/>
          </a:blip>
          <a:srcRect b="0" l="0" r="0" t="0"/>
          <a:stretch/>
        </p:blipFill>
        <p:spPr>
          <a:xfrm>
            <a:off x="1476713" y="177350"/>
            <a:ext cx="6190574" cy="4332924"/>
          </a:xfrm>
          <a:prstGeom prst="rect">
            <a:avLst/>
          </a:prstGeom>
          <a:noFill/>
          <a:ln>
            <a:noFill/>
          </a:ln>
        </p:spPr>
      </p:pic>
      <p:sp>
        <p:nvSpPr>
          <p:cNvPr id="125" name="Google Shape;125;p20"/>
          <p:cNvSpPr txBox="1"/>
          <p:nvPr/>
        </p:nvSpPr>
        <p:spPr>
          <a:xfrm>
            <a:off x="5884602" y="4600450"/>
            <a:ext cx="2923200" cy="276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Source: </a:t>
            </a:r>
            <a:r>
              <a:rPr lang="en-GB" u="sng">
                <a:solidFill>
                  <a:schemeClr val="hlink"/>
                </a:solidFill>
                <a:hlinkClick r:id="rId4"/>
              </a:rPr>
              <a:t>www.pretotyping.org</a:t>
            </a:r>
            <a:r>
              <a:rPr lang="en-GB"/>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1"/>
          <p:cNvSpPr txBox="1"/>
          <p:nvPr>
            <p:ph idx="12" type="sldNum"/>
          </p:nvPr>
        </p:nvSpPr>
        <p:spPr>
          <a:xfrm>
            <a:off x="8472458" y="4663217"/>
            <a:ext cx="548700" cy="3936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pic>
        <p:nvPicPr>
          <p:cNvPr id="131" name="Google Shape;131;p21"/>
          <p:cNvPicPr preferRelativeResize="0"/>
          <p:nvPr/>
        </p:nvPicPr>
        <p:blipFill rotWithShape="1">
          <a:blip r:embed="rId3">
            <a:alphaModFix/>
          </a:blip>
          <a:srcRect b="0" l="0" r="0" t="0"/>
          <a:stretch/>
        </p:blipFill>
        <p:spPr>
          <a:xfrm>
            <a:off x="1286889" y="64025"/>
            <a:ext cx="6570221" cy="4361349"/>
          </a:xfrm>
          <a:prstGeom prst="rect">
            <a:avLst/>
          </a:prstGeom>
          <a:noFill/>
          <a:ln>
            <a:noFill/>
          </a:ln>
        </p:spPr>
      </p:pic>
      <p:sp>
        <p:nvSpPr>
          <p:cNvPr id="132" name="Google Shape;132;p21"/>
          <p:cNvSpPr txBox="1"/>
          <p:nvPr/>
        </p:nvSpPr>
        <p:spPr>
          <a:xfrm>
            <a:off x="5884602" y="4600450"/>
            <a:ext cx="2923200" cy="276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Source: </a:t>
            </a:r>
            <a:r>
              <a:rPr lang="en-GB" u="sng">
                <a:solidFill>
                  <a:schemeClr val="hlink"/>
                </a:solidFill>
                <a:hlinkClick r:id="rId4"/>
              </a:rPr>
              <a:t>www.pretotyping.org</a:t>
            </a:r>
            <a:r>
              <a:rPr lang="en-GB"/>
              <a:t>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THOUGHTLAND</a:t>
            </a:r>
            <a:endParaRPr/>
          </a:p>
        </p:txBody>
      </p:sp>
      <p:sp>
        <p:nvSpPr>
          <p:cNvPr id="139" name="Google Shape;139;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140" name="Google Shape;140;p22"/>
          <p:cNvPicPr preferRelativeResize="0"/>
          <p:nvPr/>
        </p:nvPicPr>
        <p:blipFill>
          <a:blip r:embed="rId3">
            <a:alphaModFix/>
          </a:blip>
          <a:stretch>
            <a:fillRect/>
          </a:stretch>
        </p:blipFill>
        <p:spPr>
          <a:xfrm>
            <a:off x="0" y="984834"/>
            <a:ext cx="9144001" cy="2539067"/>
          </a:xfrm>
          <a:prstGeom prst="rect">
            <a:avLst/>
          </a:prstGeom>
          <a:noFill/>
          <a:ln>
            <a:noFill/>
          </a:ln>
        </p:spPr>
      </p:pic>
      <p:sp>
        <p:nvSpPr>
          <p:cNvPr id="141" name="Google Shape;141;p22"/>
          <p:cNvSpPr txBox="1"/>
          <p:nvPr/>
        </p:nvSpPr>
        <p:spPr>
          <a:xfrm>
            <a:off x="5884602" y="4600450"/>
            <a:ext cx="2923200" cy="276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Source: </a:t>
            </a:r>
            <a:r>
              <a:rPr lang="en-GB" u="sng">
                <a:solidFill>
                  <a:schemeClr val="hlink"/>
                </a:solidFill>
                <a:hlinkClick r:id="rId4"/>
              </a:rPr>
              <a:t>www.pretotyping.org</a:t>
            </a:r>
            <a:r>
              <a:rPr lang="en-GB"/>
              <a:t>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400"/>
              <a:t>THOUGHTS WITHOUT DATA ARE JUST OPINIONS</a:t>
            </a:r>
            <a:r>
              <a:rPr lang="en-GB" sz="2400"/>
              <a:t> </a:t>
            </a:r>
            <a:endParaRPr sz="2400"/>
          </a:p>
        </p:txBody>
      </p:sp>
      <p:sp>
        <p:nvSpPr>
          <p:cNvPr id="148" name="Google Shape;148;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149" name="Google Shape;149;p23"/>
          <p:cNvPicPr preferRelativeResize="0"/>
          <p:nvPr/>
        </p:nvPicPr>
        <p:blipFill>
          <a:blip r:embed="rId3">
            <a:alphaModFix/>
          </a:blip>
          <a:stretch>
            <a:fillRect/>
          </a:stretch>
        </p:blipFill>
        <p:spPr>
          <a:xfrm>
            <a:off x="0" y="949027"/>
            <a:ext cx="8049649" cy="3839525"/>
          </a:xfrm>
          <a:prstGeom prst="rect">
            <a:avLst/>
          </a:prstGeom>
          <a:noFill/>
          <a:ln>
            <a:noFill/>
          </a:ln>
        </p:spPr>
      </p:pic>
      <p:sp>
        <p:nvSpPr>
          <p:cNvPr id="150" name="Google Shape;150;p23"/>
          <p:cNvSpPr txBox="1"/>
          <p:nvPr/>
        </p:nvSpPr>
        <p:spPr>
          <a:xfrm>
            <a:off x="5884602" y="4600450"/>
            <a:ext cx="2923200" cy="276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Source: </a:t>
            </a:r>
            <a:r>
              <a:rPr lang="en-GB" u="sng">
                <a:solidFill>
                  <a:schemeClr val="hlink"/>
                </a:solidFill>
                <a:hlinkClick r:id="rId4"/>
              </a:rPr>
              <a:t>www.pretotyping.org</a:t>
            </a:r>
            <a:r>
              <a:rPr lang="en-GB"/>
              <a:t>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GB" sz="3000">
                <a:solidFill>
                  <a:srgbClr val="4D4D4D"/>
                </a:solidFill>
                <a:latin typeface="Courier New"/>
                <a:ea typeface="Courier New"/>
                <a:cs typeface="Courier New"/>
                <a:sym typeface="Courier New"/>
              </a:rPr>
              <a:t>The Pretotyping Manifesto</a:t>
            </a:r>
            <a:endParaRPr b="1" sz="3000">
              <a:solidFill>
                <a:srgbClr val="4D4D4D"/>
              </a:solidFill>
              <a:latin typeface="Courier New"/>
              <a:ea typeface="Courier New"/>
              <a:cs typeface="Courier New"/>
              <a:sym typeface="Courier New"/>
            </a:endParaRPr>
          </a:p>
        </p:txBody>
      </p:sp>
      <p:sp>
        <p:nvSpPr>
          <p:cNvPr id="157" name="Google Shape;157;p2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GB" sz="1800">
                <a:solidFill>
                  <a:srgbClr val="4D4D4D"/>
                </a:solidFill>
                <a:latin typeface="Courier New"/>
                <a:ea typeface="Courier New"/>
                <a:cs typeface="Courier New"/>
                <a:sym typeface="Courier New"/>
              </a:rPr>
              <a:t>innovators</a:t>
            </a:r>
            <a:r>
              <a:rPr lang="en-GB" sz="1800">
                <a:solidFill>
                  <a:srgbClr val="4D4D4D"/>
                </a:solidFill>
                <a:latin typeface="Courier New"/>
                <a:ea typeface="Courier New"/>
                <a:cs typeface="Courier New"/>
                <a:sym typeface="Courier New"/>
              </a:rPr>
              <a:t> beat ideas</a:t>
            </a:r>
            <a:endParaRPr sz="1800">
              <a:solidFill>
                <a:srgbClr val="4D4D4D"/>
              </a:solidFill>
              <a:latin typeface="Courier New"/>
              <a:ea typeface="Courier New"/>
              <a:cs typeface="Courier New"/>
              <a:sym typeface="Courier New"/>
            </a:endParaRPr>
          </a:p>
          <a:p>
            <a:pPr indent="0" lvl="0" marL="0" rtl="0" algn="ctr">
              <a:lnSpc>
                <a:spcPct val="115000"/>
              </a:lnSpc>
              <a:spcBef>
                <a:spcPts val="1600"/>
              </a:spcBef>
              <a:spcAft>
                <a:spcPts val="0"/>
              </a:spcAft>
              <a:buClr>
                <a:schemeClr val="dk1"/>
              </a:buClr>
              <a:buSzPts val="1100"/>
              <a:buFont typeface="Arial"/>
              <a:buNone/>
            </a:pPr>
            <a:r>
              <a:rPr b="1" lang="en-GB" sz="1800">
                <a:solidFill>
                  <a:srgbClr val="4D4D4D"/>
                </a:solidFill>
                <a:latin typeface="Courier New"/>
                <a:ea typeface="Courier New"/>
                <a:cs typeface="Courier New"/>
                <a:sym typeface="Courier New"/>
              </a:rPr>
              <a:t>pretotypes</a:t>
            </a:r>
            <a:r>
              <a:rPr lang="en-GB" sz="1800">
                <a:solidFill>
                  <a:srgbClr val="4D4D4D"/>
                </a:solidFill>
                <a:latin typeface="Courier New"/>
                <a:ea typeface="Courier New"/>
                <a:cs typeface="Courier New"/>
                <a:sym typeface="Courier New"/>
              </a:rPr>
              <a:t> beat productypes</a:t>
            </a:r>
            <a:endParaRPr sz="1800">
              <a:solidFill>
                <a:srgbClr val="4D4D4D"/>
              </a:solidFill>
              <a:latin typeface="Courier New"/>
              <a:ea typeface="Courier New"/>
              <a:cs typeface="Courier New"/>
              <a:sym typeface="Courier New"/>
            </a:endParaRPr>
          </a:p>
          <a:p>
            <a:pPr indent="0" lvl="0" marL="0" rtl="0" algn="ctr">
              <a:lnSpc>
                <a:spcPct val="115000"/>
              </a:lnSpc>
              <a:spcBef>
                <a:spcPts val="1600"/>
              </a:spcBef>
              <a:spcAft>
                <a:spcPts val="0"/>
              </a:spcAft>
              <a:buClr>
                <a:schemeClr val="dk1"/>
              </a:buClr>
              <a:buSzPts val="1100"/>
              <a:buFont typeface="Arial"/>
              <a:buNone/>
            </a:pPr>
            <a:r>
              <a:rPr b="1" lang="en-GB" sz="1800">
                <a:solidFill>
                  <a:srgbClr val="4D4D4D"/>
                </a:solidFill>
                <a:latin typeface="Courier New"/>
                <a:ea typeface="Courier New"/>
                <a:cs typeface="Courier New"/>
                <a:sym typeface="Courier New"/>
              </a:rPr>
              <a:t>building </a:t>
            </a:r>
            <a:r>
              <a:rPr lang="en-GB" sz="1800">
                <a:solidFill>
                  <a:srgbClr val="4D4D4D"/>
                </a:solidFill>
                <a:latin typeface="Courier New"/>
                <a:ea typeface="Courier New"/>
                <a:cs typeface="Courier New"/>
                <a:sym typeface="Courier New"/>
              </a:rPr>
              <a:t>beats talking</a:t>
            </a:r>
            <a:endParaRPr sz="1800">
              <a:solidFill>
                <a:srgbClr val="4D4D4D"/>
              </a:solidFill>
              <a:latin typeface="Courier New"/>
              <a:ea typeface="Courier New"/>
              <a:cs typeface="Courier New"/>
              <a:sym typeface="Courier New"/>
            </a:endParaRPr>
          </a:p>
          <a:p>
            <a:pPr indent="0" lvl="0" marL="0" rtl="0" algn="ctr">
              <a:lnSpc>
                <a:spcPct val="115000"/>
              </a:lnSpc>
              <a:spcBef>
                <a:spcPts val="1600"/>
              </a:spcBef>
              <a:spcAft>
                <a:spcPts val="0"/>
              </a:spcAft>
              <a:buClr>
                <a:schemeClr val="dk1"/>
              </a:buClr>
              <a:buSzPts val="1100"/>
              <a:buFont typeface="Arial"/>
              <a:buNone/>
            </a:pPr>
            <a:r>
              <a:rPr b="1" lang="en-GB" sz="1800">
                <a:solidFill>
                  <a:srgbClr val="4D4D4D"/>
                </a:solidFill>
                <a:latin typeface="Courier New"/>
                <a:ea typeface="Courier New"/>
                <a:cs typeface="Courier New"/>
                <a:sym typeface="Courier New"/>
              </a:rPr>
              <a:t>simplicity</a:t>
            </a:r>
            <a:r>
              <a:rPr lang="en-GB" sz="1800">
                <a:solidFill>
                  <a:srgbClr val="4D4D4D"/>
                </a:solidFill>
                <a:latin typeface="Courier New"/>
                <a:ea typeface="Courier New"/>
                <a:cs typeface="Courier New"/>
                <a:sym typeface="Courier New"/>
              </a:rPr>
              <a:t> beats features</a:t>
            </a:r>
            <a:endParaRPr sz="1800">
              <a:solidFill>
                <a:srgbClr val="4D4D4D"/>
              </a:solidFill>
              <a:latin typeface="Courier New"/>
              <a:ea typeface="Courier New"/>
              <a:cs typeface="Courier New"/>
              <a:sym typeface="Courier New"/>
            </a:endParaRPr>
          </a:p>
          <a:p>
            <a:pPr indent="0" lvl="0" marL="0" rtl="0" algn="ctr">
              <a:lnSpc>
                <a:spcPct val="115000"/>
              </a:lnSpc>
              <a:spcBef>
                <a:spcPts val="1600"/>
              </a:spcBef>
              <a:spcAft>
                <a:spcPts val="0"/>
              </a:spcAft>
              <a:buClr>
                <a:schemeClr val="dk1"/>
              </a:buClr>
              <a:buSzPts val="1100"/>
              <a:buFont typeface="Arial"/>
              <a:buNone/>
            </a:pPr>
            <a:r>
              <a:rPr b="1" lang="en-GB" sz="1800">
                <a:solidFill>
                  <a:srgbClr val="4D4D4D"/>
                </a:solidFill>
                <a:latin typeface="Courier New"/>
                <a:ea typeface="Courier New"/>
                <a:cs typeface="Courier New"/>
                <a:sym typeface="Courier New"/>
              </a:rPr>
              <a:t>now</a:t>
            </a:r>
            <a:r>
              <a:rPr lang="en-GB" sz="1800">
                <a:solidFill>
                  <a:srgbClr val="4D4D4D"/>
                </a:solidFill>
                <a:latin typeface="Courier New"/>
                <a:ea typeface="Courier New"/>
                <a:cs typeface="Courier New"/>
                <a:sym typeface="Courier New"/>
              </a:rPr>
              <a:t> beats later</a:t>
            </a:r>
            <a:endParaRPr sz="1800">
              <a:solidFill>
                <a:srgbClr val="4D4D4D"/>
              </a:solidFill>
              <a:latin typeface="Courier New"/>
              <a:ea typeface="Courier New"/>
              <a:cs typeface="Courier New"/>
              <a:sym typeface="Courier New"/>
            </a:endParaRPr>
          </a:p>
          <a:p>
            <a:pPr indent="0" lvl="0" marL="0" rtl="0" algn="ctr">
              <a:lnSpc>
                <a:spcPct val="115000"/>
              </a:lnSpc>
              <a:spcBef>
                <a:spcPts val="1600"/>
              </a:spcBef>
              <a:spcAft>
                <a:spcPts val="0"/>
              </a:spcAft>
              <a:buClr>
                <a:schemeClr val="dk1"/>
              </a:buClr>
              <a:buSzPts val="1100"/>
              <a:buFont typeface="Arial"/>
              <a:buNone/>
            </a:pPr>
            <a:r>
              <a:rPr b="1" lang="en-GB" sz="1800">
                <a:solidFill>
                  <a:srgbClr val="4D4D4D"/>
                </a:solidFill>
                <a:latin typeface="Courier New"/>
                <a:ea typeface="Courier New"/>
                <a:cs typeface="Courier New"/>
                <a:sym typeface="Courier New"/>
              </a:rPr>
              <a:t>commitment</a:t>
            </a:r>
            <a:r>
              <a:rPr lang="en-GB" sz="1800">
                <a:solidFill>
                  <a:srgbClr val="4D4D4D"/>
                </a:solidFill>
                <a:latin typeface="Courier New"/>
                <a:ea typeface="Courier New"/>
                <a:cs typeface="Courier New"/>
                <a:sym typeface="Courier New"/>
              </a:rPr>
              <a:t> beats committees</a:t>
            </a:r>
            <a:endParaRPr sz="1800">
              <a:solidFill>
                <a:srgbClr val="4D4D4D"/>
              </a:solidFill>
              <a:latin typeface="Courier New"/>
              <a:ea typeface="Courier New"/>
              <a:cs typeface="Courier New"/>
              <a:sym typeface="Courier New"/>
            </a:endParaRPr>
          </a:p>
          <a:p>
            <a:pPr indent="0" lvl="0" marL="0" rtl="0" algn="ctr">
              <a:lnSpc>
                <a:spcPct val="115000"/>
              </a:lnSpc>
              <a:spcBef>
                <a:spcPts val="1600"/>
              </a:spcBef>
              <a:spcAft>
                <a:spcPts val="0"/>
              </a:spcAft>
              <a:buClr>
                <a:schemeClr val="dk1"/>
              </a:buClr>
              <a:buSzPts val="1100"/>
              <a:buFont typeface="Arial"/>
              <a:buNone/>
            </a:pPr>
            <a:r>
              <a:rPr b="1" lang="en-GB" sz="1800">
                <a:solidFill>
                  <a:srgbClr val="4D4D4D"/>
                </a:solidFill>
                <a:latin typeface="Courier New"/>
                <a:ea typeface="Courier New"/>
                <a:cs typeface="Courier New"/>
                <a:sym typeface="Courier New"/>
              </a:rPr>
              <a:t>data</a:t>
            </a:r>
            <a:r>
              <a:rPr lang="en-GB" sz="1800">
                <a:solidFill>
                  <a:srgbClr val="4D4D4D"/>
                </a:solidFill>
                <a:latin typeface="Courier New"/>
                <a:ea typeface="Courier New"/>
                <a:cs typeface="Courier New"/>
                <a:sym typeface="Courier New"/>
              </a:rPr>
              <a:t> beats opinions</a:t>
            </a:r>
            <a:endParaRPr sz="1800">
              <a:solidFill>
                <a:srgbClr val="4D4D4D"/>
              </a:solidFill>
              <a:latin typeface="Courier New"/>
              <a:ea typeface="Courier New"/>
              <a:cs typeface="Courier New"/>
              <a:sym typeface="Courier New"/>
            </a:endParaRPr>
          </a:p>
          <a:p>
            <a:pPr indent="0" lvl="0" marL="0" rtl="0" algn="ctr">
              <a:lnSpc>
                <a:spcPct val="115000"/>
              </a:lnSpc>
              <a:spcBef>
                <a:spcPts val="1600"/>
              </a:spcBef>
              <a:spcAft>
                <a:spcPts val="0"/>
              </a:spcAft>
              <a:buClr>
                <a:schemeClr val="dk1"/>
              </a:buClr>
              <a:buSzPts val="1100"/>
              <a:buFont typeface="Arial"/>
              <a:buNone/>
            </a:pPr>
            <a:r>
              <a:t/>
            </a:r>
            <a:endParaRPr sz="1800">
              <a:solidFill>
                <a:srgbClr val="4D4D4D"/>
              </a:solidFill>
              <a:latin typeface="Courier New"/>
              <a:ea typeface="Courier New"/>
              <a:cs typeface="Courier New"/>
              <a:sym typeface="Courier New"/>
            </a:endParaRPr>
          </a:p>
          <a:p>
            <a:pPr indent="0" lvl="0" marL="0" rtl="0" algn="ctr">
              <a:lnSpc>
                <a:spcPct val="115000"/>
              </a:lnSpc>
              <a:spcBef>
                <a:spcPts val="1600"/>
              </a:spcBef>
              <a:spcAft>
                <a:spcPts val="0"/>
              </a:spcAft>
              <a:buClr>
                <a:schemeClr val="dk1"/>
              </a:buClr>
              <a:buSzPts val="1100"/>
              <a:buFont typeface="Arial"/>
              <a:buNone/>
            </a:pPr>
            <a:r>
              <a:t/>
            </a:r>
            <a:endParaRPr sz="1800">
              <a:solidFill>
                <a:srgbClr val="4D4D4D"/>
              </a:solidFill>
              <a:latin typeface="Courier New"/>
              <a:ea typeface="Courier New"/>
              <a:cs typeface="Courier New"/>
              <a:sym typeface="Courier New"/>
            </a:endParaRPr>
          </a:p>
          <a:p>
            <a:pPr indent="0" lvl="0" marL="0" rtl="0" algn="ctr">
              <a:lnSpc>
                <a:spcPct val="115000"/>
              </a:lnSpc>
              <a:spcBef>
                <a:spcPts val="1600"/>
              </a:spcBef>
              <a:spcAft>
                <a:spcPts val="0"/>
              </a:spcAft>
              <a:buClr>
                <a:schemeClr val="dk1"/>
              </a:buClr>
              <a:buSzPts val="1100"/>
              <a:buFont typeface="Arial"/>
              <a:buNone/>
            </a:pPr>
            <a:r>
              <a:rPr i="1" lang="en-GB" sz="1800">
                <a:solidFill>
                  <a:srgbClr val="4D4D4D"/>
                </a:solidFill>
                <a:latin typeface="Courier New"/>
                <a:ea typeface="Courier New"/>
                <a:cs typeface="Courier New"/>
                <a:sym typeface="Courier New"/>
              </a:rPr>
              <a:t>don’t finish what you’ve started</a:t>
            </a:r>
            <a:br>
              <a:rPr i="1" lang="en-GB" sz="1800">
                <a:solidFill>
                  <a:srgbClr val="4D4D4D"/>
                </a:solidFill>
                <a:latin typeface="Courier New"/>
                <a:ea typeface="Courier New"/>
                <a:cs typeface="Courier New"/>
                <a:sym typeface="Courier New"/>
              </a:rPr>
            </a:br>
            <a:r>
              <a:rPr i="1" lang="en-GB" sz="1800">
                <a:solidFill>
                  <a:srgbClr val="4D4D4D"/>
                </a:solidFill>
                <a:latin typeface="Courier New"/>
                <a:ea typeface="Courier New"/>
                <a:cs typeface="Courier New"/>
                <a:sym typeface="Courier New"/>
              </a:rPr>
              <a:t>failure is an option</a:t>
            </a:r>
            <a:br>
              <a:rPr i="1" lang="en-GB" sz="1800">
                <a:solidFill>
                  <a:srgbClr val="4D4D4D"/>
                </a:solidFill>
                <a:latin typeface="Courier New"/>
                <a:ea typeface="Courier New"/>
                <a:cs typeface="Courier New"/>
                <a:sym typeface="Courier New"/>
              </a:rPr>
            </a:br>
            <a:r>
              <a:rPr i="1" lang="en-GB" sz="1800">
                <a:solidFill>
                  <a:srgbClr val="4D4D4D"/>
                </a:solidFill>
                <a:latin typeface="Courier New"/>
                <a:ea typeface="Courier New"/>
                <a:cs typeface="Courier New"/>
                <a:sym typeface="Courier New"/>
              </a:rPr>
              <a:t>scarcity bring clarity</a:t>
            </a:r>
            <a:br>
              <a:rPr i="1" lang="en-GB" sz="1800">
                <a:solidFill>
                  <a:srgbClr val="4D4D4D"/>
                </a:solidFill>
                <a:latin typeface="Courier New"/>
                <a:ea typeface="Courier New"/>
                <a:cs typeface="Courier New"/>
                <a:sym typeface="Courier New"/>
              </a:rPr>
            </a:br>
            <a:r>
              <a:rPr i="1" lang="en-GB" sz="1800">
                <a:solidFill>
                  <a:srgbClr val="4D4D4D"/>
                </a:solidFill>
                <a:latin typeface="Courier New"/>
                <a:ea typeface="Courier New"/>
                <a:cs typeface="Courier New"/>
                <a:sym typeface="Courier New"/>
              </a:rPr>
              <a:t>the more the messier</a:t>
            </a:r>
            <a:br>
              <a:rPr i="1" lang="en-GB" sz="1800">
                <a:solidFill>
                  <a:srgbClr val="4D4D4D"/>
                </a:solidFill>
                <a:latin typeface="Courier New"/>
                <a:ea typeface="Courier New"/>
                <a:cs typeface="Courier New"/>
                <a:sym typeface="Courier New"/>
              </a:rPr>
            </a:br>
            <a:r>
              <a:rPr i="1" lang="en-GB" sz="1800">
                <a:solidFill>
                  <a:srgbClr val="4D4D4D"/>
                </a:solidFill>
                <a:latin typeface="Courier New"/>
                <a:ea typeface="Courier New"/>
                <a:cs typeface="Courier New"/>
                <a:sym typeface="Courier New"/>
              </a:rPr>
              <a:t>reinvent the wheel</a:t>
            </a:r>
            <a:br>
              <a:rPr i="1" lang="en-GB" sz="1800">
                <a:solidFill>
                  <a:srgbClr val="4D4D4D"/>
                </a:solidFill>
                <a:latin typeface="Courier New"/>
                <a:ea typeface="Courier New"/>
                <a:cs typeface="Courier New"/>
                <a:sym typeface="Courier New"/>
              </a:rPr>
            </a:br>
            <a:r>
              <a:rPr i="1" lang="en-GB" sz="1800">
                <a:solidFill>
                  <a:srgbClr val="4D4D4D"/>
                </a:solidFill>
                <a:latin typeface="Courier New"/>
                <a:ea typeface="Courier New"/>
                <a:cs typeface="Courier New"/>
                <a:sym typeface="Courier New"/>
              </a:rPr>
              <a:t>play with fire</a:t>
            </a:r>
            <a:endParaRPr i="1" sz="1800">
              <a:solidFill>
                <a:srgbClr val="4D4D4D"/>
              </a:solidFill>
              <a:latin typeface="Courier New"/>
              <a:ea typeface="Courier New"/>
              <a:cs typeface="Courier New"/>
              <a:sym typeface="Courier New"/>
            </a:endParaRPr>
          </a:p>
          <a:p>
            <a:pPr indent="0" lvl="0" marL="0" rtl="0" algn="l">
              <a:lnSpc>
                <a:spcPct val="115000"/>
              </a:lnSpc>
              <a:spcBef>
                <a:spcPts val="1600"/>
              </a:spcBef>
              <a:spcAft>
                <a:spcPts val="0"/>
              </a:spcAft>
              <a:buClr>
                <a:schemeClr val="dk1"/>
              </a:buClr>
              <a:buSzPts val="1100"/>
              <a:buFont typeface="Arial"/>
              <a:buNone/>
            </a:pPr>
            <a:r>
              <a:t/>
            </a:r>
            <a:endParaRPr i="1" sz="1800">
              <a:solidFill>
                <a:srgbClr val="4D4D4D"/>
              </a:solidFill>
              <a:latin typeface="Courier New"/>
              <a:ea typeface="Courier New"/>
              <a:cs typeface="Courier New"/>
              <a:sym typeface="Courier New"/>
            </a:endParaRPr>
          </a:p>
          <a:p>
            <a:pPr indent="0" lvl="0" marL="0" rtl="0" algn="l">
              <a:spcBef>
                <a:spcPts val="1600"/>
              </a:spcBef>
              <a:spcAft>
                <a:spcPts val="1600"/>
              </a:spcAft>
              <a:buNone/>
            </a:pPr>
            <a:r>
              <a:t/>
            </a:r>
            <a:endParaRPr sz="1800"/>
          </a:p>
        </p:txBody>
      </p:sp>
      <p:sp>
        <p:nvSpPr>
          <p:cNvPr id="158" name="Google Shape;158;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59" name="Google Shape;159;p24"/>
          <p:cNvSpPr txBox="1"/>
          <p:nvPr/>
        </p:nvSpPr>
        <p:spPr>
          <a:xfrm>
            <a:off x="5884602" y="4600450"/>
            <a:ext cx="2923200" cy="276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Source: </a:t>
            </a:r>
            <a:r>
              <a:rPr lang="en-GB" u="sng">
                <a:solidFill>
                  <a:schemeClr val="hlink"/>
                </a:solidFill>
                <a:hlinkClick r:id="rId3"/>
              </a:rPr>
              <a:t>www.pretotyping.org</a:t>
            </a:r>
            <a:r>
              <a:rPr lang="en-GB"/>
              <a:t>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
        <p:nvSpPr>
          <p:cNvPr id="167" name="Google Shape;167;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168" name="Google Shape;168;p25"/>
          <p:cNvPicPr preferRelativeResize="0"/>
          <p:nvPr/>
        </p:nvPicPr>
        <p:blipFill>
          <a:blip r:embed="rId3">
            <a:alphaModFix/>
          </a:blip>
          <a:stretch>
            <a:fillRect/>
          </a:stretch>
        </p:blipFill>
        <p:spPr>
          <a:xfrm>
            <a:off x="1157492" y="0"/>
            <a:ext cx="6829017" cy="5143501"/>
          </a:xfrm>
          <a:prstGeom prst="rect">
            <a:avLst/>
          </a:prstGeom>
          <a:noFill/>
          <a:ln>
            <a:noFill/>
          </a:ln>
        </p:spPr>
      </p:pic>
      <p:sp>
        <p:nvSpPr>
          <p:cNvPr id="169" name="Google Shape;169;p25"/>
          <p:cNvSpPr txBox="1"/>
          <p:nvPr/>
        </p:nvSpPr>
        <p:spPr>
          <a:xfrm>
            <a:off x="6341802" y="4600450"/>
            <a:ext cx="2923200" cy="276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Source: </a:t>
            </a:r>
            <a:r>
              <a:rPr lang="en-GB" u="sng">
                <a:solidFill>
                  <a:schemeClr val="hlink"/>
                </a:solidFill>
                <a:hlinkClick r:id="rId4"/>
              </a:rPr>
              <a:t>www.pretotyping.org</a:t>
            </a:r>
            <a:r>
              <a:rPr lang="en-GB"/>
              <a: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6"/>
          <p:cNvSpPr txBox="1"/>
          <p:nvPr>
            <p:ph type="title"/>
          </p:nvPr>
        </p:nvSpPr>
        <p:spPr>
          <a:xfrm>
            <a:off x="311700" y="64025"/>
            <a:ext cx="8520600" cy="5727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300"/>
              <a:buFont typeface="Calibri"/>
              <a:buNone/>
            </a:pPr>
            <a:r>
              <a:rPr lang="en-GB"/>
              <a:t>Pretotype</a:t>
            </a:r>
            <a:endParaRPr/>
          </a:p>
        </p:txBody>
      </p:sp>
      <p:pic>
        <p:nvPicPr>
          <p:cNvPr id="175" name="Google Shape;175;p26"/>
          <p:cNvPicPr preferRelativeResize="0"/>
          <p:nvPr>
            <p:ph idx="1" type="body"/>
          </p:nvPr>
        </p:nvPicPr>
        <p:blipFill rotWithShape="1">
          <a:blip r:embed="rId3">
            <a:alphaModFix/>
          </a:blip>
          <a:srcRect b="0" l="0" r="0" t="0"/>
          <a:stretch/>
        </p:blipFill>
        <p:spPr>
          <a:xfrm>
            <a:off x="311700" y="1449100"/>
            <a:ext cx="8520600" cy="2586600"/>
          </a:xfrm>
          <a:prstGeom prst="rect">
            <a:avLst/>
          </a:prstGeom>
          <a:noFill/>
          <a:ln>
            <a:noFill/>
          </a:ln>
        </p:spPr>
      </p:pic>
      <p:sp>
        <p:nvSpPr>
          <p:cNvPr id="176" name="Google Shape;176;p26"/>
          <p:cNvSpPr txBox="1"/>
          <p:nvPr>
            <p:ph idx="12" type="sldNum"/>
          </p:nvPr>
        </p:nvSpPr>
        <p:spPr>
          <a:xfrm>
            <a:off x="8472458" y="4663217"/>
            <a:ext cx="548700" cy="3936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pic>
        <p:nvPicPr>
          <p:cNvPr id="177" name="Google Shape;177;p26"/>
          <p:cNvPicPr preferRelativeResize="0"/>
          <p:nvPr/>
        </p:nvPicPr>
        <p:blipFill rotWithShape="1">
          <a:blip r:embed="rId4">
            <a:alphaModFix/>
          </a:blip>
          <a:srcRect b="0" l="0" r="0" t="93527"/>
          <a:stretch/>
        </p:blipFill>
        <p:spPr>
          <a:xfrm>
            <a:off x="5426876" y="4503093"/>
            <a:ext cx="3717124" cy="264169"/>
          </a:xfrm>
          <a:prstGeom prst="rect">
            <a:avLst/>
          </a:prstGeom>
          <a:noFill/>
          <a:ln>
            <a:noFill/>
          </a:ln>
        </p:spPr>
      </p:pic>
      <p:sp>
        <p:nvSpPr>
          <p:cNvPr id="178" name="Google Shape;178;p26"/>
          <p:cNvSpPr txBox="1"/>
          <p:nvPr/>
        </p:nvSpPr>
        <p:spPr>
          <a:xfrm>
            <a:off x="5884602" y="4600450"/>
            <a:ext cx="2923200" cy="276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Source: </a:t>
            </a:r>
            <a:r>
              <a:rPr lang="en-GB" u="sng">
                <a:solidFill>
                  <a:schemeClr val="hlink"/>
                </a:solidFill>
                <a:hlinkClick r:id="rId5"/>
              </a:rPr>
              <a:t>www.pretotyping.org</a:t>
            </a:r>
            <a:r>
              <a:rPr lang="en-GB"/>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7"/>
          <p:cNvSpPr txBox="1"/>
          <p:nvPr>
            <p:ph type="title"/>
          </p:nvPr>
        </p:nvSpPr>
        <p:spPr>
          <a:xfrm>
            <a:off x="311700" y="64025"/>
            <a:ext cx="8520600" cy="5727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300"/>
              <a:buFont typeface="Calibri"/>
              <a:buNone/>
            </a:pPr>
            <a:r>
              <a:rPr lang="en-GB"/>
              <a:t>Pretotype</a:t>
            </a:r>
            <a:endParaRPr/>
          </a:p>
        </p:txBody>
      </p:sp>
      <p:pic>
        <p:nvPicPr>
          <p:cNvPr id="184" name="Google Shape;184;p27"/>
          <p:cNvPicPr preferRelativeResize="0"/>
          <p:nvPr>
            <p:ph idx="1" type="body"/>
          </p:nvPr>
        </p:nvPicPr>
        <p:blipFill rotWithShape="1">
          <a:blip r:embed="rId3">
            <a:alphaModFix/>
          </a:blip>
          <a:srcRect b="0" l="0" r="0" t="0"/>
          <a:stretch/>
        </p:blipFill>
        <p:spPr>
          <a:xfrm>
            <a:off x="311700" y="636725"/>
            <a:ext cx="8520600" cy="2452500"/>
          </a:xfrm>
          <a:prstGeom prst="rect">
            <a:avLst/>
          </a:prstGeom>
          <a:noFill/>
          <a:ln>
            <a:noFill/>
          </a:ln>
        </p:spPr>
      </p:pic>
      <p:sp>
        <p:nvSpPr>
          <p:cNvPr id="185" name="Google Shape;185;p27"/>
          <p:cNvSpPr txBox="1"/>
          <p:nvPr>
            <p:ph idx="12" type="sldNum"/>
          </p:nvPr>
        </p:nvSpPr>
        <p:spPr>
          <a:xfrm>
            <a:off x="8472458" y="4663217"/>
            <a:ext cx="548700" cy="3936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pic>
        <p:nvPicPr>
          <p:cNvPr id="186" name="Google Shape;186;p27"/>
          <p:cNvPicPr preferRelativeResize="0"/>
          <p:nvPr/>
        </p:nvPicPr>
        <p:blipFill rotWithShape="1">
          <a:blip r:embed="rId4">
            <a:alphaModFix/>
          </a:blip>
          <a:srcRect b="0" l="0" r="0" t="93527"/>
          <a:stretch/>
        </p:blipFill>
        <p:spPr>
          <a:xfrm>
            <a:off x="5426876" y="4503093"/>
            <a:ext cx="3717124" cy="264169"/>
          </a:xfrm>
          <a:prstGeom prst="rect">
            <a:avLst/>
          </a:prstGeom>
          <a:noFill/>
          <a:ln>
            <a:noFill/>
          </a:ln>
        </p:spPr>
      </p:pic>
      <p:pic>
        <p:nvPicPr>
          <p:cNvPr id="187" name="Google Shape;187;p27"/>
          <p:cNvPicPr preferRelativeResize="0"/>
          <p:nvPr/>
        </p:nvPicPr>
        <p:blipFill>
          <a:blip r:embed="rId5">
            <a:alphaModFix/>
          </a:blip>
          <a:stretch>
            <a:fillRect/>
          </a:stretch>
        </p:blipFill>
        <p:spPr>
          <a:xfrm>
            <a:off x="813900" y="3002425"/>
            <a:ext cx="7516199" cy="1971850"/>
          </a:xfrm>
          <a:prstGeom prst="rect">
            <a:avLst/>
          </a:prstGeom>
          <a:noFill/>
          <a:ln>
            <a:noFill/>
          </a:ln>
        </p:spPr>
      </p:pic>
      <p:sp>
        <p:nvSpPr>
          <p:cNvPr id="188" name="Google Shape;188;p27"/>
          <p:cNvSpPr txBox="1"/>
          <p:nvPr/>
        </p:nvSpPr>
        <p:spPr>
          <a:xfrm>
            <a:off x="5884602" y="4752850"/>
            <a:ext cx="2923200" cy="276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Source: </a:t>
            </a:r>
            <a:r>
              <a:rPr lang="en-GB" u="sng">
                <a:solidFill>
                  <a:schemeClr val="hlink"/>
                </a:solidFill>
                <a:hlinkClick r:id="rId6"/>
              </a:rPr>
              <a:t>www.pretotyping.org</a:t>
            </a:r>
            <a:r>
              <a:rPr lang="en-GB"/>
              <a:t>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8"/>
          <p:cNvSpPr txBox="1"/>
          <p:nvPr>
            <p:ph type="title"/>
          </p:nvPr>
        </p:nvSpPr>
        <p:spPr>
          <a:xfrm>
            <a:off x="311700" y="64025"/>
            <a:ext cx="8520600" cy="5727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300"/>
              <a:buFont typeface="Calibri"/>
              <a:buNone/>
            </a:pPr>
            <a:r>
              <a:rPr lang="en-GB"/>
              <a:t>Pretotype</a:t>
            </a:r>
            <a:endParaRPr/>
          </a:p>
        </p:txBody>
      </p:sp>
      <p:sp>
        <p:nvSpPr>
          <p:cNvPr id="194" name="Google Shape;194;p28"/>
          <p:cNvSpPr txBox="1"/>
          <p:nvPr>
            <p:ph idx="12" type="sldNum"/>
          </p:nvPr>
        </p:nvSpPr>
        <p:spPr>
          <a:xfrm>
            <a:off x="8472458" y="4663217"/>
            <a:ext cx="548700" cy="3936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pic>
        <p:nvPicPr>
          <p:cNvPr id="195" name="Google Shape;195;p28"/>
          <p:cNvPicPr preferRelativeResize="0"/>
          <p:nvPr/>
        </p:nvPicPr>
        <p:blipFill rotWithShape="1">
          <a:blip r:embed="rId3">
            <a:alphaModFix/>
          </a:blip>
          <a:srcRect b="0" l="0" r="0" t="93527"/>
          <a:stretch/>
        </p:blipFill>
        <p:spPr>
          <a:xfrm>
            <a:off x="5426876" y="4503093"/>
            <a:ext cx="3717124" cy="264169"/>
          </a:xfrm>
          <a:prstGeom prst="rect">
            <a:avLst/>
          </a:prstGeom>
          <a:noFill/>
          <a:ln>
            <a:noFill/>
          </a:ln>
        </p:spPr>
      </p:pic>
      <p:pic>
        <p:nvPicPr>
          <p:cNvPr id="196" name="Google Shape;196;p28"/>
          <p:cNvPicPr preferRelativeResize="0"/>
          <p:nvPr/>
        </p:nvPicPr>
        <p:blipFill rotWithShape="1">
          <a:blip r:embed="rId4">
            <a:alphaModFix/>
          </a:blip>
          <a:srcRect b="0" l="0" r="0" t="0"/>
          <a:stretch/>
        </p:blipFill>
        <p:spPr>
          <a:xfrm>
            <a:off x="116847" y="803190"/>
            <a:ext cx="8904300" cy="3053510"/>
          </a:xfrm>
          <a:prstGeom prst="rect">
            <a:avLst/>
          </a:prstGeom>
          <a:noFill/>
          <a:ln>
            <a:noFill/>
          </a:ln>
        </p:spPr>
      </p:pic>
      <p:sp>
        <p:nvSpPr>
          <p:cNvPr id="197" name="Google Shape;197;p28"/>
          <p:cNvSpPr txBox="1"/>
          <p:nvPr/>
        </p:nvSpPr>
        <p:spPr>
          <a:xfrm>
            <a:off x="5884602" y="4600450"/>
            <a:ext cx="2923200" cy="276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Source: </a:t>
            </a:r>
            <a:r>
              <a:rPr lang="en-GB" u="sng">
                <a:solidFill>
                  <a:schemeClr val="hlink"/>
                </a:solidFill>
                <a:hlinkClick r:id="rId5"/>
              </a:rPr>
              <a:t>www.pretotyping.org</a:t>
            </a:r>
            <a:r>
              <a:rPr lang="en-GB"/>
              <a: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The Seven Pillars of PRETOTYPING</a:t>
            </a:r>
            <a:endParaRPr/>
          </a:p>
        </p:txBody>
      </p:sp>
      <p:sp>
        <p:nvSpPr>
          <p:cNvPr id="204" name="Google Shape;204;p2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GB"/>
              <a:t>Obey the Law of Market Failure.</a:t>
            </a:r>
            <a:endParaRPr/>
          </a:p>
          <a:p>
            <a:pPr indent="-342900" lvl="0" marL="457200" rtl="0" algn="l">
              <a:spcBef>
                <a:spcPts val="0"/>
              </a:spcBef>
              <a:spcAft>
                <a:spcPts val="0"/>
              </a:spcAft>
              <a:buSzPts val="1800"/>
              <a:buAutoNum type="arabicPeriod"/>
            </a:pPr>
            <a:r>
              <a:rPr lang="en-GB"/>
              <a:t>Make sure you are building The Right It.</a:t>
            </a:r>
            <a:endParaRPr/>
          </a:p>
          <a:p>
            <a:pPr indent="-342900" lvl="0" marL="457200" rtl="0" algn="l">
              <a:spcBef>
                <a:spcPts val="0"/>
              </a:spcBef>
              <a:spcAft>
                <a:spcPts val="0"/>
              </a:spcAft>
              <a:buSzPts val="1800"/>
              <a:buAutoNum type="arabicPeriod"/>
            </a:pPr>
            <a:r>
              <a:rPr lang="en-GB"/>
              <a:t>Don't get lost in Thoughtland.</a:t>
            </a:r>
            <a:endParaRPr/>
          </a:p>
          <a:p>
            <a:pPr indent="-342900" lvl="0" marL="457200" rtl="0" algn="l">
              <a:spcBef>
                <a:spcPts val="0"/>
              </a:spcBef>
              <a:spcAft>
                <a:spcPts val="0"/>
              </a:spcAft>
              <a:buSzPts val="1800"/>
              <a:buAutoNum type="arabicPeriod"/>
            </a:pPr>
            <a:r>
              <a:rPr lang="en-GB"/>
              <a:t>Trust only in Your Own DAta (</a:t>
            </a:r>
            <a:r>
              <a:rPr b="1" lang="en-GB"/>
              <a:t>YODA</a:t>
            </a:r>
            <a:r>
              <a:rPr lang="en-GB"/>
              <a:t>).</a:t>
            </a:r>
            <a:endParaRPr/>
          </a:p>
          <a:p>
            <a:pPr indent="-342900" lvl="0" marL="457200" rtl="0" algn="l">
              <a:spcBef>
                <a:spcPts val="0"/>
              </a:spcBef>
              <a:spcAft>
                <a:spcPts val="0"/>
              </a:spcAft>
              <a:buSzPts val="1800"/>
              <a:buAutoNum type="arabicPeriod"/>
            </a:pPr>
            <a:r>
              <a:rPr lang="en-GB"/>
              <a:t>Pretotype It.</a:t>
            </a:r>
            <a:endParaRPr/>
          </a:p>
          <a:p>
            <a:pPr indent="-342900" lvl="0" marL="457200" rtl="0" algn="l">
              <a:spcBef>
                <a:spcPts val="0"/>
              </a:spcBef>
              <a:spcAft>
                <a:spcPts val="0"/>
              </a:spcAft>
              <a:buSzPts val="1800"/>
              <a:buAutoNum type="arabicPeriod"/>
            </a:pPr>
            <a:r>
              <a:rPr lang="en-GB"/>
              <a:t>Say it with numbers.</a:t>
            </a:r>
            <a:endParaRPr/>
          </a:p>
          <a:p>
            <a:pPr indent="-342900" lvl="0" marL="457200" rtl="0" algn="l">
              <a:spcBef>
                <a:spcPts val="0"/>
              </a:spcBef>
              <a:spcAft>
                <a:spcPts val="0"/>
              </a:spcAft>
              <a:buSzPts val="1800"/>
              <a:buAutoNum type="arabicPeriod"/>
            </a:pPr>
            <a:r>
              <a:rPr lang="en-GB"/>
              <a:t>Think global, test local.</a:t>
            </a:r>
            <a:endParaRPr sz="1150">
              <a:solidFill>
                <a:srgbClr val="3E3E3E"/>
              </a:solidFill>
              <a:highlight>
                <a:srgbClr val="FFFFFF"/>
              </a:highlight>
            </a:endParaRPr>
          </a:p>
          <a:p>
            <a:pPr indent="0" lvl="0" marL="0" rtl="0" algn="l">
              <a:spcBef>
                <a:spcPts val="1600"/>
              </a:spcBef>
              <a:spcAft>
                <a:spcPts val="1600"/>
              </a:spcAft>
              <a:buNone/>
            </a:pPr>
            <a:r>
              <a:t/>
            </a:r>
            <a:endParaRPr/>
          </a:p>
        </p:txBody>
      </p:sp>
      <p:sp>
        <p:nvSpPr>
          <p:cNvPr id="205" name="Google Shape;205;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06" name="Google Shape;206;p29"/>
          <p:cNvSpPr txBox="1"/>
          <p:nvPr/>
        </p:nvSpPr>
        <p:spPr>
          <a:xfrm>
            <a:off x="5884602" y="4600450"/>
            <a:ext cx="2923200" cy="276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Source: </a:t>
            </a:r>
            <a:r>
              <a:rPr lang="en-GB" u="sng">
                <a:solidFill>
                  <a:schemeClr val="hlink"/>
                </a:solidFill>
                <a:hlinkClick r:id="rId3"/>
              </a:rPr>
              <a:t>www.pretotyping.org</a:t>
            </a:r>
            <a:r>
              <a:rPr lang="en-GB"/>
              <a:t> </a:t>
            </a:r>
            <a:endParaRPr/>
          </a:p>
        </p:txBody>
      </p:sp>
      <p:pic>
        <p:nvPicPr>
          <p:cNvPr id="207" name="Google Shape;207;p29"/>
          <p:cNvPicPr preferRelativeResize="0"/>
          <p:nvPr/>
        </p:nvPicPr>
        <p:blipFill>
          <a:blip r:embed="rId4">
            <a:alphaModFix/>
          </a:blip>
          <a:stretch>
            <a:fillRect/>
          </a:stretch>
        </p:blipFill>
        <p:spPr>
          <a:xfrm>
            <a:off x="5716500" y="769296"/>
            <a:ext cx="3259400" cy="326619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PRETOTYPING FLOW</a:t>
            </a:r>
            <a:endParaRPr/>
          </a:p>
        </p:txBody>
      </p:sp>
      <p:sp>
        <p:nvSpPr>
          <p:cNvPr id="214" name="Google Shape;214;p3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Step 1: Isolate the Key Assumption: </a:t>
            </a:r>
            <a:r>
              <a:rPr i="1" lang="en-GB" sz="1200"/>
              <a:t>What is the one assumption about your idea that, if false, means it's definitely not the right it?</a:t>
            </a:r>
            <a:endParaRPr/>
          </a:p>
          <a:p>
            <a:pPr indent="0" lvl="0" marL="0" rtl="0" algn="l">
              <a:spcBef>
                <a:spcPts val="1600"/>
              </a:spcBef>
              <a:spcAft>
                <a:spcPts val="0"/>
              </a:spcAft>
              <a:buClr>
                <a:schemeClr val="dk1"/>
              </a:buClr>
              <a:buSzPts val="1100"/>
              <a:buFont typeface="Arial"/>
              <a:buNone/>
            </a:pPr>
            <a:r>
              <a:rPr lang="en-GB"/>
              <a:t>Step 2: Choose a Type of Pretotype: </a:t>
            </a:r>
            <a:r>
              <a:rPr lang="en-GB" sz="1200"/>
              <a:t>What type of pretotype will let you to isolate and test your key assumption?</a:t>
            </a:r>
            <a:endParaRPr sz="1200"/>
          </a:p>
          <a:p>
            <a:pPr indent="0" lvl="0" marL="0" rtl="0" algn="l">
              <a:spcBef>
                <a:spcPts val="1600"/>
              </a:spcBef>
              <a:spcAft>
                <a:spcPts val="0"/>
              </a:spcAft>
              <a:buClr>
                <a:schemeClr val="dk1"/>
              </a:buClr>
              <a:buSzPts val="1100"/>
              <a:buFont typeface="Arial"/>
              <a:buNone/>
            </a:pPr>
            <a:r>
              <a:rPr lang="en-GB"/>
              <a:t>Step 3: Make a Market Engagement Hypothesis: </a:t>
            </a:r>
            <a:r>
              <a:rPr lang="en-GB" sz="1200"/>
              <a:t>How many (and what kind of) people will do what with your pretotype? Your hypothesis can be as simple as: X% of Y will do Z --&gt;A solid hypothesis takes the guesswork and opinion out of testing. </a:t>
            </a:r>
            <a:r>
              <a:rPr lang="en-GB" sz="700" u="sng">
                <a:solidFill>
                  <a:schemeClr val="hlink"/>
                </a:solidFill>
                <a:hlinkClick r:id="rId3"/>
              </a:rPr>
              <a:t>https://www.youtube.com/watch?v=4sZMHAMN0DQ&amp;ab_channel=TheRightIt%E2%80%94VideolessonsbyAlbertoSavoia</a:t>
            </a:r>
            <a:r>
              <a:rPr lang="en-GB" sz="700"/>
              <a:t> </a:t>
            </a:r>
            <a:endParaRPr sz="700"/>
          </a:p>
          <a:p>
            <a:pPr indent="0" lvl="0" marL="0" rtl="0" algn="l">
              <a:spcBef>
                <a:spcPts val="1600"/>
              </a:spcBef>
              <a:spcAft>
                <a:spcPts val="0"/>
              </a:spcAft>
              <a:buClr>
                <a:schemeClr val="dk1"/>
              </a:buClr>
              <a:buSzPts val="1100"/>
              <a:buFont typeface="Arial"/>
              <a:buNone/>
            </a:pPr>
            <a:r>
              <a:rPr lang="en-GB"/>
              <a:t>Step 4: Test Your Pretotype: </a:t>
            </a:r>
            <a:r>
              <a:rPr lang="en-GB" sz="1200"/>
              <a:t>Now put your pretotype into the real world, and see how people interact with it. Start small — one place, one time.</a:t>
            </a:r>
            <a:endParaRPr/>
          </a:p>
          <a:p>
            <a:pPr indent="0" lvl="0" marL="0" rtl="0" algn="l">
              <a:spcBef>
                <a:spcPts val="1600"/>
              </a:spcBef>
              <a:spcAft>
                <a:spcPts val="0"/>
              </a:spcAft>
              <a:buNone/>
            </a:pPr>
            <a:r>
              <a:rPr lang="en-GB"/>
              <a:t>Step 5:Learn, Refine, Hypozoom: </a:t>
            </a:r>
            <a:r>
              <a:rPr lang="en-GB" sz="1200"/>
              <a:t>Evaluate your results. Refine your pretotype with your new data. If you hypothesis held, decide what other situations you should test your pretotype in to get a complete picture (what we call "hypozooming").</a:t>
            </a:r>
            <a:r>
              <a:rPr lang="en-GB" sz="1000"/>
              <a:t> </a:t>
            </a:r>
            <a:r>
              <a:rPr lang="en-GB" sz="1000" u="sng">
                <a:solidFill>
                  <a:schemeClr val="hlink"/>
                </a:solidFill>
                <a:hlinkClick r:id="rId4"/>
              </a:rPr>
              <a:t>https://www.albertosavoia.com/uploads/1/4/0/9/14099067/hypozooming_video.pdf</a:t>
            </a:r>
            <a:r>
              <a:rPr lang="en-GB" sz="1000"/>
              <a:t> </a:t>
            </a:r>
            <a:r>
              <a:rPr lang="en-GB" sz="1000" u="sng">
                <a:solidFill>
                  <a:schemeClr val="hlink"/>
                </a:solidFill>
                <a:hlinkClick r:id="rId5"/>
              </a:rPr>
              <a:t>https://www.youtube.com/watch?v=bKfBbYsJlZc&amp;ab_channel=TheRightIt%E2%80%94VideolessonsbyAlbertoSavoia</a:t>
            </a:r>
            <a:r>
              <a:rPr lang="en-GB" sz="1000"/>
              <a:t> </a:t>
            </a:r>
            <a:endParaRPr sz="1000"/>
          </a:p>
          <a:p>
            <a:pPr indent="0" lvl="0" marL="0" rtl="0" algn="l">
              <a:spcBef>
                <a:spcPts val="1600"/>
              </a:spcBef>
              <a:spcAft>
                <a:spcPts val="1600"/>
              </a:spcAft>
              <a:buNone/>
            </a:pPr>
            <a:r>
              <a:t/>
            </a:r>
            <a:endParaRPr sz="1200"/>
          </a:p>
        </p:txBody>
      </p:sp>
      <p:sp>
        <p:nvSpPr>
          <p:cNvPr id="215" name="Google Shape;215;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16" name="Google Shape;216;p30"/>
          <p:cNvSpPr txBox="1"/>
          <p:nvPr/>
        </p:nvSpPr>
        <p:spPr>
          <a:xfrm>
            <a:off x="6265602" y="4676650"/>
            <a:ext cx="2923200" cy="276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Source: </a:t>
            </a:r>
            <a:r>
              <a:rPr lang="en-GB" u="sng">
                <a:solidFill>
                  <a:schemeClr val="hlink"/>
                </a:solidFill>
                <a:hlinkClick r:id="rId6"/>
              </a:rPr>
              <a:t>www.pretotyping.org</a:t>
            </a:r>
            <a:r>
              <a:rPr lang="en-GB"/>
              <a:t>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FAKE DOOR </a:t>
            </a:r>
            <a:endParaRPr/>
          </a:p>
        </p:txBody>
      </p:sp>
      <p:sp>
        <p:nvSpPr>
          <p:cNvPr id="223" name="Google Shape;223;p3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
        <p:nvSpPr>
          <p:cNvPr id="224" name="Google Shape;224;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225" name="Google Shape;225;p31"/>
          <p:cNvPicPr preferRelativeResize="0"/>
          <p:nvPr/>
        </p:nvPicPr>
        <p:blipFill>
          <a:blip r:embed="rId3">
            <a:alphaModFix/>
          </a:blip>
          <a:stretch>
            <a:fillRect/>
          </a:stretch>
        </p:blipFill>
        <p:spPr>
          <a:xfrm>
            <a:off x="-39800" y="0"/>
            <a:ext cx="9144000" cy="4091380"/>
          </a:xfrm>
          <a:prstGeom prst="rect">
            <a:avLst/>
          </a:prstGeom>
          <a:noFill/>
          <a:ln>
            <a:noFill/>
          </a:ln>
        </p:spPr>
      </p:pic>
      <p:sp>
        <p:nvSpPr>
          <p:cNvPr id="226" name="Google Shape;226;p31"/>
          <p:cNvSpPr txBox="1"/>
          <p:nvPr/>
        </p:nvSpPr>
        <p:spPr>
          <a:xfrm>
            <a:off x="0" y="4124350"/>
            <a:ext cx="91440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50">
                <a:solidFill>
                  <a:srgbClr val="231F20"/>
                </a:solidFill>
                <a:highlight>
                  <a:srgbClr val="FFFFFF"/>
                </a:highlight>
              </a:rPr>
              <a:t>the Fake Door can be used to advertise a service that is not ready yet and measure interest from users, e.g. a new process to renew a license, a new expert system to consolidate social services, etc. </a:t>
            </a:r>
            <a:endParaRPr sz="1350">
              <a:solidFill>
                <a:srgbClr val="231F20"/>
              </a:solidFill>
              <a:highlight>
                <a:srgbClr val="FFFFFF"/>
              </a:highlight>
            </a:endParaRPr>
          </a:p>
          <a:p>
            <a:pPr indent="0" lvl="0" marL="0" rtl="0" algn="l">
              <a:spcBef>
                <a:spcPts val="0"/>
              </a:spcBef>
              <a:spcAft>
                <a:spcPts val="0"/>
              </a:spcAft>
              <a:buNone/>
            </a:pPr>
            <a:r>
              <a:rPr lang="en-GB" sz="1100" u="sng">
                <a:solidFill>
                  <a:schemeClr val="hlink"/>
                </a:solidFill>
                <a:hlinkClick r:id="rId4"/>
              </a:rPr>
              <a:t>https://www.nesta.org.uk/blog/development-and-testing-for-public-labs-fake-it-before-you-make-it/</a:t>
            </a:r>
            <a:endParaRPr sz="1350">
              <a:solidFill>
                <a:srgbClr val="231F20"/>
              </a:solidFill>
              <a:highlight>
                <a:srgbClr val="FFFFFF"/>
              </a:high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2"/>
          <p:cNvSpPr txBox="1"/>
          <p:nvPr>
            <p:ph type="title"/>
          </p:nvPr>
        </p:nvSpPr>
        <p:spPr>
          <a:xfrm>
            <a:off x="311700" y="64025"/>
            <a:ext cx="8520600" cy="5727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300"/>
              <a:buFont typeface="Calibri"/>
              <a:buNone/>
            </a:pPr>
            <a:r>
              <a:rPr lang="en-GB"/>
              <a:t>FAKE DOOR</a:t>
            </a:r>
            <a:endParaRPr/>
          </a:p>
        </p:txBody>
      </p:sp>
      <p:pic>
        <p:nvPicPr>
          <p:cNvPr id="232" name="Google Shape;232;p32"/>
          <p:cNvPicPr preferRelativeResize="0"/>
          <p:nvPr>
            <p:ph idx="1" type="body"/>
          </p:nvPr>
        </p:nvPicPr>
        <p:blipFill rotWithShape="1">
          <a:blip r:embed="rId3">
            <a:alphaModFix/>
          </a:blip>
          <a:srcRect b="0" l="45587" r="0" t="0"/>
          <a:stretch/>
        </p:blipFill>
        <p:spPr>
          <a:xfrm>
            <a:off x="2253900" y="680425"/>
            <a:ext cx="4636200" cy="3416400"/>
          </a:xfrm>
          <a:prstGeom prst="rect">
            <a:avLst/>
          </a:prstGeom>
          <a:noFill/>
          <a:ln>
            <a:noFill/>
          </a:ln>
        </p:spPr>
      </p:pic>
      <p:sp>
        <p:nvSpPr>
          <p:cNvPr id="233" name="Google Shape;233;p32"/>
          <p:cNvSpPr txBox="1"/>
          <p:nvPr>
            <p:ph idx="12" type="sldNum"/>
          </p:nvPr>
        </p:nvSpPr>
        <p:spPr>
          <a:xfrm>
            <a:off x="8472458" y="4663217"/>
            <a:ext cx="548700" cy="3936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pic>
        <p:nvPicPr>
          <p:cNvPr id="234" name="Google Shape;234;p32"/>
          <p:cNvPicPr preferRelativeResize="0"/>
          <p:nvPr/>
        </p:nvPicPr>
        <p:blipFill rotWithShape="1">
          <a:blip r:embed="rId4">
            <a:alphaModFix/>
          </a:blip>
          <a:srcRect b="0" l="0" r="0" t="93527"/>
          <a:stretch/>
        </p:blipFill>
        <p:spPr>
          <a:xfrm>
            <a:off x="5426876" y="4503093"/>
            <a:ext cx="3717124" cy="264169"/>
          </a:xfrm>
          <a:prstGeom prst="rect">
            <a:avLst/>
          </a:prstGeom>
          <a:noFill/>
          <a:ln>
            <a:noFill/>
          </a:ln>
        </p:spPr>
      </p:pic>
      <p:sp>
        <p:nvSpPr>
          <p:cNvPr id="235" name="Google Shape;235;p32"/>
          <p:cNvSpPr txBox="1"/>
          <p:nvPr/>
        </p:nvSpPr>
        <p:spPr>
          <a:xfrm>
            <a:off x="5884602" y="4600450"/>
            <a:ext cx="2923200" cy="276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Source: </a:t>
            </a:r>
            <a:r>
              <a:rPr lang="en-GB" u="sng">
                <a:solidFill>
                  <a:schemeClr val="hlink"/>
                </a:solidFill>
                <a:hlinkClick r:id="rId5"/>
              </a:rPr>
              <a:t>www.pretotyping.org</a:t>
            </a:r>
            <a:r>
              <a:rPr lang="en-GB"/>
              <a:t>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3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
        <p:nvSpPr>
          <p:cNvPr id="243" name="Google Shape;243;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244" name="Google Shape;244;p33"/>
          <p:cNvPicPr preferRelativeResize="0"/>
          <p:nvPr/>
        </p:nvPicPr>
        <p:blipFill>
          <a:blip r:embed="rId3">
            <a:alphaModFix/>
          </a:blip>
          <a:stretch>
            <a:fillRect/>
          </a:stretch>
        </p:blipFill>
        <p:spPr>
          <a:xfrm>
            <a:off x="1311525" y="103500"/>
            <a:ext cx="6520954" cy="3289099"/>
          </a:xfrm>
          <a:prstGeom prst="rect">
            <a:avLst/>
          </a:prstGeom>
          <a:noFill/>
          <a:ln>
            <a:noFill/>
          </a:ln>
        </p:spPr>
      </p:pic>
      <p:sp>
        <p:nvSpPr>
          <p:cNvPr id="245" name="Google Shape;245;p33"/>
          <p:cNvSpPr txBox="1"/>
          <p:nvPr/>
        </p:nvSpPr>
        <p:spPr>
          <a:xfrm>
            <a:off x="1526550" y="4203975"/>
            <a:ext cx="6090900" cy="27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100" u="sng">
                <a:solidFill>
                  <a:schemeClr val="hlink"/>
                </a:solidFill>
                <a:hlinkClick r:id="rId4"/>
              </a:rPr>
              <a:t>https://hackernoon.com/fake-door-the-mvp-before-the-mvp-61197ed264a3</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3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
        <p:nvSpPr>
          <p:cNvPr id="253" name="Google Shape;253;p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254" name="Google Shape;254;p34"/>
          <p:cNvPicPr preferRelativeResize="0"/>
          <p:nvPr/>
        </p:nvPicPr>
        <p:blipFill>
          <a:blip r:embed="rId3">
            <a:alphaModFix/>
          </a:blip>
          <a:stretch>
            <a:fillRect/>
          </a:stretch>
        </p:blipFill>
        <p:spPr>
          <a:xfrm>
            <a:off x="3" y="3"/>
            <a:ext cx="9144001" cy="3339443"/>
          </a:xfrm>
          <a:prstGeom prst="rect">
            <a:avLst/>
          </a:prstGeom>
          <a:noFill/>
          <a:ln>
            <a:noFill/>
          </a:ln>
        </p:spPr>
      </p:pic>
      <p:sp>
        <p:nvSpPr>
          <p:cNvPr id="255" name="Google Shape;255;p34"/>
          <p:cNvSpPr txBox="1"/>
          <p:nvPr/>
        </p:nvSpPr>
        <p:spPr>
          <a:xfrm>
            <a:off x="0" y="3471475"/>
            <a:ext cx="9144000" cy="80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50">
                <a:solidFill>
                  <a:srgbClr val="231F20"/>
                </a:solidFill>
                <a:highlight>
                  <a:srgbClr val="FFFFFF"/>
                </a:highlight>
              </a:rPr>
              <a:t>Algorithmic-based solutions are needed to reach scale while keeping the cost low. But before finding the right "advisor" to build, a Mechanical Turk approach can be used to experiment, where human experts can hide behind an online form or a SMS-based application.</a:t>
            </a:r>
            <a:endParaRPr sz="1350">
              <a:solidFill>
                <a:srgbClr val="231F20"/>
              </a:solidFill>
              <a:highlight>
                <a:srgbClr val="FFFFFF"/>
              </a:highlight>
            </a:endParaRPr>
          </a:p>
          <a:p>
            <a:pPr indent="0" lvl="0" marL="0" rtl="0" algn="l">
              <a:spcBef>
                <a:spcPts val="0"/>
              </a:spcBef>
              <a:spcAft>
                <a:spcPts val="0"/>
              </a:spcAft>
              <a:buNone/>
            </a:pPr>
            <a:r>
              <a:rPr lang="en-GB" sz="1100" u="sng">
                <a:solidFill>
                  <a:schemeClr val="hlink"/>
                </a:solidFill>
                <a:hlinkClick r:id="rId4"/>
              </a:rPr>
              <a:t>https://www.nesta.org.uk/blog/development-and-testing-for-public-labs-fake-it-before-you-make-it/</a:t>
            </a:r>
            <a:endParaRPr sz="1350">
              <a:solidFill>
                <a:srgbClr val="231F20"/>
              </a:solidFill>
              <a:highlight>
                <a:srgbClr val="FFFFFF"/>
              </a:high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5"/>
          <p:cNvSpPr txBox="1"/>
          <p:nvPr>
            <p:ph type="title"/>
          </p:nvPr>
        </p:nvSpPr>
        <p:spPr>
          <a:xfrm>
            <a:off x="311700" y="64025"/>
            <a:ext cx="8520600" cy="5727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300"/>
              <a:buFont typeface="Calibri"/>
              <a:buNone/>
            </a:pPr>
            <a:r>
              <a:rPr lang="en-GB"/>
              <a:t>MECHANICAL TURK</a:t>
            </a:r>
            <a:endParaRPr/>
          </a:p>
        </p:txBody>
      </p:sp>
      <p:pic>
        <p:nvPicPr>
          <p:cNvPr id="261" name="Google Shape;261;p35"/>
          <p:cNvPicPr preferRelativeResize="0"/>
          <p:nvPr>
            <p:ph idx="1" type="body"/>
          </p:nvPr>
        </p:nvPicPr>
        <p:blipFill rotWithShape="1">
          <a:blip r:embed="rId3">
            <a:alphaModFix/>
          </a:blip>
          <a:srcRect b="0" l="45495" r="0" t="0"/>
          <a:stretch/>
        </p:blipFill>
        <p:spPr>
          <a:xfrm>
            <a:off x="2249850" y="680425"/>
            <a:ext cx="4644300" cy="3416400"/>
          </a:xfrm>
          <a:prstGeom prst="rect">
            <a:avLst/>
          </a:prstGeom>
          <a:noFill/>
          <a:ln>
            <a:noFill/>
          </a:ln>
        </p:spPr>
      </p:pic>
      <p:sp>
        <p:nvSpPr>
          <p:cNvPr id="262" name="Google Shape;262;p35"/>
          <p:cNvSpPr txBox="1"/>
          <p:nvPr>
            <p:ph idx="12" type="sldNum"/>
          </p:nvPr>
        </p:nvSpPr>
        <p:spPr>
          <a:xfrm>
            <a:off x="8472458" y="4663217"/>
            <a:ext cx="548700" cy="3936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pic>
        <p:nvPicPr>
          <p:cNvPr id="263" name="Google Shape;263;p35"/>
          <p:cNvPicPr preferRelativeResize="0"/>
          <p:nvPr/>
        </p:nvPicPr>
        <p:blipFill rotWithShape="1">
          <a:blip r:embed="rId4">
            <a:alphaModFix/>
          </a:blip>
          <a:srcRect b="0" l="0" r="0" t="93527"/>
          <a:stretch/>
        </p:blipFill>
        <p:spPr>
          <a:xfrm>
            <a:off x="5426876" y="4503093"/>
            <a:ext cx="3717124" cy="264169"/>
          </a:xfrm>
          <a:prstGeom prst="rect">
            <a:avLst/>
          </a:prstGeom>
          <a:noFill/>
          <a:ln>
            <a:noFill/>
          </a:ln>
        </p:spPr>
      </p:pic>
      <p:sp>
        <p:nvSpPr>
          <p:cNvPr id="264" name="Google Shape;264;p35"/>
          <p:cNvSpPr txBox="1"/>
          <p:nvPr/>
        </p:nvSpPr>
        <p:spPr>
          <a:xfrm>
            <a:off x="5884602" y="4600450"/>
            <a:ext cx="2923200" cy="276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Source: </a:t>
            </a:r>
            <a:r>
              <a:rPr lang="en-GB" u="sng">
                <a:solidFill>
                  <a:schemeClr val="hlink"/>
                </a:solidFill>
                <a:hlinkClick r:id="rId5"/>
              </a:rPr>
              <a:t>www.pretotyping.org</a:t>
            </a:r>
            <a:r>
              <a:rPr lang="en-GB"/>
              <a:t>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
        <p:nvSpPr>
          <p:cNvPr id="272" name="Google Shape;272;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273" name="Google Shape;273;p36"/>
          <p:cNvPicPr preferRelativeResize="0"/>
          <p:nvPr/>
        </p:nvPicPr>
        <p:blipFill>
          <a:blip r:embed="rId3">
            <a:alphaModFix/>
          </a:blip>
          <a:stretch>
            <a:fillRect/>
          </a:stretch>
        </p:blipFill>
        <p:spPr>
          <a:xfrm>
            <a:off x="154607" y="0"/>
            <a:ext cx="8834787" cy="514350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
        <p:nvSpPr>
          <p:cNvPr id="281" name="Google Shape;281;p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282" name="Google Shape;282;p37"/>
          <p:cNvPicPr preferRelativeResize="0"/>
          <p:nvPr/>
        </p:nvPicPr>
        <p:blipFill>
          <a:blip r:embed="rId3">
            <a:alphaModFix/>
          </a:blip>
          <a:stretch>
            <a:fillRect/>
          </a:stretch>
        </p:blipFill>
        <p:spPr>
          <a:xfrm>
            <a:off x="0" y="0"/>
            <a:ext cx="9144001" cy="3586873"/>
          </a:xfrm>
          <a:prstGeom prst="rect">
            <a:avLst/>
          </a:prstGeom>
          <a:noFill/>
          <a:ln>
            <a:noFill/>
          </a:ln>
        </p:spPr>
      </p:pic>
      <p:sp>
        <p:nvSpPr>
          <p:cNvPr id="283" name="Google Shape;283;p37"/>
          <p:cNvSpPr txBox="1"/>
          <p:nvPr/>
        </p:nvSpPr>
        <p:spPr>
          <a:xfrm>
            <a:off x="0" y="3726250"/>
            <a:ext cx="9144000" cy="63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50">
                <a:solidFill>
                  <a:srgbClr val="231F20"/>
                </a:solidFill>
                <a:highlight>
                  <a:srgbClr val="FFFFFF"/>
                </a:highlight>
              </a:rPr>
              <a:t>In the context of public labs, this could mean revamping an existing service by providing a different front-end on top of an existing API.</a:t>
            </a:r>
            <a:endParaRPr sz="1350">
              <a:solidFill>
                <a:srgbClr val="231F20"/>
              </a:solidFill>
              <a:highlight>
                <a:srgbClr val="FFFFFF"/>
              </a:highlight>
            </a:endParaRPr>
          </a:p>
          <a:p>
            <a:pPr indent="0" lvl="0" marL="0" rtl="0" algn="l">
              <a:spcBef>
                <a:spcPts val="0"/>
              </a:spcBef>
              <a:spcAft>
                <a:spcPts val="0"/>
              </a:spcAft>
              <a:buNone/>
            </a:pPr>
            <a:r>
              <a:rPr lang="en-GB" sz="1100" u="sng">
                <a:solidFill>
                  <a:schemeClr val="hlink"/>
                </a:solidFill>
                <a:hlinkClick r:id="rId4"/>
              </a:rPr>
              <a:t>https://www.nesta.org.uk/blog/development-and-testing-for-public-labs-fake-it-before-you-make-it/</a:t>
            </a:r>
            <a:endParaRPr sz="1350">
              <a:solidFill>
                <a:srgbClr val="231F20"/>
              </a:solidFill>
              <a:highlight>
                <a:srgbClr val="FFFFFF"/>
              </a:highlight>
            </a:endParaRPr>
          </a:p>
          <a:p>
            <a:pPr indent="0" lvl="0" marL="0" rtl="0" algn="l">
              <a:spcBef>
                <a:spcPts val="0"/>
              </a:spcBef>
              <a:spcAft>
                <a:spcPts val="0"/>
              </a:spcAft>
              <a:buNone/>
            </a:pPr>
            <a:r>
              <a:t/>
            </a:r>
            <a:endParaRPr sz="1350">
              <a:solidFill>
                <a:srgbClr val="231F20"/>
              </a:solidFill>
              <a:highlight>
                <a:srgbClr val="FFFFFF"/>
              </a:highlight>
            </a:endParaRPr>
          </a:p>
          <a:p>
            <a:pPr indent="0" lvl="0" marL="0" rtl="0" algn="l">
              <a:spcBef>
                <a:spcPts val="0"/>
              </a:spcBef>
              <a:spcAft>
                <a:spcPts val="0"/>
              </a:spcAft>
              <a:buNone/>
            </a:pPr>
            <a:r>
              <a:rPr lang="en-GB" sz="1350">
                <a:solidFill>
                  <a:srgbClr val="231F20"/>
                </a:solidFill>
                <a:highlight>
                  <a:srgbClr val="FFFFFF"/>
                </a:highlight>
              </a:rPr>
              <a:t>Video “IKEA” </a:t>
            </a:r>
            <a:r>
              <a:rPr lang="en-GB" sz="1100" u="sng">
                <a:solidFill>
                  <a:schemeClr val="hlink"/>
                </a:solidFill>
                <a:hlinkClick r:id="rId5"/>
              </a:rPr>
              <a:t>Design studio Upwell hacks IKEA... on Vimeo</a:t>
            </a:r>
            <a:endParaRPr sz="1350">
              <a:solidFill>
                <a:srgbClr val="231F20"/>
              </a:solidFill>
              <a:highlight>
                <a:srgbClr val="FFFFFF"/>
              </a:high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8"/>
          <p:cNvSpPr txBox="1"/>
          <p:nvPr>
            <p:ph type="title"/>
          </p:nvPr>
        </p:nvSpPr>
        <p:spPr>
          <a:xfrm>
            <a:off x="311700" y="64025"/>
            <a:ext cx="8520600" cy="5727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300"/>
              <a:buFont typeface="Calibri"/>
              <a:buNone/>
            </a:pPr>
            <a:r>
              <a:rPr lang="en-GB"/>
              <a:t>IMPERSONATOR</a:t>
            </a:r>
            <a:endParaRPr/>
          </a:p>
        </p:txBody>
      </p:sp>
      <p:sp>
        <p:nvSpPr>
          <p:cNvPr id="289" name="Google Shape;289;p38"/>
          <p:cNvSpPr txBox="1"/>
          <p:nvPr>
            <p:ph idx="1" type="body"/>
          </p:nvPr>
        </p:nvSpPr>
        <p:spPr>
          <a:xfrm>
            <a:off x="311700" y="619075"/>
            <a:ext cx="8520600" cy="3416400"/>
          </a:xfrm>
          <a:prstGeom prst="rect">
            <a:avLst/>
          </a:prstGeom>
          <a:noFill/>
          <a:ln>
            <a:noFill/>
          </a:ln>
        </p:spPr>
        <p:txBody>
          <a:bodyPr anchorCtr="0" anchor="t" bIns="45700" lIns="91425" spcFirstLastPara="1" rIns="91425" wrap="square" tIns="45700">
            <a:noAutofit/>
          </a:bodyPr>
          <a:lstStyle/>
          <a:p>
            <a:pPr indent="-38100" lvl="0" marL="171450" rtl="0" algn="l">
              <a:lnSpc>
                <a:spcPct val="90000"/>
              </a:lnSpc>
              <a:spcBef>
                <a:spcPts val="0"/>
              </a:spcBef>
              <a:spcAft>
                <a:spcPts val="1600"/>
              </a:spcAft>
              <a:buClr>
                <a:schemeClr val="dk1"/>
              </a:buClr>
              <a:buSzPts val="2100"/>
              <a:buNone/>
            </a:pPr>
            <a:r>
              <a:t/>
            </a:r>
            <a:endParaRPr/>
          </a:p>
        </p:txBody>
      </p:sp>
      <p:sp>
        <p:nvSpPr>
          <p:cNvPr id="290" name="Google Shape;290;p38"/>
          <p:cNvSpPr txBox="1"/>
          <p:nvPr>
            <p:ph idx="12" type="sldNum"/>
          </p:nvPr>
        </p:nvSpPr>
        <p:spPr>
          <a:xfrm>
            <a:off x="8472458" y="4663217"/>
            <a:ext cx="548700" cy="3936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pic>
        <p:nvPicPr>
          <p:cNvPr id="291" name="Google Shape;291;p38"/>
          <p:cNvPicPr preferRelativeResize="0"/>
          <p:nvPr/>
        </p:nvPicPr>
        <p:blipFill rotWithShape="1">
          <a:blip r:embed="rId3">
            <a:alphaModFix/>
          </a:blip>
          <a:srcRect b="0" l="0" r="0" t="93527"/>
          <a:stretch/>
        </p:blipFill>
        <p:spPr>
          <a:xfrm>
            <a:off x="5426876" y="4503093"/>
            <a:ext cx="3717124" cy="264169"/>
          </a:xfrm>
          <a:prstGeom prst="rect">
            <a:avLst/>
          </a:prstGeom>
          <a:noFill/>
          <a:ln>
            <a:noFill/>
          </a:ln>
        </p:spPr>
      </p:pic>
      <p:pic>
        <p:nvPicPr>
          <p:cNvPr id="292" name="Google Shape;292;p38"/>
          <p:cNvPicPr preferRelativeResize="0"/>
          <p:nvPr/>
        </p:nvPicPr>
        <p:blipFill rotWithShape="1">
          <a:blip r:embed="rId4">
            <a:alphaModFix/>
          </a:blip>
          <a:srcRect b="0" l="46346" r="0" t="0"/>
          <a:stretch/>
        </p:blipFill>
        <p:spPr>
          <a:xfrm>
            <a:off x="2399475" y="721200"/>
            <a:ext cx="4649851" cy="3343125"/>
          </a:xfrm>
          <a:prstGeom prst="rect">
            <a:avLst/>
          </a:prstGeom>
          <a:noFill/>
          <a:ln>
            <a:noFill/>
          </a:ln>
        </p:spPr>
      </p:pic>
      <p:sp>
        <p:nvSpPr>
          <p:cNvPr id="293" name="Google Shape;293;p38"/>
          <p:cNvSpPr txBox="1"/>
          <p:nvPr/>
        </p:nvSpPr>
        <p:spPr>
          <a:xfrm>
            <a:off x="5884602" y="4600450"/>
            <a:ext cx="2923200" cy="276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Source: </a:t>
            </a:r>
            <a:r>
              <a:rPr lang="en-GB" u="sng">
                <a:solidFill>
                  <a:schemeClr val="hlink"/>
                </a:solidFill>
                <a:hlinkClick r:id="rId5"/>
              </a:rPr>
              <a:t>www.pretotyping.org</a:t>
            </a:r>
            <a:r>
              <a:rPr lang="en-GB"/>
              <a:t> </a:t>
            </a:r>
            <a:endParaRPr/>
          </a:p>
        </p:txBody>
      </p:sp>
      <p:sp>
        <p:nvSpPr>
          <p:cNvPr id="294" name="Google Shape;294;p38"/>
          <p:cNvSpPr txBox="1"/>
          <p:nvPr/>
        </p:nvSpPr>
        <p:spPr>
          <a:xfrm>
            <a:off x="148025" y="4524250"/>
            <a:ext cx="3000000" cy="27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u="sng">
                <a:solidFill>
                  <a:schemeClr val="accent5"/>
                </a:solidFill>
                <a:hlinkClick r:id="rId6">
                  <a:extLst>
                    <a:ext uri="{A12FA001-AC4F-418D-AE19-62706E023703}">
                      <ahyp:hlinkClr val="tx"/>
                    </a:ext>
                  </a:extLst>
                </a:hlinkClick>
              </a:rPr>
              <a:t>https://vimeo.com/79313674</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3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
        <p:nvSpPr>
          <p:cNvPr id="302" name="Google Shape;302;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303" name="Google Shape;303;p39"/>
          <p:cNvPicPr preferRelativeResize="0"/>
          <p:nvPr/>
        </p:nvPicPr>
        <p:blipFill rotWithShape="1">
          <a:blip r:embed="rId3">
            <a:alphaModFix/>
          </a:blip>
          <a:srcRect b="5636" l="0" r="0" t="6156"/>
          <a:stretch/>
        </p:blipFill>
        <p:spPr>
          <a:xfrm>
            <a:off x="-17888" y="-2"/>
            <a:ext cx="9179776" cy="3505577"/>
          </a:xfrm>
          <a:prstGeom prst="rect">
            <a:avLst/>
          </a:prstGeom>
          <a:noFill/>
          <a:ln>
            <a:noFill/>
          </a:ln>
        </p:spPr>
      </p:pic>
      <p:sp>
        <p:nvSpPr>
          <p:cNvPr id="304" name="Google Shape;304;p39"/>
          <p:cNvSpPr txBox="1"/>
          <p:nvPr/>
        </p:nvSpPr>
        <p:spPr>
          <a:xfrm>
            <a:off x="0" y="3505575"/>
            <a:ext cx="9144000" cy="1379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1350">
                <a:solidFill>
                  <a:srgbClr val="231F20"/>
                </a:solidFill>
                <a:highlight>
                  <a:srgbClr val="FFFFFF"/>
                </a:highlight>
              </a:rPr>
              <a:t>A Pinocchio pretotype is one in which a fake artifact acts as a proxy for the real thing. The most famous example is the wood model of the Palm Pilot mentioned above.</a:t>
            </a:r>
            <a:endParaRPr sz="1350">
              <a:solidFill>
                <a:srgbClr val="231F20"/>
              </a:solidFill>
              <a:highlight>
                <a:srgbClr val="FFFFFF"/>
              </a:highlight>
            </a:endParaRPr>
          </a:p>
          <a:p>
            <a:pPr indent="0" lvl="0" marL="0" rtl="0" algn="l">
              <a:lnSpc>
                <a:spcPct val="115000"/>
              </a:lnSpc>
              <a:spcBef>
                <a:spcPts val="2100"/>
              </a:spcBef>
              <a:spcAft>
                <a:spcPts val="2100"/>
              </a:spcAft>
              <a:buNone/>
            </a:pPr>
            <a:r>
              <a:rPr lang="en-GB" sz="1350">
                <a:solidFill>
                  <a:srgbClr val="231F20"/>
                </a:solidFill>
                <a:highlight>
                  <a:srgbClr val="FFFFFF"/>
                </a:highlight>
              </a:rPr>
              <a:t>Pinocchio pretotypes are the perfect conduit for role play design to encourage people to test your product or service, but also to explore other ways that the "it" you are building is tailored to their needs.</a:t>
            </a:r>
            <a:endParaRPr sz="1350">
              <a:solidFill>
                <a:srgbClr val="231F20"/>
              </a:solidFill>
              <a:highlight>
                <a:srgbClr val="FFFFFF"/>
              </a:highligh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0"/>
          <p:cNvSpPr txBox="1"/>
          <p:nvPr>
            <p:ph type="title"/>
          </p:nvPr>
        </p:nvSpPr>
        <p:spPr>
          <a:xfrm>
            <a:off x="311700" y="64025"/>
            <a:ext cx="8520600" cy="5727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300"/>
              <a:buFont typeface="Calibri"/>
              <a:buNone/>
            </a:pPr>
            <a:r>
              <a:rPr lang="en-GB"/>
              <a:t>PINOCCHIO</a:t>
            </a:r>
            <a:endParaRPr/>
          </a:p>
        </p:txBody>
      </p:sp>
      <p:sp>
        <p:nvSpPr>
          <p:cNvPr id="310" name="Google Shape;310;p40"/>
          <p:cNvSpPr txBox="1"/>
          <p:nvPr>
            <p:ph idx="1" type="body"/>
          </p:nvPr>
        </p:nvSpPr>
        <p:spPr>
          <a:xfrm>
            <a:off x="311700" y="619075"/>
            <a:ext cx="8520600" cy="3416400"/>
          </a:xfrm>
          <a:prstGeom prst="rect">
            <a:avLst/>
          </a:prstGeom>
          <a:noFill/>
          <a:ln>
            <a:noFill/>
          </a:ln>
        </p:spPr>
        <p:txBody>
          <a:bodyPr anchorCtr="0" anchor="t" bIns="45700" lIns="91425" spcFirstLastPara="1" rIns="91425" wrap="square" tIns="45700">
            <a:noAutofit/>
          </a:bodyPr>
          <a:lstStyle/>
          <a:p>
            <a:pPr indent="-38100" lvl="0" marL="171450" rtl="0" algn="l">
              <a:lnSpc>
                <a:spcPct val="90000"/>
              </a:lnSpc>
              <a:spcBef>
                <a:spcPts val="0"/>
              </a:spcBef>
              <a:spcAft>
                <a:spcPts val="1600"/>
              </a:spcAft>
              <a:buClr>
                <a:schemeClr val="dk1"/>
              </a:buClr>
              <a:buSzPts val="2100"/>
              <a:buNone/>
            </a:pPr>
            <a:r>
              <a:t/>
            </a:r>
            <a:endParaRPr/>
          </a:p>
        </p:txBody>
      </p:sp>
      <p:sp>
        <p:nvSpPr>
          <p:cNvPr id="311" name="Google Shape;311;p40"/>
          <p:cNvSpPr txBox="1"/>
          <p:nvPr>
            <p:ph idx="12" type="sldNum"/>
          </p:nvPr>
        </p:nvSpPr>
        <p:spPr>
          <a:xfrm>
            <a:off x="8472458" y="4663217"/>
            <a:ext cx="548700" cy="3936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pic>
        <p:nvPicPr>
          <p:cNvPr id="312" name="Google Shape;312;p40"/>
          <p:cNvPicPr preferRelativeResize="0"/>
          <p:nvPr/>
        </p:nvPicPr>
        <p:blipFill rotWithShape="1">
          <a:blip r:embed="rId3">
            <a:alphaModFix/>
          </a:blip>
          <a:srcRect b="0" l="0" r="0" t="93527"/>
          <a:stretch/>
        </p:blipFill>
        <p:spPr>
          <a:xfrm>
            <a:off x="5426876" y="4503093"/>
            <a:ext cx="3717124" cy="264169"/>
          </a:xfrm>
          <a:prstGeom prst="rect">
            <a:avLst/>
          </a:prstGeom>
          <a:noFill/>
          <a:ln>
            <a:noFill/>
          </a:ln>
        </p:spPr>
      </p:pic>
      <p:pic>
        <p:nvPicPr>
          <p:cNvPr id="313" name="Google Shape;313;p40"/>
          <p:cNvPicPr preferRelativeResize="0"/>
          <p:nvPr/>
        </p:nvPicPr>
        <p:blipFill rotWithShape="1">
          <a:blip r:embed="rId4">
            <a:alphaModFix/>
          </a:blip>
          <a:srcRect b="0" l="45796" r="0" t="0"/>
          <a:stretch/>
        </p:blipFill>
        <p:spPr>
          <a:xfrm>
            <a:off x="2222088" y="619075"/>
            <a:ext cx="4699875" cy="3320225"/>
          </a:xfrm>
          <a:prstGeom prst="rect">
            <a:avLst/>
          </a:prstGeom>
          <a:noFill/>
          <a:ln>
            <a:noFill/>
          </a:ln>
        </p:spPr>
      </p:pic>
      <p:sp>
        <p:nvSpPr>
          <p:cNvPr id="314" name="Google Shape;314;p40"/>
          <p:cNvSpPr txBox="1"/>
          <p:nvPr/>
        </p:nvSpPr>
        <p:spPr>
          <a:xfrm>
            <a:off x="5884602" y="4600450"/>
            <a:ext cx="2923200" cy="276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Source: </a:t>
            </a:r>
            <a:r>
              <a:rPr lang="en-GB" u="sng">
                <a:solidFill>
                  <a:schemeClr val="hlink"/>
                </a:solidFill>
                <a:hlinkClick r:id="rId5"/>
              </a:rPr>
              <a:t>www.pretotyping.org</a:t>
            </a:r>
            <a:r>
              <a:rPr lang="en-GB"/>
              <a:t>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4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
        <p:nvSpPr>
          <p:cNvPr id="322" name="Google Shape;322;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323" name="Google Shape;323;p41"/>
          <p:cNvPicPr preferRelativeResize="0"/>
          <p:nvPr/>
        </p:nvPicPr>
        <p:blipFill>
          <a:blip r:embed="rId3">
            <a:alphaModFix/>
          </a:blip>
          <a:stretch>
            <a:fillRect/>
          </a:stretch>
        </p:blipFill>
        <p:spPr>
          <a:xfrm>
            <a:off x="0" y="4"/>
            <a:ext cx="9186675" cy="3996950"/>
          </a:xfrm>
          <a:prstGeom prst="rect">
            <a:avLst/>
          </a:prstGeom>
          <a:noFill/>
          <a:ln>
            <a:noFill/>
          </a:ln>
        </p:spPr>
      </p:pic>
      <p:sp>
        <p:nvSpPr>
          <p:cNvPr id="324" name="Google Shape;324;p41"/>
          <p:cNvSpPr txBox="1"/>
          <p:nvPr/>
        </p:nvSpPr>
        <p:spPr>
          <a:xfrm>
            <a:off x="38" y="4035463"/>
            <a:ext cx="9186600" cy="70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50">
                <a:solidFill>
                  <a:srgbClr val="231F20"/>
                </a:solidFill>
                <a:highlight>
                  <a:srgbClr val="FFFFFF"/>
                </a:highlight>
              </a:rPr>
              <a:t>The goal here is to reduce cost or to target a well-known population. In the spirit of failing fast, if the One Night Stand pretotype applied to a friendly region and receptive population does not succeed, then you know that you are probably building the wrong "it".</a:t>
            </a:r>
            <a:endParaRPr sz="1350">
              <a:solidFill>
                <a:srgbClr val="231F20"/>
              </a:solidFill>
              <a:highlight>
                <a:srgbClr val="FFFFFF"/>
              </a:highlight>
            </a:endParaRPr>
          </a:p>
          <a:p>
            <a:pPr indent="0" lvl="0" marL="0" rtl="0" algn="l">
              <a:spcBef>
                <a:spcPts val="0"/>
              </a:spcBef>
              <a:spcAft>
                <a:spcPts val="0"/>
              </a:spcAft>
              <a:buNone/>
            </a:pPr>
            <a:r>
              <a:rPr lang="en-GB" sz="1100" u="sng">
                <a:solidFill>
                  <a:schemeClr val="hlink"/>
                </a:solidFill>
                <a:hlinkClick r:id="rId4"/>
              </a:rPr>
              <a:t>https://www.nesta.org.uk/blog/development-and-testing-for-public-labs-fake-it-before-you-make-it/</a:t>
            </a:r>
            <a:endParaRPr sz="1350">
              <a:solidFill>
                <a:srgbClr val="231F20"/>
              </a:solidFill>
              <a:highlight>
                <a:srgbClr val="FFFFFF"/>
              </a:highligh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2"/>
          <p:cNvSpPr txBox="1"/>
          <p:nvPr>
            <p:ph type="title"/>
          </p:nvPr>
        </p:nvSpPr>
        <p:spPr>
          <a:xfrm>
            <a:off x="311700" y="64025"/>
            <a:ext cx="8520600" cy="5727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300"/>
              <a:buFont typeface="Calibri"/>
              <a:buNone/>
            </a:pPr>
            <a:r>
              <a:rPr lang="en-GB"/>
              <a:t>ONE NIGHT STAND</a:t>
            </a:r>
            <a:endParaRPr/>
          </a:p>
        </p:txBody>
      </p:sp>
      <p:sp>
        <p:nvSpPr>
          <p:cNvPr id="330" name="Google Shape;330;p42"/>
          <p:cNvSpPr txBox="1"/>
          <p:nvPr>
            <p:ph idx="1" type="body"/>
          </p:nvPr>
        </p:nvSpPr>
        <p:spPr>
          <a:xfrm>
            <a:off x="311700" y="619075"/>
            <a:ext cx="8520600" cy="3416400"/>
          </a:xfrm>
          <a:prstGeom prst="rect">
            <a:avLst/>
          </a:prstGeom>
          <a:noFill/>
          <a:ln>
            <a:noFill/>
          </a:ln>
        </p:spPr>
        <p:txBody>
          <a:bodyPr anchorCtr="0" anchor="t" bIns="45700" lIns="91425" spcFirstLastPara="1" rIns="91425" wrap="square" tIns="45700">
            <a:noAutofit/>
          </a:bodyPr>
          <a:lstStyle/>
          <a:p>
            <a:pPr indent="-38100" lvl="0" marL="171450" rtl="0" algn="l">
              <a:lnSpc>
                <a:spcPct val="90000"/>
              </a:lnSpc>
              <a:spcBef>
                <a:spcPts val="0"/>
              </a:spcBef>
              <a:spcAft>
                <a:spcPts val="1600"/>
              </a:spcAft>
              <a:buClr>
                <a:schemeClr val="dk1"/>
              </a:buClr>
              <a:buSzPts val="2100"/>
              <a:buNone/>
            </a:pPr>
            <a:r>
              <a:t/>
            </a:r>
            <a:endParaRPr/>
          </a:p>
        </p:txBody>
      </p:sp>
      <p:sp>
        <p:nvSpPr>
          <p:cNvPr id="331" name="Google Shape;331;p42"/>
          <p:cNvSpPr txBox="1"/>
          <p:nvPr>
            <p:ph idx="12" type="sldNum"/>
          </p:nvPr>
        </p:nvSpPr>
        <p:spPr>
          <a:xfrm>
            <a:off x="8472458" y="4663217"/>
            <a:ext cx="548700" cy="3936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pic>
        <p:nvPicPr>
          <p:cNvPr id="332" name="Google Shape;332;p42"/>
          <p:cNvPicPr preferRelativeResize="0"/>
          <p:nvPr/>
        </p:nvPicPr>
        <p:blipFill rotWithShape="1">
          <a:blip r:embed="rId3">
            <a:alphaModFix/>
          </a:blip>
          <a:srcRect b="0" l="0" r="0" t="93527"/>
          <a:stretch/>
        </p:blipFill>
        <p:spPr>
          <a:xfrm>
            <a:off x="5426876" y="4503093"/>
            <a:ext cx="3717124" cy="264169"/>
          </a:xfrm>
          <a:prstGeom prst="rect">
            <a:avLst/>
          </a:prstGeom>
          <a:noFill/>
          <a:ln>
            <a:noFill/>
          </a:ln>
        </p:spPr>
      </p:pic>
      <p:pic>
        <p:nvPicPr>
          <p:cNvPr id="333" name="Google Shape;333;p42"/>
          <p:cNvPicPr preferRelativeResize="0"/>
          <p:nvPr/>
        </p:nvPicPr>
        <p:blipFill rotWithShape="1">
          <a:blip r:embed="rId4">
            <a:alphaModFix/>
          </a:blip>
          <a:srcRect b="0" l="46438" r="0" t="0"/>
          <a:stretch/>
        </p:blipFill>
        <p:spPr>
          <a:xfrm>
            <a:off x="2175413" y="626625"/>
            <a:ext cx="4793176" cy="3401300"/>
          </a:xfrm>
          <a:prstGeom prst="rect">
            <a:avLst/>
          </a:prstGeom>
          <a:noFill/>
          <a:ln>
            <a:noFill/>
          </a:ln>
        </p:spPr>
      </p:pic>
      <p:sp>
        <p:nvSpPr>
          <p:cNvPr id="334" name="Google Shape;334;p42"/>
          <p:cNvSpPr txBox="1"/>
          <p:nvPr/>
        </p:nvSpPr>
        <p:spPr>
          <a:xfrm>
            <a:off x="5884602" y="4600450"/>
            <a:ext cx="2923200" cy="276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Source: </a:t>
            </a:r>
            <a:r>
              <a:rPr lang="en-GB" u="sng">
                <a:solidFill>
                  <a:schemeClr val="hlink"/>
                </a:solidFill>
                <a:hlinkClick r:id="rId5"/>
              </a:rPr>
              <a:t>www.pretotyping.org</a:t>
            </a:r>
            <a:r>
              <a:rPr lang="en-GB"/>
              <a:t>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4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
        <p:nvSpPr>
          <p:cNvPr id="342" name="Google Shape;342;p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343" name="Google Shape;343;p43"/>
          <p:cNvPicPr preferRelativeResize="0"/>
          <p:nvPr/>
        </p:nvPicPr>
        <p:blipFill>
          <a:blip r:embed="rId3">
            <a:alphaModFix/>
          </a:blip>
          <a:stretch>
            <a:fillRect/>
          </a:stretch>
        </p:blipFill>
        <p:spPr>
          <a:xfrm>
            <a:off x="0" y="0"/>
            <a:ext cx="9144000" cy="3894210"/>
          </a:xfrm>
          <a:prstGeom prst="rect">
            <a:avLst/>
          </a:prstGeom>
          <a:noFill/>
          <a:ln>
            <a:noFill/>
          </a:ln>
        </p:spPr>
      </p:pic>
      <p:sp>
        <p:nvSpPr>
          <p:cNvPr id="344" name="Google Shape;344;p43"/>
          <p:cNvSpPr txBox="1"/>
          <p:nvPr/>
        </p:nvSpPr>
        <p:spPr>
          <a:xfrm>
            <a:off x="609600" y="4227850"/>
            <a:ext cx="78984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u="sng">
                <a:solidFill>
                  <a:schemeClr val="hlink"/>
                </a:solidFill>
                <a:hlinkClick r:id="rId4"/>
              </a:rPr>
              <a:t>https://www.youtube.com/watch?v=9ko6oFb-jQY</a:t>
            </a:r>
            <a:endParaRPr/>
          </a:p>
          <a:p>
            <a:pPr indent="0" lvl="0" marL="0" rtl="0" algn="l">
              <a:spcBef>
                <a:spcPts val="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4"/>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GB"/>
              <a:t>NEXT STEP… PRODUCTION?</a:t>
            </a:r>
            <a:endParaRPr/>
          </a:p>
        </p:txBody>
      </p:sp>
      <p:sp>
        <p:nvSpPr>
          <p:cNvPr id="351" name="Google Shape;351;p4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5"/>
          <p:cNvSpPr txBox="1"/>
          <p:nvPr>
            <p:ph type="title"/>
          </p:nvPr>
        </p:nvSpPr>
        <p:spPr>
          <a:xfrm>
            <a:off x="311700" y="64025"/>
            <a:ext cx="8520600" cy="5727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300"/>
              <a:buFont typeface="Calibri"/>
              <a:buNone/>
            </a:pPr>
            <a:r>
              <a:rPr lang="en-GB"/>
              <a:t>MINIMUM VIABLE PRODUCT</a:t>
            </a:r>
            <a:endParaRPr/>
          </a:p>
        </p:txBody>
      </p:sp>
      <p:sp>
        <p:nvSpPr>
          <p:cNvPr id="357" name="Google Shape;357;p45"/>
          <p:cNvSpPr txBox="1"/>
          <p:nvPr>
            <p:ph idx="1" type="body"/>
          </p:nvPr>
        </p:nvSpPr>
        <p:spPr>
          <a:xfrm>
            <a:off x="311700" y="619075"/>
            <a:ext cx="8520600" cy="3416400"/>
          </a:xfrm>
          <a:prstGeom prst="rect">
            <a:avLst/>
          </a:prstGeom>
          <a:noFill/>
          <a:ln>
            <a:noFill/>
          </a:ln>
        </p:spPr>
        <p:txBody>
          <a:bodyPr anchorCtr="0" anchor="t" bIns="45700" lIns="91425" spcFirstLastPara="1" rIns="91425" wrap="square" tIns="45700">
            <a:noAutofit/>
          </a:bodyPr>
          <a:lstStyle/>
          <a:p>
            <a:pPr indent="-38100" lvl="0" marL="171450" rtl="0" algn="l">
              <a:lnSpc>
                <a:spcPct val="90000"/>
              </a:lnSpc>
              <a:spcBef>
                <a:spcPts val="0"/>
              </a:spcBef>
              <a:spcAft>
                <a:spcPts val="1600"/>
              </a:spcAft>
              <a:buClr>
                <a:schemeClr val="dk1"/>
              </a:buClr>
              <a:buSzPts val="2100"/>
              <a:buNone/>
            </a:pPr>
            <a:r>
              <a:t/>
            </a:r>
            <a:endParaRPr/>
          </a:p>
        </p:txBody>
      </p:sp>
      <p:sp>
        <p:nvSpPr>
          <p:cNvPr id="358" name="Google Shape;358;p45"/>
          <p:cNvSpPr txBox="1"/>
          <p:nvPr>
            <p:ph idx="12" type="sldNum"/>
          </p:nvPr>
        </p:nvSpPr>
        <p:spPr>
          <a:xfrm>
            <a:off x="8472458" y="4663217"/>
            <a:ext cx="548700" cy="3936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pic>
        <p:nvPicPr>
          <p:cNvPr id="359" name="Google Shape;359;p45"/>
          <p:cNvPicPr preferRelativeResize="0"/>
          <p:nvPr/>
        </p:nvPicPr>
        <p:blipFill rotWithShape="1">
          <a:blip r:embed="rId3">
            <a:alphaModFix/>
          </a:blip>
          <a:srcRect b="0" l="0" r="0" t="93527"/>
          <a:stretch/>
        </p:blipFill>
        <p:spPr>
          <a:xfrm>
            <a:off x="5426876" y="4503093"/>
            <a:ext cx="3717124" cy="264169"/>
          </a:xfrm>
          <a:prstGeom prst="rect">
            <a:avLst/>
          </a:prstGeom>
          <a:noFill/>
          <a:ln>
            <a:noFill/>
          </a:ln>
        </p:spPr>
      </p:pic>
      <p:pic>
        <p:nvPicPr>
          <p:cNvPr id="360" name="Google Shape;360;p45"/>
          <p:cNvPicPr preferRelativeResize="0"/>
          <p:nvPr/>
        </p:nvPicPr>
        <p:blipFill rotWithShape="1">
          <a:blip r:embed="rId4">
            <a:alphaModFix/>
          </a:blip>
          <a:srcRect b="0" l="0" r="0" t="0"/>
          <a:stretch/>
        </p:blipFill>
        <p:spPr>
          <a:xfrm>
            <a:off x="72000" y="736128"/>
            <a:ext cx="8949150" cy="3377873"/>
          </a:xfrm>
          <a:prstGeom prst="rect">
            <a:avLst/>
          </a:prstGeom>
          <a:noFill/>
          <a:ln>
            <a:noFill/>
          </a:ln>
        </p:spPr>
      </p:pic>
      <p:sp>
        <p:nvSpPr>
          <p:cNvPr id="361" name="Google Shape;361;p45"/>
          <p:cNvSpPr txBox="1"/>
          <p:nvPr/>
        </p:nvSpPr>
        <p:spPr>
          <a:xfrm>
            <a:off x="5884602" y="4600450"/>
            <a:ext cx="2923200" cy="276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Source: </a:t>
            </a:r>
            <a:r>
              <a:rPr lang="en-GB" u="sng">
                <a:solidFill>
                  <a:schemeClr val="hlink"/>
                </a:solidFill>
                <a:hlinkClick r:id="rId5"/>
              </a:rPr>
              <a:t>www.pretotyping.org</a:t>
            </a:r>
            <a:r>
              <a:rPr lang="en-GB"/>
              <a:t>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6"/>
          <p:cNvSpPr txBox="1"/>
          <p:nvPr>
            <p:ph type="title"/>
          </p:nvPr>
        </p:nvSpPr>
        <p:spPr>
          <a:xfrm>
            <a:off x="311700" y="64025"/>
            <a:ext cx="8520600" cy="5727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300"/>
              <a:buFont typeface="Calibri"/>
              <a:buNone/>
            </a:pPr>
            <a:r>
              <a:t/>
            </a:r>
            <a:endParaRPr/>
          </a:p>
        </p:txBody>
      </p:sp>
      <p:sp>
        <p:nvSpPr>
          <p:cNvPr id="367" name="Google Shape;367;p46"/>
          <p:cNvSpPr txBox="1"/>
          <p:nvPr>
            <p:ph idx="1" type="body"/>
          </p:nvPr>
        </p:nvSpPr>
        <p:spPr>
          <a:xfrm>
            <a:off x="311700" y="619075"/>
            <a:ext cx="8520600" cy="3416400"/>
          </a:xfrm>
          <a:prstGeom prst="rect">
            <a:avLst/>
          </a:prstGeom>
          <a:noFill/>
          <a:ln>
            <a:noFill/>
          </a:ln>
        </p:spPr>
        <p:txBody>
          <a:bodyPr anchorCtr="0" anchor="t" bIns="45700" lIns="91425" spcFirstLastPara="1" rIns="91425" wrap="square" tIns="45700">
            <a:noAutofit/>
          </a:bodyPr>
          <a:lstStyle/>
          <a:p>
            <a:pPr indent="-38100" lvl="0" marL="171450" rtl="0" algn="l">
              <a:lnSpc>
                <a:spcPct val="90000"/>
              </a:lnSpc>
              <a:spcBef>
                <a:spcPts val="0"/>
              </a:spcBef>
              <a:spcAft>
                <a:spcPts val="1600"/>
              </a:spcAft>
              <a:buClr>
                <a:schemeClr val="dk1"/>
              </a:buClr>
              <a:buSzPts val="2100"/>
              <a:buNone/>
            </a:pPr>
            <a:r>
              <a:t/>
            </a:r>
            <a:endParaRPr/>
          </a:p>
        </p:txBody>
      </p:sp>
      <p:sp>
        <p:nvSpPr>
          <p:cNvPr id="368" name="Google Shape;368;p46"/>
          <p:cNvSpPr txBox="1"/>
          <p:nvPr>
            <p:ph idx="12" type="sldNum"/>
          </p:nvPr>
        </p:nvSpPr>
        <p:spPr>
          <a:xfrm>
            <a:off x="8472458" y="4663217"/>
            <a:ext cx="548700" cy="3936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pic>
        <p:nvPicPr>
          <p:cNvPr id="369" name="Google Shape;369;p46"/>
          <p:cNvPicPr preferRelativeResize="0"/>
          <p:nvPr/>
        </p:nvPicPr>
        <p:blipFill rotWithShape="1">
          <a:blip r:embed="rId3">
            <a:alphaModFix/>
          </a:blip>
          <a:srcRect b="0" l="0" r="0" t="93527"/>
          <a:stretch/>
        </p:blipFill>
        <p:spPr>
          <a:xfrm>
            <a:off x="5426876" y="4503093"/>
            <a:ext cx="3717124" cy="264169"/>
          </a:xfrm>
          <a:prstGeom prst="rect">
            <a:avLst/>
          </a:prstGeom>
          <a:noFill/>
          <a:ln>
            <a:noFill/>
          </a:ln>
        </p:spPr>
      </p:pic>
      <p:pic>
        <p:nvPicPr>
          <p:cNvPr id="370" name="Google Shape;370;p46"/>
          <p:cNvPicPr preferRelativeResize="0"/>
          <p:nvPr/>
        </p:nvPicPr>
        <p:blipFill rotWithShape="1">
          <a:blip r:embed="rId4">
            <a:alphaModFix/>
          </a:blip>
          <a:srcRect b="0" l="0" r="0" t="0"/>
          <a:stretch/>
        </p:blipFill>
        <p:spPr>
          <a:xfrm>
            <a:off x="2847626" y="64025"/>
            <a:ext cx="3448750" cy="4869576"/>
          </a:xfrm>
          <a:prstGeom prst="rect">
            <a:avLst/>
          </a:prstGeom>
          <a:noFill/>
          <a:ln>
            <a:noFill/>
          </a:ln>
        </p:spPr>
      </p:pic>
      <p:sp>
        <p:nvSpPr>
          <p:cNvPr id="371" name="Google Shape;371;p46"/>
          <p:cNvSpPr txBox="1"/>
          <p:nvPr/>
        </p:nvSpPr>
        <p:spPr>
          <a:xfrm>
            <a:off x="6265602" y="4600450"/>
            <a:ext cx="2923200" cy="276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Source: </a:t>
            </a:r>
            <a:r>
              <a:rPr lang="en-GB" u="sng">
                <a:solidFill>
                  <a:schemeClr val="hlink"/>
                </a:solidFill>
                <a:hlinkClick r:id="rId5"/>
              </a:rPr>
              <a:t>www.pretotyping.org</a:t>
            </a:r>
            <a:r>
              <a:rPr lang="en-GB"/>
              <a:t>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Pretotyping tools</a:t>
            </a:r>
            <a:endParaRPr/>
          </a:p>
        </p:txBody>
      </p:sp>
      <p:sp>
        <p:nvSpPr>
          <p:cNvPr id="378" name="Google Shape;378;p4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a:t>Website</a:t>
            </a:r>
            <a:r>
              <a:rPr lang="en-GB" u="sng">
                <a:solidFill>
                  <a:schemeClr val="hlink"/>
                </a:solidFill>
                <a:hlinkClick r:id="rId3"/>
              </a:rPr>
              <a:t>Weebly.com</a:t>
            </a:r>
            <a:r>
              <a:rPr lang="en-GB"/>
              <a:t>: Particularly useful for fake door pretotypes to test using Google/Facebook ads.</a:t>
            </a:r>
            <a:endParaRPr/>
          </a:p>
          <a:p>
            <a:pPr indent="-342900" lvl="0" marL="457200" rtl="0" algn="l">
              <a:spcBef>
                <a:spcPts val="0"/>
              </a:spcBef>
              <a:spcAft>
                <a:spcPts val="0"/>
              </a:spcAft>
              <a:buSzPts val="1800"/>
              <a:buChar char="●"/>
            </a:pPr>
            <a:r>
              <a:rPr lang="en-GB" u="sng">
                <a:solidFill>
                  <a:schemeClr val="hlink"/>
                </a:solidFill>
                <a:hlinkClick r:id="rId4"/>
              </a:rPr>
              <a:t>Omnigraffle</a:t>
            </a:r>
            <a:r>
              <a:rPr lang="en-GB"/>
              <a:t>: Shares across multiple pages and spits out clickable</a:t>
            </a:r>
            <a:endParaRPr/>
          </a:p>
          <a:p>
            <a:pPr indent="-342900" lvl="0" marL="457200" rtl="0" algn="l">
              <a:spcBef>
                <a:spcPts val="0"/>
              </a:spcBef>
              <a:spcAft>
                <a:spcPts val="0"/>
              </a:spcAft>
              <a:buSzPts val="1800"/>
              <a:buChar char="●"/>
            </a:pPr>
            <a:r>
              <a:rPr lang="en-GB" u="sng">
                <a:solidFill>
                  <a:schemeClr val="hlink"/>
                </a:solidFill>
                <a:hlinkClick r:id="rId5"/>
              </a:rPr>
              <a:t>Appery </a:t>
            </a:r>
            <a:r>
              <a:rPr lang="en-GB"/>
              <a:t>- free, cloud-based app platform - </a:t>
            </a:r>
            <a:r>
              <a:rPr lang="en-GB" u="sng">
                <a:solidFill>
                  <a:schemeClr val="hlink"/>
                </a:solidFill>
                <a:hlinkClick r:id="rId6"/>
              </a:rPr>
              <a:t>http://appery.io</a:t>
            </a:r>
            <a:endParaRPr/>
          </a:p>
          <a:p>
            <a:pPr indent="-342900" lvl="0" marL="457200" rtl="0" algn="l">
              <a:spcBef>
                <a:spcPts val="0"/>
              </a:spcBef>
              <a:spcAft>
                <a:spcPts val="0"/>
              </a:spcAft>
              <a:buSzPts val="1800"/>
              <a:buChar char="●"/>
            </a:pPr>
            <a:r>
              <a:rPr lang="en-GB"/>
              <a:t>UX prototype </a:t>
            </a:r>
            <a:r>
              <a:rPr lang="en-GB" u="sng">
                <a:solidFill>
                  <a:schemeClr val="hlink"/>
                </a:solidFill>
                <a:hlinkClick r:id="rId7"/>
              </a:rPr>
              <a:t>https://www.figma.com/</a:t>
            </a:r>
            <a:r>
              <a:rPr lang="en-GB"/>
              <a:t> </a:t>
            </a:r>
            <a:endParaRPr/>
          </a:p>
          <a:p>
            <a:pPr indent="-342900" lvl="0" marL="457200" rtl="0" algn="l">
              <a:spcBef>
                <a:spcPts val="0"/>
              </a:spcBef>
              <a:spcAft>
                <a:spcPts val="0"/>
              </a:spcAft>
              <a:buSzPts val="1800"/>
              <a:buChar char="●"/>
            </a:pPr>
            <a:r>
              <a:rPr lang="en-GB" u="sng">
                <a:solidFill>
                  <a:schemeClr val="hlink"/>
                </a:solidFill>
                <a:hlinkClick r:id="rId8"/>
              </a:rPr>
              <a:t>https://careerfoundry.com/en/blog/ux-design/prototyping-tools/</a:t>
            </a:r>
            <a:r>
              <a:rPr lang="en-GB"/>
              <a:t> </a:t>
            </a:r>
            <a:endParaRPr/>
          </a:p>
          <a:p>
            <a:pPr indent="-342900" lvl="0" marL="457200" rtl="0" algn="l">
              <a:spcBef>
                <a:spcPts val="0"/>
              </a:spcBef>
              <a:spcAft>
                <a:spcPts val="0"/>
              </a:spcAft>
              <a:buSzPts val="1800"/>
              <a:buChar char="●"/>
            </a:pPr>
            <a:r>
              <a:rPr lang="en-GB"/>
              <a:t>And even more drag and drop app builders:</a:t>
            </a:r>
            <a:endParaRPr/>
          </a:p>
          <a:p>
            <a:pPr indent="-317500" lvl="1" marL="914400" rtl="0" algn="l">
              <a:spcBef>
                <a:spcPts val="0"/>
              </a:spcBef>
              <a:spcAft>
                <a:spcPts val="0"/>
              </a:spcAft>
              <a:buSzPts val="1400"/>
              <a:buChar char="○"/>
            </a:pPr>
            <a:r>
              <a:rPr lang="en-GB"/>
              <a:t>https://codiqa.com/</a:t>
            </a:r>
            <a:endParaRPr/>
          </a:p>
          <a:p>
            <a:pPr indent="-317500" lvl="1" marL="914400" rtl="0" algn="l">
              <a:spcBef>
                <a:spcPts val="0"/>
              </a:spcBef>
              <a:spcAft>
                <a:spcPts val="0"/>
              </a:spcAft>
              <a:buSzPts val="1400"/>
              <a:buChar char="○"/>
            </a:pPr>
            <a:r>
              <a:rPr lang="en-GB"/>
              <a:t>http://www.kinvey.com/</a:t>
            </a:r>
            <a:endParaRPr/>
          </a:p>
          <a:p>
            <a:pPr indent="-317500" lvl="1" marL="914400" rtl="0" algn="l">
              <a:spcBef>
                <a:spcPts val="0"/>
              </a:spcBef>
              <a:spcAft>
                <a:spcPts val="0"/>
              </a:spcAft>
              <a:buSzPts val="1400"/>
              <a:buChar char="○"/>
            </a:pPr>
            <a:r>
              <a:rPr lang="en-GB"/>
              <a:t>http://cloudbase.io/</a:t>
            </a:r>
            <a:endParaRPr/>
          </a:p>
          <a:p>
            <a:pPr indent="-317500" lvl="1" marL="914400" rtl="0" algn="l">
              <a:spcBef>
                <a:spcPts val="0"/>
              </a:spcBef>
              <a:spcAft>
                <a:spcPts val="0"/>
              </a:spcAft>
              <a:buSzPts val="1400"/>
              <a:buChar char="○"/>
            </a:pPr>
            <a:r>
              <a:rPr lang="en-GB"/>
              <a:t>http://mobile.conduit.com/</a:t>
            </a:r>
            <a:endParaRPr/>
          </a:p>
          <a:p>
            <a:pPr indent="-317500" lvl="1" marL="914400" rtl="0" algn="l">
              <a:spcBef>
                <a:spcPts val="0"/>
              </a:spcBef>
              <a:spcAft>
                <a:spcPts val="0"/>
              </a:spcAft>
              <a:buSzPts val="1400"/>
              <a:buChar char="○"/>
            </a:pPr>
            <a:r>
              <a:rPr lang="en-GB"/>
              <a:t>http://mobileroadie.com/</a:t>
            </a:r>
            <a:endParaRPr/>
          </a:p>
          <a:p>
            <a:pPr indent="-317500" lvl="1" marL="914400" rtl="0" algn="l">
              <a:spcBef>
                <a:spcPts val="0"/>
              </a:spcBef>
              <a:spcAft>
                <a:spcPts val="0"/>
              </a:spcAft>
              <a:buSzPts val="1400"/>
              <a:buChar char="○"/>
            </a:pPr>
            <a:r>
              <a:rPr lang="en-GB" u="sng">
                <a:solidFill>
                  <a:schemeClr val="hlink"/>
                </a:solidFill>
                <a:hlinkClick r:id="rId9"/>
              </a:rPr>
              <a:t>http://www.theappbuilder.com/</a:t>
            </a:r>
            <a:endParaRPr/>
          </a:p>
          <a:p>
            <a:pPr indent="-342900" lvl="0" marL="457200" rtl="0" algn="l">
              <a:spcBef>
                <a:spcPts val="0"/>
              </a:spcBef>
              <a:spcAft>
                <a:spcPts val="0"/>
              </a:spcAft>
              <a:buSzPts val="1800"/>
              <a:buChar char="●"/>
            </a:pPr>
            <a:r>
              <a:rPr lang="en-GB"/>
              <a:t>Marketplace builder </a:t>
            </a:r>
            <a:r>
              <a:rPr lang="en-GB" u="sng">
                <a:solidFill>
                  <a:schemeClr val="hlink"/>
                </a:solidFill>
                <a:hlinkClick r:id="rId10"/>
              </a:rPr>
              <a:t>https://www.shopify.com/</a:t>
            </a:r>
            <a:r>
              <a:rPr lang="en-GB"/>
              <a:t> </a:t>
            </a:r>
            <a:endParaRPr/>
          </a:p>
        </p:txBody>
      </p:sp>
      <p:sp>
        <p:nvSpPr>
          <p:cNvPr id="379" name="Google Shape;379;p4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4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
        <p:nvSpPr>
          <p:cNvPr id="387" name="Google Shape;387;p4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388" name="Google Shape;388;p48"/>
          <p:cNvPicPr preferRelativeResize="0"/>
          <p:nvPr/>
        </p:nvPicPr>
        <p:blipFill>
          <a:blip r:embed="rId3">
            <a:alphaModFix/>
          </a:blip>
          <a:stretch>
            <a:fillRect/>
          </a:stretch>
        </p:blipFill>
        <p:spPr>
          <a:xfrm>
            <a:off x="663985" y="0"/>
            <a:ext cx="7816030" cy="5143500"/>
          </a:xfrm>
          <a:prstGeom prst="rect">
            <a:avLst/>
          </a:prstGeom>
          <a:noFill/>
          <a:ln>
            <a:noFill/>
          </a:ln>
        </p:spPr>
      </p:pic>
      <p:sp>
        <p:nvSpPr>
          <p:cNvPr id="389" name="Google Shape;389;p48"/>
          <p:cNvSpPr txBox="1"/>
          <p:nvPr/>
        </p:nvSpPr>
        <p:spPr>
          <a:xfrm>
            <a:off x="685800" y="4114800"/>
            <a:ext cx="30795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700"/>
              <a:t>https://blog.adioma.com/how-angry-birds-started-infographic/#:~:text=The%20startup%20behind%20the%20game,are%20launching%20their%2051st%20game.</a:t>
            </a:r>
            <a:endParaRPr sz="7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4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Alberto Savoia Pretotyping Lecture @ Stanford</a:t>
            </a:r>
            <a:endParaRPr/>
          </a:p>
        </p:txBody>
      </p:sp>
      <p:sp>
        <p:nvSpPr>
          <p:cNvPr id="396" name="Google Shape;396;p4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GB" sz="1100" u="sng">
                <a:solidFill>
                  <a:schemeClr val="accent5"/>
                </a:solidFill>
                <a:hlinkClick r:id="rId3">
                  <a:extLst>
                    <a:ext uri="{A12FA001-AC4F-418D-AE19-62706E023703}">
                      <ahyp:hlinkClr val="tx"/>
                    </a:ext>
                  </a:extLst>
                </a:hlinkClick>
              </a:rPr>
              <a:t>https://www.youtube.com/watch?v=3sUozPcH4fY&amp;feature=emb_logo</a:t>
            </a:r>
            <a:endParaRPr/>
          </a:p>
        </p:txBody>
      </p:sp>
      <p:sp>
        <p:nvSpPr>
          <p:cNvPr id="397" name="Google Shape;397;p4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Founder Mode</a:t>
            </a:r>
            <a:endParaRPr/>
          </a:p>
        </p:txBody>
      </p:sp>
      <p:sp>
        <p:nvSpPr>
          <p:cNvPr id="404" name="Google Shape;404;p5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descr="📚 My book is out now: https://makebook.io&#10;🐥 My Twitter: https://twitter.com/levelsio&#10;&#10;Presented at Dojo Bali http://dojobali.org, thanks to Michael Craig and Haren Tambi for hosting, Marc-Antoine Fonne for filming, Andrey Azimov, Clare Harrison, and Petr Suska for supporting.&#10;&#10;The popular narrative of startups is outdated. You don't need venture capital to build a startup. You do need a DIY attitude, a lot of persistence and become a generalist who can learn new skills like coding, design and marketing quickly. This way of building a startup is called bootstrapping and it's the coolest way to do it I think. The best thing is you don't need to rub up to venture capitalists to get funding, you keep ownership of your company and you have higher odds to make more money.&#10;&#10;The 7 stages of bootstrapping a startup:&#10;&#10;00:00 Intro&#10;6:58💡 Idea&#10;11:58  🛠 Build&#10;14:50 🚀 Launch&#10;20:15 🌱 Grow&#10;26:18 💰 Monetize&#10;33:20 🤖 Automate&#10;35:48 🚪 Exit&#10;&#10;Subscribe on YouTube: https://youtube.com/levelsio&#10;Follow me on Instagram: https://instagram.com/levelsio&#10;Follow me on Twitter: https://twitter.com/levelsio&#10;Follow me on Facebook: https://facebook.com/levelsio&#10;Read my blog: https://levels.io&#10;&#10;This event took place in at http://dojobali.org in Canngu, Bali on January 15, 2018.&#10;&#10;This is straight from my book that's coming out this month called MAKE (http://makebook.io/) for $30. Don't worry, this book is only 1% of my income, so I'm not a bullshit artist telling you to buy my book. I am doing fine without it! Thanks!&#10;&#10;ABOUT ME&#10;I am Pieter Levels, the founder of Nomad List (https://nomadlist.com/), the biggest crowdsourced city database and digital nomads social network. I also founded Remote OK (http://remoteok.io/), the biggest remote jobs board in the world. &#10;&#10;After I was quickly going broke in 2014, I started building &quot;12 startups in 12 months&quot; which got a lot of attention and forced me to ship a new app every month. &#10;&#10;Most of those apps didn't become successful, but some did: Nomad List became a real startup with millions of monthly users, multiple acquisition offers, $25,000 to $40,000/month in revenue, while having a real cultural impact of getting tens of thousands of people to travel and work remotely. &#10;&#10;Remote OK started as a basic jobs board for remote workers, and grew out to now be the highest traffic generating remote careers platform with about $30,000 to $70,000/month revenue in job posts.&#10;&#10;My total revenue over all my projects together has now surpassed $100,000/month and is growing at 1.76x per year. I share this to make the point again: it's possible to bootstrap a company without venture capital and all the bullshit that comes with it.&#10;&#10;I also won Product Hunt's Maker of the Year in 2016 and 2018, won Product Hunt's Side Project of the Year in 2018, am the #1 most upvoted Product Hunt maker, got my apps multiple times to #1 on Hacker News and I was on the frontpage of Reddit twice (with Nomad List and Hoodmaps).&#10;&#10;I don't have the keys to success, so I can only tell you what worked for me. A few principles I hold is that I don't take external funding, I do everything myself, I mostly don't really hire, I automate a lot which means I have lots of robots working for me 24/7, I like transparency and I hate business bullshit. That means I share my revenue, share the problems I have and the successes when things do work. This presentation is pretty much that!&#10;&#10;EVENT PAGE:&#10;https://www.facebook.com/events/1546232848746952/&#10;&#10;CREDITS&#10;🎤 Host: Haren Tambi &amp; Michael Craig @ http://dojobali.org&#10;📷 Camera: Marc-Antoine Fonne&#10;😃 Audience: Andrey Azimov, Clare Harrison, Petr Suska + more&#10;⌨ Transcribing: http://rev.com Anna K.&#10;&#10;Portuguese (Brazil) subtitles by Eric Vieira @eric_vieira" id="405" name="Google Shape;405;p50" title="How to Build a Startup Without Funding by Pieter Levels @dojobalicoworking3342@ Dojo Bali">
            <a:hlinkClick r:id="rId3"/>
          </p:cNvPr>
          <p:cNvPicPr preferRelativeResize="0"/>
          <p:nvPr/>
        </p:nvPicPr>
        <p:blipFill>
          <a:blip r:embed="rId4">
            <a:alphaModFix/>
          </a:blip>
          <a:stretch>
            <a:fillRect/>
          </a:stretch>
        </p:blipFill>
        <p:spPr>
          <a:xfrm>
            <a:off x="1028463" y="833375"/>
            <a:ext cx="7087066" cy="3986475"/>
          </a:xfrm>
          <a:prstGeom prst="rect">
            <a:avLst/>
          </a:prstGeom>
          <a:noFill/>
          <a:ln>
            <a:noFill/>
          </a:ln>
        </p:spPr>
      </p:pic>
      <p:pic>
        <p:nvPicPr>
          <p:cNvPr id="406" name="Google Shape;406;p50">
            <a:hlinkClick r:id="rId5"/>
          </p:cNvPr>
          <p:cNvPicPr preferRelativeResize="0"/>
          <p:nvPr/>
        </p:nvPicPr>
        <p:blipFill>
          <a:blip r:embed="rId6">
            <a:alphaModFix/>
          </a:blip>
          <a:stretch>
            <a:fillRect/>
          </a:stretch>
        </p:blipFill>
        <p:spPr>
          <a:xfrm>
            <a:off x="311700" y="3714925"/>
            <a:ext cx="1341900" cy="1341900"/>
          </a:xfrm>
          <a:prstGeom prst="ellipse">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5"/>
                                        </p:tgtEl>
                                        <p:attrNameLst>
                                          <p:attrName>style.visibility</p:attrName>
                                        </p:attrNameLst>
                                      </p:cBhvr>
                                      <p:to>
                                        <p:strVal val="visible"/>
                                      </p:to>
                                    </p:set>
                                    <p:animEffect filter="fade" transition="in">
                                      <p:cBhvr>
                                        <p:cTn dur="1000"/>
                                        <p:tgtEl>
                                          <p:spTgt spid="4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EZIONI">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