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Amatic SC"/>
      <p:regular r:id="rId56"/>
      <p:bold r:id="rId57"/>
    </p:embeddedFont>
    <p:embeddedFont>
      <p:font typeface="Source Code Pr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2D2E23-89B9-4AE5-8394-3B59DBC73BC2}">
  <a:tblStyle styleId="{392D2E23-89B9-4AE5-8394-3B59DBC73BC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SourceCodePr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SourceCodePro-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AmaticSC-bold.fntdata"/><Relationship Id="rId12" Type="http://schemas.openxmlformats.org/officeDocument/2006/relationships/slide" Target="slides/slide6.xml"/><Relationship Id="rId56" Type="http://schemas.openxmlformats.org/officeDocument/2006/relationships/font" Target="fonts/AmaticSC-regular.fntdata"/><Relationship Id="rId15" Type="http://schemas.openxmlformats.org/officeDocument/2006/relationships/slide" Target="slides/slide9.xml"/><Relationship Id="rId59" Type="http://schemas.openxmlformats.org/officeDocument/2006/relationships/font" Target="fonts/SourceCodePro-bold.fntdata"/><Relationship Id="rId14" Type="http://schemas.openxmlformats.org/officeDocument/2006/relationships/slide" Target="slides/slide8.xml"/><Relationship Id="rId58" Type="http://schemas.openxmlformats.org/officeDocument/2006/relationships/font" Target="fonts/SourceCodePr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0619238f5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0619238f5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f9f8db943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f9f8db943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22051626e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22051626e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22051626e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22051626e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f9f8db943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f9f8db943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0619238f5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0619238f5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619238f5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619238f5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f2d36424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df2d36424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df2d36424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df2d36424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df2d36424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df2d36424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df2d36424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df2d36424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df2d36424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df2d36424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df2d36424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df2d36424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df2d36424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df2d36424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0619238f5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0619238f5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df2d36424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df2d36424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df2d36424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df2d36424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df2d36424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df2d36424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df2d36424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df2d36424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df2d36424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df2d36424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22051626e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22051626e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20d93d39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20d93d39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20d93d39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20d93d39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20d93d39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20d93d39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19c84957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19c84957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f9f8db9439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f9f8db9439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22051626e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22051626e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22051626e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22051626e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22051626e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22051626e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22051626e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22051626e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22051626e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22051626e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22051626e2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22051626e2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22051626e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22051626e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22051626e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22051626e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09a20aac6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09a20aac6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09a20aac6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09a20aac6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f9f8db9439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f9f8db9439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f9f8db9439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f9f8db9439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f9f8db943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f9f8db943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f9f8db9439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f9f8db9439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f9f8db943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f9f8db943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22051626e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22051626e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22051626e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22051626e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22051626e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22051626e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0619238f5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0619238f5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0619238f5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0619238f5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67bba997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67bba997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067bba99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067bba99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3" name="Google Shape;13;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0" name="Google Shape;20;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4" name="Google Shape;24;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40" name="Google Shape;40;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1" name="Google Shape;41;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9" name="Google Shape;49;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1575750" y="4864100"/>
            <a:ext cx="5992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000">
                <a:latin typeface="Source Code Pro"/>
                <a:ea typeface="Source Code Pro"/>
                <a:cs typeface="Source Code Pro"/>
                <a:sym typeface="Source Code Pro"/>
              </a:rPr>
              <a:t>DANIELE MAZZEI, ROBERTO FIGLIE’, TOMMASO TURCHI - IUM 24-25 </a:t>
            </a:r>
            <a:r>
              <a:rPr lang="it" sz="700">
                <a:latin typeface="Source Code Pro"/>
                <a:ea typeface="Source Code Pro"/>
                <a:cs typeface="Source Code Pro"/>
                <a:sym typeface="Source Code Pro"/>
              </a:rPr>
              <a:t>(all rights reserved)</a:t>
            </a:r>
            <a:endParaRPr sz="7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interaction-design.org/literature/topics/prototyp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www.nngroup.com/articles/ux-prototype-hi-lo-fidelity/" TargetMode="External"/><Relationship Id="rId4" Type="http://schemas.openxmlformats.org/officeDocument/2006/relationships/hyperlink" Target="https://www.interaction-design.org/literature/topics/prototyp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hyperlink" Target="https://xd.adobe.com/ideas/process/prototyping/low-fi-and-hi-fi-prototyping/" TargetMode="External"/><Relationship Id="rId5"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www.nngroup.com/articles/ux-prototype-hi-lo-fidelity/" TargetMode="External"/><Relationship Id="rId4" Type="http://schemas.openxmlformats.org/officeDocument/2006/relationships/hyperlink" Target="https://www.interaction-design.org/literature/topics/prototyp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www.justinmind.com/blog/low-fidelity-vs-high-fidelity-prototypes/" TargetMode="Externa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s://medium.com/the-home-team/homeguide-prototype-portfolio-a8746296e958" TargetMode="Externa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hyperlink" Target="https://en.wikipedia.org/wiki/Mechanical_Tur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ww.youtube.com/watch?v=2CTMJxWh5w4"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https://help.figma.com/hc/en-us/categories/360002051613-Get-starte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Prototyping and mockups</a:t>
            </a:r>
            <a:endParaRPr/>
          </a:p>
        </p:txBody>
      </p:sp>
      <p:sp>
        <p:nvSpPr>
          <p:cNvPr id="58" name="Google Shape;58;p13"/>
          <p:cNvSpPr txBox="1"/>
          <p:nvPr/>
        </p:nvSpPr>
        <p:spPr>
          <a:xfrm>
            <a:off x="311700" y="3890400"/>
            <a:ext cx="8520600" cy="7062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r>
              <a:rPr b="1" lang="it" sz="2100">
                <a:solidFill>
                  <a:srgbClr val="212121"/>
                </a:solidFill>
                <a:latin typeface="Source Code Pro"/>
                <a:ea typeface="Source Code Pro"/>
                <a:cs typeface="Source Code Pro"/>
                <a:sym typeface="Source Code Pro"/>
              </a:rPr>
              <a:t>roberto.figlie@phd.unipi.it</a:t>
            </a:r>
            <a:endParaRPr b="1" sz="2100">
              <a:solidFill>
                <a:srgbClr val="212121"/>
              </a:solidFill>
              <a:latin typeface="Source Code Pro"/>
              <a:ea typeface="Source Code Pro"/>
              <a:cs typeface="Source Code Pro"/>
              <a:sym typeface="Source Code Pro"/>
            </a:endParaRPr>
          </a:p>
        </p:txBody>
      </p:sp>
      <p:pic>
        <p:nvPicPr>
          <p:cNvPr id="59" name="Google Shape;59;p13"/>
          <p:cNvPicPr preferRelativeResize="0"/>
          <p:nvPr/>
        </p:nvPicPr>
        <p:blipFill>
          <a:blip r:embed="rId3">
            <a:alphaModFix/>
          </a:blip>
          <a:stretch>
            <a:fillRect/>
          </a:stretch>
        </p:blipFill>
        <p:spPr>
          <a:xfrm>
            <a:off x="3999477" y="4098364"/>
            <a:ext cx="362375" cy="362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Lesson outline</a:t>
            </a:r>
            <a:endParaRPr/>
          </a:p>
        </p:txBody>
      </p:sp>
      <p:sp>
        <p:nvSpPr>
          <p:cNvPr id="65" name="Google Shape;65;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lnSpcReduction="10000"/>
          </a:bodyPr>
          <a:lstStyle/>
          <a:p>
            <a:pPr indent="-342900" lvl="0" marL="457200" rtl="0" algn="l">
              <a:spcBef>
                <a:spcPts val="0"/>
              </a:spcBef>
              <a:spcAft>
                <a:spcPts val="0"/>
              </a:spcAft>
              <a:buSzPts val="1800"/>
              <a:buChar char="●"/>
            </a:pPr>
            <a:r>
              <a:rPr lang="it"/>
              <a:t>Mockups</a:t>
            </a:r>
            <a:endParaRPr/>
          </a:p>
          <a:p>
            <a:pPr indent="-342900" lvl="0" marL="457200" rtl="0" algn="l">
              <a:spcBef>
                <a:spcPts val="0"/>
              </a:spcBef>
              <a:spcAft>
                <a:spcPts val="0"/>
              </a:spcAft>
              <a:buSzPts val="1800"/>
              <a:buChar char="●"/>
            </a:pPr>
            <a:r>
              <a:rPr lang="it"/>
              <a:t>Prototypes</a:t>
            </a:r>
            <a:endParaRPr/>
          </a:p>
          <a:p>
            <a:pPr indent="-317500" lvl="1" marL="914400" rtl="0" algn="l">
              <a:spcBef>
                <a:spcPts val="0"/>
              </a:spcBef>
              <a:spcAft>
                <a:spcPts val="0"/>
              </a:spcAft>
              <a:buSzPts val="1400"/>
              <a:buChar char="○"/>
            </a:pPr>
            <a:r>
              <a:rPr lang="it"/>
              <a:t>Fidelity</a:t>
            </a:r>
            <a:endParaRPr/>
          </a:p>
          <a:p>
            <a:pPr indent="-317500" lvl="1" marL="914400" rtl="0" algn="l">
              <a:spcBef>
                <a:spcPts val="0"/>
              </a:spcBef>
              <a:spcAft>
                <a:spcPts val="0"/>
              </a:spcAft>
              <a:buSzPts val="1400"/>
              <a:buChar char="○"/>
            </a:pPr>
            <a:r>
              <a:rPr lang="it"/>
              <a:t>Scope</a:t>
            </a:r>
            <a:endParaRPr/>
          </a:p>
          <a:p>
            <a:pPr indent="-317500" lvl="1" marL="914400" rtl="0" algn="l">
              <a:spcBef>
                <a:spcPts val="0"/>
              </a:spcBef>
              <a:spcAft>
                <a:spcPts val="0"/>
              </a:spcAft>
              <a:buSzPts val="1400"/>
              <a:buChar char="○"/>
            </a:pPr>
            <a:r>
              <a:rPr lang="it"/>
              <a:t>Techniques</a:t>
            </a:r>
            <a:endParaRPr/>
          </a:p>
          <a:p>
            <a:pPr indent="-342900" lvl="0" marL="457200" rtl="0" algn="l">
              <a:spcBef>
                <a:spcPts val="0"/>
              </a:spcBef>
              <a:spcAft>
                <a:spcPts val="0"/>
              </a:spcAft>
              <a:buSzPts val="1800"/>
              <a:buChar char="●"/>
            </a:pPr>
            <a:r>
              <a:rPr lang="it"/>
              <a:t>Mockups vs Wireframes vs Prototypes</a:t>
            </a:r>
            <a:endParaRPr/>
          </a:p>
          <a:p>
            <a:pPr indent="-342900" lvl="0" marL="457200" rtl="0" algn="l">
              <a:spcBef>
                <a:spcPts val="0"/>
              </a:spcBef>
              <a:spcAft>
                <a:spcPts val="0"/>
              </a:spcAft>
              <a:buSzPts val="1800"/>
              <a:buChar char="●"/>
            </a:pPr>
            <a:r>
              <a:rPr lang="it"/>
              <a:t>From Wireframes to Prototypes</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it"/>
              <a:t>Figma basics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Mockups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Mockups</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 mockup is a high-fidelity </a:t>
            </a:r>
            <a:r>
              <a:rPr lang="it"/>
              <a:t>representation</a:t>
            </a:r>
            <a:r>
              <a:rPr lang="it"/>
              <a:t> of the product that includes more visual detail and design elements than a wireframe: it is a more polished and refined version and it is used to test and refine the look and feel.</a:t>
            </a:r>
            <a:endParaRPr/>
          </a:p>
          <a:p>
            <a:pPr indent="0" lvl="0" marL="0" rtl="0" algn="l">
              <a:spcBef>
                <a:spcPts val="1200"/>
              </a:spcBef>
              <a:spcAft>
                <a:spcPts val="1200"/>
              </a:spcAft>
              <a:buNone/>
            </a:pPr>
            <a:r>
              <a:rPr lang="it"/>
              <a:t>A realistic </a:t>
            </a:r>
            <a:r>
              <a:rPr b="1" lang="it"/>
              <a:t>visual design</a:t>
            </a:r>
            <a:r>
              <a:rPr lang="it"/>
              <a:t> that resembles </a:t>
            </a:r>
            <a:r>
              <a:rPr b="1" lang="it"/>
              <a:t>what</a:t>
            </a:r>
            <a:r>
              <a:rPr lang="it"/>
              <a:t> the new product or functionality </a:t>
            </a:r>
            <a:r>
              <a:rPr b="1" lang="it"/>
              <a:t>will</a:t>
            </a:r>
            <a:r>
              <a:rPr lang="it"/>
              <a:t> </a:t>
            </a:r>
            <a:r>
              <a:rPr b="1" lang="it"/>
              <a:t>look like</a:t>
            </a:r>
            <a:r>
              <a:rPr lang="it"/>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Mockups</a:t>
            </a:r>
            <a:endParaRPr/>
          </a:p>
        </p:txBody>
      </p:sp>
      <p:sp>
        <p:nvSpPr>
          <p:cNvPr id="82" name="Google Shape;82;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Creating a mockup involves adding visual details and design elements to a wireframe, such as typography, color schemes, and images. Mockups can be created only digitally using design  software, such as Sketch, Adobe XD (or Photoshop, just like the good old times), or Figma.</a:t>
            </a:r>
            <a:endParaRPr/>
          </a:p>
          <a:p>
            <a:pPr indent="0" lvl="0" marL="0" rtl="0" algn="l">
              <a:spcBef>
                <a:spcPts val="1200"/>
              </a:spcBef>
              <a:spcAft>
                <a:spcPts val="1200"/>
              </a:spcAft>
              <a:buNone/>
            </a:pPr>
            <a:r>
              <a:rPr lang="it"/>
              <a:t>So, m</a:t>
            </a:r>
            <a:r>
              <a:rPr lang="it"/>
              <a:t>ockups can be used to </a:t>
            </a:r>
            <a:r>
              <a:rPr b="1" lang="it"/>
              <a:t>refine </a:t>
            </a:r>
            <a:r>
              <a:rPr lang="it"/>
              <a:t>and </a:t>
            </a:r>
            <a:r>
              <a:rPr b="1" lang="it"/>
              <a:t>showcase visual design elements</a:t>
            </a:r>
            <a:r>
              <a:rPr lang="it"/>
              <a:t>, from the placement of images and icons to the overall style and branding of a product or service. But is essential to note that while mockups may resemble the final product, </a:t>
            </a:r>
            <a:r>
              <a:rPr lang="it" u="sng"/>
              <a:t>they lack the functionality required to perform meaningful testing or gather insightful feedback</a:t>
            </a:r>
            <a:r>
              <a:rPr lang="it"/>
              <a:t>. This is because mockups are static representations of the design and lack the interactive elements that are necessary for usability testing.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Mockups</a:t>
            </a:r>
            <a:endParaRPr/>
          </a:p>
          <a:p>
            <a:pPr indent="0" lvl="0" marL="0" rtl="0" algn="l">
              <a:spcBef>
                <a:spcPts val="0"/>
              </a:spcBef>
              <a:spcAft>
                <a:spcPts val="0"/>
              </a:spcAft>
              <a:buNone/>
            </a:pPr>
            <a:r>
              <a:t/>
            </a:r>
            <a:endParaRPr/>
          </a:p>
        </p:txBody>
      </p:sp>
      <p:sp>
        <p:nvSpPr>
          <p:cNvPr id="88" name="Google Shape;88;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When and why?</a:t>
            </a:r>
            <a:endParaRPr b="1"/>
          </a:p>
          <a:p>
            <a:pPr indent="0" lvl="0" marL="0" rtl="0" algn="l">
              <a:spcBef>
                <a:spcPts val="1200"/>
              </a:spcBef>
              <a:spcAft>
                <a:spcPts val="1200"/>
              </a:spcAft>
              <a:buNone/>
            </a:pPr>
            <a:r>
              <a:rPr lang="it"/>
              <a:t>UX/UI teams commonly rely on mockups during the design process to showcase their ideas to stakeholders and clients. These mockups serve as visual aids that help UX professionals </a:t>
            </a:r>
            <a:r>
              <a:rPr lang="it" u="sng"/>
              <a:t>communicate their design concepts and features more effectively</a:t>
            </a:r>
            <a:r>
              <a:rPr lang="it"/>
              <a:t>. In addition, mockups are helpful for certain types of usability studies where feedback is needed on the overall look and feel of the design (5-seconds test, first-click test).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Prototypes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What is a Prototype?</a:t>
            </a:r>
            <a:endParaRPr/>
          </a:p>
        </p:txBody>
      </p:sp>
      <p:sp>
        <p:nvSpPr>
          <p:cNvPr id="99" name="Google Shape;99;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A </a:t>
            </a:r>
            <a:r>
              <a:rPr b="1" lang="it"/>
              <a:t>prototype </a:t>
            </a:r>
            <a:r>
              <a:rPr lang="it"/>
              <a:t>is an </a:t>
            </a:r>
            <a:r>
              <a:rPr b="1" lang="it"/>
              <a:t>experimental</a:t>
            </a:r>
            <a:r>
              <a:rPr lang="it"/>
              <a:t> and </a:t>
            </a:r>
            <a:r>
              <a:rPr b="1" lang="it"/>
              <a:t>early sample</a:t>
            </a:r>
            <a:r>
              <a:rPr lang="it"/>
              <a:t> of a design that allows users to visualize and </a:t>
            </a:r>
            <a:r>
              <a:rPr b="1" lang="it"/>
              <a:t>interact </a:t>
            </a:r>
            <a:r>
              <a:rPr lang="it"/>
              <a:t>with it before a final product is developed. Teams build prototypes of varying degrees of fidelity to capture design concepts and test on users.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So, </a:t>
            </a:r>
            <a:r>
              <a:rPr b="1" lang="it"/>
              <a:t>p</a:t>
            </a:r>
            <a:r>
              <a:rPr b="1" lang="it" sz="1800"/>
              <a:t>rototyping </a:t>
            </a:r>
            <a:r>
              <a:rPr lang="it" sz="1800"/>
              <a:t>is </a:t>
            </a:r>
            <a:r>
              <a:rPr lang="it"/>
              <a:t>the</a:t>
            </a:r>
            <a:r>
              <a:rPr lang="it" sz="1800"/>
              <a:t> </a:t>
            </a:r>
            <a:r>
              <a:rPr b="1" lang="it" sz="1800"/>
              <a:t>process </a:t>
            </a:r>
            <a:r>
              <a:rPr lang="it" sz="1800"/>
              <a:t>in which design teams ideate, experiment with, and </a:t>
            </a:r>
            <a:r>
              <a:rPr b="1" lang="it" sz="1800"/>
              <a:t>bring concepts to life</a:t>
            </a:r>
            <a:r>
              <a:rPr lang="it" sz="1800"/>
              <a:t>. Is </a:t>
            </a:r>
            <a:r>
              <a:rPr lang="it"/>
              <a:t>the phase in which design teams implement ideas into </a:t>
            </a:r>
            <a:r>
              <a:rPr b="1" lang="it"/>
              <a:t>tangible </a:t>
            </a:r>
            <a:r>
              <a:rPr lang="it"/>
              <a:t>forms from paper to digital.</a:t>
            </a:r>
            <a:endParaRPr/>
          </a:p>
          <a:p>
            <a:pPr indent="0" lvl="0" marL="0" rtl="0" algn="l">
              <a:spcBef>
                <a:spcPts val="1200"/>
              </a:spcBef>
              <a:spcAft>
                <a:spcPts val="1200"/>
              </a:spcAft>
              <a:buNone/>
            </a:pPr>
            <a:r>
              <a:rPr lang="it" sz="1100" u="sng">
                <a:solidFill>
                  <a:schemeClr val="hlink"/>
                </a:solidFill>
                <a:latin typeface="Arial"/>
                <a:ea typeface="Arial"/>
                <a:cs typeface="Arial"/>
                <a:sym typeface="Arial"/>
                <a:hlinkClick r:id="rId3"/>
              </a:rPr>
              <a:t>What is Prototyping? | IxDF (interaction-design.org)</a:t>
            </a:r>
            <a:r>
              <a:rPr lang="it"/>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Why do we need</a:t>
            </a:r>
            <a:r>
              <a:rPr lang="it"/>
              <a:t> a Prototype?</a:t>
            </a:r>
            <a:endParaRPr/>
          </a:p>
        </p:txBody>
      </p:sp>
      <p:sp>
        <p:nvSpPr>
          <p:cNvPr id="105" name="Google Shape;105;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We never (or at least rarely) get things right the first time!</a:t>
            </a:r>
            <a:endParaRPr/>
          </a:p>
          <a:p>
            <a:pPr indent="0" lvl="0" marL="0" rtl="0" algn="l">
              <a:spcBef>
                <a:spcPts val="1200"/>
              </a:spcBef>
              <a:spcAft>
                <a:spcPts val="0"/>
              </a:spcAft>
              <a:buNone/>
            </a:pPr>
            <a:r>
              <a:rPr lang="it" sz="1800"/>
              <a:t>Prototyping allows designers to </a:t>
            </a:r>
            <a:r>
              <a:rPr b="1" lang="it" sz="1800"/>
              <a:t>test </a:t>
            </a:r>
            <a:r>
              <a:rPr lang="it" sz="1800"/>
              <a:t>their </a:t>
            </a:r>
            <a:r>
              <a:rPr b="1" lang="it" sz="1800"/>
              <a:t>ideas on users </a:t>
            </a:r>
            <a:r>
              <a:rPr lang="it" sz="1800"/>
              <a:t>and </a:t>
            </a:r>
            <a:r>
              <a:rPr b="1" lang="it" sz="1800"/>
              <a:t>refine </a:t>
            </a:r>
            <a:r>
              <a:rPr lang="it" sz="1800"/>
              <a:t>their </a:t>
            </a:r>
            <a:r>
              <a:rPr b="1" lang="it" sz="1800"/>
              <a:t>designs </a:t>
            </a:r>
            <a:r>
              <a:rPr lang="it" sz="1800"/>
              <a:t>based on feedback. This can help save time and resources by identifying potential issues early on.</a:t>
            </a:r>
            <a:endParaRPr sz="1800"/>
          </a:p>
          <a:p>
            <a:pPr indent="0" lvl="0" marL="0" rtl="0" algn="l">
              <a:spcBef>
                <a:spcPts val="1200"/>
              </a:spcBef>
              <a:spcAft>
                <a:spcPts val="0"/>
              </a:spcAft>
              <a:buNone/>
            </a:pPr>
            <a:r>
              <a:rPr lang="it"/>
              <a:t>With prototypes, you can validate your designs so to release the </a:t>
            </a:r>
            <a:r>
              <a:rPr b="1" lang="it"/>
              <a:t>right product</a:t>
            </a:r>
            <a:r>
              <a:rPr lang="it"/>
              <a:t>.</a:t>
            </a:r>
            <a:endParaRPr/>
          </a:p>
          <a:p>
            <a:pPr indent="0" lvl="0" marL="0" rtl="0" algn="l">
              <a:spcBef>
                <a:spcPts val="1200"/>
              </a:spcBef>
              <a:spcAft>
                <a:spcPts val="120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Why do we need a Prototype?</a:t>
            </a:r>
            <a:endParaRPr/>
          </a:p>
        </p:txBody>
      </p:sp>
      <p:sp>
        <p:nvSpPr>
          <p:cNvPr id="111" name="Google Shape;111;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it"/>
              <a:t>Prototyping is an essential part of UX design that usually comes after ideation, where you/your team have created and selected ideas that can solve users’ needs. </a:t>
            </a:r>
            <a:endParaRPr/>
          </a:p>
          <a:p>
            <a:pPr indent="0" lvl="0" marL="0" rtl="0" algn="l">
              <a:spcBef>
                <a:spcPts val="1200"/>
              </a:spcBef>
              <a:spcAft>
                <a:spcPts val="0"/>
              </a:spcAft>
              <a:buNone/>
            </a:pPr>
            <a:r>
              <a:rPr lang="it"/>
              <a:t>Some advantages of creating a prototype include:</a:t>
            </a:r>
            <a:endParaRPr/>
          </a:p>
          <a:p>
            <a:pPr indent="-308610" lvl="0" marL="457200" rtl="0" algn="l">
              <a:spcBef>
                <a:spcPts val="1200"/>
              </a:spcBef>
              <a:spcAft>
                <a:spcPts val="0"/>
              </a:spcAft>
              <a:buSzPct val="100000"/>
              <a:buChar char="●"/>
            </a:pPr>
            <a:r>
              <a:rPr lang="it"/>
              <a:t>Providing a </a:t>
            </a:r>
            <a:r>
              <a:rPr lang="it" u="sng"/>
              <a:t>solid foundation for ideation</a:t>
            </a:r>
            <a:r>
              <a:rPr lang="it"/>
              <a:t> and giving stakeholders a clear picture of potential benefits, risks and costs.</a:t>
            </a:r>
            <a:endParaRPr/>
          </a:p>
          <a:p>
            <a:pPr indent="-308610" lvl="0" marL="457200" rtl="0" algn="l">
              <a:spcBef>
                <a:spcPts val="0"/>
              </a:spcBef>
              <a:spcAft>
                <a:spcPts val="0"/>
              </a:spcAft>
              <a:buSzPct val="100000"/>
              <a:buChar char="●"/>
            </a:pPr>
            <a:r>
              <a:rPr lang="it" u="sng"/>
              <a:t>Changes can be made early </a:t>
            </a:r>
            <a:r>
              <a:rPr lang="it"/>
              <a:t>in the process to avoid costly oversights and commitment to a single version.</a:t>
            </a:r>
            <a:endParaRPr/>
          </a:p>
          <a:p>
            <a:pPr indent="-308610" lvl="0" marL="457200" rtl="0" algn="l">
              <a:spcBef>
                <a:spcPts val="0"/>
              </a:spcBef>
              <a:spcAft>
                <a:spcPts val="0"/>
              </a:spcAft>
              <a:buSzPct val="100000"/>
              <a:buChar char="●"/>
            </a:pPr>
            <a:r>
              <a:rPr lang="it"/>
              <a:t>User feedback on the prototype helps identify </a:t>
            </a:r>
            <a:r>
              <a:rPr lang="it" u="sng"/>
              <a:t>what works best </a:t>
            </a:r>
            <a:r>
              <a:rPr lang="it"/>
              <a:t>and if an overhaul is needed.</a:t>
            </a:r>
            <a:endParaRPr/>
          </a:p>
          <a:p>
            <a:pPr indent="-308610" lvl="0" marL="457200" rtl="0" algn="l">
              <a:spcBef>
                <a:spcPts val="0"/>
              </a:spcBef>
              <a:spcAft>
                <a:spcPts val="0"/>
              </a:spcAft>
              <a:buSzPct val="100000"/>
              <a:buChar char="●"/>
            </a:pPr>
            <a:r>
              <a:rPr lang="it"/>
              <a:t>Prototyping allows for experimentation with user needs and problems to </a:t>
            </a:r>
            <a:r>
              <a:rPr lang="it" u="sng"/>
              <a:t>gain insights into less obvious areas</a:t>
            </a:r>
            <a:r>
              <a:rPr lang="it"/>
              <a:t>.</a:t>
            </a:r>
            <a:endParaRPr/>
          </a:p>
          <a:p>
            <a:pPr indent="-308610" lvl="0" marL="457200" rtl="0" algn="l">
              <a:spcBef>
                <a:spcPts val="0"/>
              </a:spcBef>
              <a:spcAft>
                <a:spcPts val="0"/>
              </a:spcAft>
              <a:buSzPct val="100000"/>
              <a:buChar char="●"/>
            </a:pPr>
            <a:r>
              <a:rPr lang="it" u="sng"/>
              <a:t>Stakeholders have a sense of ownership and emotional investment</a:t>
            </a:r>
            <a:r>
              <a:rPr lang="it"/>
              <a:t> in the product’s success.</a:t>
            </a:r>
            <a:endParaRPr/>
          </a:p>
          <a:p>
            <a:pPr indent="-308610" lvl="0" marL="457200" rtl="0" algn="l">
              <a:spcBef>
                <a:spcPts val="0"/>
              </a:spcBef>
              <a:spcAft>
                <a:spcPts val="0"/>
              </a:spcAft>
              <a:buSzPct val="100000"/>
              <a:buChar char="●"/>
            </a:pPr>
            <a:r>
              <a:rPr lang="it"/>
              <a:t>Time-to-market is improved by </a:t>
            </a:r>
            <a:r>
              <a:rPr lang="it" u="sng"/>
              <a:t>minimizing errors before product release</a:t>
            </a:r>
            <a:r>
              <a:rPr lang="it"/>
              <a:t>.</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Prototypes</a:t>
            </a:r>
            <a:endParaRPr/>
          </a:p>
        </p:txBody>
      </p:sp>
      <p:sp>
        <p:nvSpPr>
          <p:cNvPr id="117" name="Google Shape;117;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“They slow us down to speed us up. By taking the time to prototype our ideas, we avoid costly mistakes such as becoming too complex too early and sticking with a weak idea for too long.”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it"/>
              <a:t>— Tim Brown, CEO &amp; President of IDEO</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Prototypes</a:t>
            </a:r>
            <a:endParaRPr/>
          </a:p>
        </p:txBody>
      </p:sp>
      <p:sp>
        <p:nvSpPr>
          <p:cNvPr id="123" name="Google Shape;123;p24"/>
          <p:cNvSpPr txBox="1"/>
          <p:nvPr>
            <p:ph idx="1" type="body"/>
          </p:nvPr>
        </p:nvSpPr>
        <p:spPr>
          <a:xfrm>
            <a:off x="722550" y="1595250"/>
            <a:ext cx="7698900" cy="1953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it" sz="1800"/>
              <a:t>In summary:</a:t>
            </a:r>
            <a:endParaRPr b="1" sz="1800"/>
          </a:p>
          <a:p>
            <a:pPr indent="0" lvl="0" marL="0" rtl="0" algn="l">
              <a:spcBef>
                <a:spcPts val="1200"/>
              </a:spcBef>
              <a:spcAft>
                <a:spcPts val="0"/>
              </a:spcAft>
              <a:buNone/>
            </a:pPr>
            <a:r>
              <a:rPr lang="it" sz="1800"/>
              <a:t>A prototype is a design solution candidate that addresses specific problems/needs.</a:t>
            </a:r>
            <a:endParaRPr sz="1800"/>
          </a:p>
          <a:p>
            <a:pPr indent="0" lvl="0" marL="0" rtl="0" algn="l">
              <a:spcBef>
                <a:spcPts val="1200"/>
              </a:spcBef>
              <a:spcAft>
                <a:spcPts val="1200"/>
              </a:spcAft>
              <a:buNone/>
            </a:pPr>
            <a:r>
              <a:rPr lang="it" sz="1800"/>
              <a:t>With it, usability problems can be identified before committing to the development of the final design.</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How do we do a </a:t>
            </a:r>
            <a:r>
              <a:rPr lang="it"/>
              <a:t>Prototype?</a:t>
            </a:r>
            <a:endParaRPr/>
          </a:p>
        </p:txBody>
      </p:sp>
      <p:sp>
        <p:nvSpPr>
          <p:cNvPr id="129" name="Google Shape;129;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800"/>
              <a:t>The prototyping process involves selecting key features to test, creating a design prototype that exemplifies those features, and then testing it on users. There are many different methods for prototyping, ranging from paper sketches to digital</a:t>
            </a:r>
            <a:r>
              <a:rPr lang="it"/>
              <a:t> versions</a:t>
            </a:r>
            <a:r>
              <a:rPr lang="it" sz="1800"/>
              <a:t>.</a:t>
            </a:r>
            <a:endParaRPr sz="1800"/>
          </a:p>
          <a:p>
            <a:pPr indent="0" lvl="0" marL="0" rtl="0" algn="l">
              <a:spcBef>
                <a:spcPts val="1200"/>
              </a:spcBef>
              <a:spcAft>
                <a:spcPts val="0"/>
              </a:spcAft>
              <a:buNone/>
            </a:pPr>
            <a:r>
              <a:t/>
            </a:r>
            <a:endParaRPr/>
          </a:p>
          <a:p>
            <a:pPr indent="0" lvl="0" marL="0" rtl="0" algn="l">
              <a:spcBef>
                <a:spcPts val="1200"/>
              </a:spcBef>
              <a:spcAft>
                <a:spcPts val="120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prototype fidelity, scope and techniques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Prototypes fidelity</a:t>
            </a:r>
            <a:endParaRPr/>
          </a:p>
        </p:txBody>
      </p:sp>
      <p:sp>
        <p:nvSpPr>
          <p:cNvPr id="140" name="Google Shape;140;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How much a prototype resembles the final product (in look, feel and function) is a matter of fidelity.</a:t>
            </a:r>
            <a:endParaRPr/>
          </a:p>
          <a:p>
            <a:pPr indent="0" lvl="0" marL="0" rtl="0" algn="l">
              <a:spcBef>
                <a:spcPts val="1200"/>
              </a:spcBef>
              <a:spcAft>
                <a:spcPts val="1200"/>
              </a:spcAft>
              <a:buNone/>
            </a:pPr>
            <a:r>
              <a:rPr lang="it"/>
              <a:t>Generally there are 2 types of fidelities (plus another one).</a:t>
            </a:r>
            <a:endParaRPr/>
          </a:p>
        </p:txBody>
      </p:sp>
      <p:pic>
        <p:nvPicPr>
          <p:cNvPr id="141" name="Google Shape;141;p27"/>
          <p:cNvPicPr preferRelativeResize="0"/>
          <p:nvPr/>
        </p:nvPicPr>
        <p:blipFill>
          <a:blip r:embed="rId3">
            <a:alphaModFix/>
          </a:blip>
          <a:stretch>
            <a:fillRect/>
          </a:stretch>
        </p:blipFill>
        <p:spPr>
          <a:xfrm>
            <a:off x="1675950" y="2869100"/>
            <a:ext cx="1699775" cy="1699775"/>
          </a:xfrm>
          <a:prstGeom prst="rect">
            <a:avLst/>
          </a:prstGeom>
          <a:noFill/>
          <a:ln>
            <a:noFill/>
          </a:ln>
        </p:spPr>
      </p:pic>
      <p:pic>
        <p:nvPicPr>
          <p:cNvPr id="142" name="Google Shape;142;p27"/>
          <p:cNvPicPr preferRelativeResize="0"/>
          <p:nvPr/>
        </p:nvPicPr>
        <p:blipFill>
          <a:blip r:embed="rId4">
            <a:alphaModFix/>
          </a:blip>
          <a:stretch>
            <a:fillRect/>
          </a:stretch>
        </p:blipFill>
        <p:spPr>
          <a:xfrm>
            <a:off x="5640625" y="2869100"/>
            <a:ext cx="1699775" cy="1699775"/>
          </a:xfrm>
          <a:prstGeom prst="rect">
            <a:avLst/>
          </a:prstGeom>
          <a:noFill/>
          <a:ln>
            <a:noFill/>
          </a:ln>
        </p:spPr>
      </p:pic>
      <p:sp>
        <p:nvSpPr>
          <p:cNvPr id="143" name="Google Shape;143;p27"/>
          <p:cNvSpPr/>
          <p:nvPr/>
        </p:nvSpPr>
        <p:spPr>
          <a:xfrm>
            <a:off x="3929000" y="3554675"/>
            <a:ext cx="1163100" cy="573900"/>
          </a:xfrm>
          <a:prstGeom prst="right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Low</a:t>
            </a:r>
            <a:r>
              <a:rPr lang="it"/>
              <a:t>-fidelity prototypes</a:t>
            </a:r>
            <a:endParaRPr/>
          </a:p>
          <a:p>
            <a:pPr indent="0" lvl="0" marL="0" rtl="0" algn="l">
              <a:spcBef>
                <a:spcPts val="0"/>
              </a:spcBef>
              <a:spcAft>
                <a:spcPts val="0"/>
              </a:spcAft>
              <a:buNone/>
            </a:pPr>
            <a:r>
              <a:t/>
            </a:r>
            <a:endParaRPr/>
          </a:p>
        </p:txBody>
      </p:sp>
      <p:sp>
        <p:nvSpPr>
          <p:cNvPr id="149" name="Google Shape;149;p28"/>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Pros:</a:t>
            </a:r>
            <a:endParaRPr/>
          </a:p>
          <a:p>
            <a:pPr indent="-317500" lvl="0" marL="457200" rtl="0" algn="l">
              <a:spcBef>
                <a:spcPts val="1200"/>
              </a:spcBef>
              <a:spcAft>
                <a:spcPts val="0"/>
              </a:spcAft>
              <a:buSzPts val="1400"/>
              <a:buChar char="●"/>
            </a:pPr>
            <a:r>
              <a:rPr lang="it"/>
              <a:t>Usually done with pen &amp; paper (cheap &amp; disposable).</a:t>
            </a:r>
            <a:endParaRPr/>
          </a:p>
          <a:p>
            <a:pPr indent="-317500" lvl="0" marL="457200" rtl="0" algn="l">
              <a:spcBef>
                <a:spcPts val="0"/>
              </a:spcBef>
              <a:spcAft>
                <a:spcPts val="0"/>
              </a:spcAft>
              <a:buSzPts val="1400"/>
              <a:buChar char="●"/>
            </a:pPr>
            <a:r>
              <a:rPr lang="it"/>
              <a:t>Connects the low-fidelity wireframes between them.</a:t>
            </a:r>
            <a:endParaRPr/>
          </a:p>
          <a:p>
            <a:pPr indent="-317500" lvl="0" marL="457200" rtl="0" algn="l">
              <a:spcBef>
                <a:spcPts val="0"/>
              </a:spcBef>
              <a:spcAft>
                <a:spcPts val="0"/>
              </a:spcAft>
              <a:buSzPts val="1400"/>
              <a:buChar char="●"/>
            </a:pPr>
            <a:r>
              <a:rPr lang="it"/>
              <a:t>Can provide very simple interactions (if not any) and feel.</a:t>
            </a:r>
            <a:endParaRPr/>
          </a:p>
          <a:p>
            <a:pPr indent="-317500" lvl="0" marL="457200" rtl="0" algn="l">
              <a:spcBef>
                <a:spcPts val="0"/>
              </a:spcBef>
              <a:spcAft>
                <a:spcPts val="0"/>
              </a:spcAft>
              <a:buSzPts val="1400"/>
              <a:buChar char="●"/>
            </a:pPr>
            <a:r>
              <a:rPr lang="it"/>
              <a:t>Done in less time.</a:t>
            </a:r>
            <a:endParaRPr/>
          </a:p>
          <a:p>
            <a:pPr indent="-317500" lvl="0" marL="457200" rtl="0" algn="l">
              <a:spcBef>
                <a:spcPts val="0"/>
              </a:spcBef>
              <a:spcAft>
                <a:spcPts val="0"/>
              </a:spcAft>
              <a:buSzPts val="1400"/>
              <a:buChar char="●"/>
            </a:pPr>
            <a:r>
              <a:rPr lang="it"/>
              <a:t>Easier to modify (more iterations).</a:t>
            </a:r>
            <a:endParaRPr/>
          </a:p>
          <a:p>
            <a:pPr indent="-317500" lvl="0" marL="457200" rtl="0" algn="l">
              <a:spcBef>
                <a:spcPts val="0"/>
              </a:spcBef>
              <a:spcAft>
                <a:spcPts val="0"/>
              </a:spcAft>
              <a:buSzPts val="1400"/>
              <a:buChar char="●"/>
            </a:pPr>
            <a:r>
              <a:rPr lang="it"/>
              <a:t>Encourages Design Thinking.</a:t>
            </a:r>
            <a:endParaRPr/>
          </a:p>
        </p:txBody>
      </p:sp>
      <p:sp>
        <p:nvSpPr>
          <p:cNvPr id="150" name="Google Shape;150;p28"/>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a:t>Cons:</a:t>
            </a:r>
            <a:endParaRPr/>
          </a:p>
          <a:p>
            <a:pPr indent="-317500" lvl="0" marL="457200" rtl="0" algn="l">
              <a:spcBef>
                <a:spcPts val="1200"/>
              </a:spcBef>
              <a:spcAft>
                <a:spcPts val="0"/>
              </a:spcAft>
              <a:buSzPts val="1400"/>
              <a:buChar char="●"/>
            </a:pPr>
            <a:r>
              <a:rPr lang="it"/>
              <a:t>Lack of realism (difficult for users to give feedback).</a:t>
            </a:r>
            <a:endParaRPr/>
          </a:p>
          <a:p>
            <a:pPr indent="-317500" lvl="0" marL="457200" rtl="0" algn="l">
              <a:spcBef>
                <a:spcPts val="0"/>
              </a:spcBef>
              <a:spcAft>
                <a:spcPts val="0"/>
              </a:spcAft>
              <a:buSzPts val="1400"/>
              <a:buChar char="●"/>
            </a:pPr>
            <a:r>
              <a:rPr lang="it"/>
              <a:t>Results from early versions may be hard to apply.</a:t>
            </a:r>
            <a:endParaRPr/>
          </a:p>
          <a:p>
            <a:pPr indent="-317500" lvl="0" marL="457200" rtl="0" algn="l">
              <a:spcBef>
                <a:spcPts val="0"/>
              </a:spcBef>
              <a:spcAft>
                <a:spcPts val="0"/>
              </a:spcAft>
              <a:buSzPts val="1400"/>
              <a:buChar char="●"/>
            </a:pPr>
            <a:r>
              <a:rPr lang="it"/>
              <a:t>May be too basic to reflect the user experience of the finished product.</a:t>
            </a:r>
            <a:endParaRPr/>
          </a:p>
          <a:p>
            <a:pPr indent="-317500" lvl="0" marL="457200" rtl="0" algn="l">
              <a:spcBef>
                <a:spcPts val="0"/>
              </a:spcBef>
              <a:spcAft>
                <a:spcPts val="0"/>
              </a:spcAft>
              <a:buSzPts val="1400"/>
              <a:buChar char="●"/>
            </a:pPr>
            <a:r>
              <a:rPr lang="it"/>
              <a:t>Can oversimplify complex issues.</a:t>
            </a:r>
            <a:endParaRPr/>
          </a:p>
          <a:p>
            <a:pPr indent="-317500" lvl="0" marL="457200" rtl="0" algn="l">
              <a:spcBef>
                <a:spcPts val="0"/>
              </a:spcBef>
              <a:spcAft>
                <a:spcPts val="0"/>
              </a:spcAft>
              <a:buSzPts val="1400"/>
              <a:buChar char="●"/>
            </a:pPr>
            <a:r>
              <a:rPr lang="it"/>
              <a:t>Lack of interactivity deprives users of direct control.</a:t>
            </a:r>
            <a:endParaRPr/>
          </a:p>
          <a:p>
            <a:pPr indent="-317500" lvl="0" marL="457200" rtl="0" algn="l">
              <a:spcBef>
                <a:spcPts val="0"/>
              </a:spcBef>
              <a:spcAft>
                <a:spcPts val="0"/>
              </a:spcAft>
              <a:buSzPts val="1400"/>
              <a:buChar char="●"/>
            </a:pPr>
            <a:r>
              <a:rPr lang="it"/>
              <a:t>Users must imagine how they would use the product.</a:t>
            </a:r>
            <a:endParaRPr/>
          </a:p>
        </p:txBody>
      </p:sp>
      <p:sp>
        <p:nvSpPr>
          <p:cNvPr id="151" name="Google Shape;151;p28"/>
          <p:cNvSpPr txBox="1"/>
          <p:nvPr>
            <p:ph idx="1" type="body"/>
          </p:nvPr>
        </p:nvSpPr>
        <p:spPr>
          <a:xfrm>
            <a:off x="637050" y="4451350"/>
            <a:ext cx="7869900" cy="587700"/>
          </a:xfrm>
          <a:prstGeom prst="rect">
            <a:avLst/>
          </a:prstGeom>
        </p:spPr>
        <p:txBody>
          <a:bodyPr anchorCtr="0" anchor="t" bIns="91425" lIns="91425" spcFirstLastPara="1" rIns="91425" wrap="square" tIns="91425">
            <a:normAutofit fontScale="55000"/>
          </a:bodyPr>
          <a:lstStyle/>
          <a:p>
            <a:pPr indent="0" lvl="0" marL="457200" rtl="0" algn="l">
              <a:spcBef>
                <a:spcPts val="0"/>
              </a:spcBef>
              <a:spcAft>
                <a:spcPts val="0"/>
              </a:spcAft>
              <a:buNone/>
            </a:pPr>
            <a:r>
              <a:rPr lang="it" u="sng">
                <a:solidFill>
                  <a:schemeClr val="hlink"/>
                </a:solidFill>
                <a:hlinkClick r:id="rId3"/>
              </a:rPr>
              <a:t>https://www.nngroup.com/articles/ux-prototype-hi-lo-fidelity/</a:t>
            </a:r>
            <a:r>
              <a:rPr lang="it"/>
              <a:t> </a:t>
            </a:r>
            <a:endParaRPr/>
          </a:p>
          <a:p>
            <a:pPr indent="0" lvl="0" marL="457200" rtl="0" algn="l">
              <a:spcBef>
                <a:spcPts val="1200"/>
              </a:spcBef>
              <a:spcAft>
                <a:spcPts val="1200"/>
              </a:spcAft>
              <a:buNone/>
            </a:pPr>
            <a:r>
              <a:rPr lang="it" u="sng">
                <a:solidFill>
                  <a:schemeClr val="hlink"/>
                </a:solidFill>
                <a:hlinkClick r:id="rId4"/>
              </a:rPr>
              <a:t>https://www.interaction-design.org/literature/topics/prototyping</a:t>
            </a:r>
            <a:r>
              <a:rPr lang="it"/>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04800" y="309350"/>
            <a:ext cx="8537700" cy="74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200">
                <a:highlight>
                  <a:schemeClr val="accent6"/>
                </a:highlight>
              </a:rPr>
              <a:t>Low</a:t>
            </a:r>
            <a:r>
              <a:rPr lang="it" sz="4200"/>
              <a:t>-fidelity prototypes</a:t>
            </a:r>
            <a:endParaRPr/>
          </a:p>
        </p:txBody>
      </p:sp>
      <p:pic>
        <p:nvPicPr>
          <p:cNvPr id="157" name="Google Shape;157;p29"/>
          <p:cNvPicPr preferRelativeResize="0"/>
          <p:nvPr/>
        </p:nvPicPr>
        <p:blipFill>
          <a:blip r:embed="rId3">
            <a:alphaModFix/>
          </a:blip>
          <a:stretch>
            <a:fillRect/>
          </a:stretch>
        </p:blipFill>
        <p:spPr>
          <a:xfrm>
            <a:off x="304800" y="1498925"/>
            <a:ext cx="4843367" cy="2726125"/>
          </a:xfrm>
          <a:prstGeom prst="rect">
            <a:avLst/>
          </a:prstGeom>
          <a:noFill/>
          <a:ln>
            <a:noFill/>
          </a:ln>
        </p:spPr>
      </p:pic>
      <p:sp>
        <p:nvSpPr>
          <p:cNvPr id="158" name="Google Shape;158;p29"/>
          <p:cNvSpPr txBox="1"/>
          <p:nvPr/>
        </p:nvSpPr>
        <p:spPr>
          <a:xfrm>
            <a:off x="304800" y="4494575"/>
            <a:ext cx="4983600" cy="393600"/>
          </a:xfrm>
          <a:prstGeom prst="rect">
            <a:avLst/>
          </a:prstGeom>
          <a:noFill/>
          <a:ln>
            <a:noFill/>
          </a:ln>
        </p:spPr>
        <p:txBody>
          <a:bodyPr anchorCtr="0" anchor="t" bIns="91425" lIns="91425" spcFirstLastPara="1" rIns="91425" wrap="square" tIns="91425">
            <a:normAutofit fontScale="55000"/>
          </a:bodyPr>
          <a:lstStyle/>
          <a:p>
            <a:pPr indent="0" lvl="0" marL="0" rtl="0" algn="l">
              <a:spcBef>
                <a:spcPts val="0"/>
              </a:spcBef>
              <a:spcAft>
                <a:spcPts val="0"/>
              </a:spcAft>
              <a:buNone/>
            </a:pPr>
            <a:r>
              <a:rPr lang="it" u="sng">
                <a:solidFill>
                  <a:schemeClr val="hlink"/>
                </a:solidFill>
                <a:latin typeface="Source Code Pro"/>
                <a:ea typeface="Source Code Pro"/>
                <a:cs typeface="Source Code Pro"/>
                <a:sym typeface="Source Code Pro"/>
                <a:hlinkClick r:id="rId4"/>
              </a:rPr>
              <a:t>https://xd.adobe.com/ideas/process/prototyping/low-fi-and-hi-fi-prototyping/</a:t>
            </a:r>
            <a:r>
              <a:rPr lang="it">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pic>
        <p:nvPicPr>
          <p:cNvPr id="159" name="Google Shape;159;p29"/>
          <p:cNvPicPr preferRelativeResize="0"/>
          <p:nvPr/>
        </p:nvPicPr>
        <p:blipFill>
          <a:blip r:embed="rId5">
            <a:alphaModFix/>
          </a:blip>
          <a:stretch>
            <a:fillRect/>
          </a:stretch>
        </p:blipFill>
        <p:spPr>
          <a:xfrm>
            <a:off x="4956725" y="1498920"/>
            <a:ext cx="3885774" cy="2726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High</a:t>
            </a:r>
            <a:r>
              <a:rPr lang="it"/>
              <a:t>-fidelity prototypes</a:t>
            </a:r>
            <a:endParaRPr/>
          </a:p>
          <a:p>
            <a:pPr indent="0" lvl="0" marL="0" rtl="0" algn="l">
              <a:spcBef>
                <a:spcPts val="0"/>
              </a:spcBef>
              <a:spcAft>
                <a:spcPts val="0"/>
              </a:spcAft>
              <a:buNone/>
            </a:pPr>
            <a:r>
              <a:t/>
            </a:r>
            <a:endParaRPr/>
          </a:p>
        </p:txBody>
      </p:sp>
      <p:sp>
        <p:nvSpPr>
          <p:cNvPr id="165" name="Google Shape;165;p30"/>
          <p:cNvSpPr txBox="1"/>
          <p:nvPr>
            <p:ph idx="1" type="body"/>
          </p:nvPr>
        </p:nvSpPr>
        <p:spPr>
          <a:xfrm>
            <a:off x="311700" y="1228675"/>
            <a:ext cx="39999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Pros:</a:t>
            </a:r>
            <a:endParaRPr/>
          </a:p>
          <a:p>
            <a:pPr indent="-310832" lvl="0" marL="457200" rtl="0" algn="l">
              <a:spcBef>
                <a:spcPts val="1200"/>
              </a:spcBef>
              <a:spcAft>
                <a:spcPts val="0"/>
              </a:spcAft>
              <a:buSzPct val="100000"/>
              <a:buChar char="●"/>
            </a:pPr>
            <a:r>
              <a:rPr lang="it"/>
              <a:t>Can be coded or developed in a specific software (Figma, XD, Sketch).</a:t>
            </a:r>
            <a:endParaRPr/>
          </a:p>
          <a:p>
            <a:pPr indent="-310832" lvl="0" marL="457200" rtl="0" algn="l">
              <a:spcBef>
                <a:spcPts val="0"/>
              </a:spcBef>
              <a:spcAft>
                <a:spcPts val="0"/>
              </a:spcAft>
              <a:buSzPct val="100000"/>
              <a:buChar char="●"/>
            </a:pPr>
            <a:r>
              <a:rPr lang="it"/>
              <a:t>Gives a final-like feel.</a:t>
            </a:r>
            <a:endParaRPr/>
          </a:p>
          <a:p>
            <a:pPr indent="-310832" lvl="0" marL="457200" rtl="0" algn="l">
              <a:spcBef>
                <a:spcPts val="0"/>
              </a:spcBef>
              <a:spcAft>
                <a:spcPts val="0"/>
              </a:spcAft>
              <a:buSzPct val="100000"/>
              <a:buChar char="●"/>
            </a:pPr>
            <a:r>
              <a:rPr lang="it"/>
              <a:t>You can test more elements (interactions, visual, text readability, etc.).</a:t>
            </a:r>
            <a:endParaRPr/>
          </a:p>
          <a:p>
            <a:pPr indent="-310832" lvl="0" marL="457200" rtl="0" algn="l">
              <a:spcBef>
                <a:spcPts val="0"/>
              </a:spcBef>
              <a:spcAft>
                <a:spcPts val="0"/>
              </a:spcAft>
              <a:buSzPct val="100000"/>
              <a:buChar char="●"/>
            </a:pPr>
            <a:r>
              <a:rPr lang="it"/>
              <a:t>Engaging for all stakeholders.</a:t>
            </a:r>
            <a:endParaRPr/>
          </a:p>
          <a:p>
            <a:pPr indent="-310832" lvl="0" marL="457200" rtl="0" algn="l">
              <a:spcBef>
                <a:spcPts val="0"/>
              </a:spcBef>
              <a:spcAft>
                <a:spcPts val="0"/>
              </a:spcAft>
              <a:buSzPct val="100000"/>
              <a:buChar char="●"/>
            </a:pPr>
            <a:r>
              <a:rPr lang="it"/>
              <a:t>Allows stakeholders to judge how well the prototype matches users’ needs and solves their problems</a:t>
            </a:r>
            <a:endParaRPr/>
          </a:p>
          <a:p>
            <a:pPr indent="-310832" lvl="0" marL="457200" rtl="0" algn="l">
              <a:spcBef>
                <a:spcPts val="0"/>
              </a:spcBef>
              <a:spcAft>
                <a:spcPts val="0"/>
              </a:spcAft>
              <a:buSzPct val="100000"/>
              <a:buChar char="●"/>
            </a:pPr>
            <a:r>
              <a:rPr lang="it"/>
              <a:t>Testing yields more accurate and applicable results.</a:t>
            </a:r>
            <a:endParaRPr/>
          </a:p>
        </p:txBody>
      </p:sp>
      <p:sp>
        <p:nvSpPr>
          <p:cNvPr id="166" name="Google Shape;166;p30"/>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Cons</a:t>
            </a:r>
            <a:r>
              <a:rPr lang="it"/>
              <a:t>:</a:t>
            </a:r>
            <a:endParaRPr/>
          </a:p>
          <a:p>
            <a:pPr indent="-317500" lvl="0" marL="457200" rtl="0" algn="l">
              <a:spcBef>
                <a:spcPts val="1200"/>
              </a:spcBef>
              <a:spcAft>
                <a:spcPts val="0"/>
              </a:spcAft>
              <a:buSzPts val="1400"/>
              <a:buChar char="●"/>
            </a:pPr>
            <a:r>
              <a:rPr lang="it"/>
              <a:t>Longer and costlier to create.</a:t>
            </a:r>
            <a:endParaRPr/>
          </a:p>
          <a:p>
            <a:pPr indent="-317500" lvl="0" marL="457200" rtl="0" algn="l">
              <a:spcBef>
                <a:spcPts val="0"/>
              </a:spcBef>
              <a:spcAft>
                <a:spcPts val="0"/>
              </a:spcAft>
              <a:buSzPts val="1400"/>
              <a:buChar char="●"/>
            </a:pPr>
            <a:r>
              <a:rPr lang="it"/>
              <a:t>Users may focus on superficial details rather than content.</a:t>
            </a:r>
            <a:endParaRPr/>
          </a:p>
          <a:p>
            <a:pPr indent="-317500" lvl="0" marL="457200" rtl="0" algn="l">
              <a:spcBef>
                <a:spcPts val="0"/>
              </a:spcBef>
              <a:spcAft>
                <a:spcPts val="0"/>
              </a:spcAft>
              <a:buSzPts val="1400"/>
              <a:buChar char="●"/>
            </a:pPr>
            <a:r>
              <a:rPr lang="it"/>
              <a:t>Designers may dislike making changes after hours of work.</a:t>
            </a:r>
            <a:endParaRPr/>
          </a:p>
          <a:p>
            <a:pPr indent="-317500" lvl="0" marL="457200" rtl="0" algn="l">
              <a:spcBef>
                <a:spcPts val="0"/>
              </a:spcBef>
              <a:spcAft>
                <a:spcPts val="0"/>
              </a:spcAft>
              <a:buSzPts val="1400"/>
              <a:buChar char="●"/>
            </a:pPr>
            <a:r>
              <a:rPr lang="it"/>
              <a:t>Users may mistake the prototype for the finished product and form biases.</a:t>
            </a:r>
            <a:endParaRPr/>
          </a:p>
        </p:txBody>
      </p:sp>
      <p:sp>
        <p:nvSpPr>
          <p:cNvPr id="167" name="Google Shape;167;p30"/>
          <p:cNvSpPr txBox="1"/>
          <p:nvPr>
            <p:ph idx="1" type="body"/>
          </p:nvPr>
        </p:nvSpPr>
        <p:spPr>
          <a:xfrm>
            <a:off x="637050" y="4451350"/>
            <a:ext cx="7869900" cy="587700"/>
          </a:xfrm>
          <a:prstGeom prst="rect">
            <a:avLst/>
          </a:prstGeom>
        </p:spPr>
        <p:txBody>
          <a:bodyPr anchorCtr="0" anchor="t" bIns="91425" lIns="91425" spcFirstLastPara="1" rIns="91425" wrap="square" tIns="91425">
            <a:normAutofit fontScale="55000"/>
          </a:bodyPr>
          <a:lstStyle/>
          <a:p>
            <a:pPr indent="0" lvl="0" marL="457200" rtl="0" algn="l">
              <a:spcBef>
                <a:spcPts val="0"/>
              </a:spcBef>
              <a:spcAft>
                <a:spcPts val="0"/>
              </a:spcAft>
              <a:buNone/>
            </a:pPr>
            <a:r>
              <a:rPr lang="it" u="sng">
                <a:solidFill>
                  <a:schemeClr val="hlink"/>
                </a:solidFill>
                <a:hlinkClick r:id="rId3"/>
              </a:rPr>
              <a:t>https://www.nngroup.com/articles/ux-prototype-hi-lo-fidelity/</a:t>
            </a:r>
            <a:r>
              <a:rPr lang="it"/>
              <a:t> </a:t>
            </a:r>
            <a:endParaRPr/>
          </a:p>
          <a:p>
            <a:pPr indent="0" lvl="0" marL="457200" rtl="0" algn="l">
              <a:spcBef>
                <a:spcPts val="1200"/>
              </a:spcBef>
              <a:spcAft>
                <a:spcPts val="1200"/>
              </a:spcAft>
              <a:buNone/>
            </a:pPr>
            <a:r>
              <a:rPr lang="it" u="sng">
                <a:solidFill>
                  <a:schemeClr val="hlink"/>
                </a:solidFill>
                <a:hlinkClick r:id="rId4"/>
              </a:rPr>
              <a:t>https://www.interaction-design.org/literature/topics/prototyping</a:t>
            </a:r>
            <a:r>
              <a:rPr lang="it"/>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04800" y="309350"/>
            <a:ext cx="8537700" cy="74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200">
                <a:highlight>
                  <a:schemeClr val="accent6"/>
                </a:highlight>
              </a:rPr>
              <a:t>High</a:t>
            </a:r>
            <a:r>
              <a:rPr lang="it" sz="4200"/>
              <a:t>-fidelity prototypes</a:t>
            </a:r>
            <a:endParaRPr/>
          </a:p>
        </p:txBody>
      </p:sp>
      <p:sp>
        <p:nvSpPr>
          <p:cNvPr id="173" name="Google Shape;173;p31"/>
          <p:cNvSpPr txBox="1"/>
          <p:nvPr/>
        </p:nvSpPr>
        <p:spPr>
          <a:xfrm>
            <a:off x="304800" y="4494575"/>
            <a:ext cx="4983600" cy="393600"/>
          </a:xfrm>
          <a:prstGeom prst="rect">
            <a:avLst/>
          </a:prstGeom>
          <a:noFill/>
          <a:ln>
            <a:noFill/>
          </a:ln>
        </p:spPr>
        <p:txBody>
          <a:bodyPr anchorCtr="0" anchor="t" bIns="91425" lIns="91425" spcFirstLastPara="1" rIns="91425" wrap="square" tIns="91425">
            <a:normAutofit fontScale="55000"/>
          </a:bodyPr>
          <a:lstStyle/>
          <a:p>
            <a:pPr indent="0" lvl="0" marL="0" rtl="0" algn="l">
              <a:spcBef>
                <a:spcPts val="0"/>
              </a:spcBef>
              <a:spcAft>
                <a:spcPts val="0"/>
              </a:spcAft>
              <a:buNone/>
            </a:pPr>
            <a:r>
              <a:rPr lang="it" u="sng">
                <a:solidFill>
                  <a:schemeClr val="hlink"/>
                </a:solidFill>
                <a:latin typeface="Source Code Pro"/>
                <a:ea typeface="Source Code Pro"/>
                <a:cs typeface="Source Code Pro"/>
                <a:sym typeface="Source Code Pro"/>
                <a:hlinkClick r:id="rId3"/>
              </a:rPr>
              <a:t>https://www.justinmind.com/blog/low-fidelity-vs-high-fidelity-prototypes/</a:t>
            </a:r>
            <a:r>
              <a:rPr lang="it">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pic>
        <p:nvPicPr>
          <p:cNvPr id="174" name="Google Shape;174;p31"/>
          <p:cNvPicPr preferRelativeResize="0"/>
          <p:nvPr/>
        </p:nvPicPr>
        <p:blipFill>
          <a:blip r:embed="rId4">
            <a:alphaModFix/>
          </a:blip>
          <a:stretch>
            <a:fillRect/>
          </a:stretch>
        </p:blipFill>
        <p:spPr>
          <a:xfrm>
            <a:off x="2616013" y="1005638"/>
            <a:ext cx="3915281" cy="3132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Finding the right balance: </a:t>
            </a:r>
            <a:r>
              <a:rPr lang="it">
                <a:highlight>
                  <a:schemeClr val="accent6"/>
                </a:highlight>
              </a:rPr>
              <a:t>Mid</a:t>
            </a:r>
            <a:r>
              <a:rPr lang="it"/>
              <a:t>-fidelity prototypes</a:t>
            </a:r>
            <a:endParaRPr/>
          </a:p>
        </p:txBody>
      </p:sp>
      <p:sp>
        <p:nvSpPr>
          <p:cNvPr id="180" name="Google Shape;180;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Another possibility is given by mid-fidelity prototypes where you keep some of the benefits of using Low-fidelity and high-fidelity ones.</a:t>
            </a:r>
            <a:endParaRPr/>
          </a:p>
          <a:p>
            <a:pPr indent="0" lvl="0" marL="0" rtl="0" algn="l">
              <a:spcBef>
                <a:spcPts val="1200"/>
              </a:spcBef>
              <a:spcAft>
                <a:spcPts val="0"/>
              </a:spcAft>
              <a:buNone/>
            </a:pPr>
            <a:r>
              <a:rPr lang="it"/>
              <a:t>An example of a mid-fidelity prototype could be an advanced wireframe with some digital interactivity (i.e., adding interactions to wireflows).</a:t>
            </a:r>
            <a:endParaRPr/>
          </a:p>
          <a:p>
            <a:pPr indent="0" lvl="0" marL="0" rtl="0" algn="l">
              <a:spcBef>
                <a:spcPts val="1200"/>
              </a:spcBef>
              <a:spcAft>
                <a:spcPts val="1200"/>
              </a:spcAft>
              <a:buNone/>
            </a:pPr>
            <a:r>
              <a:rPr lang="it"/>
              <a:t>However, you have to remember that the concept of </a:t>
            </a:r>
            <a:r>
              <a:rPr b="1" lang="it"/>
              <a:t>fidelity is relative</a:t>
            </a:r>
            <a:r>
              <a:rPr lang="it"/>
              <a:t>: you have to choose wisely what is best for you depending on the stage of design and features to test.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04800" y="309350"/>
            <a:ext cx="8537700" cy="74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200">
                <a:highlight>
                  <a:schemeClr val="accent6"/>
                </a:highlight>
              </a:rPr>
              <a:t>Mid</a:t>
            </a:r>
            <a:r>
              <a:rPr lang="it" sz="4200"/>
              <a:t>-fidelity prototypes</a:t>
            </a:r>
            <a:endParaRPr/>
          </a:p>
        </p:txBody>
      </p:sp>
      <p:sp>
        <p:nvSpPr>
          <p:cNvPr id="186" name="Google Shape;186;p33"/>
          <p:cNvSpPr txBox="1"/>
          <p:nvPr/>
        </p:nvSpPr>
        <p:spPr>
          <a:xfrm>
            <a:off x="304800" y="4494575"/>
            <a:ext cx="4983600" cy="393600"/>
          </a:xfrm>
          <a:prstGeom prst="rect">
            <a:avLst/>
          </a:prstGeom>
          <a:noFill/>
          <a:ln>
            <a:noFill/>
          </a:ln>
        </p:spPr>
        <p:txBody>
          <a:bodyPr anchorCtr="0" anchor="t" bIns="91425" lIns="91425" spcFirstLastPara="1" rIns="91425" wrap="square" tIns="91425">
            <a:normAutofit fontScale="55000"/>
          </a:bodyPr>
          <a:lstStyle/>
          <a:p>
            <a:pPr indent="0" lvl="0" marL="0" rtl="0" algn="l">
              <a:spcBef>
                <a:spcPts val="0"/>
              </a:spcBef>
              <a:spcAft>
                <a:spcPts val="0"/>
              </a:spcAft>
              <a:buNone/>
            </a:pPr>
            <a:r>
              <a:rPr lang="it" u="sng">
                <a:solidFill>
                  <a:schemeClr val="hlink"/>
                </a:solidFill>
                <a:latin typeface="Source Code Pro"/>
                <a:ea typeface="Source Code Pro"/>
                <a:cs typeface="Source Code Pro"/>
                <a:sym typeface="Source Code Pro"/>
                <a:hlinkClick r:id="rId3"/>
              </a:rPr>
              <a:t>https://medium.com/the-home-team/homeguide-prototype-portfolio-a8746296e958</a:t>
            </a:r>
            <a:r>
              <a:rPr lang="it">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pic>
        <p:nvPicPr>
          <p:cNvPr id="187" name="Google Shape;187;p33"/>
          <p:cNvPicPr preferRelativeResize="0"/>
          <p:nvPr/>
        </p:nvPicPr>
        <p:blipFill>
          <a:blip r:embed="rId4">
            <a:alphaModFix/>
          </a:blip>
          <a:stretch>
            <a:fillRect/>
          </a:stretch>
        </p:blipFill>
        <p:spPr>
          <a:xfrm>
            <a:off x="1047426" y="1376000"/>
            <a:ext cx="7052452" cy="2875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6 dimensions</a:t>
            </a:r>
            <a:r>
              <a:rPr lang="it"/>
              <a:t> of prototypes’ fidelity</a:t>
            </a:r>
            <a:endParaRPr/>
          </a:p>
        </p:txBody>
      </p:sp>
      <p:sp>
        <p:nvSpPr>
          <p:cNvPr id="193" name="Google Shape;193;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The fidelity of a prototype and the activity of prototyping mainly moves on </a:t>
            </a:r>
            <a:r>
              <a:rPr lang="it"/>
              <a:t>these main 6</a:t>
            </a:r>
            <a:r>
              <a:rPr lang="it"/>
              <a:t> dimensions:</a:t>
            </a:r>
            <a:endParaRPr/>
          </a:p>
          <a:p>
            <a:pPr indent="-325755" lvl="0" marL="457200" rtl="0" algn="l">
              <a:spcBef>
                <a:spcPts val="1200"/>
              </a:spcBef>
              <a:spcAft>
                <a:spcPts val="0"/>
              </a:spcAft>
              <a:buSzPct val="100000"/>
              <a:buAutoNum type="arabicPeriod"/>
            </a:pPr>
            <a:r>
              <a:rPr b="1" lang="it"/>
              <a:t>Visual/Physical realism</a:t>
            </a:r>
            <a:r>
              <a:rPr lang="it"/>
              <a:t>: How closely the prototype resembles the final product in terms of visual design and aesthetics.</a:t>
            </a:r>
            <a:endParaRPr/>
          </a:p>
          <a:p>
            <a:pPr indent="-325755" lvl="0" marL="457200" rtl="0" algn="l">
              <a:spcBef>
                <a:spcPts val="0"/>
              </a:spcBef>
              <a:spcAft>
                <a:spcPts val="0"/>
              </a:spcAft>
              <a:buSzPct val="100000"/>
              <a:buAutoNum type="arabicPeriod"/>
            </a:pPr>
            <a:r>
              <a:rPr b="1" lang="it"/>
              <a:t>Scope</a:t>
            </a:r>
            <a:r>
              <a:rPr lang="it"/>
              <a:t>: The breadth and depth of the design represented in the prototype.</a:t>
            </a:r>
            <a:endParaRPr/>
          </a:p>
          <a:p>
            <a:pPr indent="-325755" lvl="0" marL="457200" rtl="0" algn="l">
              <a:spcBef>
                <a:spcPts val="0"/>
              </a:spcBef>
              <a:spcAft>
                <a:spcPts val="0"/>
              </a:spcAft>
              <a:buSzPct val="100000"/>
              <a:buAutoNum type="arabicPeriod"/>
            </a:pPr>
            <a:r>
              <a:rPr b="1" lang="it"/>
              <a:t>Functionality</a:t>
            </a:r>
            <a:r>
              <a:rPr lang="it"/>
              <a:t>: What actually works in the prototype, such as links or buttons in a web app.</a:t>
            </a:r>
            <a:endParaRPr/>
          </a:p>
          <a:p>
            <a:pPr indent="-325755" lvl="0" marL="457200" rtl="0" algn="l">
              <a:spcBef>
                <a:spcPts val="0"/>
              </a:spcBef>
              <a:spcAft>
                <a:spcPts val="0"/>
              </a:spcAft>
              <a:buSzPct val="100000"/>
              <a:buAutoNum type="arabicPeriod"/>
            </a:pPr>
            <a:r>
              <a:rPr b="1" lang="it"/>
              <a:t>Data</a:t>
            </a:r>
            <a:r>
              <a:rPr lang="it"/>
              <a:t>: Whether the prototype operates on real or </a:t>
            </a:r>
            <a:r>
              <a:rPr lang="it"/>
              <a:t>fake</a:t>
            </a:r>
            <a:r>
              <a:rPr lang="it"/>
              <a:t> data.</a:t>
            </a:r>
            <a:endParaRPr/>
          </a:p>
          <a:p>
            <a:pPr indent="-325755" lvl="0" marL="457200" rtl="0" algn="l">
              <a:spcBef>
                <a:spcPts val="0"/>
              </a:spcBef>
              <a:spcAft>
                <a:spcPts val="0"/>
              </a:spcAft>
              <a:buSzPct val="100000"/>
              <a:buAutoNum type="arabicPeriod"/>
            </a:pPr>
            <a:r>
              <a:rPr b="1" lang="it"/>
              <a:t>Autonomy</a:t>
            </a:r>
            <a:r>
              <a:rPr lang="it"/>
              <a:t>: Whether the prototype can operate alone or requires input from the designer or user.</a:t>
            </a:r>
            <a:endParaRPr/>
          </a:p>
          <a:p>
            <a:pPr indent="-325755" lvl="0" marL="457200" rtl="0" algn="l">
              <a:spcBef>
                <a:spcPts val="0"/>
              </a:spcBef>
              <a:spcAft>
                <a:spcPts val="0"/>
              </a:spcAft>
              <a:buSzPct val="100000"/>
              <a:buAutoNum type="arabicPeriod"/>
            </a:pPr>
            <a:r>
              <a:rPr b="1" lang="it"/>
              <a:t>Platform</a:t>
            </a:r>
            <a:r>
              <a:rPr lang="it"/>
              <a:t>: Whether the prototype is an interim or final implementation.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Scope</a:t>
            </a:r>
            <a:r>
              <a:rPr lang="it"/>
              <a:t> of prototypes</a:t>
            </a:r>
            <a:endParaRPr/>
          </a:p>
        </p:txBody>
      </p:sp>
      <p:sp>
        <p:nvSpPr>
          <p:cNvPr id="199" name="Google Shape;199;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Say you have decided to test your design and its functionalities through an mid-fidelity prototype. </a:t>
            </a:r>
            <a:endParaRPr/>
          </a:p>
          <a:p>
            <a:pPr indent="0" lvl="0" marL="0" rtl="0" algn="l">
              <a:spcBef>
                <a:spcPts val="1200"/>
              </a:spcBef>
              <a:spcAft>
                <a:spcPts val="0"/>
              </a:spcAft>
              <a:buNone/>
            </a:pPr>
            <a:r>
              <a:rPr lang="it"/>
              <a:t>This gives you information about how good the prototype will look and feel. </a:t>
            </a:r>
            <a:r>
              <a:rPr b="1" lang="it"/>
              <a:t>But how much the user will be able to see and test?</a:t>
            </a:r>
            <a:endParaRPr b="1"/>
          </a:p>
          <a:p>
            <a:pPr indent="0" lvl="0" marL="0" rtl="0" algn="l">
              <a:spcBef>
                <a:spcPts val="1200"/>
              </a:spcBef>
              <a:spcAft>
                <a:spcPts val="0"/>
              </a:spcAft>
              <a:buNone/>
            </a:pPr>
            <a:r>
              <a:rPr lang="it"/>
              <a:t>This is a matter of scope of the prototype. There are two possible scopes:</a:t>
            </a:r>
            <a:endParaRPr/>
          </a:p>
          <a:p>
            <a:pPr indent="-342900" lvl="0" marL="457200" rtl="0" algn="l">
              <a:spcBef>
                <a:spcPts val="1200"/>
              </a:spcBef>
              <a:spcAft>
                <a:spcPts val="0"/>
              </a:spcAft>
              <a:buSzPts val="1800"/>
              <a:buAutoNum type="arabicPeriod"/>
            </a:pPr>
            <a:r>
              <a:rPr lang="it"/>
              <a:t>Horizontal</a:t>
            </a:r>
            <a:endParaRPr/>
          </a:p>
          <a:p>
            <a:pPr indent="-342900" lvl="0" marL="457200" rtl="0" algn="l">
              <a:spcBef>
                <a:spcPts val="0"/>
              </a:spcBef>
              <a:spcAft>
                <a:spcPts val="0"/>
              </a:spcAft>
              <a:buSzPts val="1800"/>
              <a:buAutoNum type="arabicPeriod"/>
            </a:pPr>
            <a:r>
              <a:rPr lang="it"/>
              <a:t>Vertical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Scope of prototypes: </a:t>
            </a:r>
            <a:r>
              <a:rPr lang="it">
                <a:highlight>
                  <a:schemeClr val="accent6"/>
                </a:highlight>
              </a:rPr>
              <a:t>Horizontal</a:t>
            </a:r>
            <a:endParaRPr>
              <a:highlight>
                <a:schemeClr val="accent6"/>
              </a:highlight>
            </a:endParaRPr>
          </a:p>
        </p:txBody>
      </p:sp>
      <p:sp>
        <p:nvSpPr>
          <p:cNvPr id="205" name="Google Shape;205;p36"/>
          <p:cNvSpPr txBox="1"/>
          <p:nvPr>
            <p:ph idx="1" type="body"/>
          </p:nvPr>
        </p:nvSpPr>
        <p:spPr>
          <a:xfrm>
            <a:off x="311700" y="1228675"/>
            <a:ext cx="8520600" cy="18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An horizontal prototype gives an </a:t>
            </a:r>
            <a:r>
              <a:rPr lang="it" u="sng"/>
              <a:t>entire overview of the system, although not going too much in detail for each feature</a:t>
            </a:r>
            <a:r>
              <a:rPr lang="it"/>
              <a:t>: you display a wide range of features without actually implementing them. This means that the prototype is constrained to only one layer.</a:t>
            </a:r>
            <a:endParaRPr/>
          </a:p>
        </p:txBody>
      </p:sp>
      <p:pic>
        <p:nvPicPr>
          <p:cNvPr id="206" name="Google Shape;206;p36"/>
          <p:cNvPicPr preferRelativeResize="0"/>
          <p:nvPr/>
        </p:nvPicPr>
        <p:blipFill>
          <a:blip r:embed="rId3">
            <a:alphaModFix/>
          </a:blip>
          <a:stretch>
            <a:fillRect/>
          </a:stretch>
        </p:blipFill>
        <p:spPr>
          <a:xfrm>
            <a:off x="4021900" y="3001098"/>
            <a:ext cx="5122101" cy="1881200"/>
          </a:xfrm>
          <a:prstGeom prst="rect">
            <a:avLst/>
          </a:prstGeom>
          <a:noFill/>
          <a:ln>
            <a:noFill/>
          </a:ln>
        </p:spPr>
      </p:pic>
      <p:sp>
        <p:nvSpPr>
          <p:cNvPr id="207" name="Google Shape;207;p36"/>
          <p:cNvSpPr txBox="1"/>
          <p:nvPr/>
        </p:nvSpPr>
        <p:spPr>
          <a:xfrm>
            <a:off x="387550" y="3008075"/>
            <a:ext cx="3634500" cy="2135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None/>
            </a:pPr>
            <a:r>
              <a:rPr lang="it" sz="1800">
                <a:solidFill>
                  <a:schemeClr val="dk2"/>
                </a:solidFill>
                <a:latin typeface="Source Code Pro"/>
                <a:ea typeface="Source Code Pro"/>
                <a:cs typeface="Source Code Pro"/>
                <a:sym typeface="Source Code Pro"/>
              </a:rPr>
              <a:t>It is useful in the early stages of design as it allows stakeholders to quickly identify potential issues and make design decisions based on feedback from users.</a:t>
            </a:r>
            <a:endParaRPr>
              <a:latin typeface="Source Code Pro"/>
              <a:ea typeface="Source Code Pro"/>
              <a:cs typeface="Source Code Pro"/>
              <a:sym typeface="Source Code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Scope of prototypes: </a:t>
            </a:r>
            <a:r>
              <a:rPr lang="it">
                <a:highlight>
                  <a:schemeClr val="accent6"/>
                </a:highlight>
              </a:rPr>
              <a:t>Vertical</a:t>
            </a:r>
            <a:endParaRPr>
              <a:highlight>
                <a:schemeClr val="accent6"/>
              </a:highlight>
            </a:endParaRPr>
          </a:p>
        </p:txBody>
      </p:sp>
      <p:sp>
        <p:nvSpPr>
          <p:cNvPr id="213" name="Google Shape;213;p37"/>
          <p:cNvSpPr txBox="1"/>
          <p:nvPr>
            <p:ph idx="1" type="body"/>
          </p:nvPr>
        </p:nvSpPr>
        <p:spPr>
          <a:xfrm>
            <a:off x="311700" y="1228675"/>
            <a:ext cx="8520600" cy="18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A vertical prototype gives a </a:t>
            </a:r>
            <a:r>
              <a:rPr lang="it" u="sng"/>
              <a:t>detailed view of a specific feature</a:t>
            </a:r>
            <a:r>
              <a:rPr lang="it"/>
              <a:t>: you have only one or few features actually designed. This means that the prototype delivers the system and its subsystems.</a:t>
            </a:r>
            <a:endParaRPr/>
          </a:p>
        </p:txBody>
      </p:sp>
      <p:sp>
        <p:nvSpPr>
          <p:cNvPr id="214" name="Google Shape;214;p37"/>
          <p:cNvSpPr txBox="1"/>
          <p:nvPr/>
        </p:nvSpPr>
        <p:spPr>
          <a:xfrm>
            <a:off x="387550" y="3008075"/>
            <a:ext cx="3634500" cy="18102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1200"/>
              </a:spcAft>
              <a:buNone/>
            </a:pPr>
            <a:r>
              <a:rPr lang="it" sz="1800">
                <a:solidFill>
                  <a:schemeClr val="dk2"/>
                </a:solidFill>
                <a:latin typeface="Source Code Pro"/>
                <a:ea typeface="Source Code Pro"/>
                <a:cs typeface="Source Code Pro"/>
                <a:sym typeface="Source Code Pro"/>
              </a:rPr>
              <a:t>In this way you can test the technical feasibility of the product or that a specific requirement is fulfilled by the user (in the interaction with the system).</a:t>
            </a:r>
            <a:endParaRPr>
              <a:latin typeface="Source Code Pro"/>
              <a:ea typeface="Source Code Pro"/>
              <a:cs typeface="Source Code Pro"/>
              <a:sym typeface="Source Code Pro"/>
            </a:endParaRPr>
          </a:p>
        </p:txBody>
      </p:sp>
      <p:pic>
        <p:nvPicPr>
          <p:cNvPr id="215" name="Google Shape;215;p37"/>
          <p:cNvPicPr preferRelativeResize="0"/>
          <p:nvPr/>
        </p:nvPicPr>
        <p:blipFill>
          <a:blip r:embed="rId3">
            <a:alphaModFix/>
          </a:blip>
          <a:stretch>
            <a:fillRect/>
          </a:stretch>
        </p:blipFill>
        <p:spPr>
          <a:xfrm>
            <a:off x="4021900" y="3008065"/>
            <a:ext cx="5122101" cy="179273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Scope of prototypes</a:t>
            </a:r>
            <a:endParaRPr>
              <a:highlight>
                <a:schemeClr val="accent6"/>
              </a:highlight>
            </a:endParaRPr>
          </a:p>
        </p:txBody>
      </p:sp>
      <p:pic>
        <p:nvPicPr>
          <p:cNvPr id="221" name="Google Shape;221;p38"/>
          <p:cNvPicPr preferRelativeResize="0"/>
          <p:nvPr/>
        </p:nvPicPr>
        <p:blipFill>
          <a:blip r:embed="rId3">
            <a:alphaModFix/>
          </a:blip>
          <a:stretch>
            <a:fillRect/>
          </a:stretch>
        </p:blipFill>
        <p:spPr>
          <a:xfrm>
            <a:off x="1842254" y="1155900"/>
            <a:ext cx="5459500" cy="3510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Prototyping techniques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Paper</a:t>
            </a:r>
            <a:r>
              <a:rPr lang="it"/>
              <a:t> prototypes</a:t>
            </a:r>
            <a:endParaRPr/>
          </a:p>
        </p:txBody>
      </p:sp>
      <p:sp>
        <p:nvSpPr>
          <p:cNvPr id="232" name="Google Shape;232;p40"/>
          <p:cNvSpPr txBox="1"/>
          <p:nvPr>
            <p:ph idx="1" type="body"/>
          </p:nvPr>
        </p:nvSpPr>
        <p:spPr>
          <a:xfrm>
            <a:off x="311700" y="1228675"/>
            <a:ext cx="46449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it"/>
              <a:t>A paper prototype is a low-fidelity prototype created on paper or cardboard that represents the </a:t>
            </a:r>
            <a:r>
              <a:rPr b="1" lang="it"/>
              <a:t>basic layout</a:t>
            </a:r>
            <a:r>
              <a:rPr lang="it"/>
              <a:t> </a:t>
            </a:r>
            <a:r>
              <a:rPr b="1" lang="it"/>
              <a:t>and functionality </a:t>
            </a:r>
            <a:r>
              <a:rPr lang="it"/>
              <a:t>of a product or service. It's a </a:t>
            </a:r>
            <a:r>
              <a:rPr b="1" lang="it"/>
              <a:t>quick and inexpensive </a:t>
            </a:r>
            <a:r>
              <a:rPr lang="it"/>
              <a:t>way to test and refine user interface designs before investing time and resources in more high-fidelity prototypes.</a:t>
            </a:r>
            <a:endParaRPr/>
          </a:p>
        </p:txBody>
      </p:sp>
      <p:pic>
        <p:nvPicPr>
          <p:cNvPr id="233" name="Google Shape;233;p40"/>
          <p:cNvPicPr preferRelativeResize="0"/>
          <p:nvPr/>
        </p:nvPicPr>
        <p:blipFill>
          <a:blip r:embed="rId3">
            <a:alphaModFix/>
          </a:blip>
          <a:stretch>
            <a:fillRect/>
          </a:stretch>
        </p:blipFill>
        <p:spPr>
          <a:xfrm>
            <a:off x="4956725" y="1498920"/>
            <a:ext cx="3885774" cy="2726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Paper</a:t>
            </a:r>
            <a:r>
              <a:rPr lang="it"/>
              <a:t> prototypes</a:t>
            </a:r>
            <a:endParaRPr/>
          </a:p>
        </p:txBody>
      </p:sp>
      <p:sp>
        <p:nvSpPr>
          <p:cNvPr id="239" name="Google Shape;239;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Creating a paper prototype involves sketching out the basic layout and functionality of a website or app on paper or cardboard. Users can then interact with the prototype by physically manipulating the paper or cardboard, simulating how they might interact with a digital interface.</a:t>
            </a:r>
            <a:endParaRPr/>
          </a:p>
          <a:p>
            <a:pPr indent="0" lvl="0" marL="0" rtl="0" algn="l">
              <a:spcBef>
                <a:spcPts val="1200"/>
              </a:spcBef>
              <a:spcAft>
                <a:spcPts val="0"/>
              </a:spcAft>
              <a:buNone/>
            </a:pPr>
            <a:r>
              <a:rPr lang="it"/>
              <a:t>Paper prototypes can be used to quickly test a wide range of design elements, </a:t>
            </a:r>
            <a:r>
              <a:rPr lang="it" u="sng"/>
              <a:t>from the placement of buttons and menus to the flow of information and user interactions</a:t>
            </a:r>
            <a:r>
              <a:rPr lang="it"/>
              <a:t>. They are particularly useful in the </a:t>
            </a:r>
            <a:r>
              <a:rPr b="1" lang="it"/>
              <a:t>early stages</a:t>
            </a:r>
            <a:r>
              <a:rPr lang="it"/>
              <a:t> of the design process, when designers are still exploring different design options and gathering feedback from users.</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(Mid-fi) Wireframe</a:t>
            </a:r>
            <a:r>
              <a:rPr lang="it"/>
              <a:t> </a:t>
            </a:r>
            <a:r>
              <a:rPr lang="it"/>
              <a:t>prototypes</a:t>
            </a:r>
            <a:endParaRPr/>
          </a:p>
        </p:txBody>
      </p:sp>
      <p:sp>
        <p:nvSpPr>
          <p:cNvPr id="245" name="Google Shape;245;p42"/>
          <p:cNvSpPr txBox="1"/>
          <p:nvPr>
            <p:ph idx="1" type="body"/>
          </p:nvPr>
        </p:nvSpPr>
        <p:spPr>
          <a:xfrm>
            <a:off x="311700" y="1228675"/>
            <a:ext cx="44064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it"/>
              <a:t>A wireframe prototype is a </a:t>
            </a:r>
            <a:r>
              <a:rPr b="1" lang="it"/>
              <a:t>digital </a:t>
            </a:r>
            <a:r>
              <a:rPr lang="it"/>
              <a:t>prototype that represents the </a:t>
            </a:r>
            <a:r>
              <a:rPr b="1" lang="it"/>
              <a:t>basic layout and functionality</a:t>
            </a:r>
            <a:r>
              <a:rPr lang="it"/>
              <a:t> of a product or service, without much detail or visual design. It's a quick and inexpensive way to test and refine the basic structure of a product or service, without getting bogged down in visual details.</a:t>
            </a:r>
            <a:endParaRPr/>
          </a:p>
        </p:txBody>
      </p:sp>
      <p:pic>
        <p:nvPicPr>
          <p:cNvPr id="246" name="Google Shape;246;p42"/>
          <p:cNvPicPr preferRelativeResize="0"/>
          <p:nvPr/>
        </p:nvPicPr>
        <p:blipFill>
          <a:blip r:embed="rId3">
            <a:alphaModFix/>
          </a:blip>
          <a:stretch>
            <a:fillRect/>
          </a:stretch>
        </p:blipFill>
        <p:spPr>
          <a:xfrm>
            <a:off x="4675025" y="1663643"/>
            <a:ext cx="4282374" cy="227928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(Mid-fi) Wireframe</a:t>
            </a:r>
            <a:r>
              <a:rPr lang="it"/>
              <a:t> </a:t>
            </a:r>
            <a:r>
              <a:rPr lang="it"/>
              <a:t>prototypes</a:t>
            </a:r>
            <a:endParaRPr/>
          </a:p>
        </p:txBody>
      </p:sp>
      <p:sp>
        <p:nvSpPr>
          <p:cNvPr id="252" name="Google Shape;252;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Creating a wireframe prototype involves sketching out the basic layout and functionality of a product or service, using simple shapes and symbols to represent different UI elements.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Wizard of Oz</a:t>
            </a:r>
            <a:r>
              <a:rPr lang="it"/>
              <a:t> (or Mechanical Turk) </a:t>
            </a:r>
            <a:r>
              <a:rPr lang="it"/>
              <a:t>prototypes</a:t>
            </a:r>
            <a:endParaRPr/>
          </a:p>
        </p:txBody>
      </p:sp>
      <p:sp>
        <p:nvSpPr>
          <p:cNvPr id="258" name="Google Shape;258;p44"/>
          <p:cNvSpPr txBox="1"/>
          <p:nvPr>
            <p:ph idx="1" type="body"/>
          </p:nvPr>
        </p:nvSpPr>
        <p:spPr>
          <a:xfrm>
            <a:off x="311700" y="1228675"/>
            <a:ext cx="43860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A Wizard of Oz is a prototype that </a:t>
            </a:r>
            <a:r>
              <a:rPr b="1" lang="it"/>
              <a:t>simulates the behavior</a:t>
            </a:r>
            <a:r>
              <a:rPr lang="it"/>
              <a:t> of a product or service </a:t>
            </a:r>
            <a:r>
              <a:rPr b="1" lang="it"/>
              <a:t>using human input instead of actual technology</a:t>
            </a:r>
            <a:r>
              <a:rPr lang="it"/>
              <a:t>. It's used to test the user experience of a product or service </a:t>
            </a:r>
            <a:r>
              <a:rPr lang="it" u="sng"/>
              <a:t>before actual technology is developed</a:t>
            </a:r>
            <a:r>
              <a:rPr lang="it"/>
              <a:t>.</a:t>
            </a:r>
            <a:endParaRPr/>
          </a:p>
        </p:txBody>
      </p:sp>
      <p:pic>
        <p:nvPicPr>
          <p:cNvPr id="259" name="Google Shape;259;p44"/>
          <p:cNvPicPr preferRelativeResize="0"/>
          <p:nvPr/>
        </p:nvPicPr>
        <p:blipFill>
          <a:blip r:embed="rId3">
            <a:alphaModFix/>
          </a:blip>
          <a:stretch>
            <a:fillRect/>
          </a:stretch>
        </p:blipFill>
        <p:spPr>
          <a:xfrm>
            <a:off x="4826874" y="1093850"/>
            <a:ext cx="4068301" cy="3704776"/>
          </a:xfrm>
          <a:prstGeom prst="rect">
            <a:avLst/>
          </a:prstGeom>
          <a:noFill/>
          <a:ln>
            <a:noFill/>
          </a:ln>
        </p:spPr>
      </p:pic>
      <p:sp>
        <p:nvSpPr>
          <p:cNvPr id="260" name="Google Shape;260;p44"/>
          <p:cNvSpPr txBox="1"/>
          <p:nvPr/>
        </p:nvSpPr>
        <p:spPr>
          <a:xfrm>
            <a:off x="5148475" y="4798625"/>
            <a:ext cx="374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u="sng">
                <a:solidFill>
                  <a:schemeClr val="hlink"/>
                </a:solidFill>
                <a:latin typeface="Source Code Pro"/>
                <a:ea typeface="Source Code Pro"/>
                <a:cs typeface="Source Code Pro"/>
                <a:sym typeface="Source Code Pro"/>
                <a:hlinkClick r:id="rId4"/>
              </a:rPr>
              <a:t>https://en.wikipedia.org/wiki/Mechanical_Turk</a:t>
            </a:r>
            <a:r>
              <a:rPr lang="it" sz="1000">
                <a:latin typeface="Source Code Pro"/>
                <a:ea typeface="Source Code Pro"/>
                <a:cs typeface="Source Code Pro"/>
                <a:sym typeface="Source Code Pro"/>
              </a:rPr>
              <a:t> </a:t>
            </a:r>
            <a:endParaRPr sz="1000">
              <a:latin typeface="Source Code Pro"/>
              <a:ea typeface="Source Code Pro"/>
              <a:cs typeface="Source Code Pro"/>
              <a:sym typeface="Source Code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Wizard of Oz</a:t>
            </a:r>
            <a:r>
              <a:rPr lang="it"/>
              <a:t> prototypes</a:t>
            </a:r>
            <a:endParaRPr/>
          </a:p>
        </p:txBody>
      </p:sp>
      <p:sp>
        <p:nvSpPr>
          <p:cNvPr id="266" name="Google Shape;266;p45"/>
          <p:cNvSpPr txBox="1"/>
          <p:nvPr>
            <p:ph idx="1" type="body"/>
          </p:nvPr>
        </p:nvSpPr>
        <p:spPr>
          <a:xfrm>
            <a:off x="311700" y="1228675"/>
            <a:ext cx="43560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it"/>
              <a:t>Creating a Wizard of Oz involves using a human operator or team of operators to simulate the behavior and responses of a product or service. This can involve using </a:t>
            </a:r>
            <a:r>
              <a:rPr lang="it" u="sng"/>
              <a:t>pre-recorded audio or video, scripted responses</a:t>
            </a:r>
            <a:r>
              <a:rPr lang="it"/>
              <a:t>, or even </a:t>
            </a:r>
            <a:r>
              <a:rPr lang="it" u="sng"/>
              <a:t>live interactions with users</a:t>
            </a:r>
            <a:r>
              <a:rPr lang="it"/>
              <a:t>. The goal is to simulate the experience of using a product or service without actually building the technology behind it.</a:t>
            </a:r>
            <a:endParaRPr/>
          </a:p>
        </p:txBody>
      </p:sp>
      <p:pic>
        <p:nvPicPr>
          <p:cNvPr id="267" name="Google Shape;267;p45"/>
          <p:cNvPicPr preferRelativeResize="0"/>
          <p:nvPr/>
        </p:nvPicPr>
        <p:blipFill>
          <a:blip r:embed="rId3">
            <a:alphaModFix/>
          </a:blip>
          <a:stretch>
            <a:fillRect/>
          </a:stretch>
        </p:blipFill>
        <p:spPr>
          <a:xfrm>
            <a:off x="4820100" y="1246250"/>
            <a:ext cx="4171501" cy="2473882"/>
          </a:xfrm>
          <a:prstGeom prst="rect">
            <a:avLst/>
          </a:prstGeom>
          <a:noFill/>
          <a:ln>
            <a:noFill/>
          </a:ln>
        </p:spPr>
      </p:pic>
      <p:sp>
        <p:nvSpPr>
          <p:cNvPr id="268" name="Google Shape;268;p45"/>
          <p:cNvSpPr txBox="1"/>
          <p:nvPr/>
        </p:nvSpPr>
        <p:spPr>
          <a:xfrm>
            <a:off x="5536150" y="3765725"/>
            <a:ext cx="28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Source Code Pro"/>
                <a:ea typeface="Source Code Pro"/>
                <a:cs typeface="Source Code Pro"/>
                <a:sym typeface="Source Code Pro"/>
              </a:rPr>
              <a:t>IBM voice editor (1984)</a:t>
            </a:r>
            <a:endParaRPr>
              <a:latin typeface="Source Code Pro"/>
              <a:ea typeface="Source Code Pro"/>
              <a:cs typeface="Source Code Pro"/>
              <a:sym typeface="Source Code Pr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Functional</a:t>
            </a:r>
            <a:r>
              <a:rPr lang="it"/>
              <a:t> </a:t>
            </a:r>
            <a:r>
              <a:rPr lang="it"/>
              <a:t>prototypes</a:t>
            </a:r>
            <a:endParaRPr/>
          </a:p>
        </p:txBody>
      </p:sp>
      <p:sp>
        <p:nvSpPr>
          <p:cNvPr id="274" name="Google Shape;274;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 functional prototype is a prototype that includes </a:t>
            </a:r>
            <a:r>
              <a:rPr b="1" lang="it"/>
              <a:t>working or partially working features</a:t>
            </a:r>
            <a:r>
              <a:rPr lang="it"/>
              <a:t>. It is used to test and refine the </a:t>
            </a:r>
            <a:r>
              <a:rPr b="1" lang="it"/>
              <a:t>technical aspects</a:t>
            </a:r>
            <a:r>
              <a:rPr lang="it"/>
              <a:t> of a product, such as the responsiveness and functionality of different features.</a:t>
            </a:r>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Functional</a:t>
            </a:r>
            <a:r>
              <a:rPr lang="it"/>
              <a:t> prototypes</a:t>
            </a:r>
            <a:endParaRPr/>
          </a:p>
        </p:txBody>
      </p:sp>
      <p:sp>
        <p:nvSpPr>
          <p:cNvPr id="280" name="Google Shape;280;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a:t>Creating a functional prototype involves building a prototype with actual code and programming, or using a prototyping tool that allows for interactive elements and functionality.</a:t>
            </a:r>
            <a:endParaRPr/>
          </a:p>
          <a:p>
            <a:pPr indent="0" lvl="0" marL="0" rtl="0" algn="l">
              <a:spcBef>
                <a:spcPts val="1200"/>
              </a:spcBef>
              <a:spcAft>
                <a:spcPts val="0"/>
              </a:spcAft>
              <a:buNone/>
            </a:pPr>
            <a:r>
              <a:rPr lang="it"/>
              <a:t>They are particularly useful in the </a:t>
            </a:r>
            <a:r>
              <a:rPr b="1" lang="it"/>
              <a:t>later stages</a:t>
            </a:r>
            <a:r>
              <a:rPr lang="it"/>
              <a:t> of the design process, when designers are looking to </a:t>
            </a:r>
            <a:r>
              <a:rPr lang="it" u="sng"/>
              <a:t>fine-tune the technical details of their designs before moving on to full development.</a:t>
            </a:r>
            <a:endParaRPr u="sng"/>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Non-</a:t>
            </a:r>
            <a:r>
              <a:rPr lang="it">
                <a:highlight>
                  <a:schemeClr val="accent6"/>
                </a:highlight>
              </a:rPr>
              <a:t>Functional</a:t>
            </a:r>
            <a:r>
              <a:rPr lang="it"/>
              <a:t> prototypes</a:t>
            </a:r>
            <a:endParaRPr/>
          </a:p>
        </p:txBody>
      </p:sp>
      <p:sp>
        <p:nvSpPr>
          <p:cNvPr id="286" name="Google Shape;286;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A non-functional prototype is a prototype that looks and feels like a real product or system but </a:t>
            </a:r>
            <a:r>
              <a:rPr b="1" lang="it"/>
              <a:t>does not have any functional capabilities</a:t>
            </a:r>
            <a:r>
              <a:rPr lang="it"/>
              <a:t>. It is typically used to demonstrate the physical design and user interface of a product or system, without the need for any actual working components or systems.</a:t>
            </a:r>
            <a:endParaRPr/>
          </a:p>
          <a:p>
            <a:pPr indent="0" lvl="0" marL="0" rtl="0" algn="l">
              <a:spcBef>
                <a:spcPts val="1200"/>
              </a:spcBef>
              <a:spcAft>
                <a:spcPts val="0"/>
              </a:spcAft>
              <a:buNone/>
            </a:pPr>
            <a:r>
              <a:rPr lang="it"/>
              <a:t>They are typically used to test the design and user experience of a product or system before investing resources into building a functional prototype. </a:t>
            </a:r>
            <a:r>
              <a:rPr lang="it" u="sng"/>
              <a:t>A little coding can be still necessary, but without going too much in detail and without real working functionalities or at least just superficially</a:t>
            </a:r>
            <a:r>
              <a:rPr lang="it"/>
              <a:t>: for example, you have the website and its navigation working but without an actual backend service.</a:t>
            </a:r>
            <a:endParaRPr/>
          </a:p>
          <a:p>
            <a:pPr indent="0" lvl="0" marL="0" rtl="0" algn="l">
              <a:spcBef>
                <a:spcPts val="1200"/>
              </a:spcBef>
              <a:spcAft>
                <a:spcPts val="1200"/>
              </a:spcAft>
              <a:buNone/>
            </a:pPr>
            <a:r>
              <a:rPr lang="it" u="sng">
                <a:solidFill>
                  <a:schemeClr val="accent5"/>
                </a:solidFill>
                <a:hlinkClick r:id="rId3">
                  <a:extLst>
                    <a:ext uri="{A12FA001-AC4F-418D-AE19-62706E023703}">
                      <ahyp:hlinkClr val="tx"/>
                    </a:ext>
                  </a:extLst>
                </a:hlinkClick>
              </a:rPr>
              <a:t>https://www.youtube.com/watch?v=2CTMJxWh5w4</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Non-</a:t>
            </a:r>
            <a:r>
              <a:rPr lang="it">
                <a:highlight>
                  <a:schemeClr val="accent6"/>
                </a:highlight>
              </a:rPr>
              <a:t>Functional</a:t>
            </a:r>
            <a:r>
              <a:rPr lang="it"/>
              <a:t> prototypes</a:t>
            </a:r>
            <a:endParaRPr/>
          </a:p>
        </p:txBody>
      </p:sp>
      <p:sp>
        <p:nvSpPr>
          <p:cNvPr id="292" name="Google Shape;292;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br>
              <a:rPr lang="it"/>
            </a:br>
            <a:r>
              <a:rPr lang="it"/>
              <a:t>There are several ways that non-functional prototypes can be used for testing:</a:t>
            </a:r>
            <a:endParaRPr/>
          </a:p>
          <a:p>
            <a:pPr indent="-317182" lvl="0" marL="457200" rtl="0" algn="l">
              <a:spcBef>
                <a:spcPts val="1200"/>
              </a:spcBef>
              <a:spcAft>
                <a:spcPts val="0"/>
              </a:spcAft>
              <a:buSzPct val="100000"/>
              <a:buAutoNum type="arabicPeriod"/>
            </a:pPr>
            <a:r>
              <a:rPr lang="it"/>
              <a:t>Testing User Experience: can be used to test the user experience (UX) of a product or system. This involves testing how users interact with the prototype, how easy it is for them to navigate and use, and whether it meets their needs and expectations.</a:t>
            </a:r>
            <a:endParaRPr/>
          </a:p>
          <a:p>
            <a:pPr indent="0" lvl="0" marL="457200" rtl="0" algn="l">
              <a:spcBef>
                <a:spcPts val="1200"/>
              </a:spcBef>
              <a:spcAft>
                <a:spcPts val="0"/>
              </a:spcAft>
              <a:buNone/>
            </a:pPr>
            <a:r>
              <a:t/>
            </a:r>
            <a:endParaRPr/>
          </a:p>
          <a:p>
            <a:pPr indent="-317182" lvl="0" marL="457200" rtl="0" algn="l">
              <a:spcBef>
                <a:spcPts val="1200"/>
              </a:spcBef>
              <a:spcAft>
                <a:spcPts val="0"/>
              </a:spcAft>
              <a:buSzPct val="100000"/>
              <a:buAutoNum type="arabicPeriod"/>
            </a:pPr>
            <a:r>
              <a:rPr lang="it"/>
              <a:t>Testing Visual Design: can also be used to test the visual design as an advanced mockup with some interaction. This involves testing the aesthetics, layout, and overall look and feel of the prototype, and whether it is visually appealing and consistent with the brand identity.</a:t>
            </a:r>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0"/>
          <p:cNvSpPr txBox="1"/>
          <p:nvPr>
            <p:ph type="title"/>
          </p:nvPr>
        </p:nvSpPr>
        <p:spPr>
          <a:xfrm>
            <a:off x="311700" y="259700"/>
            <a:ext cx="338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highlight>
                  <a:schemeClr val="accent6"/>
                </a:highlight>
              </a:rPr>
              <a:t>Clickable</a:t>
            </a:r>
            <a:r>
              <a:rPr lang="it"/>
              <a:t> or </a:t>
            </a:r>
            <a:r>
              <a:rPr lang="it">
                <a:highlight>
                  <a:schemeClr val="accent6"/>
                </a:highlight>
              </a:rPr>
              <a:t>static</a:t>
            </a:r>
            <a:r>
              <a:rPr lang="it"/>
              <a:t> prototype?</a:t>
            </a:r>
            <a:endParaRPr/>
          </a:p>
        </p:txBody>
      </p:sp>
      <p:pic>
        <p:nvPicPr>
          <p:cNvPr id="298" name="Google Shape;298;p50"/>
          <p:cNvPicPr preferRelativeResize="0"/>
          <p:nvPr/>
        </p:nvPicPr>
        <p:blipFill rotWithShape="1">
          <a:blip r:embed="rId3">
            <a:alphaModFix/>
          </a:blip>
          <a:srcRect b="20448" l="0" r="0" t="21641"/>
          <a:stretch/>
        </p:blipFill>
        <p:spPr>
          <a:xfrm>
            <a:off x="4965625" y="152264"/>
            <a:ext cx="3847475" cy="4838973"/>
          </a:xfrm>
          <a:prstGeom prst="rect">
            <a:avLst/>
          </a:prstGeom>
          <a:noFill/>
          <a:ln>
            <a:noFill/>
          </a:ln>
        </p:spPr>
      </p:pic>
      <p:pic>
        <p:nvPicPr>
          <p:cNvPr id="299" name="Google Shape;299;p50"/>
          <p:cNvPicPr preferRelativeResize="0"/>
          <p:nvPr/>
        </p:nvPicPr>
        <p:blipFill rotWithShape="1">
          <a:blip r:embed="rId3">
            <a:alphaModFix/>
          </a:blip>
          <a:srcRect b="0" l="0" r="0" t="80476"/>
          <a:stretch/>
        </p:blipFill>
        <p:spPr>
          <a:xfrm>
            <a:off x="311700" y="2132568"/>
            <a:ext cx="3847475" cy="163138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1"/>
          <p:cNvSpPr txBox="1"/>
          <p:nvPr>
            <p:ph type="title"/>
          </p:nvPr>
        </p:nvSpPr>
        <p:spPr>
          <a:xfrm>
            <a:off x="2802750" y="802500"/>
            <a:ext cx="3538500" cy="3538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it">
                <a:highlight>
                  <a:schemeClr val="accent6"/>
                </a:highlight>
              </a:rPr>
              <a:t>Wireframes</a:t>
            </a:r>
            <a:r>
              <a:rPr lang="it"/>
              <a:t> </a:t>
            </a:r>
            <a:endParaRPr/>
          </a:p>
          <a:p>
            <a:pPr indent="0" lvl="0" marL="0" rtl="0" algn="ctr">
              <a:spcBef>
                <a:spcPts val="0"/>
              </a:spcBef>
              <a:spcAft>
                <a:spcPts val="0"/>
              </a:spcAft>
              <a:buNone/>
            </a:pPr>
            <a:r>
              <a:rPr lang="it"/>
              <a:t>vs </a:t>
            </a:r>
            <a:endParaRPr/>
          </a:p>
          <a:p>
            <a:pPr indent="0" lvl="0" marL="0" rtl="0" algn="ctr">
              <a:spcBef>
                <a:spcPts val="0"/>
              </a:spcBef>
              <a:spcAft>
                <a:spcPts val="0"/>
              </a:spcAft>
              <a:buNone/>
            </a:pPr>
            <a:r>
              <a:rPr lang="it">
                <a:highlight>
                  <a:schemeClr val="accent6"/>
                </a:highlight>
              </a:rPr>
              <a:t>Mockups</a:t>
            </a:r>
            <a:r>
              <a:rPr lang="it"/>
              <a:t> </a:t>
            </a:r>
            <a:endParaRPr/>
          </a:p>
          <a:p>
            <a:pPr indent="0" lvl="0" marL="0" rtl="0" algn="ctr">
              <a:spcBef>
                <a:spcPts val="0"/>
              </a:spcBef>
              <a:spcAft>
                <a:spcPts val="0"/>
              </a:spcAft>
              <a:buNone/>
            </a:pPr>
            <a:r>
              <a:rPr lang="it"/>
              <a:t>vs </a:t>
            </a:r>
            <a:endParaRPr/>
          </a:p>
          <a:p>
            <a:pPr indent="0" lvl="0" marL="0" rtl="0" algn="ctr">
              <a:spcBef>
                <a:spcPts val="0"/>
              </a:spcBef>
              <a:spcAft>
                <a:spcPts val="0"/>
              </a:spcAft>
              <a:buNone/>
            </a:pPr>
            <a:r>
              <a:rPr lang="it">
                <a:highlight>
                  <a:schemeClr val="accent6"/>
                </a:highlight>
              </a:rPr>
              <a:t>Prototypes</a:t>
            </a:r>
            <a:endParaRPr>
              <a:highlight>
                <a:schemeClr val="accent6"/>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Wireframes</a:t>
            </a:r>
            <a:r>
              <a:rPr lang="it"/>
              <a:t> vs Mockups vs Prototypes</a:t>
            </a:r>
            <a:endParaRPr/>
          </a:p>
        </p:txBody>
      </p:sp>
      <p:sp>
        <p:nvSpPr>
          <p:cNvPr id="310" name="Google Shape;310;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a:t>People often confuse the concept of mockups with that of prototypes. However, prototypes are more advanced versions of mockups that include navigation and functionality, allowing for more meaningful testing and feedback from users. </a:t>
            </a:r>
            <a:endParaRPr/>
          </a:p>
          <a:p>
            <a:pPr indent="0" lvl="0" marL="0" rtl="0" algn="l">
              <a:spcBef>
                <a:spcPts val="1200"/>
              </a:spcBef>
              <a:spcAft>
                <a:spcPts val="0"/>
              </a:spcAft>
              <a:buNone/>
            </a:pPr>
            <a:r>
              <a:rPr lang="it" u="sng"/>
              <a:t>Designers usually use mockups and wireframes to first create prototypes</a:t>
            </a:r>
            <a:r>
              <a:rPr lang="it"/>
              <a:t> that simulate the functionality and user experience of the final product. </a:t>
            </a:r>
            <a:endParaRPr/>
          </a:p>
          <a:p>
            <a:pPr indent="0" lvl="0" marL="0" rtl="0" algn="l">
              <a:spcBef>
                <a:spcPts val="1200"/>
              </a:spcBef>
              <a:spcAft>
                <a:spcPts val="1200"/>
              </a:spcAft>
              <a:buNone/>
            </a:pPr>
            <a:r>
              <a:rPr lang="it" u="sng"/>
              <a:t>The prototypes are then used to test</a:t>
            </a:r>
            <a:r>
              <a:rPr lang="it"/>
              <a:t> and validate the design before moving on to the development phase.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Wireframes vs Mockups vs Prototypes</a:t>
            </a:r>
            <a:endParaRPr/>
          </a:p>
          <a:p>
            <a:pPr indent="0" lvl="0" marL="0" rtl="0" algn="l">
              <a:spcBef>
                <a:spcPts val="0"/>
              </a:spcBef>
              <a:spcAft>
                <a:spcPts val="0"/>
              </a:spcAft>
              <a:buNone/>
            </a:pPr>
            <a:r>
              <a:t/>
            </a:r>
            <a:endParaRPr/>
          </a:p>
        </p:txBody>
      </p:sp>
      <p:cxnSp>
        <p:nvCxnSpPr>
          <p:cNvPr id="316" name="Google Shape;316;p53"/>
          <p:cNvCxnSpPr>
            <a:stCxn id="317" idx="2"/>
            <a:endCxn id="318" idx="0"/>
          </p:cNvCxnSpPr>
          <p:nvPr/>
        </p:nvCxnSpPr>
        <p:spPr>
          <a:xfrm flipH="1" rot="-5400000">
            <a:off x="2911275" y="2791550"/>
            <a:ext cx="1198200" cy="600"/>
          </a:xfrm>
          <a:prstGeom prst="bentConnector3">
            <a:avLst>
              <a:gd fmla="val 49996" name="adj1"/>
            </a:avLst>
          </a:prstGeom>
          <a:noFill/>
          <a:ln cap="flat" cmpd="sng" w="9525">
            <a:solidFill>
              <a:srgbClr val="C2C2C2"/>
            </a:solidFill>
            <a:prstDash val="solid"/>
            <a:round/>
            <a:headEnd len="sm" w="sm" type="none"/>
            <a:tailEnd len="sm" w="sm" type="triangle"/>
          </a:ln>
        </p:spPr>
      </p:cxnSp>
      <p:cxnSp>
        <p:nvCxnSpPr>
          <p:cNvPr id="319" name="Google Shape;319;p53"/>
          <p:cNvCxnSpPr>
            <a:stCxn id="317" idx="3"/>
            <a:endCxn id="320" idx="1"/>
          </p:cNvCxnSpPr>
          <p:nvPr/>
        </p:nvCxnSpPr>
        <p:spPr>
          <a:xfrm>
            <a:off x="4227225" y="1874750"/>
            <a:ext cx="889500" cy="600"/>
          </a:xfrm>
          <a:prstGeom prst="bentConnector3">
            <a:avLst>
              <a:gd fmla="val 50000" name="adj1"/>
            </a:avLst>
          </a:prstGeom>
          <a:noFill/>
          <a:ln cap="flat" cmpd="sng" w="9525">
            <a:solidFill>
              <a:srgbClr val="C2C2C2"/>
            </a:solidFill>
            <a:prstDash val="solid"/>
            <a:round/>
            <a:headEnd len="sm" w="sm" type="none"/>
            <a:tailEnd len="sm" w="sm" type="triangle"/>
          </a:ln>
        </p:spPr>
      </p:cxnSp>
      <p:sp>
        <p:nvSpPr>
          <p:cNvPr id="320" name="Google Shape;320;p53"/>
          <p:cNvSpPr/>
          <p:nvPr/>
        </p:nvSpPr>
        <p:spPr>
          <a:xfrm>
            <a:off x="5116725" y="1304450"/>
            <a:ext cx="1182300" cy="1141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solidFill>
                  <a:srgbClr val="3D3D3D"/>
                </a:solidFill>
                <a:latin typeface="Source Code Pro"/>
                <a:ea typeface="Source Code Pro"/>
                <a:cs typeface="Source Code Pro"/>
                <a:sym typeface="Source Code Pro"/>
              </a:rPr>
              <a:t>Has visual design, colors, typography and images?</a:t>
            </a:r>
            <a:endParaRPr sz="1100">
              <a:solidFill>
                <a:srgbClr val="3D3D3D"/>
              </a:solidFill>
              <a:latin typeface="Source Code Pro"/>
              <a:ea typeface="Source Code Pro"/>
              <a:cs typeface="Source Code Pro"/>
              <a:sym typeface="Source Code Pro"/>
            </a:endParaRPr>
          </a:p>
        </p:txBody>
      </p:sp>
      <p:sp>
        <p:nvSpPr>
          <p:cNvPr id="317" name="Google Shape;317;p53"/>
          <p:cNvSpPr/>
          <p:nvPr/>
        </p:nvSpPr>
        <p:spPr>
          <a:xfrm>
            <a:off x="2792925" y="1556750"/>
            <a:ext cx="1434300" cy="6360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solidFill>
                  <a:srgbClr val="3D3D3D"/>
                </a:solidFill>
                <a:latin typeface="Source Code Pro"/>
                <a:ea typeface="Source Code Pro"/>
                <a:cs typeface="Source Code Pro"/>
                <a:sym typeface="Source Code Pro"/>
              </a:rPr>
              <a:t>Can respond to actions in other ways ?</a:t>
            </a:r>
            <a:endParaRPr sz="1100">
              <a:solidFill>
                <a:srgbClr val="3D3D3D"/>
              </a:solidFill>
              <a:latin typeface="Source Code Pro"/>
              <a:ea typeface="Source Code Pro"/>
              <a:cs typeface="Source Code Pro"/>
              <a:sym typeface="Source Code Pro"/>
            </a:endParaRPr>
          </a:p>
        </p:txBody>
      </p:sp>
      <p:cxnSp>
        <p:nvCxnSpPr>
          <p:cNvPr id="321" name="Google Shape;321;p53"/>
          <p:cNvCxnSpPr>
            <a:stCxn id="320" idx="2"/>
            <a:endCxn id="322" idx="0"/>
          </p:cNvCxnSpPr>
          <p:nvPr/>
        </p:nvCxnSpPr>
        <p:spPr>
          <a:xfrm flipH="1" rot="-5400000">
            <a:off x="5235525" y="2918000"/>
            <a:ext cx="945300" cy="600"/>
          </a:xfrm>
          <a:prstGeom prst="bentConnector3">
            <a:avLst>
              <a:gd fmla="val 49995" name="adj1"/>
            </a:avLst>
          </a:prstGeom>
          <a:noFill/>
          <a:ln cap="flat" cmpd="sng" w="9525">
            <a:solidFill>
              <a:srgbClr val="C2C2C2"/>
            </a:solidFill>
            <a:prstDash val="solid"/>
            <a:round/>
            <a:headEnd len="sm" w="sm" type="none"/>
            <a:tailEnd len="sm" w="sm" type="triangle"/>
          </a:ln>
        </p:spPr>
      </p:cxnSp>
      <p:cxnSp>
        <p:nvCxnSpPr>
          <p:cNvPr id="323" name="Google Shape;323;p53"/>
          <p:cNvCxnSpPr>
            <a:stCxn id="324" idx="2"/>
            <a:endCxn id="325" idx="0"/>
          </p:cNvCxnSpPr>
          <p:nvPr/>
        </p:nvCxnSpPr>
        <p:spPr>
          <a:xfrm flipH="1" rot="-5400000">
            <a:off x="713175" y="2791550"/>
            <a:ext cx="1198200" cy="600"/>
          </a:xfrm>
          <a:prstGeom prst="bentConnector3">
            <a:avLst>
              <a:gd fmla="val 49996" name="adj1"/>
            </a:avLst>
          </a:prstGeom>
          <a:noFill/>
          <a:ln cap="flat" cmpd="sng" w="9525">
            <a:solidFill>
              <a:srgbClr val="C2C2C2"/>
            </a:solidFill>
            <a:prstDash val="solid"/>
            <a:round/>
            <a:headEnd len="sm" w="sm" type="none"/>
            <a:tailEnd len="sm" w="sm" type="triangle"/>
          </a:ln>
        </p:spPr>
      </p:cxnSp>
      <p:sp>
        <p:nvSpPr>
          <p:cNvPr id="324" name="Google Shape;324;p53"/>
          <p:cNvSpPr/>
          <p:nvPr/>
        </p:nvSpPr>
        <p:spPr>
          <a:xfrm>
            <a:off x="647325" y="1556750"/>
            <a:ext cx="1329300" cy="6360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solidFill>
                  <a:srgbClr val="3D3D3D"/>
                </a:solidFill>
                <a:latin typeface="Source Code Pro"/>
                <a:ea typeface="Source Code Pro"/>
                <a:cs typeface="Source Code Pro"/>
                <a:sym typeface="Source Code Pro"/>
              </a:rPr>
              <a:t>Is it clickable and interactive</a:t>
            </a:r>
            <a:r>
              <a:rPr lang="it" sz="1100">
                <a:solidFill>
                  <a:srgbClr val="3D3D3D"/>
                </a:solidFill>
                <a:latin typeface="Source Code Pro"/>
                <a:ea typeface="Source Code Pro"/>
                <a:cs typeface="Source Code Pro"/>
                <a:sym typeface="Source Code Pro"/>
              </a:rPr>
              <a:t>?</a:t>
            </a:r>
            <a:endParaRPr sz="1100">
              <a:solidFill>
                <a:srgbClr val="3D3D3D"/>
              </a:solidFill>
              <a:latin typeface="Source Code Pro"/>
              <a:ea typeface="Source Code Pro"/>
              <a:cs typeface="Source Code Pro"/>
              <a:sym typeface="Source Code Pro"/>
            </a:endParaRPr>
          </a:p>
        </p:txBody>
      </p:sp>
      <p:sp>
        <p:nvSpPr>
          <p:cNvPr id="325" name="Google Shape;325;p53"/>
          <p:cNvSpPr/>
          <p:nvPr/>
        </p:nvSpPr>
        <p:spPr>
          <a:xfrm>
            <a:off x="720825" y="3390850"/>
            <a:ext cx="1182300" cy="4482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100">
                <a:solidFill>
                  <a:schemeClr val="lt1"/>
                </a:solidFill>
                <a:latin typeface="Source Code Pro"/>
                <a:ea typeface="Source Code Pro"/>
                <a:cs typeface="Source Code Pro"/>
                <a:sym typeface="Source Code Pro"/>
              </a:rPr>
              <a:t>Functional </a:t>
            </a:r>
            <a:r>
              <a:rPr b="1" lang="it" sz="1100">
                <a:solidFill>
                  <a:schemeClr val="lt1"/>
                </a:solidFill>
                <a:latin typeface="Source Code Pro"/>
                <a:ea typeface="Source Code Pro"/>
                <a:cs typeface="Source Code Pro"/>
                <a:sym typeface="Source Code Pro"/>
              </a:rPr>
              <a:t>Prototype</a:t>
            </a:r>
            <a:endParaRPr b="1" sz="1100">
              <a:solidFill>
                <a:schemeClr val="lt1"/>
              </a:solidFill>
              <a:latin typeface="Source Code Pro"/>
              <a:ea typeface="Source Code Pro"/>
              <a:cs typeface="Source Code Pro"/>
              <a:sym typeface="Source Code Pro"/>
            </a:endParaRPr>
          </a:p>
        </p:txBody>
      </p:sp>
      <p:cxnSp>
        <p:nvCxnSpPr>
          <p:cNvPr id="326" name="Google Shape;326;p53"/>
          <p:cNvCxnSpPr>
            <a:stCxn id="324" idx="3"/>
            <a:endCxn id="317" idx="1"/>
          </p:cNvCxnSpPr>
          <p:nvPr/>
        </p:nvCxnSpPr>
        <p:spPr>
          <a:xfrm>
            <a:off x="1976625" y="1874750"/>
            <a:ext cx="816300" cy="600"/>
          </a:xfrm>
          <a:prstGeom prst="bentConnector3">
            <a:avLst>
              <a:gd fmla="val 50000" name="adj1"/>
            </a:avLst>
          </a:prstGeom>
          <a:noFill/>
          <a:ln cap="flat" cmpd="sng" w="9525">
            <a:solidFill>
              <a:srgbClr val="C2C2C2"/>
            </a:solidFill>
            <a:prstDash val="solid"/>
            <a:round/>
            <a:headEnd len="sm" w="sm" type="none"/>
            <a:tailEnd len="sm" w="sm" type="triangle"/>
          </a:ln>
        </p:spPr>
      </p:cxnSp>
      <p:cxnSp>
        <p:nvCxnSpPr>
          <p:cNvPr id="327" name="Google Shape;327;p53"/>
          <p:cNvCxnSpPr>
            <a:stCxn id="320" idx="3"/>
            <a:endCxn id="328" idx="0"/>
          </p:cNvCxnSpPr>
          <p:nvPr/>
        </p:nvCxnSpPr>
        <p:spPr>
          <a:xfrm>
            <a:off x="6299025" y="1875050"/>
            <a:ext cx="1606500" cy="1515900"/>
          </a:xfrm>
          <a:prstGeom prst="bentConnector2">
            <a:avLst/>
          </a:prstGeom>
          <a:noFill/>
          <a:ln cap="flat" cmpd="sng" w="9525">
            <a:solidFill>
              <a:srgbClr val="C2C2C2"/>
            </a:solidFill>
            <a:prstDash val="solid"/>
            <a:round/>
            <a:headEnd len="sm" w="sm" type="none"/>
            <a:tailEnd len="sm" w="sm" type="triangle"/>
          </a:ln>
        </p:spPr>
      </p:cxnSp>
      <p:sp>
        <p:nvSpPr>
          <p:cNvPr id="318" name="Google Shape;318;p53"/>
          <p:cNvSpPr/>
          <p:nvPr/>
        </p:nvSpPr>
        <p:spPr>
          <a:xfrm>
            <a:off x="2919075" y="3390850"/>
            <a:ext cx="1182300" cy="4482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100">
                <a:solidFill>
                  <a:schemeClr val="lt1"/>
                </a:solidFill>
                <a:latin typeface="Source Code Pro"/>
                <a:ea typeface="Source Code Pro"/>
                <a:cs typeface="Source Code Pro"/>
                <a:sym typeface="Source Code Pro"/>
              </a:rPr>
              <a:t>Functional Prototype</a:t>
            </a:r>
            <a:endParaRPr b="1" sz="1100">
              <a:solidFill>
                <a:schemeClr val="lt1"/>
              </a:solidFill>
              <a:latin typeface="Source Code Pro"/>
              <a:ea typeface="Source Code Pro"/>
              <a:cs typeface="Source Code Pro"/>
              <a:sym typeface="Source Code Pro"/>
            </a:endParaRPr>
          </a:p>
        </p:txBody>
      </p:sp>
      <p:sp>
        <p:nvSpPr>
          <p:cNvPr id="322" name="Google Shape;322;p53"/>
          <p:cNvSpPr/>
          <p:nvPr/>
        </p:nvSpPr>
        <p:spPr>
          <a:xfrm>
            <a:off x="5116725" y="3390850"/>
            <a:ext cx="1182300" cy="4482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100">
                <a:solidFill>
                  <a:schemeClr val="lt1"/>
                </a:solidFill>
                <a:latin typeface="Source Code Pro"/>
                <a:ea typeface="Source Code Pro"/>
                <a:cs typeface="Source Code Pro"/>
                <a:sym typeface="Source Code Pro"/>
              </a:rPr>
              <a:t>Mockup</a:t>
            </a:r>
            <a:endParaRPr b="1" sz="1100">
              <a:solidFill>
                <a:schemeClr val="lt1"/>
              </a:solidFill>
              <a:latin typeface="Source Code Pro"/>
              <a:ea typeface="Source Code Pro"/>
              <a:cs typeface="Source Code Pro"/>
              <a:sym typeface="Source Code Pro"/>
            </a:endParaRPr>
          </a:p>
        </p:txBody>
      </p:sp>
      <p:sp>
        <p:nvSpPr>
          <p:cNvPr id="328" name="Google Shape;328;p53"/>
          <p:cNvSpPr/>
          <p:nvPr/>
        </p:nvSpPr>
        <p:spPr>
          <a:xfrm>
            <a:off x="7314375" y="3390850"/>
            <a:ext cx="1182300" cy="4482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100">
                <a:solidFill>
                  <a:schemeClr val="lt1"/>
                </a:solidFill>
                <a:latin typeface="Source Code Pro"/>
                <a:ea typeface="Source Code Pro"/>
                <a:cs typeface="Source Code Pro"/>
                <a:sym typeface="Source Code Pro"/>
              </a:rPr>
              <a:t>Wireframe</a:t>
            </a:r>
            <a:endParaRPr b="1" sz="1100">
              <a:solidFill>
                <a:schemeClr val="lt1"/>
              </a:solidFill>
              <a:latin typeface="Source Code Pro"/>
              <a:ea typeface="Source Code Pro"/>
              <a:cs typeface="Source Code Pro"/>
              <a:sym typeface="Source Code Pro"/>
            </a:endParaRPr>
          </a:p>
        </p:txBody>
      </p:sp>
      <p:sp>
        <p:nvSpPr>
          <p:cNvPr id="329" name="Google Shape;329;p53"/>
          <p:cNvSpPr txBox="1"/>
          <p:nvPr/>
        </p:nvSpPr>
        <p:spPr>
          <a:xfrm>
            <a:off x="2154825" y="1674650"/>
            <a:ext cx="459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highlight>
                  <a:schemeClr val="accent5"/>
                </a:highlight>
                <a:latin typeface="Source Code Pro"/>
                <a:ea typeface="Source Code Pro"/>
                <a:cs typeface="Source Code Pro"/>
                <a:sym typeface="Source Code Pro"/>
              </a:rPr>
              <a:t>NO</a:t>
            </a:r>
            <a:endParaRPr b="1">
              <a:highlight>
                <a:schemeClr val="accent5"/>
              </a:highlight>
              <a:latin typeface="Source Code Pro"/>
              <a:ea typeface="Source Code Pro"/>
              <a:cs typeface="Source Code Pro"/>
              <a:sym typeface="Source Code Pro"/>
            </a:endParaRPr>
          </a:p>
        </p:txBody>
      </p:sp>
      <p:sp>
        <p:nvSpPr>
          <p:cNvPr id="330" name="Google Shape;330;p53"/>
          <p:cNvSpPr txBox="1"/>
          <p:nvPr/>
        </p:nvSpPr>
        <p:spPr>
          <a:xfrm>
            <a:off x="4442025" y="1674650"/>
            <a:ext cx="459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highlight>
                  <a:schemeClr val="accent5"/>
                </a:highlight>
                <a:latin typeface="Source Code Pro"/>
                <a:ea typeface="Source Code Pro"/>
                <a:cs typeface="Source Code Pro"/>
                <a:sym typeface="Source Code Pro"/>
              </a:rPr>
              <a:t>NO</a:t>
            </a:r>
            <a:endParaRPr b="1">
              <a:highlight>
                <a:schemeClr val="accent5"/>
              </a:highlight>
              <a:latin typeface="Source Code Pro"/>
              <a:ea typeface="Source Code Pro"/>
              <a:cs typeface="Source Code Pro"/>
              <a:sym typeface="Source Code Pro"/>
            </a:endParaRPr>
          </a:p>
        </p:txBody>
      </p:sp>
      <p:sp>
        <p:nvSpPr>
          <p:cNvPr id="331" name="Google Shape;331;p53"/>
          <p:cNvSpPr txBox="1"/>
          <p:nvPr/>
        </p:nvSpPr>
        <p:spPr>
          <a:xfrm>
            <a:off x="6513825" y="1674950"/>
            <a:ext cx="459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highlight>
                  <a:schemeClr val="accent5"/>
                </a:highlight>
                <a:latin typeface="Source Code Pro"/>
                <a:ea typeface="Source Code Pro"/>
                <a:cs typeface="Source Code Pro"/>
                <a:sym typeface="Source Code Pro"/>
              </a:rPr>
              <a:t>NO</a:t>
            </a:r>
            <a:endParaRPr b="1">
              <a:highlight>
                <a:schemeClr val="accent5"/>
              </a:highlight>
              <a:latin typeface="Source Code Pro"/>
              <a:ea typeface="Source Code Pro"/>
              <a:cs typeface="Source Code Pro"/>
              <a:sym typeface="Source Code Pro"/>
            </a:endParaRPr>
          </a:p>
        </p:txBody>
      </p:sp>
      <p:sp>
        <p:nvSpPr>
          <p:cNvPr id="332" name="Google Shape;332;p53"/>
          <p:cNvSpPr txBox="1"/>
          <p:nvPr/>
        </p:nvSpPr>
        <p:spPr>
          <a:xfrm>
            <a:off x="1012125" y="2591700"/>
            <a:ext cx="599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highlight>
                  <a:schemeClr val="dk1"/>
                </a:highlight>
                <a:latin typeface="Source Code Pro"/>
                <a:ea typeface="Source Code Pro"/>
                <a:cs typeface="Source Code Pro"/>
                <a:sym typeface="Source Code Pro"/>
              </a:rPr>
              <a:t>YES</a:t>
            </a:r>
            <a:endParaRPr b="1">
              <a:highlight>
                <a:schemeClr val="dk1"/>
              </a:highlight>
              <a:latin typeface="Source Code Pro"/>
              <a:ea typeface="Source Code Pro"/>
              <a:cs typeface="Source Code Pro"/>
              <a:sym typeface="Source Code Pro"/>
            </a:endParaRPr>
          </a:p>
        </p:txBody>
      </p:sp>
      <p:sp>
        <p:nvSpPr>
          <p:cNvPr id="333" name="Google Shape;333;p53"/>
          <p:cNvSpPr txBox="1"/>
          <p:nvPr/>
        </p:nvSpPr>
        <p:spPr>
          <a:xfrm>
            <a:off x="3210375" y="2591700"/>
            <a:ext cx="599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highlight>
                  <a:schemeClr val="dk1"/>
                </a:highlight>
                <a:latin typeface="Source Code Pro"/>
                <a:ea typeface="Source Code Pro"/>
                <a:cs typeface="Source Code Pro"/>
                <a:sym typeface="Source Code Pro"/>
              </a:rPr>
              <a:t>YES</a:t>
            </a:r>
            <a:endParaRPr b="1">
              <a:highlight>
                <a:schemeClr val="dk1"/>
              </a:highlight>
              <a:latin typeface="Source Code Pro"/>
              <a:ea typeface="Source Code Pro"/>
              <a:cs typeface="Source Code Pro"/>
              <a:sym typeface="Source Code Pro"/>
            </a:endParaRPr>
          </a:p>
        </p:txBody>
      </p:sp>
      <p:sp>
        <p:nvSpPr>
          <p:cNvPr id="334" name="Google Shape;334;p53"/>
          <p:cNvSpPr txBox="1"/>
          <p:nvPr/>
        </p:nvSpPr>
        <p:spPr>
          <a:xfrm>
            <a:off x="5408025" y="2591700"/>
            <a:ext cx="599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highlight>
                  <a:schemeClr val="dk1"/>
                </a:highlight>
                <a:latin typeface="Source Code Pro"/>
                <a:ea typeface="Source Code Pro"/>
                <a:cs typeface="Source Code Pro"/>
                <a:sym typeface="Source Code Pro"/>
              </a:rPr>
              <a:t>YES</a:t>
            </a:r>
            <a:endParaRPr b="1">
              <a:highlight>
                <a:schemeClr val="dk1"/>
              </a:highlight>
              <a:latin typeface="Source Code Pro"/>
              <a:ea typeface="Source Code Pro"/>
              <a:cs typeface="Source Code Pro"/>
              <a:sym typeface="Source Code Pr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From wireframe to mockups to prototypes</a:t>
            </a:r>
            <a:endParaRPr/>
          </a:p>
        </p:txBody>
      </p:sp>
      <p:sp>
        <p:nvSpPr>
          <p:cNvPr id="340" name="Google Shape;340;p54"/>
          <p:cNvSpPr txBox="1"/>
          <p:nvPr/>
        </p:nvSpPr>
        <p:spPr>
          <a:xfrm>
            <a:off x="3456450" y="1052425"/>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Lo-fi wireframe</a:t>
            </a:r>
            <a:endParaRPr sz="1000">
              <a:solidFill>
                <a:srgbClr val="701C7F"/>
              </a:solidFill>
              <a:latin typeface="Source Code Pro"/>
              <a:ea typeface="Source Code Pro"/>
              <a:cs typeface="Source Code Pro"/>
              <a:sym typeface="Source Code Pro"/>
            </a:endParaRPr>
          </a:p>
        </p:txBody>
      </p:sp>
      <p:sp>
        <p:nvSpPr>
          <p:cNvPr id="341" name="Google Shape;341;p54"/>
          <p:cNvSpPr txBox="1"/>
          <p:nvPr/>
        </p:nvSpPr>
        <p:spPr>
          <a:xfrm>
            <a:off x="2314050" y="1676725"/>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Paper prototype</a:t>
            </a:r>
            <a:endParaRPr sz="1000">
              <a:solidFill>
                <a:srgbClr val="701C7F"/>
              </a:solidFill>
              <a:latin typeface="Source Code Pro"/>
              <a:ea typeface="Source Code Pro"/>
              <a:cs typeface="Source Code Pro"/>
              <a:sym typeface="Source Code Pro"/>
            </a:endParaRPr>
          </a:p>
        </p:txBody>
      </p:sp>
      <p:sp>
        <p:nvSpPr>
          <p:cNvPr id="342" name="Google Shape;342;p54"/>
          <p:cNvSpPr txBox="1"/>
          <p:nvPr/>
        </p:nvSpPr>
        <p:spPr>
          <a:xfrm>
            <a:off x="4707125" y="1889688"/>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Hi-fi wireframe</a:t>
            </a:r>
            <a:endParaRPr sz="1000">
              <a:solidFill>
                <a:srgbClr val="701C7F"/>
              </a:solidFill>
              <a:latin typeface="Source Code Pro"/>
              <a:ea typeface="Source Code Pro"/>
              <a:cs typeface="Source Code Pro"/>
              <a:sym typeface="Source Code Pro"/>
            </a:endParaRPr>
          </a:p>
        </p:txBody>
      </p:sp>
      <p:sp>
        <p:nvSpPr>
          <p:cNvPr id="343" name="Google Shape;343;p54"/>
          <p:cNvSpPr txBox="1"/>
          <p:nvPr/>
        </p:nvSpPr>
        <p:spPr>
          <a:xfrm>
            <a:off x="6039938" y="2804088"/>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Mockup</a:t>
            </a:r>
            <a:endParaRPr sz="1000">
              <a:solidFill>
                <a:srgbClr val="701C7F"/>
              </a:solidFill>
              <a:latin typeface="Source Code Pro"/>
              <a:ea typeface="Source Code Pro"/>
              <a:cs typeface="Source Code Pro"/>
              <a:sym typeface="Source Code Pro"/>
            </a:endParaRPr>
          </a:p>
        </p:txBody>
      </p:sp>
      <p:sp>
        <p:nvSpPr>
          <p:cNvPr id="344" name="Google Shape;344;p54"/>
          <p:cNvSpPr txBox="1"/>
          <p:nvPr/>
        </p:nvSpPr>
        <p:spPr>
          <a:xfrm>
            <a:off x="665950" y="1180372"/>
            <a:ext cx="11253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rgbClr val="701C7F"/>
                </a:solidFill>
                <a:latin typeface="Source Code Pro"/>
                <a:ea typeface="Source Code Pro"/>
                <a:cs typeface="Source Code Pro"/>
                <a:sym typeface="Source Code Pro"/>
              </a:rPr>
              <a:t>early design</a:t>
            </a:r>
            <a:endParaRPr b="1" sz="1000">
              <a:solidFill>
                <a:srgbClr val="701C7F"/>
              </a:solidFill>
              <a:latin typeface="Source Code Pro"/>
              <a:ea typeface="Source Code Pro"/>
              <a:cs typeface="Source Code Pro"/>
              <a:sym typeface="Source Code Pro"/>
            </a:endParaRPr>
          </a:p>
        </p:txBody>
      </p:sp>
      <p:sp>
        <p:nvSpPr>
          <p:cNvPr id="345" name="Google Shape;345;p54"/>
          <p:cNvSpPr txBox="1"/>
          <p:nvPr/>
        </p:nvSpPr>
        <p:spPr>
          <a:xfrm>
            <a:off x="3697313" y="2511888"/>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Mid-fi prototype</a:t>
            </a:r>
            <a:endParaRPr sz="1000">
              <a:solidFill>
                <a:srgbClr val="701C7F"/>
              </a:solidFill>
              <a:latin typeface="Source Code Pro"/>
              <a:ea typeface="Source Code Pro"/>
              <a:cs typeface="Source Code Pro"/>
              <a:sym typeface="Source Code Pro"/>
            </a:endParaRPr>
          </a:p>
        </p:txBody>
      </p:sp>
      <p:cxnSp>
        <p:nvCxnSpPr>
          <p:cNvPr id="346" name="Google Shape;346;p54"/>
          <p:cNvCxnSpPr>
            <a:stCxn id="340" idx="1"/>
            <a:endCxn id="341" idx="0"/>
          </p:cNvCxnSpPr>
          <p:nvPr/>
        </p:nvCxnSpPr>
        <p:spPr>
          <a:xfrm flipH="1">
            <a:off x="3083250" y="1344625"/>
            <a:ext cx="373200" cy="332100"/>
          </a:xfrm>
          <a:prstGeom prst="curvedConnector2">
            <a:avLst/>
          </a:prstGeom>
          <a:noFill/>
          <a:ln cap="flat" cmpd="sng" w="9525">
            <a:solidFill>
              <a:schemeClr val="dk2"/>
            </a:solidFill>
            <a:prstDash val="solid"/>
            <a:round/>
            <a:headEnd len="med" w="med" type="none"/>
            <a:tailEnd len="med" w="med" type="triangle"/>
          </a:ln>
        </p:spPr>
      </p:cxnSp>
      <p:cxnSp>
        <p:nvCxnSpPr>
          <p:cNvPr id="347" name="Google Shape;347;p54"/>
          <p:cNvCxnSpPr>
            <a:stCxn id="341" idx="3"/>
            <a:endCxn id="340" idx="2"/>
          </p:cNvCxnSpPr>
          <p:nvPr/>
        </p:nvCxnSpPr>
        <p:spPr>
          <a:xfrm flipH="1" rot="10800000">
            <a:off x="3852150" y="1636825"/>
            <a:ext cx="373500" cy="332100"/>
          </a:xfrm>
          <a:prstGeom prst="curvedConnector2">
            <a:avLst/>
          </a:prstGeom>
          <a:noFill/>
          <a:ln cap="flat" cmpd="sng" w="9525">
            <a:solidFill>
              <a:schemeClr val="dk2"/>
            </a:solidFill>
            <a:prstDash val="solid"/>
            <a:round/>
            <a:headEnd len="med" w="med" type="none"/>
            <a:tailEnd len="med" w="med" type="triangle"/>
          </a:ln>
        </p:spPr>
      </p:cxnSp>
      <p:cxnSp>
        <p:nvCxnSpPr>
          <p:cNvPr id="348" name="Google Shape;348;p54"/>
          <p:cNvCxnSpPr>
            <a:stCxn id="340" idx="3"/>
            <a:endCxn id="342" idx="0"/>
          </p:cNvCxnSpPr>
          <p:nvPr/>
        </p:nvCxnSpPr>
        <p:spPr>
          <a:xfrm>
            <a:off x="4994550" y="1344625"/>
            <a:ext cx="481500" cy="545100"/>
          </a:xfrm>
          <a:prstGeom prst="curvedConnector2">
            <a:avLst/>
          </a:prstGeom>
          <a:noFill/>
          <a:ln cap="flat" cmpd="sng" w="19050">
            <a:solidFill>
              <a:schemeClr val="dk2"/>
            </a:solidFill>
            <a:prstDash val="solid"/>
            <a:round/>
            <a:headEnd len="med" w="med" type="none"/>
            <a:tailEnd len="med" w="med" type="triangle"/>
          </a:ln>
        </p:spPr>
      </p:cxnSp>
      <p:cxnSp>
        <p:nvCxnSpPr>
          <p:cNvPr id="349" name="Google Shape;349;p54"/>
          <p:cNvCxnSpPr>
            <a:stCxn id="342" idx="1"/>
            <a:endCxn id="345" idx="0"/>
          </p:cNvCxnSpPr>
          <p:nvPr/>
        </p:nvCxnSpPr>
        <p:spPr>
          <a:xfrm flipH="1">
            <a:off x="4466225" y="2181888"/>
            <a:ext cx="240900" cy="330000"/>
          </a:xfrm>
          <a:prstGeom prst="curvedConnector2">
            <a:avLst/>
          </a:prstGeom>
          <a:noFill/>
          <a:ln cap="flat" cmpd="sng" w="9525">
            <a:solidFill>
              <a:schemeClr val="dk2"/>
            </a:solidFill>
            <a:prstDash val="solid"/>
            <a:round/>
            <a:headEnd len="med" w="med" type="none"/>
            <a:tailEnd len="med" w="med" type="triangle"/>
          </a:ln>
        </p:spPr>
      </p:cxnSp>
      <p:cxnSp>
        <p:nvCxnSpPr>
          <p:cNvPr id="350" name="Google Shape;350;p54"/>
          <p:cNvCxnSpPr>
            <a:stCxn id="345" idx="3"/>
            <a:endCxn id="342" idx="2"/>
          </p:cNvCxnSpPr>
          <p:nvPr/>
        </p:nvCxnSpPr>
        <p:spPr>
          <a:xfrm flipH="1" rot="10800000">
            <a:off x="5235413" y="2474088"/>
            <a:ext cx="240900" cy="330000"/>
          </a:xfrm>
          <a:prstGeom prst="curvedConnector2">
            <a:avLst/>
          </a:prstGeom>
          <a:noFill/>
          <a:ln cap="flat" cmpd="sng" w="9525">
            <a:solidFill>
              <a:schemeClr val="dk2"/>
            </a:solidFill>
            <a:prstDash val="solid"/>
            <a:round/>
            <a:headEnd len="med" w="med" type="none"/>
            <a:tailEnd len="med" w="med" type="triangle"/>
          </a:ln>
        </p:spPr>
      </p:cxnSp>
      <p:cxnSp>
        <p:nvCxnSpPr>
          <p:cNvPr id="351" name="Google Shape;351;p54"/>
          <p:cNvCxnSpPr/>
          <p:nvPr/>
        </p:nvCxnSpPr>
        <p:spPr>
          <a:xfrm>
            <a:off x="1940775" y="1180375"/>
            <a:ext cx="0" cy="3627000"/>
          </a:xfrm>
          <a:prstGeom prst="straightConnector1">
            <a:avLst/>
          </a:prstGeom>
          <a:noFill/>
          <a:ln cap="flat" cmpd="sng" w="28575">
            <a:solidFill>
              <a:schemeClr val="accent4"/>
            </a:solidFill>
            <a:prstDash val="solid"/>
            <a:round/>
            <a:headEnd len="med" w="med" type="triangle"/>
            <a:tailEnd len="med" w="med" type="triangle"/>
          </a:ln>
        </p:spPr>
      </p:cxnSp>
      <p:sp>
        <p:nvSpPr>
          <p:cNvPr id="352" name="Google Shape;352;p54"/>
          <p:cNvSpPr txBox="1"/>
          <p:nvPr/>
        </p:nvSpPr>
        <p:spPr>
          <a:xfrm>
            <a:off x="675250" y="4222971"/>
            <a:ext cx="11067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rgbClr val="701C7F"/>
                </a:solidFill>
                <a:latin typeface="Source Code Pro"/>
                <a:ea typeface="Source Code Pro"/>
                <a:cs typeface="Source Code Pro"/>
                <a:sym typeface="Source Code Pro"/>
              </a:rPr>
              <a:t>late </a:t>
            </a:r>
            <a:r>
              <a:rPr b="1" lang="it" sz="1000">
                <a:solidFill>
                  <a:srgbClr val="701C7F"/>
                </a:solidFill>
                <a:latin typeface="Source Code Pro"/>
                <a:ea typeface="Source Code Pro"/>
                <a:cs typeface="Source Code Pro"/>
                <a:sym typeface="Source Code Pro"/>
              </a:rPr>
              <a:t>design</a:t>
            </a:r>
            <a:endParaRPr b="1" sz="1000">
              <a:solidFill>
                <a:srgbClr val="701C7F"/>
              </a:solidFill>
              <a:latin typeface="Source Code Pro"/>
              <a:ea typeface="Source Code Pro"/>
              <a:cs typeface="Source Code Pro"/>
              <a:sym typeface="Source Code Pro"/>
            </a:endParaRPr>
          </a:p>
        </p:txBody>
      </p:sp>
      <p:cxnSp>
        <p:nvCxnSpPr>
          <p:cNvPr id="353" name="Google Shape;353;p54"/>
          <p:cNvCxnSpPr>
            <a:stCxn id="342" idx="3"/>
            <a:endCxn id="343" idx="0"/>
          </p:cNvCxnSpPr>
          <p:nvPr/>
        </p:nvCxnSpPr>
        <p:spPr>
          <a:xfrm>
            <a:off x="6245225" y="2181888"/>
            <a:ext cx="563700" cy="622200"/>
          </a:xfrm>
          <a:prstGeom prst="curvedConnector2">
            <a:avLst/>
          </a:prstGeom>
          <a:noFill/>
          <a:ln cap="flat" cmpd="sng" w="19050">
            <a:solidFill>
              <a:schemeClr val="dk2"/>
            </a:solidFill>
            <a:prstDash val="solid"/>
            <a:round/>
            <a:headEnd len="med" w="med" type="none"/>
            <a:tailEnd len="med" w="med" type="triangle"/>
          </a:ln>
        </p:spPr>
      </p:cxnSp>
      <p:sp>
        <p:nvSpPr>
          <p:cNvPr id="354" name="Google Shape;354;p54"/>
          <p:cNvSpPr txBox="1"/>
          <p:nvPr/>
        </p:nvSpPr>
        <p:spPr>
          <a:xfrm>
            <a:off x="4707113" y="3628713"/>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Hi-fidelity prototype</a:t>
            </a:r>
            <a:endParaRPr sz="1000">
              <a:solidFill>
                <a:srgbClr val="701C7F"/>
              </a:solidFill>
              <a:latin typeface="Source Code Pro"/>
              <a:ea typeface="Source Code Pro"/>
              <a:cs typeface="Source Code Pro"/>
              <a:sym typeface="Source Code Pro"/>
            </a:endParaRPr>
          </a:p>
        </p:txBody>
      </p:sp>
      <p:cxnSp>
        <p:nvCxnSpPr>
          <p:cNvPr id="355" name="Google Shape;355;p54"/>
          <p:cNvCxnSpPr>
            <a:stCxn id="343" idx="1"/>
            <a:endCxn id="354" idx="0"/>
          </p:cNvCxnSpPr>
          <p:nvPr/>
        </p:nvCxnSpPr>
        <p:spPr>
          <a:xfrm flipH="1">
            <a:off x="5476238" y="3096288"/>
            <a:ext cx="563700" cy="532500"/>
          </a:xfrm>
          <a:prstGeom prst="curvedConnector2">
            <a:avLst/>
          </a:prstGeom>
          <a:noFill/>
          <a:ln cap="flat" cmpd="sng" w="9525">
            <a:solidFill>
              <a:schemeClr val="dk2"/>
            </a:solidFill>
            <a:prstDash val="solid"/>
            <a:round/>
            <a:headEnd len="med" w="med" type="none"/>
            <a:tailEnd len="med" w="med" type="triangle"/>
          </a:ln>
        </p:spPr>
      </p:cxnSp>
      <p:cxnSp>
        <p:nvCxnSpPr>
          <p:cNvPr id="356" name="Google Shape;356;p54"/>
          <p:cNvCxnSpPr>
            <a:stCxn id="354" idx="3"/>
            <a:endCxn id="343" idx="2"/>
          </p:cNvCxnSpPr>
          <p:nvPr/>
        </p:nvCxnSpPr>
        <p:spPr>
          <a:xfrm flipH="1" rot="10800000">
            <a:off x="6245213" y="3388413"/>
            <a:ext cx="563700" cy="532500"/>
          </a:xfrm>
          <a:prstGeom prst="curvedConnector2">
            <a:avLst/>
          </a:prstGeom>
          <a:noFill/>
          <a:ln cap="flat" cmpd="sng" w="9525">
            <a:solidFill>
              <a:schemeClr val="dk2"/>
            </a:solidFill>
            <a:prstDash val="solid"/>
            <a:round/>
            <a:headEnd len="med" w="med" type="none"/>
            <a:tailEnd len="med" w="med" type="triangle"/>
          </a:ln>
        </p:spPr>
      </p:cxnSp>
      <p:sp>
        <p:nvSpPr>
          <p:cNvPr id="357" name="Google Shape;357;p54"/>
          <p:cNvSpPr txBox="1"/>
          <p:nvPr/>
        </p:nvSpPr>
        <p:spPr>
          <a:xfrm>
            <a:off x="3456438" y="4375238"/>
            <a:ext cx="1538100" cy="58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rgbClr val="701C7F"/>
                </a:solidFill>
                <a:latin typeface="Source Code Pro"/>
                <a:ea typeface="Source Code Pro"/>
                <a:cs typeface="Source Code Pro"/>
                <a:sym typeface="Source Code Pro"/>
              </a:rPr>
              <a:t>Working System</a:t>
            </a:r>
            <a:endParaRPr sz="1000">
              <a:solidFill>
                <a:srgbClr val="701C7F"/>
              </a:solidFill>
              <a:latin typeface="Source Code Pro"/>
              <a:ea typeface="Source Code Pro"/>
              <a:cs typeface="Source Code Pro"/>
              <a:sym typeface="Source Code Pro"/>
            </a:endParaRPr>
          </a:p>
        </p:txBody>
      </p:sp>
      <p:cxnSp>
        <p:nvCxnSpPr>
          <p:cNvPr id="358" name="Google Shape;358;p54"/>
          <p:cNvCxnSpPr>
            <a:stCxn id="354" idx="1"/>
            <a:endCxn id="357" idx="0"/>
          </p:cNvCxnSpPr>
          <p:nvPr/>
        </p:nvCxnSpPr>
        <p:spPr>
          <a:xfrm flipH="1">
            <a:off x="4225613" y="3920913"/>
            <a:ext cx="481500" cy="454200"/>
          </a:xfrm>
          <a:prstGeom prst="curved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Prototyping tools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graphicFrame>
        <p:nvGraphicFramePr>
          <p:cNvPr id="368" name="Google Shape;368;p56"/>
          <p:cNvGraphicFramePr/>
          <p:nvPr/>
        </p:nvGraphicFramePr>
        <p:xfrm>
          <a:off x="311700" y="236813"/>
          <a:ext cx="3000000" cy="3000000"/>
        </p:xfrm>
        <a:graphic>
          <a:graphicData uri="http://schemas.openxmlformats.org/drawingml/2006/table">
            <a:tbl>
              <a:tblPr>
                <a:noFill/>
                <a:tableStyleId>{392D2E23-89B9-4AE5-8394-3B59DBC73BC2}</a:tableStyleId>
              </a:tblPr>
              <a:tblGrid>
                <a:gridCol w="2130150"/>
                <a:gridCol w="2130150"/>
                <a:gridCol w="2130150"/>
                <a:gridCol w="2130150"/>
              </a:tblGrid>
              <a:tr h="381000">
                <a:tc>
                  <a:txBody>
                    <a:bodyPr/>
                    <a:lstStyle/>
                    <a:p>
                      <a:pPr indent="0" lvl="0" marL="0" rtl="0" algn="ctr">
                        <a:lnSpc>
                          <a:spcPct val="171429"/>
                        </a:lnSpc>
                        <a:spcBef>
                          <a:spcPts val="0"/>
                        </a:spcBef>
                        <a:spcAft>
                          <a:spcPts val="1900"/>
                        </a:spcAft>
                        <a:buNone/>
                      </a:pPr>
                      <a:r>
                        <a:rPr b="1" lang="it" sz="850">
                          <a:solidFill>
                            <a:srgbClr val="374151"/>
                          </a:solidFill>
                          <a:latin typeface="Source Code Pro"/>
                          <a:ea typeface="Source Code Pro"/>
                          <a:cs typeface="Source Code Pro"/>
                          <a:sym typeface="Source Code Pro"/>
                        </a:rPr>
                        <a:t>Tool</a:t>
                      </a:r>
                      <a:endParaRPr b="1" sz="850">
                        <a:solidFill>
                          <a:srgbClr val="374151"/>
                        </a:solidFill>
                        <a:latin typeface="Source Code Pro"/>
                        <a:ea typeface="Source Code Pro"/>
                        <a:cs typeface="Source Code Pro"/>
                        <a:sym typeface="Source Code Pro"/>
                      </a:endParaRPr>
                    </a:p>
                  </a:txBody>
                  <a:tcPr marT="91425" marB="91425" marR="91425" marL="91425" anchor="b">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ctr">
                        <a:lnSpc>
                          <a:spcPct val="171429"/>
                        </a:lnSpc>
                        <a:spcBef>
                          <a:spcPts val="0"/>
                        </a:spcBef>
                        <a:spcAft>
                          <a:spcPts val="1900"/>
                        </a:spcAft>
                        <a:buNone/>
                      </a:pPr>
                      <a:r>
                        <a:rPr b="1" lang="it" sz="850">
                          <a:solidFill>
                            <a:srgbClr val="374151"/>
                          </a:solidFill>
                          <a:latin typeface="Source Code Pro"/>
                          <a:ea typeface="Source Code Pro"/>
                          <a:cs typeface="Source Code Pro"/>
                          <a:sym typeface="Source Code Pro"/>
                        </a:rPr>
                        <a:t>Main Features</a:t>
                      </a:r>
                      <a:endParaRPr b="1" sz="850">
                        <a:solidFill>
                          <a:srgbClr val="374151"/>
                        </a:solidFill>
                        <a:latin typeface="Source Code Pro"/>
                        <a:ea typeface="Source Code Pro"/>
                        <a:cs typeface="Source Code Pro"/>
                        <a:sym typeface="Source Code Pro"/>
                      </a:endParaRPr>
                    </a:p>
                  </a:txBody>
                  <a:tcPr marT="91425" marB="91425" marR="91425" marL="91425" anchor="b">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ctr">
                        <a:lnSpc>
                          <a:spcPct val="171429"/>
                        </a:lnSpc>
                        <a:spcBef>
                          <a:spcPts val="0"/>
                        </a:spcBef>
                        <a:spcAft>
                          <a:spcPts val="1900"/>
                        </a:spcAft>
                        <a:buNone/>
                      </a:pPr>
                      <a:r>
                        <a:rPr b="1" lang="it" sz="850">
                          <a:solidFill>
                            <a:srgbClr val="374151"/>
                          </a:solidFill>
                          <a:latin typeface="Source Code Pro"/>
                          <a:ea typeface="Source Code Pro"/>
                          <a:cs typeface="Source Code Pro"/>
                          <a:sym typeface="Source Code Pro"/>
                        </a:rPr>
                        <a:t>Platforms</a:t>
                      </a:r>
                      <a:endParaRPr b="1" sz="850">
                        <a:solidFill>
                          <a:srgbClr val="374151"/>
                        </a:solidFill>
                        <a:latin typeface="Source Code Pro"/>
                        <a:ea typeface="Source Code Pro"/>
                        <a:cs typeface="Source Code Pro"/>
                        <a:sym typeface="Source Code Pro"/>
                      </a:endParaRPr>
                    </a:p>
                  </a:txBody>
                  <a:tcPr marT="91425" marB="91425" marR="91425" marL="91425" anchor="b">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ctr">
                        <a:lnSpc>
                          <a:spcPct val="171429"/>
                        </a:lnSpc>
                        <a:spcBef>
                          <a:spcPts val="0"/>
                        </a:spcBef>
                        <a:spcAft>
                          <a:spcPts val="1900"/>
                        </a:spcAft>
                        <a:buNone/>
                      </a:pPr>
                      <a:r>
                        <a:rPr b="1" lang="it" sz="850">
                          <a:solidFill>
                            <a:srgbClr val="374151"/>
                          </a:solidFill>
                          <a:latin typeface="Source Code Pro"/>
                          <a:ea typeface="Source Code Pro"/>
                          <a:cs typeface="Source Code Pro"/>
                          <a:sym typeface="Source Code Pro"/>
                        </a:rPr>
                        <a:t>Price</a:t>
                      </a:r>
                      <a:endParaRPr b="1" sz="850">
                        <a:solidFill>
                          <a:srgbClr val="374151"/>
                        </a:solidFill>
                        <a:latin typeface="Source Code Pro"/>
                        <a:ea typeface="Source Code Pro"/>
                        <a:cs typeface="Source Code Pro"/>
                        <a:sym typeface="Source Code Pro"/>
                      </a:endParaRPr>
                    </a:p>
                  </a:txBody>
                  <a:tcPr marT="91425" marB="91425" marR="91425" marL="91425" anchor="b">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r>
              <a:tr h="1072225">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Figma</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Collaborative design tool, Vector Networks, Auto Layout, Prototyping, Developer Handoff, Version History</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Web-based</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Free for individuals (limited features), 12€/month per editor for Professional plan (free for students!)</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r>
              <a:tr h="824025">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Sketch</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Vector-based design tool, Libraries, Prototyping, Plugins, Handoff</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macOS</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9€/month per editor</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r>
              <a:tr h="1320400">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Adobe XD</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Vector-based design tool, Auto-Animate, Prototyping, Plugins, Developer Handoff, Voice Prototyping, Collaboration</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Windows, macOS</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12</a:t>
                      </a:r>
                      <a:r>
                        <a:rPr lang="it" sz="850">
                          <a:solidFill>
                            <a:srgbClr val="374151"/>
                          </a:solidFill>
                          <a:latin typeface="Source Code Pro"/>
                          <a:ea typeface="Source Code Pro"/>
                          <a:cs typeface="Source Code Pro"/>
                          <a:sym typeface="Source Code Pro"/>
                        </a:rPr>
                        <a:t>.19€/month per editor for Single App plan</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r>
              <a:tr h="1072225">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InVision</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Design System Manager, Prototyping, Collaboration, User Testing, Animations, Inspect</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Web-based</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c>
                  <a:txBody>
                    <a:bodyPr/>
                    <a:lstStyle/>
                    <a:p>
                      <a:pPr indent="0" lvl="0" marL="0" rtl="0" algn="l">
                        <a:lnSpc>
                          <a:spcPct val="171429"/>
                        </a:lnSpc>
                        <a:spcBef>
                          <a:spcPts val="0"/>
                        </a:spcBef>
                        <a:spcAft>
                          <a:spcPts val="1900"/>
                        </a:spcAft>
                        <a:buNone/>
                      </a:pPr>
                      <a:r>
                        <a:rPr lang="it" sz="850">
                          <a:solidFill>
                            <a:srgbClr val="374151"/>
                          </a:solidFill>
                          <a:latin typeface="Source Code Pro"/>
                          <a:ea typeface="Source Code Pro"/>
                          <a:cs typeface="Source Code Pro"/>
                          <a:sym typeface="Source Code Pro"/>
                        </a:rPr>
                        <a:t>Free for individuals </a:t>
                      </a:r>
                      <a:r>
                        <a:rPr lang="it" sz="850">
                          <a:solidFill>
                            <a:srgbClr val="374151"/>
                          </a:solidFill>
                          <a:latin typeface="Source Code Pro"/>
                          <a:ea typeface="Source Code Pro"/>
                          <a:cs typeface="Source Code Pro"/>
                          <a:sym typeface="Source Code Pro"/>
                        </a:rPr>
                        <a:t>(limited features)</a:t>
                      </a:r>
                      <a:r>
                        <a:rPr lang="it" sz="850">
                          <a:solidFill>
                            <a:srgbClr val="374151"/>
                          </a:solidFill>
                          <a:latin typeface="Source Code Pro"/>
                          <a:ea typeface="Source Code Pro"/>
                          <a:cs typeface="Source Code Pro"/>
                          <a:sym typeface="Source Code Pro"/>
                        </a:rPr>
                        <a:t>, $4.95/month per user for Starter plan (for collaborative teams)</a:t>
                      </a:r>
                      <a:endParaRPr sz="850">
                        <a:solidFill>
                          <a:srgbClr val="374151"/>
                        </a:solidFill>
                        <a:latin typeface="Source Code Pro"/>
                        <a:ea typeface="Source Code Pro"/>
                        <a:cs typeface="Source Code Pro"/>
                        <a:sym typeface="Source Code Pro"/>
                      </a:endParaRPr>
                    </a:p>
                  </a:txBody>
                  <a:tcPr marT="91425" marB="91425" marR="91425" marL="91425" anchor="ctr">
                    <a:lnL cap="flat" cmpd="sng" w="6350">
                      <a:solidFill>
                        <a:srgbClr val="D9D9E3"/>
                      </a:solidFill>
                      <a:prstDash val="solid"/>
                      <a:round/>
                      <a:headEnd len="sm" w="sm" type="none"/>
                      <a:tailEnd len="sm" w="sm" type="none"/>
                    </a:lnL>
                    <a:lnR cap="flat" cmpd="sng" w="6350">
                      <a:solidFill>
                        <a:srgbClr val="D9D9E3"/>
                      </a:solidFill>
                      <a:prstDash val="solid"/>
                      <a:round/>
                      <a:headEnd len="sm" w="sm" type="none"/>
                      <a:tailEnd len="sm" w="sm" type="none"/>
                    </a:lnR>
                    <a:lnT cap="flat" cmpd="sng" w="6350">
                      <a:solidFill>
                        <a:srgbClr val="D9D9E3"/>
                      </a:solidFill>
                      <a:prstDash val="solid"/>
                      <a:round/>
                      <a:headEnd len="sm" w="sm" type="none"/>
                      <a:tailEnd len="sm" w="sm" type="none"/>
                    </a:lnT>
                    <a:lnB cap="flat" cmpd="sng" w="6350">
                      <a:solidFill>
                        <a:srgbClr val="D9D9E3"/>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and others: Axure, Marvel, Principle, Flinto, ProtoPie, Proto.io, UX Pin, …</a:t>
            </a:r>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8"/>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Figma</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Introduction - What is Figma?</a:t>
            </a:r>
            <a:endParaRPr/>
          </a:p>
        </p:txBody>
      </p:sp>
      <p:sp>
        <p:nvSpPr>
          <p:cNvPr id="384" name="Google Shape;384;p59"/>
          <p:cNvSpPr txBox="1"/>
          <p:nvPr>
            <p:ph idx="1" type="body"/>
          </p:nvPr>
        </p:nvSpPr>
        <p:spPr>
          <a:xfrm>
            <a:off x="722550" y="1304075"/>
            <a:ext cx="7698900" cy="276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800"/>
              <a:t>Figma is a web app that helps designers build wireframes, mockups, prototypes and so on.</a:t>
            </a:r>
            <a:endParaRPr sz="1800"/>
          </a:p>
          <a:p>
            <a:pPr indent="0" lvl="0" marL="0" rtl="0" algn="l">
              <a:spcBef>
                <a:spcPts val="1200"/>
              </a:spcBef>
              <a:spcAft>
                <a:spcPts val="0"/>
              </a:spcAft>
              <a:buNone/>
            </a:pPr>
            <a:r>
              <a:rPr lang="it" sz="1800"/>
              <a:t>Some advantages:</a:t>
            </a:r>
            <a:endParaRPr sz="1800"/>
          </a:p>
          <a:p>
            <a:pPr indent="-342900" lvl="0" marL="457200" rtl="0" algn="l">
              <a:spcBef>
                <a:spcPts val="1200"/>
              </a:spcBef>
              <a:spcAft>
                <a:spcPts val="0"/>
              </a:spcAft>
              <a:buSzPts val="1800"/>
              <a:buChar char="●"/>
            </a:pPr>
            <a:r>
              <a:rPr lang="it" sz="1800"/>
              <a:t>The professional plan is free for students. </a:t>
            </a:r>
            <a:endParaRPr sz="1800"/>
          </a:p>
          <a:p>
            <a:pPr indent="-342900" lvl="0" marL="457200" rtl="0" algn="l">
              <a:spcBef>
                <a:spcPts val="0"/>
              </a:spcBef>
              <a:spcAft>
                <a:spcPts val="0"/>
              </a:spcAft>
              <a:buSzPts val="1800"/>
              <a:buChar char="●"/>
            </a:pPr>
            <a:r>
              <a:rPr lang="it" sz="1800"/>
              <a:t>Many collaboration features.</a:t>
            </a:r>
            <a:endParaRPr sz="1800"/>
          </a:p>
          <a:p>
            <a:pPr indent="-342900" lvl="0" marL="457200" rtl="0" algn="l">
              <a:spcBef>
                <a:spcPts val="0"/>
              </a:spcBef>
              <a:spcAft>
                <a:spcPts val="0"/>
              </a:spcAft>
              <a:buSzPts val="1800"/>
              <a:buChar char="●"/>
            </a:pPr>
            <a:r>
              <a:rPr lang="it" sz="1800"/>
              <a:t>Plugins and community.</a:t>
            </a:r>
            <a:endParaRPr sz="1800"/>
          </a:p>
        </p:txBody>
      </p:sp>
      <p:sp>
        <p:nvSpPr>
          <p:cNvPr id="385" name="Google Shape;385;p59"/>
          <p:cNvSpPr txBox="1"/>
          <p:nvPr>
            <p:ph idx="1" type="body"/>
          </p:nvPr>
        </p:nvSpPr>
        <p:spPr>
          <a:xfrm>
            <a:off x="637050" y="4451350"/>
            <a:ext cx="7869900" cy="587700"/>
          </a:xfrm>
          <a:prstGeom prst="rect">
            <a:avLst/>
          </a:prstGeom>
        </p:spPr>
        <p:txBody>
          <a:bodyPr anchorCtr="0" anchor="t" bIns="91425" lIns="91425" spcFirstLastPara="1" rIns="91425" wrap="square" tIns="91425">
            <a:normAutofit fontScale="25000" lnSpcReduction="10000"/>
          </a:bodyPr>
          <a:lstStyle/>
          <a:p>
            <a:pPr indent="0" lvl="0" marL="457200" rtl="0" algn="l">
              <a:spcBef>
                <a:spcPts val="0"/>
              </a:spcBef>
              <a:spcAft>
                <a:spcPts val="0"/>
              </a:spcAft>
              <a:buNone/>
            </a:pPr>
            <a:r>
              <a:rPr lang="it" sz="4904" u="sng">
                <a:solidFill>
                  <a:schemeClr val="hlink"/>
                </a:solidFill>
                <a:hlinkClick r:id="rId3"/>
              </a:rPr>
              <a:t>https://help.figma.com/hc/en-us/categories/360002051613-Get-started</a:t>
            </a:r>
            <a:r>
              <a:rPr lang="it" sz="4904" u="sng">
                <a:solidFill>
                  <a:schemeClr val="accent5"/>
                </a:solidFill>
              </a:rPr>
              <a:t> </a:t>
            </a:r>
            <a:endParaRPr sz="4904" u="sng">
              <a:solidFill>
                <a:schemeClr val="accent5"/>
              </a:solidFill>
            </a:endParaRPr>
          </a:p>
          <a:p>
            <a:pPr indent="0" lvl="0" marL="457200" rtl="0" algn="l">
              <a:spcBef>
                <a:spcPts val="1200"/>
              </a:spcBef>
              <a:spcAft>
                <a:spcPts val="1200"/>
              </a:spcAft>
              <a:buNone/>
            </a:pPr>
            <a:r>
              <a:rPr lang="it"/>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Layers on FIgma</a:t>
            </a:r>
            <a:endParaRPr/>
          </a:p>
        </p:txBody>
      </p:sp>
      <p:sp>
        <p:nvSpPr>
          <p:cNvPr id="391" name="Google Shape;391;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Layers work differently on Figma respect Illustrator or other drawing software you may know.</a:t>
            </a:r>
            <a:endParaRPr/>
          </a:p>
          <a:p>
            <a:pPr indent="0" lvl="0" marL="0" rtl="0" algn="l">
              <a:spcBef>
                <a:spcPts val="1200"/>
              </a:spcBef>
              <a:spcAft>
                <a:spcPts val="0"/>
              </a:spcAft>
              <a:buNone/>
            </a:pPr>
            <a:r>
              <a:rPr lang="it"/>
              <a:t>But understanding how to use them is simple: </a:t>
            </a:r>
            <a:endParaRPr/>
          </a:p>
          <a:p>
            <a:pPr indent="-342900" lvl="0" marL="457200" rtl="0" algn="l">
              <a:spcBef>
                <a:spcPts val="1200"/>
              </a:spcBef>
              <a:spcAft>
                <a:spcPts val="0"/>
              </a:spcAft>
              <a:buSzPts val="1800"/>
              <a:buChar char="●"/>
            </a:pPr>
            <a:r>
              <a:rPr lang="it"/>
              <a:t>Every object in the scene is a layer.</a:t>
            </a:r>
            <a:endParaRPr/>
          </a:p>
          <a:p>
            <a:pPr indent="-342900" lvl="0" marL="457200" rtl="0" algn="l">
              <a:spcBef>
                <a:spcPts val="0"/>
              </a:spcBef>
              <a:spcAft>
                <a:spcPts val="0"/>
              </a:spcAft>
              <a:buSzPts val="1800"/>
              <a:buChar char="●"/>
            </a:pPr>
            <a:r>
              <a:rPr lang="it"/>
              <a:t>If you group many objects together they make a layer.</a:t>
            </a:r>
            <a:endParaRPr/>
          </a:p>
          <a:p>
            <a:pPr indent="-342900" lvl="0" marL="457200" rtl="0" algn="l">
              <a:spcBef>
                <a:spcPts val="0"/>
              </a:spcBef>
              <a:spcAft>
                <a:spcPts val="0"/>
              </a:spcAft>
              <a:buSzPts val="1800"/>
              <a:buChar char="●"/>
            </a:pPr>
            <a:r>
              <a:rPr lang="it"/>
              <a:t>If you place them in a frame, the frame itself is a layer with many sub-layers.</a:t>
            </a:r>
            <a:endParaRPr/>
          </a:p>
          <a:p>
            <a:pPr indent="0" lvl="0" marL="0" rtl="0" algn="l">
              <a:spcBef>
                <a:spcPts val="1200"/>
              </a:spcBef>
              <a:spcAft>
                <a:spcPts val="1200"/>
              </a:spcAft>
              <a:buNone/>
            </a:pPr>
            <a:r>
              <a:rPr lang="it"/>
              <a:t>In addition to this you can use pages to better organize your workplace.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1"/>
          <p:cNvSpPr txBox="1"/>
          <p:nvPr>
            <p:ph type="title"/>
          </p:nvPr>
        </p:nvSpPr>
        <p:spPr>
          <a:xfrm>
            <a:off x="490250" y="271050"/>
            <a:ext cx="6541800" cy="1167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it"/>
              <a:t>Some basic but useful shortcuts</a:t>
            </a:r>
            <a:endParaRPr/>
          </a:p>
        </p:txBody>
      </p:sp>
      <p:sp>
        <p:nvSpPr>
          <p:cNvPr id="397" name="Google Shape;397;p61"/>
          <p:cNvSpPr txBox="1"/>
          <p:nvPr>
            <p:ph idx="4294967295" type="body"/>
          </p:nvPr>
        </p:nvSpPr>
        <p:spPr>
          <a:xfrm>
            <a:off x="490250" y="1531775"/>
            <a:ext cx="7698900" cy="2764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solidFill>
                  <a:schemeClr val="lt1"/>
                </a:solidFill>
              </a:rPr>
              <a:t>When moving objects:</a:t>
            </a:r>
            <a:endParaRPr>
              <a:solidFill>
                <a:schemeClr val="lt1"/>
              </a:solidFill>
            </a:endParaRPr>
          </a:p>
          <a:p>
            <a:pPr indent="-334327" lvl="0" marL="457200" rtl="0" algn="l">
              <a:spcBef>
                <a:spcPts val="1200"/>
              </a:spcBef>
              <a:spcAft>
                <a:spcPts val="0"/>
              </a:spcAft>
              <a:buClr>
                <a:schemeClr val="lt1"/>
              </a:buClr>
              <a:buSzPct val="100000"/>
              <a:buChar char="●"/>
            </a:pPr>
            <a:r>
              <a:rPr lang="it">
                <a:solidFill>
                  <a:schemeClr val="lt1"/>
                </a:solidFill>
              </a:rPr>
              <a:t>Shift + mouse move: snap to other objects.</a:t>
            </a:r>
            <a:endParaRPr>
              <a:solidFill>
                <a:schemeClr val="lt1"/>
              </a:solidFill>
            </a:endParaRPr>
          </a:p>
          <a:p>
            <a:pPr indent="-334327" lvl="0" marL="457200" rtl="0" algn="l">
              <a:spcBef>
                <a:spcPts val="0"/>
              </a:spcBef>
              <a:spcAft>
                <a:spcPts val="0"/>
              </a:spcAft>
              <a:buClr>
                <a:schemeClr val="lt1"/>
              </a:buClr>
              <a:buSzPct val="100000"/>
              <a:buChar char="●"/>
            </a:pPr>
            <a:r>
              <a:rPr lang="it">
                <a:solidFill>
                  <a:schemeClr val="lt1"/>
                </a:solidFill>
              </a:rPr>
              <a:t>Alt + mouse move: copy and paste object (on release).</a:t>
            </a:r>
            <a:endParaRPr>
              <a:solidFill>
                <a:schemeClr val="lt1"/>
              </a:solidFill>
            </a:endParaRPr>
          </a:p>
          <a:p>
            <a:pPr indent="-334327" lvl="0" marL="457200" rtl="0" algn="l">
              <a:spcBef>
                <a:spcPts val="0"/>
              </a:spcBef>
              <a:spcAft>
                <a:spcPts val="0"/>
              </a:spcAft>
              <a:buClr>
                <a:schemeClr val="lt1"/>
              </a:buClr>
              <a:buSzPct val="100000"/>
              <a:buChar char="●"/>
            </a:pPr>
            <a:r>
              <a:rPr lang="it">
                <a:solidFill>
                  <a:schemeClr val="lt1"/>
                </a:solidFill>
              </a:rPr>
              <a:t>You can use them together.</a:t>
            </a:r>
            <a:endParaRPr>
              <a:solidFill>
                <a:schemeClr val="lt1"/>
              </a:solidFill>
            </a:endParaRPr>
          </a:p>
          <a:p>
            <a:pPr indent="0" lvl="0" marL="0" rtl="0" algn="l">
              <a:spcBef>
                <a:spcPts val="1200"/>
              </a:spcBef>
              <a:spcAft>
                <a:spcPts val="0"/>
              </a:spcAft>
              <a:buNone/>
            </a:pPr>
            <a:r>
              <a:rPr lang="it">
                <a:solidFill>
                  <a:schemeClr val="lt1"/>
                </a:solidFill>
              </a:rPr>
              <a:t>When resizing objects:</a:t>
            </a:r>
            <a:endParaRPr>
              <a:solidFill>
                <a:schemeClr val="lt1"/>
              </a:solidFill>
            </a:endParaRPr>
          </a:p>
          <a:p>
            <a:pPr indent="-334327" lvl="0" marL="457200" rtl="0" algn="l">
              <a:spcBef>
                <a:spcPts val="1200"/>
              </a:spcBef>
              <a:spcAft>
                <a:spcPts val="0"/>
              </a:spcAft>
              <a:buClr>
                <a:schemeClr val="lt1"/>
              </a:buClr>
              <a:buSzPct val="100000"/>
              <a:buChar char="●"/>
            </a:pPr>
            <a:r>
              <a:rPr lang="it">
                <a:solidFill>
                  <a:schemeClr val="lt1"/>
                </a:solidFill>
              </a:rPr>
              <a:t>Shift + drag borders: resize maintaining aspect ratio.</a:t>
            </a:r>
            <a:endParaRPr>
              <a:solidFill>
                <a:schemeClr val="lt1"/>
              </a:solidFill>
            </a:endParaRPr>
          </a:p>
          <a:p>
            <a:pPr indent="-334327" lvl="0" marL="457200" rtl="0" algn="l">
              <a:spcBef>
                <a:spcPts val="0"/>
              </a:spcBef>
              <a:spcAft>
                <a:spcPts val="0"/>
              </a:spcAft>
              <a:buClr>
                <a:schemeClr val="lt1"/>
              </a:buClr>
              <a:buSzPct val="100000"/>
              <a:buChar char="●"/>
            </a:pPr>
            <a:r>
              <a:rPr lang="it">
                <a:solidFill>
                  <a:schemeClr val="lt1"/>
                </a:solidFill>
              </a:rPr>
              <a:t>Alt + drag borders: resize maintaining center position.</a:t>
            </a:r>
            <a:endParaRPr>
              <a:solidFill>
                <a:schemeClr val="lt1"/>
              </a:solidFill>
            </a:endParaRPr>
          </a:p>
          <a:p>
            <a:pPr indent="-334327" lvl="0" marL="457200" rtl="0" algn="l">
              <a:spcBef>
                <a:spcPts val="0"/>
              </a:spcBef>
              <a:spcAft>
                <a:spcPts val="0"/>
              </a:spcAft>
              <a:buClr>
                <a:schemeClr val="lt1"/>
              </a:buClr>
              <a:buSzPct val="100000"/>
              <a:buChar char="●"/>
            </a:pPr>
            <a:r>
              <a:rPr lang="it">
                <a:solidFill>
                  <a:schemeClr val="lt1"/>
                </a:solidFill>
              </a:rPr>
              <a:t>You can use them together.</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