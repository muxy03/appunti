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9e9f15c3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9e9f15c3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261454ef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261454ef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9756f24d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9756f24d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9e9f15c38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9e9f15c38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9e9f15c38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9e9f15c38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9e9f15c38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9e9f15c38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9e9f15c38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9e9f15c38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9e9f15c38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9e9f15c38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9e9f15c38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9e9f15c38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9e9f15c38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9e9f15c38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9e9f15c38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9e9f15c38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9756f24de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9756f24de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9756f24de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9756f24de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9756f24de6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9756f24de6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9756f24de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9756f24de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9756f24de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9756f24de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9e9f15c38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9e9f15c38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9db3420e1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9db3420e1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9756f24de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9756f24de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9db3420e1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9db3420e1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9e9f15c38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9e9f15c38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9756f24de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9756f24de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14b6a177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14b6a177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14b6a177a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14b6a177a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14b6a177a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14b6a177a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14b6a177a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14b6a177a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14b6a177a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14b6a177a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14b6a177a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14b6a177a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1261454ef3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1261454ef3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261454ef3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1261454ef3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1261454ef3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1261454ef3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1261454ef3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1261454ef3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1261454ef3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1261454ef3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1261454ef3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1261454ef3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1261454ef3_1_58: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02" name="Google Shape;302;g31261454ef3_1_58: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g31261454ef3_1_58: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1261454ef3_1_64: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09" name="Google Shape;309;g31261454ef3_1_64: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g31261454ef3_1_64: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1261454ef3_1_70: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16" name="Google Shape;316;g31261454ef3_1_70: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g31261454ef3_1_70: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1261454ef3_1_76: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23" name="Google Shape;323;g31261454ef3_1_76: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g31261454ef3_1_76: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16b33eedd0_0_0: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30" name="Google Shape;330;g316b33eedd0_0_0: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g316b33eedd0_0_0: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1261454ef3_1_82: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37" name="Google Shape;337;g31261454ef3_1_82: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g31261454ef3_1_82: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1261454ef3_1_205: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44" name="Google Shape;344;g31261454ef3_1_205: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g31261454ef3_1_205: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1261454ef3_1_88: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51" name="Google Shape;351;g31261454ef3_1_88: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g31261454ef3_1_88: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1261454ef3_1_94: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58" name="Google Shape;358;g31261454ef3_1_94: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g31261454ef3_1_94: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1261454ef3_1_100: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65" name="Google Shape;365;g31261454ef3_1_100: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g31261454ef3_1_100: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1261454ef3_1_106: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72" name="Google Shape;372;g31261454ef3_1_106: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g31261454ef3_1_106: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1261454ef3_1_112: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79" name="Google Shape;379;g31261454ef3_1_112: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g31261454ef3_1_112: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1261454ef3_1_118:notes"/>
          <p:cNvSpPr txBox="1"/>
          <p:nvPr/>
        </p:nvSpPr>
        <p:spPr>
          <a:xfrm>
            <a:off x="3884025" y="8684926"/>
            <a:ext cx="2972400" cy="457500"/>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it" sz="1200" u="none" cap="none" strike="noStrike">
                <a:solidFill>
                  <a:srgbClr val="000000"/>
                </a:solidFill>
                <a:latin typeface="Arial"/>
                <a:ea typeface="Arial"/>
                <a:cs typeface="Arial"/>
                <a:sym typeface="Arial"/>
              </a:rPr>
              <a:t>‹#›</a:t>
            </a:fld>
            <a:endParaRPr sz="1400"/>
          </a:p>
        </p:txBody>
      </p:sp>
      <p:sp>
        <p:nvSpPr>
          <p:cNvPr id="386" name="Google Shape;386;g31261454ef3_1_118:notes"/>
          <p:cNvSpPr/>
          <p:nvPr>
            <p:ph idx="2" type="sldImg"/>
          </p:nvPr>
        </p:nvSpPr>
        <p:spPr>
          <a:xfrm>
            <a:off x="397565" y="685487"/>
            <a:ext cx="6063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g31261454ef3_1_118:notes"/>
          <p:cNvSpPr txBox="1"/>
          <p:nvPr>
            <p:ph idx="1" type="body"/>
          </p:nvPr>
        </p:nvSpPr>
        <p:spPr>
          <a:xfrm>
            <a:off x="686421" y="4344025"/>
            <a:ext cx="5485200" cy="4114500"/>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1460adf0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1460adf0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1261454ef3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1261454ef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14b6a177a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14b6a177a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14b6a177a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14b6a177a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14b6a177a0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14b6a177a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14b6a177a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14b6a177a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9e9f15c38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9e9f15c38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14b6a177a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14b6a177a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14b6a177a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14b6a177a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14b6a177a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14b6a177a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14b6a177a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14b6a177a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14b6a177a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14b6a177a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14b6a177a0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14b6a177a0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14b6a177a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14b6a177a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14b6a177a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14b6a177a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aafa0426e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aafa0426e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aafa0426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aafa0426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aafa0426e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aafa0426e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aafa0426e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aafa0426e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aafa0426e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aafa0426e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9756f24de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9756f24de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3" name="Google Shape;53;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 name="Google Shape;54;p13"/>
          <p:cNvSpPr txBox="1"/>
          <p:nvPr>
            <p:ph idx="10" type="dt"/>
          </p:nvPr>
        </p:nvSpPr>
        <p:spPr>
          <a:xfrm>
            <a:off x="457200" y="4683919"/>
            <a:ext cx="2133600" cy="357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3124200" y="4683919"/>
            <a:ext cx="2895600" cy="357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6553200" y="4683919"/>
            <a:ext cx="2133600" cy="3573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ROBERTO FIGLIE’, TOMMASO TURCHI - </a:t>
            </a:r>
            <a:r>
              <a:rPr lang="it" sz="1000"/>
              <a:t>IUM</a:t>
            </a:r>
            <a:r>
              <a:rPr lang="it" sz="1000"/>
              <a:t>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mailto:tommaso.turchi@unipi.it" TargetMode="External"/><Relationship Id="rId4" Type="http://schemas.openxmlformats.org/officeDocument/2006/relationships/image" Target="../media/image32.jp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usability.gov/how-to-and-tools/methods/organization-structures.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1.png"/><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4.png"/><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0.png"/><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7.png"/><Relationship Id="rId4" Type="http://schemas.openxmlformats.org/officeDocument/2006/relationships/image" Target="../media/image3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1.png"/><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image" Target="../media/image4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0.png"/><Relationship Id="rId4" Type="http://schemas.openxmlformats.org/officeDocument/2006/relationships/image" Target="../media/image3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hyperlink" Target="https://www.taniarascia.com/introduction-to-the-dom/"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https://www.usability.gov/how-to-and-tools/methods/user-interface-elements.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Information Architecture</a:t>
            </a:r>
            <a:endParaRPr/>
          </a:p>
        </p:txBody>
      </p:sp>
      <p:sp>
        <p:nvSpPr>
          <p:cNvPr id="62" name="Google Shape;6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Who?</a:t>
            </a:r>
            <a:endParaRPr/>
          </a:p>
        </p:txBody>
      </p:sp>
      <p:sp>
        <p:nvSpPr>
          <p:cNvPr id="68" name="Google Shape;68;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sz="2000"/>
              <a:t>Tommaso Turchi</a:t>
            </a:r>
            <a:endParaRPr b="1" sz="2000"/>
          </a:p>
          <a:p>
            <a:pPr indent="-342900" lvl="0" marL="457200" rtl="0" algn="l">
              <a:lnSpc>
                <a:spcPct val="90000"/>
              </a:lnSpc>
              <a:spcBef>
                <a:spcPts val="1600"/>
              </a:spcBef>
              <a:spcAft>
                <a:spcPts val="0"/>
              </a:spcAft>
              <a:buClr>
                <a:schemeClr val="dk1"/>
              </a:buClr>
              <a:buSzPts val="1800"/>
              <a:buFont typeface="Calibri"/>
              <a:buChar char="●"/>
            </a:pPr>
            <a:r>
              <a:rPr lang="it" sz="1800" u="sng">
                <a:solidFill>
                  <a:schemeClr val="hlink"/>
                </a:solidFill>
                <a:latin typeface="Calibri"/>
                <a:ea typeface="Calibri"/>
                <a:cs typeface="Calibri"/>
                <a:sym typeface="Calibri"/>
                <a:hlinkClick r:id="rId3"/>
              </a:rPr>
              <a:t>tommaso.turchi@unipi.it</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Font typeface="Calibri"/>
              <a:buChar char="●"/>
            </a:pPr>
            <a:r>
              <a:rPr lang="it">
                <a:solidFill>
                  <a:schemeClr val="dk1"/>
                </a:solidFill>
                <a:latin typeface="Calibri"/>
                <a:ea typeface="Calibri"/>
                <a:cs typeface="Calibri"/>
                <a:sym typeface="Calibri"/>
              </a:rPr>
              <a:t>Computer science department room 283</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Font typeface="Calibri"/>
              <a:buChar char="●"/>
            </a:pPr>
            <a:r>
              <a:rPr lang="it" sz="1800">
                <a:solidFill>
                  <a:schemeClr val="dk1"/>
                </a:solidFill>
                <a:latin typeface="Calibri"/>
                <a:ea typeface="Calibri"/>
                <a:cs typeface="Calibri"/>
                <a:sym typeface="Calibri"/>
              </a:rPr>
              <a:t>Student Meetings on request, book via email</a:t>
            </a:r>
            <a:endParaRPr sz="1800">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Clr>
                <a:schemeClr val="dk1"/>
              </a:buClr>
              <a:buSzPts val="1800"/>
              <a:buFont typeface="Calibri"/>
              <a:buChar char="●"/>
            </a:pPr>
            <a:r>
              <a:rPr lang="it">
                <a:solidFill>
                  <a:schemeClr val="dk1"/>
                </a:solidFill>
                <a:latin typeface="Calibri"/>
                <a:ea typeface="Calibri"/>
                <a:cs typeface="Calibri"/>
                <a:sym typeface="Calibri"/>
              </a:rPr>
              <a:t>Today’s Lesson Material: Tidwell, J. (2020).</a:t>
            </a:r>
            <a:br>
              <a:rPr lang="it">
                <a:solidFill>
                  <a:schemeClr val="dk1"/>
                </a:solidFill>
                <a:latin typeface="Calibri"/>
                <a:ea typeface="Calibri"/>
                <a:cs typeface="Calibri"/>
                <a:sym typeface="Calibri"/>
              </a:rPr>
            </a:br>
            <a:r>
              <a:rPr lang="it">
                <a:solidFill>
                  <a:schemeClr val="dk1"/>
                </a:solidFill>
                <a:latin typeface="Calibri"/>
                <a:ea typeface="Calibri"/>
                <a:cs typeface="Calibri"/>
                <a:sym typeface="Calibri"/>
              </a:rPr>
              <a:t>Designing Interfaces: Patterns for Effective Interaction</a:t>
            </a:r>
            <a:br>
              <a:rPr lang="it">
                <a:solidFill>
                  <a:schemeClr val="dk1"/>
                </a:solidFill>
                <a:latin typeface="Calibri"/>
                <a:ea typeface="Calibri"/>
                <a:cs typeface="Calibri"/>
                <a:sym typeface="Calibri"/>
              </a:rPr>
            </a:br>
            <a:r>
              <a:rPr lang="it">
                <a:solidFill>
                  <a:schemeClr val="dk1"/>
                </a:solidFill>
                <a:latin typeface="Calibri"/>
                <a:ea typeface="Calibri"/>
                <a:cs typeface="Calibri"/>
                <a:sym typeface="Calibri"/>
              </a:rPr>
              <a:t>Design. O'Reilly Media.</a:t>
            </a:r>
            <a:endParaRPr>
              <a:solidFill>
                <a:schemeClr val="dk1"/>
              </a:solidFill>
              <a:latin typeface="Calibri"/>
              <a:ea typeface="Calibri"/>
              <a:cs typeface="Calibri"/>
              <a:sym typeface="Calibri"/>
            </a:endParaRPr>
          </a:p>
        </p:txBody>
      </p:sp>
      <p:pic>
        <p:nvPicPr>
          <p:cNvPr id="69" name="Google Shape;69;p15"/>
          <p:cNvPicPr preferRelativeResize="0"/>
          <p:nvPr/>
        </p:nvPicPr>
        <p:blipFill>
          <a:blip r:embed="rId4">
            <a:alphaModFix/>
          </a:blip>
          <a:stretch>
            <a:fillRect/>
          </a:stretch>
        </p:blipFill>
        <p:spPr>
          <a:xfrm>
            <a:off x="6816263" y="619075"/>
            <a:ext cx="853200" cy="853200"/>
          </a:xfrm>
          <a:prstGeom prst="ellipse">
            <a:avLst/>
          </a:prstGeom>
          <a:noFill/>
          <a:ln>
            <a:noFill/>
          </a:ln>
        </p:spPr>
      </p:pic>
      <p:pic>
        <p:nvPicPr>
          <p:cNvPr id="70" name="Google Shape;70;p15"/>
          <p:cNvPicPr preferRelativeResize="0"/>
          <p:nvPr/>
        </p:nvPicPr>
        <p:blipFill>
          <a:blip r:embed="rId5">
            <a:alphaModFix/>
          </a:blip>
          <a:stretch>
            <a:fillRect/>
          </a:stretch>
        </p:blipFill>
        <p:spPr>
          <a:xfrm>
            <a:off x="6217382" y="2120450"/>
            <a:ext cx="2050975" cy="2689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GUI Design</a:t>
            </a:r>
            <a:endParaRPr/>
          </a:p>
        </p:txBody>
      </p:sp>
      <p:sp>
        <p:nvSpPr>
          <p:cNvPr id="76" name="Google Shape;76;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Graphical User Interface (GUI) Design focuses on anticipating what users might need to do and ensuring that the interface has elements that are easy to access, understand, and use to facilitate those actions. </a:t>
            </a:r>
            <a:endParaRPr/>
          </a:p>
          <a:p>
            <a:pPr indent="0" lvl="0" marL="0" rtl="0" algn="l">
              <a:spcBef>
                <a:spcPts val="1600"/>
              </a:spcBef>
              <a:spcAft>
                <a:spcPts val="1600"/>
              </a:spcAft>
              <a:buNone/>
            </a:pPr>
            <a:r>
              <a:rPr lang="it"/>
              <a:t>UI brings together concepts from </a:t>
            </a:r>
            <a:r>
              <a:rPr b="1" lang="it"/>
              <a:t>interaction design, visual design, and information architecture.</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Interface structures</a:t>
            </a:r>
            <a:endParaRPr/>
          </a:p>
        </p:txBody>
      </p:sp>
      <p:sp>
        <p:nvSpPr>
          <p:cNvPr id="82" name="Google Shape;82;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 organizational structure is how you define the </a:t>
            </a:r>
            <a:r>
              <a:rPr b="1" lang="it"/>
              <a:t>relationships between </a:t>
            </a:r>
            <a:r>
              <a:rPr lang="it"/>
              <a:t>pieces of </a:t>
            </a:r>
            <a:r>
              <a:rPr b="1" lang="it"/>
              <a:t>content</a:t>
            </a:r>
            <a:r>
              <a:rPr lang="it"/>
              <a:t>. </a:t>
            </a:r>
            <a:endParaRPr/>
          </a:p>
          <a:p>
            <a:pPr indent="0" lvl="0" marL="0" rtl="0" algn="l">
              <a:spcBef>
                <a:spcPts val="1600"/>
              </a:spcBef>
              <a:spcAft>
                <a:spcPts val="0"/>
              </a:spcAft>
              <a:buNone/>
            </a:pPr>
            <a:r>
              <a:rPr lang="it"/>
              <a:t>Successful structures allow users to predict where they will find information on the site. </a:t>
            </a:r>
            <a:endParaRPr/>
          </a:p>
          <a:p>
            <a:pPr indent="0" lvl="0" marL="0" rtl="0" algn="l">
              <a:spcBef>
                <a:spcPts val="1600"/>
              </a:spcBef>
              <a:spcAft>
                <a:spcPts val="0"/>
              </a:spcAft>
              <a:buNone/>
            </a:pPr>
            <a:r>
              <a:rPr lang="it"/>
              <a:t>It’s important to take into account user expectations and implement consistent methods of organizing and displaying information so that users can extend their knowledge from familiar pages to unfamiliar ones. </a:t>
            </a:r>
            <a:endParaRPr/>
          </a:p>
          <a:p>
            <a:pPr indent="0" lvl="0" marL="0" rtl="0" algn="l">
              <a:spcBef>
                <a:spcPts val="1600"/>
              </a:spcBef>
              <a:spcAft>
                <a:spcPts val="0"/>
              </a:spcAft>
              <a:buNone/>
            </a:pPr>
            <a:r>
              <a:rPr lang="it"/>
              <a:t>The four main organizational structures are </a:t>
            </a:r>
            <a:r>
              <a:rPr b="1" lang="it"/>
              <a:t>Hierarchical, Sequential, Matrix and database model.</a:t>
            </a:r>
            <a:endParaRPr b="1"/>
          </a:p>
          <a:p>
            <a:pPr indent="0" lvl="0" marL="0" rtl="0" algn="l">
              <a:spcBef>
                <a:spcPts val="1600"/>
              </a:spcBef>
              <a:spcAft>
                <a:spcPts val="0"/>
              </a:spcAft>
              <a:buNone/>
            </a:pPr>
            <a:r>
              <a:rPr lang="it" sz="1300"/>
              <a:t>source: </a:t>
            </a:r>
            <a:r>
              <a:rPr lang="it" sz="1300" u="sng">
                <a:solidFill>
                  <a:schemeClr val="hlink"/>
                </a:solidFill>
                <a:hlinkClick r:id="rId3"/>
              </a:rPr>
              <a:t>https://www.usability.gov/how-to-and-tools/methods/organization-structures.html</a:t>
            </a:r>
            <a:r>
              <a:rPr lang="it" sz="1300"/>
              <a:t> </a:t>
            </a:r>
            <a:endParaRPr sz="1300"/>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Hierarchical Structures</a:t>
            </a:r>
            <a:endParaRPr/>
          </a:p>
        </p:txBody>
      </p:sp>
      <p:sp>
        <p:nvSpPr>
          <p:cNvPr id="88" name="Google Shape;88;p18"/>
          <p:cNvSpPr txBox="1"/>
          <p:nvPr>
            <p:ph idx="1" type="body"/>
          </p:nvPr>
        </p:nvSpPr>
        <p:spPr>
          <a:xfrm>
            <a:off x="311700" y="619075"/>
            <a:ext cx="5705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400">
                <a:solidFill>
                  <a:srgbClr val="333333"/>
                </a:solidFill>
                <a:highlight>
                  <a:srgbClr val="FFFFFF"/>
                </a:highlight>
              </a:rPr>
              <a:t>In Hierarchical Structures, sometimes referred to as tree structures or hub-and-spoke structures, there is a top down approach or parent/child relationships between pieces of information.  </a:t>
            </a:r>
            <a:endParaRPr sz="1400">
              <a:solidFill>
                <a:srgbClr val="333333"/>
              </a:solidFill>
              <a:highlight>
                <a:srgbClr val="FFFFFF"/>
              </a:highlight>
            </a:endParaRPr>
          </a:p>
          <a:p>
            <a:pPr indent="0" lvl="0" marL="0" rtl="0" algn="l">
              <a:spcBef>
                <a:spcPts val="1600"/>
              </a:spcBef>
              <a:spcAft>
                <a:spcPts val="0"/>
              </a:spcAft>
              <a:buClr>
                <a:schemeClr val="dk1"/>
              </a:buClr>
              <a:buSzPts val="1100"/>
              <a:buFont typeface="Arial"/>
              <a:buNone/>
            </a:pPr>
            <a:r>
              <a:rPr lang="it" sz="1400">
                <a:solidFill>
                  <a:srgbClr val="333333"/>
                </a:solidFill>
                <a:highlight>
                  <a:srgbClr val="FFFFFF"/>
                </a:highlight>
              </a:rPr>
              <a:t>Users start with broader categories of information (parent) and then drill further down into the structure to find narrower, more detailed information (child).</a:t>
            </a:r>
            <a:endParaRPr sz="1400">
              <a:solidFill>
                <a:srgbClr val="333333"/>
              </a:solidFill>
              <a:highlight>
                <a:srgbClr val="FFFFFF"/>
              </a:highlight>
            </a:endParaRPr>
          </a:p>
          <a:p>
            <a:pPr indent="0" lvl="0" marL="0" rtl="0" algn="l">
              <a:spcBef>
                <a:spcPts val="1600"/>
              </a:spcBef>
              <a:spcAft>
                <a:spcPts val="0"/>
              </a:spcAft>
              <a:buClr>
                <a:schemeClr val="dk1"/>
              </a:buClr>
              <a:buSzPts val="1100"/>
              <a:buFont typeface="Arial"/>
              <a:buNone/>
            </a:pPr>
            <a:r>
              <a:rPr lang="it" sz="1400">
                <a:solidFill>
                  <a:srgbClr val="333333"/>
                </a:solidFill>
                <a:highlight>
                  <a:srgbClr val="FFFFFF"/>
                </a:highlight>
              </a:rPr>
              <a:t>Many users are familiar with structuring information in hierarchies because they see these structures on a daily basis in the way businesses have a formed their lead leadership structure, the way project plans are set-up, and so on.</a:t>
            </a:r>
            <a:endParaRPr sz="1400">
              <a:solidFill>
                <a:srgbClr val="333333"/>
              </a:solidFill>
              <a:highlight>
                <a:srgbClr val="FFFFFF"/>
              </a:highlight>
            </a:endParaRPr>
          </a:p>
          <a:p>
            <a:pPr indent="0" lvl="0" marL="0" rtl="0" algn="l">
              <a:spcBef>
                <a:spcPts val="1600"/>
              </a:spcBef>
              <a:spcAft>
                <a:spcPts val="0"/>
              </a:spcAft>
              <a:buClr>
                <a:schemeClr val="dk1"/>
              </a:buClr>
              <a:buSzPts val="1100"/>
              <a:buFont typeface="Arial"/>
              <a:buNone/>
            </a:pPr>
            <a:r>
              <a:t/>
            </a:r>
            <a:endParaRPr sz="1400">
              <a:solidFill>
                <a:srgbClr val="333333"/>
              </a:solidFill>
              <a:highlight>
                <a:srgbClr val="FFFFFF"/>
              </a:highlight>
            </a:endParaRPr>
          </a:p>
          <a:p>
            <a:pPr indent="0" lvl="0" marL="0" rtl="0" algn="l">
              <a:spcBef>
                <a:spcPts val="1600"/>
              </a:spcBef>
              <a:spcAft>
                <a:spcPts val="1600"/>
              </a:spcAft>
              <a:buNone/>
            </a:pPr>
            <a:r>
              <a:t/>
            </a:r>
            <a:endParaRPr sz="1400">
              <a:solidFill>
                <a:srgbClr val="333333"/>
              </a:solidFill>
              <a:highlight>
                <a:srgbClr val="FFFFFF"/>
              </a:highlight>
            </a:endParaRPr>
          </a:p>
        </p:txBody>
      </p:sp>
      <p:pic>
        <p:nvPicPr>
          <p:cNvPr descr="Example of hub-and-spoke Hierarchical Structure" id="89" name="Google Shape;89;p18" title="Example of hub-and-spoke Hierarchical Structure"/>
          <p:cNvPicPr preferRelativeResize="0"/>
          <p:nvPr/>
        </p:nvPicPr>
        <p:blipFill>
          <a:blip r:embed="rId3">
            <a:alphaModFix/>
          </a:blip>
          <a:stretch>
            <a:fillRect/>
          </a:stretch>
        </p:blipFill>
        <p:spPr>
          <a:xfrm>
            <a:off x="6953250" y="1925650"/>
            <a:ext cx="1033939" cy="803225"/>
          </a:xfrm>
          <a:prstGeom prst="rect">
            <a:avLst/>
          </a:prstGeom>
          <a:noFill/>
          <a:ln>
            <a:noFill/>
          </a:ln>
        </p:spPr>
      </p:pic>
      <p:pic>
        <p:nvPicPr>
          <p:cNvPr descr="Example of Hierarchical Structure" id="90" name="Google Shape;90;p18" title="Example of Hierarchical Structure"/>
          <p:cNvPicPr preferRelativeResize="0"/>
          <p:nvPr/>
        </p:nvPicPr>
        <p:blipFill>
          <a:blip r:embed="rId4">
            <a:alphaModFix/>
          </a:blip>
          <a:stretch>
            <a:fillRect/>
          </a:stretch>
        </p:blipFill>
        <p:spPr>
          <a:xfrm>
            <a:off x="6108150" y="709525"/>
            <a:ext cx="2724150" cy="704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97" name="Google Shape;97;p19"/>
          <p:cNvPicPr preferRelativeResize="0"/>
          <p:nvPr/>
        </p:nvPicPr>
        <p:blipFill>
          <a:blip r:embed="rId3">
            <a:alphaModFix/>
          </a:blip>
          <a:stretch>
            <a:fillRect/>
          </a:stretch>
        </p:blipFill>
        <p:spPr>
          <a:xfrm>
            <a:off x="0" y="-4"/>
            <a:ext cx="5288400" cy="2623850"/>
          </a:xfrm>
          <a:prstGeom prst="rect">
            <a:avLst/>
          </a:prstGeom>
          <a:noFill/>
          <a:ln>
            <a:noFill/>
          </a:ln>
        </p:spPr>
      </p:pic>
      <p:pic>
        <p:nvPicPr>
          <p:cNvPr id="98" name="Google Shape;98;p19"/>
          <p:cNvPicPr preferRelativeResize="0"/>
          <p:nvPr/>
        </p:nvPicPr>
        <p:blipFill>
          <a:blip r:embed="rId4">
            <a:alphaModFix/>
          </a:blip>
          <a:stretch>
            <a:fillRect/>
          </a:stretch>
        </p:blipFill>
        <p:spPr>
          <a:xfrm>
            <a:off x="4297900" y="1924175"/>
            <a:ext cx="4846100" cy="3219324"/>
          </a:xfrm>
          <a:prstGeom prst="rect">
            <a:avLst/>
          </a:prstGeom>
          <a:noFill/>
          <a:ln>
            <a:noFill/>
          </a:ln>
        </p:spPr>
      </p:pic>
      <p:sp>
        <p:nvSpPr>
          <p:cNvPr id="99" name="Google Shape;99;p19"/>
          <p:cNvSpPr txBox="1"/>
          <p:nvPr/>
        </p:nvSpPr>
        <p:spPr>
          <a:xfrm>
            <a:off x="103625" y="4188800"/>
            <a:ext cx="3000000" cy="6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800"/>
              <a:t>https://ux.stackexchange.com/questions/90872/display-hierarchical-structure-and-corresponding-reference-data</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Sequential Structures</a:t>
            </a:r>
            <a:endParaRPr/>
          </a:p>
        </p:txBody>
      </p:sp>
      <p:sp>
        <p:nvSpPr>
          <p:cNvPr id="105" name="Google Shape;105;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Websites with Sequential Structures require users to go step-by-step, following a specific path through content.</a:t>
            </a:r>
            <a:endParaRPr/>
          </a:p>
          <a:p>
            <a:pPr indent="0" lvl="0" marL="0" rtl="0" algn="l">
              <a:spcBef>
                <a:spcPts val="1600"/>
              </a:spcBef>
              <a:spcAft>
                <a:spcPts val="0"/>
              </a:spcAft>
              <a:buClr>
                <a:schemeClr val="dk1"/>
              </a:buClr>
              <a:buSzPts val="1100"/>
              <a:buFont typeface="Arial"/>
              <a:buNone/>
            </a:pPr>
            <a:r>
              <a:rPr lang="it"/>
              <a:t>An example of this type of structure is when a user is attempting to purchase something or are taking a course online. Sequential structures assume that there is some optimal ordering of content that is associated with greater effectiveness or success.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descr="Example of Sequential Structure" id="106" name="Google Shape;106;p20" title="Example of Sequential Structure"/>
          <p:cNvPicPr preferRelativeResize="0"/>
          <p:nvPr/>
        </p:nvPicPr>
        <p:blipFill>
          <a:blip r:embed="rId3">
            <a:alphaModFix/>
          </a:blip>
          <a:stretch>
            <a:fillRect/>
          </a:stretch>
        </p:blipFill>
        <p:spPr>
          <a:xfrm>
            <a:off x="3362325" y="2708725"/>
            <a:ext cx="2419350" cy="257175"/>
          </a:xfrm>
          <a:prstGeom prst="rect">
            <a:avLst/>
          </a:prstGeom>
          <a:noFill/>
          <a:ln>
            <a:noFill/>
          </a:ln>
        </p:spPr>
      </p:pic>
      <p:pic>
        <p:nvPicPr>
          <p:cNvPr id="107" name="Google Shape;107;p20"/>
          <p:cNvPicPr preferRelativeResize="0"/>
          <p:nvPr/>
        </p:nvPicPr>
        <p:blipFill rotWithShape="1">
          <a:blip r:embed="rId4">
            <a:alphaModFix/>
          </a:blip>
          <a:srcRect b="33306" l="0" r="0" t="41056"/>
          <a:stretch/>
        </p:blipFill>
        <p:spPr>
          <a:xfrm>
            <a:off x="1238250" y="3919550"/>
            <a:ext cx="6667500" cy="1049975"/>
          </a:xfrm>
          <a:prstGeom prst="rect">
            <a:avLst/>
          </a:prstGeom>
          <a:noFill/>
          <a:ln>
            <a:noFill/>
          </a:ln>
        </p:spPr>
      </p:pic>
      <p:pic>
        <p:nvPicPr>
          <p:cNvPr id="108" name="Google Shape;108;p20"/>
          <p:cNvPicPr preferRelativeResize="0"/>
          <p:nvPr/>
        </p:nvPicPr>
        <p:blipFill>
          <a:blip r:embed="rId5">
            <a:alphaModFix/>
          </a:blip>
          <a:stretch>
            <a:fillRect/>
          </a:stretch>
        </p:blipFill>
        <p:spPr>
          <a:xfrm>
            <a:off x="1566609" y="3156387"/>
            <a:ext cx="6010779" cy="57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it"/>
              <a:t>Matrix Structures</a:t>
            </a:r>
            <a:endParaRPr/>
          </a:p>
          <a:p>
            <a:pPr indent="0" lvl="0" marL="0" rtl="0" algn="l">
              <a:spcBef>
                <a:spcPts val="0"/>
              </a:spcBef>
              <a:spcAft>
                <a:spcPts val="0"/>
              </a:spcAft>
              <a:buNone/>
            </a:pPr>
            <a:r>
              <a:t/>
            </a:r>
            <a:endParaRPr sz="1800">
              <a:solidFill>
                <a:schemeClr val="dk2"/>
              </a:solidFill>
            </a:endParaRPr>
          </a:p>
        </p:txBody>
      </p:sp>
      <p:sp>
        <p:nvSpPr>
          <p:cNvPr id="114" name="Google Shape;114;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 Matrix Structure allows users to determine their own path since content is linked in numerous ways. This type of structure takes full advantage of the principles behind hypertext, or HTML.  For example, one user could choose to navigate through a set of content based on date while another navigates based on topic.</a:t>
            </a:r>
            <a:endParaRPr/>
          </a:p>
          <a:p>
            <a:pPr indent="0" lvl="0" marL="0" rtl="0" algn="l">
              <a:spcBef>
                <a:spcPts val="1600"/>
              </a:spcBef>
              <a:spcAft>
                <a:spcPts val="1600"/>
              </a:spcAft>
              <a:buNone/>
            </a:pPr>
            <a:r>
              <a:t/>
            </a:r>
            <a:endParaRPr/>
          </a:p>
        </p:txBody>
      </p:sp>
      <p:pic>
        <p:nvPicPr>
          <p:cNvPr id="115" name="Google Shape;115;p21"/>
          <p:cNvPicPr preferRelativeResize="0"/>
          <p:nvPr/>
        </p:nvPicPr>
        <p:blipFill>
          <a:blip r:embed="rId3">
            <a:alphaModFix/>
          </a:blip>
          <a:stretch>
            <a:fillRect/>
          </a:stretch>
        </p:blipFill>
        <p:spPr>
          <a:xfrm>
            <a:off x="3501250" y="2027800"/>
            <a:ext cx="5331050" cy="2892100"/>
          </a:xfrm>
          <a:prstGeom prst="rect">
            <a:avLst/>
          </a:prstGeom>
          <a:noFill/>
          <a:ln>
            <a:noFill/>
          </a:ln>
        </p:spPr>
      </p:pic>
      <p:pic>
        <p:nvPicPr>
          <p:cNvPr id="116" name="Google Shape;116;p21"/>
          <p:cNvPicPr preferRelativeResize="0"/>
          <p:nvPr/>
        </p:nvPicPr>
        <p:blipFill>
          <a:blip r:embed="rId4">
            <a:alphaModFix/>
          </a:blip>
          <a:stretch>
            <a:fillRect/>
          </a:stretch>
        </p:blipFill>
        <p:spPr>
          <a:xfrm>
            <a:off x="101425" y="2168750"/>
            <a:ext cx="3341424" cy="2784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Database Model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2" name="Google Shape;122;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Database Model takes a bottom-up approach. The content within this structure leans heavily on the linkages created through the content’s metadata. This type of model facilitates a more dynamic experience generally allowing for advanced filtering and search capabilities as well as providing links to related information in the system that has been properly tagged.</a:t>
            </a:r>
            <a:endParaRPr/>
          </a:p>
          <a:p>
            <a:pPr indent="0" lvl="0" marL="0" rtl="0" algn="l">
              <a:spcBef>
                <a:spcPts val="1600"/>
              </a:spcBef>
              <a:spcAft>
                <a:spcPts val="1600"/>
              </a:spcAft>
              <a:buNone/>
            </a:pPr>
            <a:r>
              <a:t/>
            </a:r>
            <a:endParaRPr/>
          </a:p>
        </p:txBody>
      </p:sp>
      <p:pic>
        <p:nvPicPr>
          <p:cNvPr id="123" name="Google Shape;123;p22"/>
          <p:cNvPicPr preferRelativeResize="0"/>
          <p:nvPr/>
        </p:nvPicPr>
        <p:blipFill>
          <a:blip r:embed="rId3">
            <a:alphaModFix/>
          </a:blip>
          <a:stretch>
            <a:fillRect/>
          </a:stretch>
        </p:blipFill>
        <p:spPr>
          <a:xfrm>
            <a:off x="2436063" y="2674101"/>
            <a:ext cx="4271875" cy="1456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Creating Sustainable Structures</a:t>
            </a:r>
            <a:endParaRPr/>
          </a:p>
        </p:txBody>
      </p:sp>
      <p:sp>
        <p:nvSpPr>
          <p:cNvPr id="129" name="Google Shape;129;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Site/GUI architecture has a long term impact on the site. It’s important to put thought into the structure and ensure that it takes into account content updates in the future. Site managers should keep in mind the following when structuring a site:</a:t>
            </a:r>
            <a:endParaRPr/>
          </a:p>
          <a:p>
            <a:pPr indent="0" lvl="0" marL="0" rtl="0" algn="l">
              <a:spcBef>
                <a:spcPts val="1600"/>
              </a:spcBef>
              <a:spcAft>
                <a:spcPts val="0"/>
              </a:spcAft>
              <a:buClr>
                <a:schemeClr val="dk1"/>
              </a:buClr>
              <a:buSzPts val="1100"/>
              <a:buFont typeface="Arial"/>
              <a:buNone/>
            </a:pPr>
            <a:r>
              <a:rPr b="1" lang="it"/>
              <a:t>Allow room for growth.</a:t>
            </a:r>
            <a:r>
              <a:rPr lang="it"/>
              <a:t> Creating a site that can accommodate the addition of new content within a section (left image) as well as entire new sections (right image).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descr="Left image: Example structure with addition of new content within a section  Right image: Example structure with addition of  entire new sections" id="130" name="Google Shape;130;p23" title="Left image: Example structure with addition of new content within a section  Right image: Example structure with addition of  entire new sections"/>
          <p:cNvPicPr preferRelativeResize="0"/>
          <p:nvPr/>
        </p:nvPicPr>
        <p:blipFill>
          <a:blip r:embed="rId3">
            <a:alphaModFix/>
          </a:blip>
          <a:stretch>
            <a:fillRect/>
          </a:stretch>
        </p:blipFill>
        <p:spPr>
          <a:xfrm>
            <a:off x="1750950" y="3373800"/>
            <a:ext cx="5505450" cy="552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Creating Sustainable Structures</a:t>
            </a:r>
            <a:endParaRPr/>
          </a:p>
          <a:p>
            <a:pPr indent="0" lvl="0" marL="0" rtl="0" algn="l">
              <a:spcBef>
                <a:spcPts val="0"/>
              </a:spcBef>
              <a:spcAft>
                <a:spcPts val="0"/>
              </a:spcAft>
              <a:buNone/>
            </a:pPr>
            <a:r>
              <a:t/>
            </a:r>
            <a:endParaRPr/>
          </a:p>
        </p:txBody>
      </p:sp>
      <p:sp>
        <p:nvSpPr>
          <p:cNvPr id="136" name="Google Shape;136;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Avoid structures that are too shallow or too deep. </a:t>
            </a:r>
            <a:endParaRPr b="1"/>
          </a:p>
          <a:p>
            <a:pPr indent="0" lvl="0" marL="0" rtl="0" algn="l">
              <a:spcBef>
                <a:spcPts val="1600"/>
              </a:spcBef>
              <a:spcAft>
                <a:spcPts val="0"/>
              </a:spcAft>
              <a:buNone/>
            </a:pPr>
            <a:r>
              <a:rPr lang="it"/>
              <a:t>Striking a balance is never easy is an important goal of any architecture. Structures that are too shallow require massive menus. </a:t>
            </a:r>
            <a:endParaRPr/>
          </a:p>
          <a:p>
            <a:pPr indent="0" lvl="0" marL="0" rtl="0" algn="l">
              <a:spcBef>
                <a:spcPts val="1600"/>
              </a:spcBef>
              <a:spcAft>
                <a:spcPts val="0"/>
              </a:spcAft>
              <a:buClr>
                <a:schemeClr val="dk1"/>
              </a:buClr>
              <a:buSzPts val="1100"/>
              <a:buFont typeface="Arial"/>
              <a:buNone/>
            </a:pPr>
            <a:r>
              <a:rPr lang="it"/>
              <a:t>Users rely on information architects to create logical groupings to facilitate movement throughout the site. In contrast, structures that are too deep bury information beneath too many layers. These structures burden the user to have to navigate through several levels to find the content that they desire.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descr="Left image: Example structure that is too shallow  Right image: Example structure that is too deep" id="137" name="Google Shape;137;p24" title="Left image: Example structure that is too shallow  Right image: Example structure that is too deep"/>
          <p:cNvPicPr preferRelativeResize="0"/>
          <p:nvPr/>
        </p:nvPicPr>
        <p:blipFill>
          <a:blip r:embed="rId3">
            <a:alphaModFix/>
          </a:blip>
          <a:stretch>
            <a:fillRect/>
          </a:stretch>
        </p:blipFill>
        <p:spPr>
          <a:xfrm>
            <a:off x="2233613" y="3313875"/>
            <a:ext cx="4676775" cy="1190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Information Architecture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Information Architecture</a:t>
            </a:r>
            <a:endParaRPr/>
          </a:p>
        </p:txBody>
      </p:sp>
      <p:sp>
        <p:nvSpPr>
          <p:cNvPr id="148" name="Google Shape;148;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Information architecture (IA) focuses on organizing, structuring, and labeling content in an effective and sustainable way.  The goal is to </a:t>
            </a:r>
            <a:r>
              <a:rPr b="1" lang="it"/>
              <a:t>help users find information</a:t>
            </a:r>
            <a:r>
              <a:rPr lang="it"/>
              <a:t> and complete tasks.  </a:t>
            </a:r>
            <a:endParaRPr/>
          </a:p>
          <a:p>
            <a:pPr indent="0" lvl="0" marL="0" rtl="0" algn="l">
              <a:spcBef>
                <a:spcPts val="1600"/>
              </a:spcBef>
              <a:spcAft>
                <a:spcPts val="0"/>
              </a:spcAft>
              <a:buClr>
                <a:schemeClr val="dk1"/>
              </a:buClr>
              <a:buSzPts val="1100"/>
              <a:buFont typeface="Arial"/>
              <a:buNone/>
            </a:pPr>
            <a:r>
              <a:rPr lang="it"/>
              <a:t>To do this, you need to understand how the pieces fit together to create the larger picture, how items relate to each other within the system.</a:t>
            </a:r>
            <a:endParaRPr/>
          </a:p>
          <a:p>
            <a:pPr indent="0" lvl="0" marL="0" rtl="0" algn="l">
              <a:spcBef>
                <a:spcPts val="1600"/>
              </a:spcBef>
              <a:spcAft>
                <a:spcPts val="0"/>
              </a:spcAft>
              <a:buClr>
                <a:schemeClr val="dk1"/>
              </a:buClr>
              <a:buSzPts val="1100"/>
              <a:buFont typeface="Arial"/>
              <a:buNone/>
            </a:pPr>
            <a:r>
              <a:rPr b="1" lang="it"/>
              <a:t>Why a Well Thought Out IA Matters?</a:t>
            </a:r>
            <a:endParaRPr b="1"/>
          </a:p>
          <a:p>
            <a:pPr indent="0" lvl="0" marL="0" rtl="0" algn="l">
              <a:spcBef>
                <a:spcPts val="1600"/>
              </a:spcBef>
              <a:spcAft>
                <a:spcPts val="0"/>
              </a:spcAft>
              <a:buClr>
                <a:schemeClr val="dk1"/>
              </a:buClr>
              <a:buSzPts val="1100"/>
              <a:buFont typeface="Arial"/>
              <a:buNone/>
            </a:pPr>
            <a:r>
              <a:rPr lang="it"/>
              <a:t>According to Peter Morville Site exit disclaimer, the </a:t>
            </a:r>
            <a:r>
              <a:rPr b="1" lang="it"/>
              <a:t>purpose of your IA is to help users understand where they are, what they’ve found, what’s around, and what to expect.</a:t>
            </a:r>
            <a:r>
              <a:rPr lang="it"/>
              <a:t> As a result, your </a:t>
            </a:r>
            <a:r>
              <a:rPr b="1" lang="it"/>
              <a:t>IA informs the content strategy </a:t>
            </a:r>
            <a:r>
              <a:rPr lang="it"/>
              <a:t>through identifying word choice as well as informing user interface design and interaction design through playing a role in the wireframing and prototyping processes.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Information Architecture</a:t>
            </a:r>
            <a:endParaRPr/>
          </a:p>
        </p:txBody>
      </p:sp>
      <p:sp>
        <p:nvSpPr>
          <p:cNvPr id="154" name="Google Shape;154;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To be successful, you need a diverse understanding of industry standards for creating, storing, accessing and presenting information. Lou Rosenfeld and Peter Morville in their book, Information Architecture for the World Wide Web, note that the main components of IA are:</a:t>
            </a:r>
            <a:endParaRPr/>
          </a:p>
          <a:p>
            <a:pPr indent="-342900" lvl="0" marL="457200" rtl="0" algn="l">
              <a:spcBef>
                <a:spcPts val="1600"/>
              </a:spcBef>
              <a:spcAft>
                <a:spcPts val="0"/>
              </a:spcAft>
              <a:buSzPts val="1800"/>
              <a:buChar char="●"/>
            </a:pPr>
            <a:r>
              <a:rPr b="1" lang="it"/>
              <a:t>Organization Schemes and Structures:</a:t>
            </a:r>
            <a:r>
              <a:rPr lang="it"/>
              <a:t> How you categorize and structure information</a:t>
            </a:r>
            <a:endParaRPr/>
          </a:p>
          <a:p>
            <a:pPr indent="-342900" lvl="0" marL="457200" rtl="0" algn="l">
              <a:spcBef>
                <a:spcPts val="0"/>
              </a:spcBef>
              <a:spcAft>
                <a:spcPts val="0"/>
              </a:spcAft>
              <a:buSzPts val="1800"/>
              <a:buChar char="●"/>
            </a:pPr>
            <a:r>
              <a:rPr b="1" lang="it"/>
              <a:t>Labeling Systems:</a:t>
            </a:r>
            <a:r>
              <a:rPr lang="it"/>
              <a:t> How you represent information</a:t>
            </a:r>
            <a:endParaRPr/>
          </a:p>
          <a:p>
            <a:pPr indent="-342900" lvl="0" marL="457200" rtl="0" algn="l">
              <a:spcBef>
                <a:spcPts val="0"/>
              </a:spcBef>
              <a:spcAft>
                <a:spcPts val="0"/>
              </a:spcAft>
              <a:buSzPts val="1800"/>
              <a:buChar char="●"/>
            </a:pPr>
            <a:r>
              <a:rPr b="1" lang="it"/>
              <a:t>Navigation Systems:</a:t>
            </a:r>
            <a:r>
              <a:rPr lang="it"/>
              <a:t> How users browse or move through information</a:t>
            </a:r>
            <a:endParaRPr/>
          </a:p>
          <a:p>
            <a:pPr indent="-342900" lvl="0" marL="457200" rtl="0" algn="l">
              <a:spcBef>
                <a:spcPts val="0"/>
              </a:spcBef>
              <a:spcAft>
                <a:spcPts val="0"/>
              </a:spcAft>
              <a:buSzPts val="1800"/>
              <a:buChar char="●"/>
            </a:pPr>
            <a:r>
              <a:rPr b="1" lang="it"/>
              <a:t>Search Systems:</a:t>
            </a:r>
            <a:r>
              <a:rPr lang="it"/>
              <a:t> How users look for information</a:t>
            </a:r>
            <a:endParaRPr/>
          </a:p>
          <a:p>
            <a:pPr indent="0" lvl="0" marL="0" rtl="0" algn="l">
              <a:spcBef>
                <a:spcPts val="1600"/>
              </a:spcBef>
              <a:spcAft>
                <a:spcPts val="1600"/>
              </a:spcAft>
              <a:buClr>
                <a:schemeClr val="dk1"/>
              </a:buClr>
              <a:buSzPts val="1100"/>
              <a:buFont typeface="Arial"/>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a:t>Information Architecture</a:t>
            </a:r>
            <a:endParaRPr/>
          </a:p>
          <a:p>
            <a:pPr indent="0" lvl="0" marL="0" rtl="0" algn="l">
              <a:spcBef>
                <a:spcPts val="1600"/>
              </a:spcBef>
              <a:spcAft>
                <a:spcPts val="0"/>
              </a:spcAft>
              <a:buNone/>
            </a:pPr>
            <a:r>
              <a:t/>
            </a:r>
            <a:endParaRPr/>
          </a:p>
        </p:txBody>
      </p:sp>
      <p:sp>
        <p:nvSpPr>
          <p:cNvPr id="160" name="Google Shape;160;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order to create these systems of information, you need to understand the interdependent nature of users, content, and context.  </a:t>
            </a:r>
            <a:endParaRPr/>
          </a:p>
          <a:p>
            <a:pPr indent="0" lvl="0" marL="0" rtl="0" algn="l">
              <a:spcBef>
                <a:spcPts val="1600"/>
              </a:spcBef>
              <a:spcAft>
                <a:spcPts val="0"/>
              </a:spcAft>
              <a:buNone/>
            </a:pPr>
            <a:r>
              <a:rPr lang="it"/>
              <a:t>Rosenfeld and Morville referred to this as the “information ecology” and visualized it as a venn diagram.  </a:t>
            </a:r>
            <a:endParaRPr/>
          </a:p>
          <a:p>
            <a:pPr indent="0" lvl="0" marL="0" rtl="0" algn="l">
              <a:spcBef>
                <a:spcPts val="1600"/>
              </a:spcBef>
              <a:spcAft>
                <a:spcPts val="0"/>
              </a:spcAft>
              <a:buClr>
                <a:schemeClr val="dk1"/>
              </a:buClr>
              <a:buSzPts val="1100"/>
              <a:buFont typeface="Arial"/>
              <a:buNone/>
            </a:pPr>
            <a:r>
              <a:rPr lang="it"/>
              <a:t>Each circle refers to:</a:t>
            </a:r>
            <a:endParaRPr/>
          </a:p>
          <a:p>
            <a:pPr indent="-342900" lvl="0" marL="457200" rtl="0" algn="l">
              <a:spcBef>
                <a:spcPts val="1600"/>
              </a:spcBef>
              <a:spcAft>
                <a:spcPts val="0"/>
              </a:spcAft>
              <a:buSzPts val="1800"/>
              <a:buChar char="●"/>
            </a:pPr>
            <a:r>
              <a:rPr b="1" lang="it"/>
              <a:t>Context:</a:t>
            </a:r>
            <a:r>
              <a:rPr lang="it"/>
              <a:t> business goals, funding, politics, culture, </a:t>
            </a:r>
            <a:br>
              <a:rPr lang="it"/>
            </a:br>
            <a:r>
              <a:rPr lang="it"/>
              <a:t>technology, resources, constraints</a:t>
            </a:r>
            <a:endParaRPr/>
          </a:p>
          <a:p>
            <a:pPr indent="-342900" lvl="0" marL="457200" rtl="0" algn="l">
              <a:spcBef>
                <a:spcPts val="0"/>
              </a:spcBef>
              <a:spcAft>
                <a:spcPts val="0"/>
              </a:spcAft>
              <a:buSzPts val="1800"/>
              <a:buChar char="●"/>
            </a:pPr>
            <a:r>
              <a:rPr b="1" lang="it"/>
              <a:t>Content:</a:t>
            </a:r>
            <a:r>
              <a:rPr lang="it"/>
              <a:t> content objectives, document and data </a:t>
            </a:r>
            <a:br>
              <a:rPr lang="it"/>
            </a:br>
            <a:r>
              <a:rPr lang="it"/>
              <a:t>types, volume, existing structure, governance </a:t>
            </a:r>
            <a:br>
              <a:rPr lang="it"/>
            </a:br>
            <a:r>
              <a:rPr lang="it"/>
              <a:t>and ownership</a:t>
            </a:r>
            <a:endParaRPr/>
          </a:p>
          <a:p>
            <a:pPr indent="-342900" lvl="0" marL="457200" rtl="0" algn="l">
              <a:spcBef>
                <a:spcPts val="0"/>
              </a:spcBef>
              <a:spcAft>
                <a:spcPts val="0"/>
              </a:spcAft>
              <a:buSzPts val="1800"/>
              <a:buChar char="●"/>
            </a:pPr>
            <a:r>
              <a:rPr b="1" lang="it"/>
              <a:t>Users:</a:t>
            </a:r>
            <a:r>
              <a:rPr lang="it"/>
              <a:t> audience, tasks, needs, information-seeking behavior, </a:t>
            </a:r>
            <a:br>
              <a:rPr lang="it"/>
            </a:br>
            <a:r>
              <a:rPr lang="it"/>
              <a:t>experience</a:t>
            </a:r>
            <a:endParaRPr/>
          </a:p>
          <a:p>
            <a:pPr indent="0" lvl="0" marL="0" rtl="0" algn="l">
              <a:spcBef>
                <a:spcPts val="1600"/>
              </a:spcBef>
              <a:spcAft>
                <a:spcPts val="1600"/>
              </a:spcAft>
              <a:buNone/>
            </a:pPr>
            <a:r>
              <a:t/>
            </a:r>
            <a:endParaRPr/>
          </a:p>
        </p:txBody>
      </p:sp>
      <p:pic>
        <p:nvPicPr>
          <p:cNvPr id="161" name="Google Shape;161;p28"/>
          <p:cNvPicPr preferRelativeResize="0"/>
          <p:nvPr/>
        </p:nvPicPr>
        <p:blipFill>
          <a:blip r:embed="rId3">
            <a:alphaModFix/>
          </a:blip>
          <a:stretch>
            <a:fillRect/>
          </a:stretch>
        </p:blipFill>
        <p:spPr>
          <a:xfrm>
            <a:off x="6049500" y="2002550"/>
            <a:ext cx="3094500" cy="29707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Organization Schemes</a:t>
            </a:r>
            <a:endParaRPr/>
          </a:p>
        </p:txBody>
      </p:sp>
      <p:sp>
        <p:nvSpPr>
          <p:cNvPr id="167" name="Google Shape;167;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Organization schemes have to do with how you are going to </a:t>
            </a:r>
            <a:r>
              <a:rPr b="1" lang="it"/>
              <a:t>categorize </a:t>
            </a:r>
            <a:r>
              <a:rPr lang="it"/>
              <a:t>your </a:t>
            </a:r>
            <a:r>
              <a:rPr b="1" lang="it"/>
              <a:t>content </a:t>
            </a:r>
            <a:r>
              <a:rPr lang="it"/>
              <a:t>and the various ways you'll create </a:t>
            </a:r>
            <a:r>
              <a:rPr b="1" lang="it"/>
              <a:t>relationships </a:t>
            </a:r>
            <a:r>
              <a:rPr lang="it"/>
              <a:t>between each piece. Most content can be categorized in multiple ways. </a:t>
            </a:r>
            <a:endParaRPr/>
          </a:p>
          <a:p>
            <a:pPr indent="0" lvl="0" marL="0" rtl="0" algn="l">
              <a:spcBef>
                <a:spcPts val="1600"/>
              </a:spcBef>
              <a:spcAft>
                <a:spcPts val="0"/>
              </a:spcAft>
              <a:buClr>
                <a:schemeClr val="dk1"/>
              </a:buClr>
              <a:buSzPts val="1100"/>
              <a:buFont typeface="Arial"/>
              <a:buNone/>
            </a:pPr>
            <a:r>
              <a:rPr lang="it"/>
              <a:t>Schemes can be broken down into </a:t>
            </a:r>
            <a:r>
              <a:rPr b="1" lang="it"/>
              <a:t>Exact and Subjective.</a:t>
            </a:r>
            <a:r>
              <a:rPr lang="it"/>
              <a:t>  </a:t>
            </a:r>
            <a:endParaRPr/>
          </a:p>
          <a:p>
            <a:pPr indent="0" lvl="0" marL="0" rtl="0" algn="l">
              <a:spcBef>
                <a:spcPts val="1600"/>
              </a:spcBef>
              <a:spcAft>
                <a:spcPts val="0"/>
              </a:spcAft>
              <a:buClr>
                <a:schemeClr val="dk1"/>
              </a:buClr>
              <a:buSzPts val="1100"/>
              <a:buFont typeface="Arial"/>
              <a:buNone/>
            </a:pPr>
            <a:r>
              <a:rPr lang="it"/>
              <a:t>Depending on the content, it’s conceivable that the site may combine schemes as opposed to treating them independently.</a:t>
            </a:r>
            <a:endParaRPr/>
          </a:p>
          <a:p>
            <a:pPr indent="0" lvl="0" marL="0" rtl="0" algn="l">
              <a:spcBef>
                <a:spcPts val="1600"/>
              </a:spcBef>
              <a:spcAft>
                <a:spcPts val="0"/>
              </a:spcAft>
              <a:buNone/>
            </a:pPr>
            <a:r>
              <a:t/>
            </a:r>
            <a:endParaRPr sz="2800">
              <a:solidFill>
                <a:schemeClr val="dk1"/>
              </a:solidFill>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lang="it"/>
              <a:t>Exact Organization Schemes</a:t>
            </a:r>
            <a:endParaRPr/>
          </a:p>
        </p:txBody>
      </p:sp>
      <p:sp>
        <p:nvSpPr>
          <p:cNvPr id="173" name="Google Shape;173;p30"/>
          <p:cNvSpPr txBox="1"/>
          <p:nvPr>
            <p:ph idx="1" type="body"/>
          </p:nvPr>
        </p:nvSpPr>
        <p:spPr>
          <a:xfrm>
            <a:off x="311700" y="619075"/>
            <a:ext cx="8520600" cy="45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Exact organization schemes objectively </a:t>
            </a:r>
            <a:r>
              <a:rPr b="1" lang="it"/>
              <a:t>divide information into mutually exclusive sections</a:t>
            </a:r>
            <a:r>
              <a:rPr lang="it"/>
              <a:t>.  </a:t>
            </a:r>
            <a:endParaRPr/>
          </a:p>
          <a:p>
            <a:pPr indent="0" lvl="0" marL="0" rtl="0" algn="l">
              <a:spcBef>
                <a:spcPts val="1600"/>
              </a:spcBef>
              <a:spcAft>
                <a:spcPts val="0"/>
              </a:spcAft>
              <a:buClr>
                <a:schemeClr val="dk1"/>
              </a:buClr>
              <a:buSzPts val="1100"/>
              <a:buFont typeface="Arial"/>
              <a:buNone/>
            </a:pPr>
            <a:r>
              <a:rPr lang="it"/>
              <a:t>These systems comparatively are easy for information architects to create and categorize content within.  However, they can be a challenge at times for users. </a:t>
            </a:r>
            <a:endParaRPr/>
          </a:p>
          <a:p>
            <a:pPr indent="0" lvl="0" marL="0" rtl="0" algn="l">
              <a:spcBef>
                <a:spcPts val="1600"/>
              </a:spcBef>
              <a:spcAft>
                <a:spcPts val="0"/>
              </a:spcAft>
              <a:buClr>
                <a:schemeClr val="dk1"/>
              </a:buClr>
              <a:buSzPts val="1100"/>
              <a:buFont typeface="Arial"/>
              <a:buNone/>
            </a:pPr>
            <a:r>
              <a:rPr lang="it"/>
              <a:t>It requires that the user understands how what they are looking for fits within the model. </a:t>
            </a:r>
            <a:endParaRPr/>
          </a:p>
          <a:p>
            <a:pPr indent="0" lvl="0" marL="0" rtl="0" algn="l">
              <a:spcBef>
                <a:spcPts val="1600"/>
              </a:spcBef>
              <a:spcAft>
                <a:spcPts val="0"/>
              </a:spcAft>
              <a:buClr>
                <a:schemeClr val="dk1"/>
              </a:buClr>
              <a:buSzPts val="1100"/>
              <a:buFont typeface="Arial"/>
              <a:buNone/>
            </a:pPr>
            <a:r>
              <a:rPr lang="it"/>
              <a:t>Examples of exact organizational structures include:</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lang="it"/>
              <a:t>Exact Organization Schemes</a:t>
            </a:r>
            <a:endParaRPr/>
          </a:p>
        </p:txBody>
      </p:sp>
      <p:sp>
        <p:nvSpPr>
          <p:cNvPr id="179" name="Google Shape;179;p31"/>
          <p:cNvSpPr txBox="1"/>
          <p:nvPr>
            <p:ph idx="1" type="body"/>
          </p:nvPr>
        </p:nvSpPr>
        <p:spPr>
          <a:xfrm>
            <a:off x="311700" y="619075"/>
            <a:ext cx="5808600" cy="452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Alphabetical schemes</a:t>
            </a:r>
            <a:r>
              <a:rPr lang="it"/>
              <a:t> make use of our 26-letter alphabet for organizing their contents. </a:t>
            </a:r>
            <a:endParaRPr/>
          </a:p>
          <a:p>
            <a:pPr indent="0" lvl="0" marL="0" rtl="0" algn="l">
              <a:spcBef>
                <a:spcPts val="1600"/>
              </a:spcBef>
              <a:spcAft>
                <a:spcPts val="0"/>
              </a:spcAft>
              <a:buNone/>
            </a:pPr>
            <a:r>
              <a:rPr lang="it"/>
              <a:t>For this type of scheme to be successful, it is important that the content labeling matches the words that users are looking for. </a:t>
            </a:r>
            <a:endParaRPr/>
          </a:p>
          <a:p>
            <a:pPr indent="0" lvl="0" marL="0" rtl="0" algn="l">
              <a:spcBef>
                <a:spcPts val="1600"/>
              </a:spcBef>
              <a:spcAft>
                <a:spcPts val="0"/>
              </a:spcAft>
              <a:buClr>
                <a:schemeClr val="dk1"/>
              </a:buClr>
              <a:buSzPts val="1100"/>
              <a:buFont typeface="Arial"/>
              <a:buNone/>
            </a:pPr>
            <a:r>
              <a:rPr lang="it"/>
              <a:t>Sometimes, alphabetical schemes in the form of an A-Z index serve as secondary navigational components to supplement content findability that is otherwise organized.</a:t>
            </a:r>
            <a:endParaRPr/>
          </a:p>
          <a:p>
            <a:pPr indent="0" lvl="0" marL="0" rtl="0" algn="l">
              <a:spcBef>
                <a:spcPts val="1600"/>
              </a:spcBef>
              <a:spcAft>
                <a:spcPts val="1600"/>
              </a:spcAft>
              <a:buNone/>
            </a:pPr>
            <a:r>
              <a:t/>
            </a:r>
            <a:endParaRPr/>
          </a:p>
        </p:txBody>
      </p:sp>
      <p:pic>
        <p:nvPicPr>
          <p:cNvPr id="180" name="Google Shape;180;p31"/>
          <p:cNvPicPr preferRelativeResize="0"/>
          <p:nvPr/>
        </p:nvPicPr>
        <p:blipFill>
          <a:blip r:embed="rId3">
            <a:alphaModFix/>
          </a:blip>
          <a:stretch>
            <a:fillRect/>
          </a:stretch>
        </p:blipFill>
        <p:spPr>
          <a:xfrm>
            <a:off x="6250791" y="0"/>
            <a:ext cx="2893219" cy="51435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lang="it"/>
              <a:t>Exact Organization Schemes</a:t>
            </a:r>
            <a:endParaRPr/>
          </a:p>
        </p:txBody>
      </p:sp>
      <p:sp>
        <p:nvSpPr>
          <p:cNvPr id="186" name="Google Shape;186;p32"/>
          <p:cNvSpPr txBox="1"/>
          <p:nvPr>
            <p:ph idx="1" type="body"/>
          </p:nvPr>
        </p:nvSpPr>
        <p:spPr>
          <a:xfrm>
            <a:off x="311700" y="619075"/>
            <a:ext cx="6689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Chronological schemes</a:t>
            </a:r>
            <a:r>
              <a:rPr lang="it"/>
              <a:t> organize content by date. For these schemes to be successful there must be agreement about when the subject of the content took place.</a:t>
            </a:r>
            <a:endParaRPr/>
          </a:p>
          <a:p>
            <a:pPr indent="0" lvl="0" marL="0" rtl="0" algn="l">
              <a:spcBef>
                <a:spcPts val="1600"/>
              </a:spcBef>
              <a:spcAft>
                <a:spcPts val="0"/>
              </a:spcAft>
              <a:buClr>
                <a:schemeClr val="dk1"/>
              </a:buClr>
              <a:buSzPts val="1100"/>
              <a:buFont typeface="Arial"/>
              <a:buNone/>
            </a:pPr>
            <a:r>
              <a:rPr b="1" lang="it"/>
              <a:t>Geographical schemes</a:t>
            </a:r>
            <a:r>
              <a:rPr lang="it"/>
              <a:t> organize content based on place. Unless there are border disputes, this type of scheme is fairly straightforward to design and use.</a:t>
            </a:r>
            <a:endParaRPr/>
          </a:p>
          <a:p>
            <a:pPr indent="0" lvl="0" marL="0" rtl="0" algn="l">
              <a:spcBef>
                <a:spcPts val="1600"/>
              </a:spcBef>
              <a:spcAft>
                <a:spcPts val="0"/>
              </a:spcAft>
              <a:buClr>
                <a:schemeClr val="dk1"/>
              </a:buClr>
              <a:buSzPts val="1100"/>
              <a:buFont typeface="Arial"/>
              <a:buNone/>
            </a:pPr>
            <a:r>
              <a:rPr lang="it"/>
              <a:t>Often these types of schemes serve as a good supplemental way to navigate a site that that is otherwise organized.  For example, you may choose to provide a map to display information or an A-Z index to get to topics grouped primarily by one of the following subjective schemes.</a:t>
            </a:r>
            <a:endParaRPr/>
          </a:p>
          <a:p>
            <a:pPr indent="0" lvl="0" marL="0" rtl="0" algn="l">
              <a:spcBef>
                <a:spcPts val="1600"/>
              </a:spcBef>
              <a:spcAft>
                <a:spcPts val="1600"/>
              </a:spcAft>
              <a:buNone/>
            </a:pPr>
            <a:r>
              <a:t/>
            </a:r>
            <a:endParaRPr/>
          </a:p>
        </p:txBody>
      </p:sp>
      <p:pic>
        <p:nvPicPr>
          <p:cNvPr id="187" name="Google Shape;187;p32"/>
          <p:cNvPicPr preferRelativeResize="0"/>
          <p:nvPr/>
        </p:nvPicPr>
        <p:blipFill rotWithShape="1">
          <a:blip r:embed="rId3">
            <a:alphaModFix/>
          </a:blip>
          <a:srcRect b="0" l="0" r="0" t="17328"/>
          <a:stretch/>
        </p:blipFill>
        <p:spPr>
          <a:xfrm>
            <a:off x="7387050" y="22475"/>
            <a:ext cx="1756950" cy="2908200"/>
          </a:xfrm>
          <a:prstGeom prst="rect">
            <a:avLst/>
          </a:prstGeom>
          <a:noFill/>
          <a:ln>
            <a:noFill/>
          </a:ln>
          <a:effectLst>
            <a:outerShdw blurRad="57150" rotWithShape="0" algn="bl" dir="5400000" dist="19050">
              <a:srgbClr val="000000">
                <a:alpha val="50000"/>
              </a:srgbClr>
            </a:outerShdw>
          </a:effectLst>
        </p:spPr>
      </p:pic>
      <p:pic>
        <p:nvPicPr>
          <p:cNvPr id="188" name="Google Shape;188;p32"/>
          <p:cNvPicPr preferRelativeResize="0"/>
          <p:nvPr/>
        </p:nvPicPr>
        <p:blipFill rotWithShape="1">
          <a:blip r:embed="rId4">
            <a:alphaModFix/>
          </a:blip>
          <a:srcRect b="31267" l="0" r="0" t="16603"/>
          <a:stretch/>
        </p:blipFill>
        <p:spPr>
          <a:xfrm>
            <a:off x="7165650" y="3078700"/>
            <a:ext cx="1978349" cy="20647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lang="it"/>
              <a:t>Subjective Organization Schemes</a:t>
            </a:r>
            <a:endParaRPr/>
          </a:p>
        </p:txBody>
      </p:sp>
      <p:sp>
        <p:nvSpPr>
          <p:cNvPr id="194" name="Google Shape;194;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Subjective organization schemes </a:t>
            </a:r>
            <a:r>
              <a:rPr b="1" lang="it"/>
              <a:t>categorize information in a way that may be specific </a:t>
            </a:r>
            <a:r>
              <a:rPr lang="it"/>
              <a:t>to or defined by the organization or field. </a:t>
            </a:r>
            <a:endParaRPr/>
          </a:p>
          <a:p>
            <a:pPr indent="0" lvl="0" marL="0" rtl="0" algn="l">
              <a:spcBef>
                <a:spcPts val="1600"/>
              </a:spcBef>
              <a:spcAft>
                <a:spcPts val="0"/>
              </a:spcAft>
              <a:buClr>
                <a:schemeClr val="dk1"/>
              </a:buClr>
              <a:buSzPts val="1100"/>
              <a:buFont typeface="Arial"/>
              <a:buNone/>
            </a:pPr>
            <a:r>
              <a:rPr lang="it"/>
              <a:t>Although they are difficult to design, </a:t>
            </a:r>
            <a:r>
              <a:rPr b="1" lang="it"/>
              <a:t>they are often more useful than exact organization schemes.</a:t>
            </a:r>
            <a:r>
              <a:rPr lang="it"/>
              <a:t> </a:t>
            </a:r>
            <a:endParaRPr/>
          </a:p>
          <a:p>
            <a:pPr indent="0" lvl="0" marL="0" rtl="0" algn="l">
              <a:spcBef>
                <a:spcPts val="1600"/>
              </a:spcBef>
              <a:spcAft>
                <a:spcPts val="0"/>
              </a:spcAft>
              <a:buClr>
                <a:schemeClr val="dk1"/>
              </a:buClr>
              <a:buSzPts val="1100"/>
              <a:buFont typeface="Arial"/>
              <a:buNone/>
            </a:pPr>
            <a:r>
              <a:rPr lang="it"/>
              <a:t>When information architects take the time to consider the user’s mental models and group the content in meaningful ways, these types of schemes can be quite effective in producing conversions. </a:t>
            </a:r>
            <a:endParaRPr/>
          </a:p>
          <a:p>
            <a:pPr indent="0" lvl="0" marL="0" rtl="0" algn="l">
              <a:spcBef>
                <a:spcPts val="1600"/>
              </a:spcBef>
              <a:spcAft>
                <a:spcPts val="0"/>
              </a:spcAft>
              <a:buClr>
                <a:schemeClr val="dk1"/>
              </a:buClr>
              <a:buSzPts val="1100"/>
              <a:buFont typeface="Arial"/>
              <a:buNone/>
            </a:pPr>
            <a:r>
              <a:rPr lang="it"/>
              <a:t>This type of categorization can also help facilitate learning by helping users understand and draw connections between pieces of content.  </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lang="it"/>
              <a:t>Subjective Organization Schemes</a:t>
            </a:r>
            <a:endParaRPr/>
          </a:p>
        </p:txBody>
      </p:sp>
      <p:sp>
        <p:nvSpPr>
          <p:cNvPr id="200" name="Google Shape;200;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Examples of subjective schemes include the following:</a:t>
            </a:r>
            <a:endParaRPr/>
          </a:p>
          <a:p>
            <a:pPr indent="0" lvl="0" marL="0" rtl="0" algn="l">
              <a:spcBef>
                <a:spcPts val="1600"/>
              </a:spcBef>
              <a:spcAft>
                <a:spcPts val="0"/>
              </a:spcAft>
              <a:buClr>
                <a:schemeClr val="dk1"/>
              </a:buClr>
              <a:buSzPts val="1100"/>
              <a:buFont typeface="Arial"/>
              <a:buNone/>
            </a:pPr>
            <a:r>
              <a:rPr b="1" lang="it"/>
              <a:t>Topic schemes</a:t>
            </a:r>
            <a:r>
              <a:rPr lang="it"/>
              <a:t> organize content based on the specific subject matter.</a:t>
            </a:r>
            <a:endParaRPr/>
          </a:p>
          <a:p>
            <a:pPr indent="0" lvl="0" marL="0" rtl="0" algn="l">
              <a:spcBef>
                <a:spcPts val="1600"/>
              </a:spcBef>
              <a:spcAft>
                <a:spcPts val="0"/>
              </a:spcAft>
              <a:buClr>
                <a:schemeClr val="dk1"/>
              </a:buClr>
              <a:buSzPts val="1100"/>
              <a:buFont typeface="Arial"/>
              <a:buNone/>
            </a:pPr>
            <a:r>
              <a:rPr b="1" lang="it"/>
              <a:t>Task schemes</a:t>
            </a:r>
            <a:r>
              <a:rPr lang="it"/>
              <a:t> organize content by considering the needs, actions, questions, or processes that users bring to that specific content.</a:t>
            </a:r>
            <a:endParaRPr/>
          </a:p>
          <a:p>
            <a:pPr indent="0" lvl="0" marL="0" rtl="0" algn="l">
              <a:spcBef>
                <a:spcPts val="1600"/>
              </a:spcBef>
              <a:spcAft>
                <a:spcPts val="1600"/>
              </a:spcAft>
              <a:buNone/>
            </a:pPr>
            <a:r>
              <a:t/>
            </a:r>
            <a:endParaRPr/>
          </a:p>
        </p:txBody>
      </p:sp>
      <p:pic>
        <p:nvPicPr>
          <p:cNvPr id="201" name="Google Shape;201;p34"/>
          <p:cNvPicPr preferRelativeResize="0"/>
          <p:nvPr/>
        </p:nvPicPr>
        <p:blipFill>
          <a:blip r:embed="rId3">
            <a:alphaModFix/>
          </a:blip>
          <a:stretch>
            <a:fillRect/>
          </a:stretch>
        </p:blipFill>
        <p:spPr>
          <a:xfrm>
            <a:off x="5734700" y="2134425"/>
            <a:ext cx="1814025" cy="2175800"/>
          </a:xfrm>
          <a:prstGeom prst="rect">
            <a:avLst/>
          </a:prstGeom>
          <a:noFill/>
          <a:ln>
            <a:noFill/>
          </a:ln>
          <a:effectLst>
            <a:outerShdw blurRad="57150" rotWithShape="0" algn="bl" dir="5400000" dist="19050">
              <a:srgbClr val="000000">
                <a:alpha val="50000"/>
              </a:srgbClr>
            </a:outerShdw>
          </a:effectLst>
        </p:spPr>
      </p:pic>
      <p:pic>
        <p:nvPicPr>
          <p:cNvPr id="202" name="Google Shape;202;p34"/>
          <p:cNvPicPr preferRelativeResize="0"/>
          <p:nvPr/>
        </p:nvPicPr>
        <p:blipFill>
          <a:blip r:embed="rId4">
            <a:alphaModFix/>
          </a:blip>
          <a:stretch>
            <a:fillRect/>
          </a:stretch>
        </p:blipFill>
        <p:spPr>
          <a:xfrm>
            <a:off x="415000" y="2447575"/>
            <a:ext cx="4777276" cy="2491700"/>
          </a:xfrm>
          <a:prstGeom prst="rect">
            <a:avLst/>
          </a:prstGeom>
          <a:noFill/>
          <a:ln>
            <a:noFill/>
          </a:ln>
          <a:effectLst>
            <a:outerShdw blurRad="57150" rotWithShape="0" algn="bl" dir="5400000" dist="19050">
              <a:srgbClr val="000000">
                <a:alpha val="50000"/>
              </a:srgbClr>
            </a:outerShdw>
          </a:effectLst>
        </p:spPr>
      </p:pic>
      <p:pic>
        <p:nvPicPr>
          <p:cNvPr id="203" name="Google Shape;203;p34"/>
          <p:cNvPicPr preferRelativeResize="0"/>
          <p:nvPr/>
        </p:nvPicPr>
        <p:blipFill rotWithShape="1">
          <a:blip r:embed="rId5">
            <a:alphaModFix/>
          </a:blip>
          <a:srcRect b="40576" l="0" r="79352" t="33577"/>
          <a:stretch/>
        </p:blipFill>
        <p:spPr>
          <a:xfrm>
            <a:off x="7182250" y="3071527"/>
            <a:ext cx="1961750" cy="2071972"/>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a:t>Subjective Organization Schemes</a:t>
            </a:r>
            <a:endParaRPr/>
          </a:p>
          <a:p>
            <a:pPr indent="0" lvl="0" marL="0" rtl="0" algn="l">
              <a:spcBef>
                <a:spcPts val="1600"/>
              </a:spcBef>
              <a:spcAft>
                <a:spcPts val="0"/>
              </a:spcAft>
              <a:buNone/>
            </a:pPr>
            <a:r>
              <a:t/>
            </a:r>
            <a:endParaRPr/>
          </a:p>
        </p:txBody>
      </p:sp>
      <p:sp>
        <p:nvSpPr>
          <p:cNvPr id="209" name="Google Shape;209;p35"/>
          <p:cNvSpPr txBox="1"/>
          <p:nvPr>
            <p:ph idx="1" type="body"/>
          </p:nvPr>
        </p:nvSpPr>
        <p:spPr>
          <a:xfrm>
            <a:off x="311700" y="619075"/>
            <a:ext cx="5357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Audience schemes</a:t>
            </a:r>
            <a:r>
              <a:rPr lang="it"/>
              <a:t> organize content for separate segments of users.  Audience schemes can be closed or open, meaning that users are able to navigate from one audience to another.  This type of scheme does present challenges unless the content lends itself to users very easily self-identifying to which audience they belong and perhaps not fitting multiple audience profiles.</a:t>
            </a:r>
            <a:endParaRPr b="1"/>
          </a:p>
          <a:p>
            <a:pPr indent="0" lvl="0" marL="0" rtl="0" algn="l">
              <a:spcBef>
                <a:spcPts val="1600"/>
              </a:spcBef>
              <a:spcAft>
                <a:spcPts val="0"/>
              </a:spcAft>
              <a:buClr>
                <a:schemeClr val="dk1"/>
              </a:buClr>
              <a:buSzPts val="1100"/>
              <a:buFont typeface="Arial"/>
              <a:buNone/>
            </a:pPr>
            <a:r>
              <a:rPr b="1" lang="it"/>
              <a:t>Metaphor schemes</a:t>
            </a:r>
            <a:r>
              <a:rPr lang="it"/>
              <a:t> help users by relating content to familiar concepts.  This is used in interface design (folders, trash, etc) but can pose challenges when used as the site’s primary organization scheme.</a:t>
            </a:r>
            <a:endParaRPr/>
          </a:p>
          <a:p>
            <a:pPr indent="0" lvl="0" marL="0" rtl="0" algn="l">
              <a:spcBef>
                <a:spcPts val="1600"/>
              </a:spcBef>
              <a:spcAft>
                <a:spcPts val="1600"/>
              </a:spcAft>
              <a:buNone/>
            </a:pPr>
            <a:r>
              <a:t/>
            </a:r>
            <a:endParaRPr/>
          </a:p>
        </p:txBody>
      </p:sp>
      <p:pic>
        <p:nvPicPr>
          <p:cNvPr id="210" name="Google Shape;210;p35"/>
          <p:cNvPicPr preferRelativeResize="0"/>
          <p:nvPr/>
        </p:nvPicPr>
        <p:blipFill rotWithShape="1">
          <a:blip r:embed="rId3">
            <a:alphaModFix/>
          </a:blip>
          <a:srcRect b="30565" l="0" r="0" t="0"/>
          <a:stretch/>
        </p:blipFill>
        <p:spPr>
          <a:xfrm>
            <a:off x="5884400" y="1085175"/>
            <a:ext cx="3067625" cy="1059924"/>
          </a:xfrm>
          <a:prstGeom prst="rect">
            <a:avLst/>
          </a:prstGeom>
          <a:noFill/>
          <a:ln>
            <a:noFill/>
          </a:ln>
        </p:spPr>
      </p:pic>
      <p:pic>
        <p:nvPicPr>
          <p:cNvPr id="211" name="Google Shape;211;p35"/>
          <p:cNvPicPr preferRelativeResize="0"/>
          <p:nvPr/>
        </p:nvPicPr>
        <p:blipFill rotWithShape="1">
          <a:blip r:embed="rId4">
            <a:alphaModFix/>
          </a:blip>
          <a:srcRect b="19354" l="0" r="0" t="0"/>
          <a:stretch/>
        </p:blipFill>
        <p:spPr>
          <a:xfrm>
            <a:off x="5821500" y="2907100"/>
            <a:ext cx="3170100" cy="18899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Challenges of Creating Hybrids</a:t>
            </a:r>
            <a:endParaRPr/>
          </a:p>
        </p:txBody>
      </p:sp>
      <p:sp>
        <p:nvSpPr>
          <p:cNvPr id="217" name="Google Shape;217;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Implementing schemes independently has its advantages because it keeps things simple for the user. </a:t>
            </a:r>
            <a:endParaRPr/>
          </a:p>
          <a:p>
            <a:pPr indent="0" lvl="0" marL="0" rtl="0" algn="l">
              <a:spcBef>
                <a:spcPts val="1600"/>
              </a:spcBef>
              <a:spcAft>
                <a:spcPts val="0"/>
              </a:spcAft>
              <a:buClr>
                <a:schemeClr val="dk1"/>
              </a:buClr>
              <a:buSzPts val="1100"/>
              <a:buFont typeface="Arial"/>
              <a:buNone/>
            </a:pPr>
            <a:r>
              <a:rPr lang="it"/>
              <a:t>They can identify the categorization and form a mental model that can be quickly understood. </a:t>
            </a:r>
            <a:endParaRPr/>
          </a:p>
          <a:p>
            <a:pPr indent="0" lvl="0" marL="0" rtl="0" algn="l">
              <a:spcBef>
                <a:spcPts val="1600"/>
              </a:spcBef>
              <a:spcAft>
                <a:spcPts val="0"/>
              </a:spcAft>
              <a:buClr>
                <a:schemeClr val="dk1"/>
              </a:buClr>
              <a:buSzPts val="1100"/>
              <a:buFont typeface="Arial"/>
              <a:buNone/>
            </a:pPr>
            <a:r>
              <a:rPr lang="it"/>
              <a:t>Mixing schemes by creating hybrids can cause confusion for users. </a:t>
            </a:r>
            <a:endParaRPr/>
          </a:p>
          <a:p>
            <a:pPr indent="0" lvl="0" marL="0" rtl="0" algn="l">
              <a:spcBef>
                <a:spcPts val="1600"/>
              </a:spcBef>
              <a:spcAft>
                <a:spcPts val="0"/>
              </a:spcAft>
              <a:buClr>
                <a:schemeClr val="dk1"/>
              </a:buClr>
              <a:buSzPts val="1100"/>
              <a:buFont typeface="Arial"/>
              <a:buNone/>
            </a:pPr>
            <a:r>
              <a:rPr lang="it"/>
              <a:t>This is often proposed as a solution when project teams cannot agree on a single scheme to categorize the content.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Navigation</a:t>
            </a:r>
            <a:endParaRPr/>
          </a:p>
        </p:txBody>
      </p:sp>
      <p:sp>
        <p:nvSpPr>
          <p:cNvPr id="223" name="Google Shape;223;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study of IA informs the navigation design process. </a:t>
            </a:r>
            <a:endParaRPr/>
          </a:p>
          <a:p>
            <a:pPr indent="0" lvl="0" marL="0" rtl="0" algn="l">
              <a:spcBef>
                <a:spcPts val="1600"/>
              </a:spcBef>
              <a:spcAft>
                <a:spcPts val="0"/>
              </a:spcAft>
              <a:buNone/>
            </a:pPr>
            <a:r>
              <a:rPr lang="it"/>
              <a:t>Navigation is about the </a:t>
            </a:r>
            <a:r>
              <a:rPr b="1" lang="it"/>
              <a:t>user's orientation in the interface, and its main goal is to enable the user to find the information</a:t>
            </a:r>
            <a:r>
              <a:rPr lang="it"/>
              <a:t> and functions he or she is looking for and, not only that, to encourage him or her in a direction that might be desirable to him or her. </a:t>
            </a:r>
            <a:endParaRPr/>
          </a:p>
          <a:p>
            <a:pPr indent="0" lvl="0" marL="0" rtl="0" algn="l">
              <a:spcBef>
                <a:spcPts val="1600"/>
              </a:spcBef>
              <a:spcAft>
                <a:spcPts val="0"/>
              </a:spcAft>
              <a:buNone/>
            </a:pPr>
            <a:r>
              <a:rPr lang="it"/>
              <a:t>The basic principles for good navigation are </a:t>
            </a:r>
            <a:r>
              <a:rPr b="1" lang="it"/>
              <a:t>findability </a:t>
            </a:r>
            <a:r>
              <a:rPr lang="it"/>
              <a:t>and </a:t>
            </a:r>
            <a:r>
              <a:rPr b="1" lang="it"/>
              <a:t>discoverability</a:t>
            </a:r>
            <a:r>
              <a:rPr lang="it"/>
              <a: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Navigation</a:t>
            </a:r>
            <a:endParaRPr/>
          </a:p>
        </p:txBody>
      </p:sp>
      <p:sp>
        <p:nvSpPr>
          <p:cNvPr id="229" name="Google Shape;229;p38"/>
          <p:cNvSpPr txBox="1"/>
          <p:nvPr>
            <p:ph idx="1" type="body"/>
          </p:nvPr>
        </p:nvSpPr>
        <p:spPr>
          <a:xfrm>
            <a:off x="311700" y="619075"/>
            <a:ext cx="8520600" cy="1131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it"/>
              <a:t>Findability </a:t>
            </a:r>
            <a:r>
              <a:rPr lang="it"/>
              <a:t>means being able to get to the information you are looking for, or more precisely, how the user is able to localize the information he or she considers relevant. </a:t>
            </a:r>
            <a:endParaRPr/>
          </a:p>
        </p:txBody>
      </p:sp>
      <p:pic>
        <p:nvPicPr>
          <p:cNvPr id="230" name="Google Shape;230;p38"/>
          <p:cNvPicPr preferRelativeResize="0"/>
          <p:nvPr/>
        </p:nvPicPr>
        <p:blipFill>
          <a:blip r:embed="rId3">
            <a:alphaModFix/>
          </a:blip>
          <a:stretch>
            <a:fillRect/>
          </a:stretch>
        </p:blipFill>
        <p:spPr>
          <a:xfrm>
            <a:off x="3857100" y="1750075"/>
            <a:ext cx="4975201" cy="2800225"/>
          </a:xfrm>
          <a:prstGeom prst="rect">
            <a:avLst/>
          </a:prstGeom>
          <a:noFill/>
          <a:ln>
            <a:noFill/>
          </a:ln>
        </p:spPr>
      </p:pic>
      <p:sp>
        <p:nvSpPr>
          <p:cNvPr id="231" name="Google Shape;231;p38"/>
          <p:cNvSpPr txBox="1"/>
          <p:nvPr/>
        </p:nvSpPr>
        <p:spPr>
          <a:xfrm>
            <a:off x="311700" y="1848925"/>
            <a:ext cx="3214800" cy="289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it" sz="1800">
                <a:solidFill>
                  <a:schemeClr val="dk2"/>
                </a:solidFill>
              </a:rPr>
              <a:t>In a library, for example, it indicates the ease with which one can locate a book one is looking for. </a:t>
            </a:r>
            <a:endParaRPr sz="1800">
              <a:solidFill>
                <a:schemeClr val="dk2"/>
              </a:solidFill>
            </a:endParaRPr>
          </a:p>
          <a:p>
            <a:pPr indent="0" lvl="0" marL="0" rtl="0" algn="l">
              <a:lnSpc>
                <a:spcPct val="115000"/>
              </a:lnSpc>
              <a:spcBef>
                <a:spcPts val="1600"/>
              </a:spcBef>
              <a:spcAft>
                <a:spcPts val="1600"/>
              </a:spcAft>
              <a:buClr>
                <a:schemeClr val="dk1"/>
              </a:buClr>
              <a:buSzPts val="1100"/>
              <a:buFont typeface="Arial"/>
              <a:buNone/>
            </a:pPr>
            <a:r>
              <a:rPr lang="it" sz="1800">
                <a:solidFill>
                  <a:schemeClr val="dk2"/>
                </a:solidFill>
              </a:rPr>
              <a:t>Placing elements consistently within the interface and using  standards usually promotes findability.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it"/>
              <a:t>Navigation</a:t>
            </a:r>
            <a:endParaRPr/>
          </a:p>
        </p:txBody>
      </p:sp>
      <p:sp>
        <p:nvSpPr>
          <p:cNvPr id="237" name="Google Shape;237;p39"/>
          <p:cNvSpPr txBox="1"/>
          <p:nvPr>
            <p:ph idx="1" type="body"/>
          </p:nvPr>
        </p:nvSpPr>
        <p:spPr>
          <a:xfrm>
            <a:off x="311700" y="619075"/>
            <a:ext cx="8520600" cy="40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p>
          <a:p>
            <a:pPr indent="0" lvl="0" marL="0" rtl="0" algn="l">
              <a:spcBef>
                <a:spcPts val="1600"/>
              </a:spcBef>
              <a:spcAft>
                <a:spcPts val="0"/>
              </a:spcAft>
              <a:buNone/>
            </a:pPr>
            <a:r>
              <a:rPr b="1" lang="it"/>
              <a:t>Discoverability </a:t>
            </a:r>
            <a:r>
              <a:rPr lang="it"/>
              <a:t>refers to the possibility that users have of discovering new information or new features that they were not aware of and were not specifically looking for. </a:t>
            </a:r>
            <a:endParaRPr/>
          </a:p>
          <a:p>
            <a:pPr indent="0" lvl="0" marL="0" rtl="0" algn="l">
              <a:spcBef>
                <a:spcPts val="1600"/>
              </a:spcBef>
              <a:spcAft>
                <a:spcPts val="0"/>
              </a:spcAft>
              <a:buNone/>
            </a:pPr>
            <a:r>
              <a:rPr lang="it"/>
              <a:t>In the library example, it concerns the possibility of discovering a new book that catches one's eye while looking at a shelf or while searching for something else.</a:t>
            </a:r>
            <a:endParaRPr/>
          </a:p>
          <a:p>
            <a:pPr indent="0" lvl="0" marL="0" rtl="0" algn="l">
              <a:spcBef>
                <a:spcPts val="1600"/>
              </a:spcBef>
              <a:spcAft>
                <a:spcPts val="1600"/>
              </a:spcAft>
              <a:buNone/>
            </a:pPr>
            <a:r>
              <a:rPr lang="it" u="sng"/>
              <a:t>The interface often indirectly provides the tools that enable the discovery activity because it can only be evaluated in retrospect.</a:t>
            </a:r>
            <a:r>
              <a:rPr lang="it"/>
              <a:t> However, it is possible to design for discoverability by placing the new feature, for example, near the most viewed or most relevant items.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Findability vs Discoverability</a:t>
            </a:r>
            <a:endParaRPr/>
          </a:p>
        </p:txBody>
      </p:sp>
      <p:sp>
        <p:nvSpPr>
          <p:cNvPr id="243" name="Google Shape;243;p40"/>
          <p:cNvSpPr txBox="1"/>
          <p:nvPr>
            <p:ph idx="1" type="body"/>
          </p:nvPr>
        </p:nvSpPr>
        <p:spPr>
          <a:xfrm>
            <a:off x="805625" y="2815250"/>
            <a:ext cx="3157500" cy="14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With Findability the users knows or expects that a certain content or feature will be available.</a:t>
            </a:r>
            <a:endParaRPr/>
          </a:p>
          <a:p>
            <a:pPr indent="0" lvl="0" marL="0" rtl="0" algn="l">
              <a:spcBef>
                <a:spcPts val="1600"/>
              </a:spcBef>
              <a:spcAft>
                <a:spcPts val="1600"/>
              </a:spcAft>
              <a:buNone/>
            </a:pPr>
            <a:r>
              <a:t/>
            </a:r>
            <a:endParaRPr/>
          </a:p>
        </p:txBody>
      </p:sp>
      <p:pic>
        <p:nvPicPr>
          <p:cNvPr id="244" name="Google Shape;244;p40"/>
          <p:cNvPicPr preferRelativeResize="0"/>
          <p:nvPr/>
        </p:nvPicPr>
        <p:blipFill>
          <a:blip r:embed="rId3">
            <a:alphaModFix/>
          </a:blip>
          <a:stretch>
            <a:fillRect/>
          </a:stretch>
        </p:blipFill>
        <p:spPr>
          <a:xfrm>
            <a:off x="1677075" y="1343375"/>
            <a:ext cx="1414600" cy="1414600"/>
          </a:xfrm>
          <a:prstGeom prst="rect">
            <a:avLst/>
          </a:prstGeom>
          <a:noFill/>
          <a:ln>
            <a:noFill/>
          </a:ln>
        </p:spPr>
      </p:pic>
      <p:sp>
        <p:nvSpPr>
          <p:cNvPr id="245" name="Google Shape;245;p40"/>
          <p:cNvSpPr txBox="1"/>
          <p:nvPr/>
        </p:nvSpPr>
        <p:spPr>
          <a:xfrm>
            <a:off x="4915225" y="2815250"/>
            <a:ext cx="3157500" cy="173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it" sz="1800">
                <a:solidFill>
                  <a:schemeClr val="dk2"/>
                </a:solidFill>
              </a:rPr>
              <a:t>With Discoverability the users don’t know that the content or functionality is there: they have to discover it!</a:t>
            </a:r>
            <a:endParaRPr sz="1800">
              <a:solidFill>
                <a:schemeClr val="dk2"/>
              </a:solidFill>
            </a:endParaRPr>
          </a:p>
        </p:txBody>
      </p:sp>
      <p:pic>
        <p:nvPicPr>
          <p:cNvPr id="246" name="Google Shape;246;p40"/>
          <p:cNvPicPr preferRelativeResize="0"/>
          <p:nvPr/>
        </p:nvPicPr>
        <p:blipFill>
          <a:blip r:embed="rId4">
            <a:alphaModFix/>
          </a:blip>
          <a:stretch>
            <a:fillRect/>
          </a:stretch>
        </p:blipFill>
        <p:spPr>
          <a:xfrm>
            <a:off x="5786675" y="1248250"/>
            <a:ext cx="1414600" cy="1414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Users behavior patterns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Users behavior patterns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57" name="Google Shape;257;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We've explored how to understand users through personas and scenarios, identifying their needs, goals, and motivations.</a:t>
            </a:r>
            <a:endParaRPr/>
          </a:p>
          <a:p>
            <a:pPr indent="0" lvl="0" marL="0" rtl="0" algn="l">
              <a:spcBef>
                <a:spcPts val="1600"/>
              </a:spcBef>
              <a:spcAft>
                <a:spcPts val="0"/>
              </a:spcAft>
              <a:buClr>
                <a:schemeClr val="dk1"/>
              </a:buClr>
              <a:buSzPts val="1100"/>
              <a:buFont typeface="Arial"/>
              <a:buNone/>
            </a:pPr>
            <a:r>
              <a:rPr lang="it"/>
              <a:t>However, when users interact with interfaces, their behavior follows certain predictable patterns. These patterns emerge regardless of the specific interface or user demographics.</a:t>
            </a:r>
            <a:endParaRPr/>
          </a:p>
          <a:p>
            <a:pPr indent="0" lvl="0" marL="0" rtl="0" algn="l">
              <a:spcBef>
                <a:spcPts val="1600"/>
              </a:spcBef>
              <a:spcAft>
                <a:spcPts val="0"/>
              </a:spcAft>
              <a:buClr>
                <a:schemeClr val="dk1"/>
              </a:buClr>
              <a:buSzPts val="1100"/>
              <a:buFont typeface="Arial"/>
              <a:buNone/>
            </a:pPr>
            <a:r>
              <a:rPr lang="it"/>
              <a:t>Understanding these patterns helps us:</a:t>
            </a:r>
            <a:endParaRPr/>
          </a:p>
          <a:p>
            <a:pPr indent="-342900" lvl="0" marL="457200" rtl="0" algn="l">
              <a:spcBef>
                <a:spcPts val="1600"/>
              </a:spcBef>
              <a:spcAft>
                <a:spcPts val="0"/>
              </a:spcAft>
              <a:buSzPts val="1800"/>
              <a:buChar char="●"/>
            </a:pPr>
            <a:r>
              <a:rPr lang="it"/>
              <a:t>Design interfaces that feel natural to users</a:t>
            </a:r>
            <a:endParaRPr/>
          </a:p>
          <a:p>
            <a:pPr indent="-342900" lvl="0" marL="457200" rtl="0" algn="l">
              <a:spcBef>
                <a:spcPts val="0"/>
              </a:spcBef>
              <a:spcAft>
                <a:spcPts val="0"/>
              </a:spcAft>
              <a:buSzPts val="1800"/>
              <a:buChar char="●"/>
            </a:pPr>
            <a:r>
              <a:rPr lang="it"/>
              <a:t>Support common user strategies and habits</a:t>
            </a:r>
            <a:endParaRPr/>
          </a:p>
          <a:p>
            <a:pPr indent="-342900" lvl="0" marL="457200" rtl="0" algn="l">
              <a:spcBef>
                <a:spcPts val="0"/>
              </a:spcBef>
              <a:spcAft>
                <a:spcPts val="0"/>
              </a:spcAft>
              <a:buSzPts val="1800"/>
              <a:buChar char="●"/>
            </a:pPr>
            <a:r>
              <a:rPr lang="it"/>
              <a:t>Avoid fighting against natural user behaviors</a:t>
            </a:r>
            <a:endParaRPr/>
          </a:p>
          <a:p>
            <a:pPr indent="-342900" lvl="0" marL="457200" rtl="0" algn="l">
              <a:spcBef>
                <a:spcPts val="0"/>
              </a:spcBef>
              <a:spcAft>
                <a:spcPts val="0"/>
              </a:spcAft>
              <a:buSzPts val="1800"/>
              <a:buChar char="●"/>
            </a:pPr>
            <a:r>
              <a:rPr lang="it"/>
              <a:t>Create more intuitive interactions</a:t>
            </a:r>
            <a:endParaRPr/>
          </a:p>
          <a:p>
            <a:pPr indent="0" lvl="0" marL="0" rtl="0" algn="l">
              <a:spcBef>
                <a:spcPts val="1600"/>
              </a:spcBef>
              <a:spcAft>
                <a:spcPts val="1600"/>
              </a:spcAft>
              <a:buNone/>
            </a:pPr>
            <a:r>
              <a:t/>
            </a:r>
            <a:endParaRPr sz="9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3400"/>
              <a:t>Self Exploration</a:t>
            </a:r>
            <a:endParaRPr sz="3400"/>
          </a:p>
        </p:txBody>
      </p:sp>
      <p:sp>
        <p:nvSpPr>
          <p:cNvPr id="263" name="Google Shape;263;p43"/>
          <p:cNvSpPr txBox="1"/>
          <p:nvPr>
            <p:ph idx="1" type="body"/>
          </p:nvPr>
        </p:nvSpPr>
        <p:spPr>
          <a:xfrm>
            <a:off x="311700" y="1079975"/>
            <a:ext cx="8520600" cy="3833100"/>
          </a:xfrm>
          <a:prstGeom prst="rect">
            <a:avLst/>
          </a:prstGeom>
        </p:spPr>
        <p:txBody>
          <a:bodyPr anchorCtr="0" anchor="t" bIns="91425" lIns="91425" spcFirstLastPara="1" rIns="91425" wrap="square" tIns="91425">
            <a:noAutofit/>
          </a:bodyPr>
          <a:lstStyle/>
          <a:p>
            <a:pPr indent="-412750" lvl="0" marL="457200" rtl="0" algn="l">
              <a:spcBef>
                <a:spcPts val="0"/>
              </a:spcBef>
              <a:spcAft>
                <a:spcPts val="0"/>
              </a:spcAft>
              <a:buSzPts val="2900"/>
              <a:buChar char="●"/>
            </a:pPr>
            <a:r>
              <a:rPr lang="it" sz="2900"/>
              <a:t>Likely to learn more-and feel more positive about it</a:t>
            </a:r>
            <a:endParaRPr sz="2900"/>
          </a:p>
          <a:p>
            <a:pPr indent="-412750" lvl="0" marL="457200" rtl="0" algn="l">
              <a:spcBef>
                <a:spcPts val="0"/>
              </a:spcBef>
              <a:spcAft>
                <a:spcPts val="0"/>
              </a:spcAft>
              <a:buSzPts val="2900"/>
              <a:buChar char="●"/>
            </a:pPr>
            <a:r>
              <a:rPr lang="it" sz="2900"/>
              <a:t>Clicking pop-up windows, re-entering data mistakenly erased, pausing videos</a:t>
            </a:r>
            <a:endParaRPr sz="2900"/>
          </a:p>
          <a:p>
            <a:pPr indent="-412750" lvl="0" marL="457200" rtl="0" algn="l">
              <a:spcBef>
                <a:spcPts val="0"/>
              </a:spcBef>
              <a:spcAft>
                <a:spcPts val="0"/>
              </a:spcAft>
              <a:buSzPts val="2900"/>
              <a:buChar char="●"/>
            </a:pPr>
            <a:r>
              <a:rPr lang="it" sz="2900"/>
              <a:t>Make avenues of exploration available without costing the user anything</a:t>
            </a:r>
            <a:endParaRPr sz="2900"/>
          </a:p>
        </p:txBody>
      </p:sp>
      <p:sp>
        <p:nvSpPr>
          <p:cNvPr id="264" name="Google Shape;264;p43"/>
          <p:cNvSpPr txBox="1"/>
          <p:nvPr/>
        </p:nvSpPr>
        <p:spPr>
          <a:xfrm>
            <a:off x="400050" y="636725"/>
            <a:ext cx="8343900" cy="4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500">
                <a:solidFill>
                  <a:schemeClr val="dk1"/>
                </a:solidFill>
              </a:rPr>
              <a:t>Let me explore without getting lost or getting into trouble.</a:t>
            </a:r>
            <a:endParaRPr sz="15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3400"/>
              <a:t>Instant Gratification</a:t>
            </a:r>
            <a:endParaRPr sz="3400"/>
          </a:p>
        </p:txBody>
      </p:sp>
      <p:sp>
        <p:nvSpPr>
          <p:cNvPr id="270" name="Google Shape;270;p44"/>
          <p:cNvSpPr txBox="1"/>
          <p:nvPr>
            <p:ph idx="1" type="body"/>
          </p:nvPr>
        </p:nvSpPr>
        <p:spPr>
          <a:xfrm>
            <a:off x="311700" y="1079975"/>
            <a:ext cx="8520600" cy="3833100"/>
          </a:xfrm>
          <a:prstGeom prst="rect">
            <a:avLst/>
          </a:prstGeom>
        </p:spPr>
        <p:txBody>
          <a:bodyPr anchorCtr="0" anchor="t" bIns="91425" lIns="91425" spcFirstLastPara="1" rIns="91425" wrap="square" tIns="91425">
            <a:noAutofit/>
          </a:bodyPr>
          <a:lstStyle/>
          <a:p>
            <a:pPr indent="-412750" lvl="0" marL="457200" rtl="0" algn="l">
              <a:spcBef>
                <a:spcPts val="0"/>
              </a:spcBef>
              <a:spcAft>
                <a:spcPts val="0"/>
              </a:spcAft>
              <a:buSzPts val="2900"/>
              <a:buChar char="●"/>
            </a:pPr>
            <a:r>
              <a:rPr lang="it" sz="2900"/>
              <a:t>People like to see immediate results from the actions they take-it’s human nature</a:t>
            </a:r>
            <a:endParaRPr sz="2900"/>
          </a:p>
          <a:p>
            <a:pPr indent="-412750" lvl="0" marL="457200" rtl="0" algn="l">
              <a:spcBef>
                <a:spcPts val="0"/>
              </a:spcBef>
              <a:spcAft>
                <a:spcPts val="0"/>
              </a:spcAft>
              <a:buSzPts val="2900"/>
              <a:buChar char="●"/>
            </a:pPr>
            <a:r>
              <a:rPr lang="it" sz="2900"/>
              <a:t>Successful Experience = Gratification</a:t>
            </a:r>
            <a:endParaRPr sz="2900"/>
          </a:p>
          <a:p>
            <a:pPr indent="-412750" lvl="0" marL="457200" rtl="0" algn="l">
              <a:spcBef>
                <a:spcPts val="0"/>
              </a:spcBef>
              <a:spcAft>
                <a:spcPts val="0"/>
              </a:spcAft>
              <a:buSzPts val="2900"/>
              <a:buChar char="●"/>
            </a:pPr>
            <a:r>
              <a:rPr lang="it" sz="2900"/>
              <a:t>You should design the UI to make that first thing stunningly easy</a:t>
            </a:r>
            <a:endParaRPr sz="2900"/>
          </a:p>
          <a:p>
            <a:pPr indent="-412750" lvl="0" marL="457200" rtl="0" algn="l">
              <a:spcBef>
                <a:spcPts val="0"/>
              </a:spcBef>
              <a:spcAft>
                <a:spcPts val="0"/>
              </a:spcAft>
              <a:buSzPts val="2900"/>
              <a:buChar char="●"/>
            </a:pPr>
            <a:r>
              <a:rPr lang="it" sz="2900"/>
              <a:t>The user feels more confident in themselves</a:t>
            </a:r>
            <a:endParaRPr sz="2900"/>
          </a:p>
        </p:txBody>
      </p:sp>
      <p:sp>
        <p:nvSpPr>
          <p:cNvPr id="271" name="Google Shape;271;p44"/>
          <p:cNvSpPr txBox="1"/>
          <p:nvPr/>
        </p:nvSpPr>
        <p:spPr>
          <a:xfrm>
            <a:off x="400050" y="636725"/>
            <a:ext cx="8343900" cy="4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500">
                <a:solidFill>
                  <a:schemeClr val="dk1"/>
                </a:solidFill>
              </a:rPr>
              <a:t>I want to accomplish </a:t>
            </a:r>
            <a:r>
              <a:rPr lang="it" sz="1500">
                <a:solidFill>
                  <a:schemeClr val="dk1"/>
                </a:solidFill>
              </a:rPr>
              <a:t>something</a:t>
            </a:r>
            <a:r>
              <a:rPr lang="it" sz="1500">
                <a:solidFill>
                  <a:schemeClr val="dk1"/>
                </a:solidFill>
              </a:rPr>
              <a:t> now, not later.</a:t>
            </a:r>
            <a:endParaRPr sz="15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3400"/>
              <a:t>Instant Gratification</a:t>
            </a:r>
            <a:endParaRPr sz="3400"/>
          </a:p>
        </p:txBody>
      </p:sp>
      <p:sp>
        <p:nvSpPr>
          <p:cNvPr id="277" name="Google Shape;277;p45"/>
          <p:cNvSpPr txBox="1"/>
          <p:nvPr>
            <p:ph idx="1" type="body"/>
          </p:nvPr>
        </p:nvSpPr>
        <p:spPr>
          <a:xfrm>
            <a:off x="311700" y="1079975"/>
            <a:ext cx="8520600" cy="3833100"/>
          </a:xfrm>
          <a:prstGeom prst="rect">
            <a:avLst/>
          </a:prstGeom>
        </p:spPr>
        <p:txBody>
          <a:bodyPr anchorCtr="0" anchor="t" bIns="91425" lIns="91425" spcFirstLastPara="1" rIns="91425" wrap="square" tIns="91425">
            <a:noAutofit/>
          </a:bodyPr>
          <a:lstStyle/>
          <a:p>
            <a:pPr indent="-412750" lvl="0" marL="457200" rtl="0" algn="l">
              <a:spcBef>
                <a:spcPts val="0"/>
              </a:spcBef>
              <a:spcAft>
                <a:spcPts val="0"/>
              </a:spcAft>
              <a:buSzPts val="2900"/>
              <a:buChar char="●"/>
            </a:pPr>
            <a:r>
              <a:rPr lang="it" sz="2900"/>
              <a:t>The user feels more confident in the application</a:t>
            </a:r>
            <a:endParaRPr sz="2900"/>
          </a:p>
          <a:p>
            <a:pPr indent="-412750" lvl="0" marL="457200" rtl="0" algn="l">
              <a:spcBef>
                <a:spcPts val="0"/>
              </a:spcBef>
              <a:spcAft>
                <a:spcPts val="0"/>
              </a:spcAft>
              <a:buSzPts val="2900"/>
              <a:buChar char="●"/>
            </a:pPr>
            <a:r>
              <a:rPr lang="it" sz="2900"/>
              <a:t>More likely to use it, even if it gets harder later</a:t>
            </a:r>
            <a:endParaRPr sz="2900"/>
          </a:p>
          <a:p>
            <a:pPr indent="-412750" lvl="0" marL="457200" rtl="0" algn="l">
              <a:spcBef>
                <a:spcPts val="0"/>
              </a:spcBef>
              <a:spcAft>
                <a:spcPts val="0"/>
              </a:spcAft>
              <a:buSzPts val="2900"/>
              <a:buChar char="●"/>
            </a:pPr>
            <a:r>
              <a:rPr lang="it" sz="2900"/>
              <a:t>Introductory functionality should not be hidden</a:t>
            </a:r>
            <a:endParaRPr sz="2900"/>
          </a:p>
          <a:p>
            <a:pPr indent="-412750" lvl="0" marL="457200" rtl="0" algn="l">
              <a:spcBef>
                <a:spcPts val="0"/>
              </a:spcBef>
              <a:spcAft>
                <a:spcPts val="0"/>
              </a:spcAft>
              <a:buSzPts val="2900"/>
              <a:buChar char="●"/>
            </a:pPr>
            <a:r>
              <a:rPr lang="it" sz="2900"/>
              <a:t>e.g. long sets of instructions, slow-to-load screens, or advertisements</a:t>
            </a:r>
            <a:endParaRPr sz="2900"/>
          </a:p>
        </p:txBody>
      </p:sp>
      <p:sp>
        <p:nvSpPr>
          <p:cNvPr id="278" name="Google Shape;278;p45"/>
          <p:cNvSpPr txBox="1"/>
          <p:nvPr/>
        </p:nvSpPr>
        <p:spPr>
          <a:xfrm>
            <a:off x="400050" y="636725"/>
            <a:ext cx="8343900" cy="4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500">
                <a:solidFill>
                  <a:schemeClr val="dk1"/>
                </a:solidFill>
              </a:rPr>
              <a:t>I want to accomplish something now, not later.</a:t>
            </a:r>
            <a:endParaRPr sz="15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3400"/>
              <a:t>Satisficing</a:t>
            </a:r>
            <a:endParaRPr sz="3400"/>
          </a:p>
        </p:txBody>
      </p:sp>
      <p:sp>
        <p:nvSpPr>
          <p:cNvPr id="284" name="Google Shape;284;p46"/>
          <p:cNvSpPr txBox="1"/>
          <p:nvPr>
            <p:ph idx="1" type="body"/>
          </p:nvPr>
        </p:nvSpPr>
        <p:spPr>
          <a:xfrm>
            <a:off x="311700" y="1079975"/>
            <a:ext cx="8520600" cy="38331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lang="it" sz="2700"/>
              <a:t>Pick first thing-even if it might be wrong</a:t>
            </a:r>
            <a:endParaRPr sz="2700"/>
          </a:p>
          <a:p>
            <a:pPr indent="-400050" lvl="0" marL="457200" rtl="0" algn="l">
              <a:spcBef>
                <a:spcPts val="0"/>
              </a:spcBef>
              <a:spcAft>
                <a:spcPts val="0"/>
              </a:spcAft>
              <a:buSzPts val="2700"/>
              <a:buChar char="●"/>
            </a:pPr>
            <a:r>
              <a:rPr lang="it" sz="2700"/>
              <a:t>Satisficing = Satisfying + Sufficing</a:t>
            </a:r>
            <a:endParaRPr sz="2700"/>
          </a:p>
          <a:p>
            <a:pPr indent="-400050" lvl="0" marL="457200" rtl="0" algn="l">
              <a:spcBef>
                <a:spcPts val="0"/>
              </a:spcBef>
              <a:spcAft>
                <a:spcPts val="0"/>
              </a:spcAft>
              <a:buSzPts val="2700"/>
              <a:buChar char="●"/>
            </a:pPr>
            <a:r>
              <a:rPr lang="it" sz="2700"/>
              <a:t>People Accept “good enough” instead of “best” if alternative costs time and effort</a:t>
            </a:r>
            <a:endParaRPr sz="2700"/>
          </a:p>
          <a:p>
            <a:pPr indent="-400050" lvl="0" marL="457200" rtl="0" algn="l">
              <a:spcBef>
                <a:spcPts val="0"/>
              </a:spcBef>
              <a:spcAft>
                <a:spcPts val="0"/>
              </a:spcAft>
              <a:buSzPts val="2700"/>
              <a:buChar char="●"/>
            </a:pPr>
            <a:r>
              <a:rPr lang="it" sz="2700"/>
              <a:t>Make labels short, plainly worded, and quick to read</a:t>
            </a:r>
            <a:endParaRPr sz="2700"/>
          </a:p>
          <a:p>
            <a:pPr indent="-400050" lvl="0" marL="457200" rtl="0" algn="l">
              <a:spcBef>
                <a:spcPts val="0"/>
              </a:spcBef>
              <a:spcAft>
                <a:spcPts val="0"/>
              </a:spcAft>
              <a:buSzPts val="2700"/>
              <a:buChar char="●"/>
            </a:pPr>
            <a:r>
              <a:rPr lang="it" sz="2700"/>
              <a:t>Write them so that users first guess about the meaning is correct</a:t>
            </a:r>
            <a:endParaRPr sz="2700"/>
          </a:p>
        </p:txBody>
      </p:sp>
      <p:sp>
        <p:nvSpPr>
          <p:cNvPr id="285" name="Google Shape;285;p46"/>
          <p:cNvSpPr txBox="1"/>
          <p:nvPr/>
        </p:nvSpPr>
        <p:spPr>
          <a:xfrm>
            <a:off x="400050" y="636725"/>
            <a:ext cx="8343900" cy="4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500">
                <a:solidFill>
                  <a:schemeClr val="dk1"/>
                </a:solidFill>
              </a:rPr>
              <a:t>This is good enough. I don’t want to spend more time learning to do it better.</a:t>
            </a:r>
            <a:endParaRPr sz="15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3400"/>
              <a:t>Satisficing</a:t>
            </a:r>
            <a:endParaRPr sz="3400"/>
          </a:p>
        </p:txBody>
      </p:sp>
      <p:sp>
        <p:nvSpPr>
          <p:cNvPr id="291" name="Google Shape;291;p47"/>
          <p:cNvSpPr txBox="1"/>
          <p:nvPr>
            <p:ph idx="1" type="body"/>
          </p:nvPr>
        </p:nvSpPr>
        <p:spPr>
          <a:xfrm>
            <a:off x="311700" y="1079975"/>
            <a:ext cx="8520600" cy="38331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lang="it" sz="2700"/>
              <a:t>Provide escape hatches</a:t>
            </a:r>
            <a:endParaRPr sz="2700"/>
          </a:p>
          <a:p>
            <a:pPr indent="-400050" lvl="0" marL="457200" rtl="0" algn="l">
              <a:spcBef>
                <a:spcPts val="0"/>
              </a:spcBef>
              <a:spcAft>
                <a:spcPts val="0"/>
              </a:spcAft>
              <a:buSzPts val="2700"/>
              <a:buChar char="●"/>
            </a:pPr>
            <a:r>
              <a:rPr lang="it" sz="2700"/>
              <a:t>Complicated interface imposes a large cognitive cost on new users</a:t>
            </a:r>
            <a:endParaRPr sz="2700"/>
          </a:p>
          <a:p>
            <a:pPr indent="-400050" lvl="0" marL="457200" rtl="0" algn="l">
              <a:spcBef>
                <a:spcPts val="0"/>
              </a:spcBef>
              <a:spcAft>
                <a:spcPts val="0"/>
              </a:spcAft>
              <a:buSzPts val="2700"/>
              <a:buChar char="●"/>
            </a:pPr>
            <a:r>
              <a:rPr lang="it" sz="2700"/>
              <a:t>Visual complexity will often tempt non-experts to satisfice</a:t>
            </a:r>
            <a:endParaRPr sz="2700"/>
          </a:p>
          <a:p>
            <a:pPr indent="-400050" lvl="0" marL="457200" rtl="0" algn="l">
              <a:spcBef>
                <a:spcPts val="0"/>
              </a:spcBef>
              <a:spcAft>
                <a:spcPts val="0"/>
              </a:spcAft>
              <a:buSzPts val="2700"/>
              <a:buChar char="●"/>
            </a:pPr>
            <a:r>
              <a:rPr lang="it" sz="2700"/>
              <a:t>Satisficing is why many users end up with odd habits after they’ve been using a system for a while</a:t>
            </a:r>
            <a:endParaRPr sz="2700"/>
          </a:p>
        </p:txBody>
      </p:sp>
      <p:sp>
        <p:nvSpPr>
          <p:cNvPr id="292" name="Google Shape;292;p47"/>
          <p:cNvSpPr txBox="1"/>
          <p:nvPr/>
        </p:nvSpPr>
        <p:spPr>
          <a:xfrm>
            <a:off x="400050" y="636725"/>
            <a:ext cx="8343900" cy="4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500">
                <a:solidFill>
                  <a:schemeClr val="dk1"/>
                </a:solidFill>
              </a:rPr>
              <a:t>This is good enough. I don’t want to spend more time learning to do it better.</a:t>
            </a:r>
            <a:endParaRPr sz="15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sz="3400"/>
              <a:t>Changes in Midstream</a:t>
            </a:r>
            <a:endParaRPr sz="3400"/>
          </a:p>
        </p:txBody>
      </p:sp>
      <p:sp>
        <p:nvSpPr>
          <p:cNvPr id="298" name="Google Shape;298;p48"/>
          <p:cNvSpPr txBox="1"/>
          <p:nvPr>
            <p:ph idx="1" type="body"/>
          </p:nvPr>
        </p:nvSpPr>
        <p:spPr>
          <a:xfrm>
            <a:off x="311700" y="1079975"/>
            <a:ext cx="8520600" cy="38331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SzPts val="2700"/>
              <a:buChar char="●"/>
            </a:pPr>
            <a:r>
              <a:rPr lang="it" sz="2700"/>
              <a:t>P</a:t>
            </a:r>
            <a:r>
              <a:rPr lang="it" sz="2600"/>
              <a:t>rovide opportunities for people to change their goals</a:t>
            </a:r>
            <a:endParaRPr sz="2600"/>
          </a:p>
          <a:p>
            <a:pPr indent="-393700" lvl="0" marL="457200" rtl="0" algn="l">
              <a:spcBef>
                <a:spcPts val="0"/>
              </a:spcBef>
              <a:spcAft>
                <a:spcPts val="0"/>
              </a:spcAft>
              <a:buSzPts val="2600"/>
              <a:buChar char="●"/>
            </a:pPr>
            <a:r>
              <a:rPr lang="it" sz="2600"/>
              <a:t>Don’t lock users into a choice-poor environment with no global navigation</a:t>
            </a:r>
            <a:endParaRPr sz="2600"/>
          </a:p>
          <a:p>
            <a:pPr indent="-393700" lvl="0" marL="457200" rtl="0" algn="l">
              <a:spcBef>
                <a:spcPts val="0"/>
              </a:spcBef>
              <a:spcAft>
                <a:spcPts val="0"/>
              </a:spcAft>
              <a:buSzPts val="2600"/>
              <a:buChar char="●"/>
            </a:pPr>
            <a:r>
              <a:rPr lang="it" sz="2600"/>
              <a:t>Unless there is good reason: Wizard, Hub and Spoke, and Modal Panel</a:t>
            </a:r>
            <a:endParaRPr sz="2600"/>
          </a:p>
          <a:p>
            <a:pPr indent="-393700" lvl="0" marL="457200" rtl="0" algn="l">
              <a:spcBef>
                <a:spcPts val="0"/>
              </a:spcBef>
              <a:spcAft>
                <a:spcPts val="0"/>
              </a:spcAft>
              <a:buSzPts val="2600"/>
              <a:buChar char="●"/>
            </a:pPr>
            <a:r>
              <a:rPr lang="it" sz="2600"/>
              <a:t>Start a process, stop in the middle, and come back to it later to pick up where they left off-a property called “reenterance”</a:t>
            </a:r>
            <a:endParaRPr sz="2600"/>
          </a:p>
        </p:txBody>
      </p:sp>
      <p:sp>
        <p:nvSpPr>
          <p:cNvPr id="299" name="Google Shape;299;p48"/>
          <p:cNvSpPr txBox="1"/>
          <p:nvPr/>
        </p:nvSpPr>
        <p:spPr>
          <a:xfrm>
            <a:off x="400050" y="636725"/>
            <a:ext cx="8343900" cy="41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500">
                <a:solidFill>
                  <a:schemeClr val="dk1"/>
                </a:solidFill>
              </a:rPr>
              <a:t>I changed my mind about what I was doing.</a:t>
            </a:r>
            <a:endParaRPr sz="15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Deferred Choices</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I don’t want to answer that now, just let me finish.</a:t>
            </a:r>
            <a:endParaRPr sz="1500"/>
          </a:p>
        </p:txBody>
      </p:sp>
      <p:sp>
        <p:nvSpPr>
          <p:cNvPr id="306" name="Google Shape;306;p4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Users often skip seemingly unnecessary questions and come back to it later</a:t>
            </a:r>
            <a:endParaRPr sz="2500"/>
          </a:p>
          <a:p>
            <a:pPr indent="-387350" lvl="0" marL="457200" marR="0" rtl="0" algn="l">
              <a:lnSpc>
                <a:spcPct val="115000"/>
              </a:lnSpc>
              <a:spcBef>
                <a:spcPts val="0"/>
              </a:spcBef>
              <a:spcAft>
                <a:spcPts val="0"/>
              </a:spcAft>
              <a:buClr>
                <a:schemeClr val="dk2"/>
              </a:buClr>
              <a:buSzPts val="2500"/>
              <a:buChar char="●"/>
            </a:pPr>
            <a:r>
              <a:rPr lang="it" sz="2500"/>
              <a:t>Answer bare min and come back later</a:t>
            </a:r>
            <a:endParaRPr sz="2500"/>
          </a:p>
          <a:p>
            <a:pPr indent="-387350" lvl="0" marL="457200" marR="0" rtl="0" algn="l">
              <a:lnSpc>
                <a:spcPct val="115000"/>
              </a:lnSpc>
              <a:spcBef>
                <a:spcPts val="0"/>
              </a:spcBef>
              <a:spcAft>
                <a:spcPts val="0"/>
              </a:spcAft>
              <a:buClr>
                <a:schemeClr val="dk2"/>
              </a:buClr>
              <a:buSzPts val="2500"/>
              <a:buChar char="●"/>
            </a:pPr>
            <a:r>
              <a:rPr lang="it" sz="2500"/>
              <a:t>Most users just don’t want to answer the questions at that time</a:t>
            </a:r>
            <a:endParaRPr sz="2500"/>
          </a:p>
          <a:p>
            <a:pPr indent="-387350" lvl="0" marL="457200" marR="0" rtl="0" algn="l">
              <a:lnSpc>
                <a:spcPct val="115000"/>
              </a:lnSpc>
              <a:spcBef>
                <a:spcPts val="0"/>
              </a:spcBef>
              <a:spcAft>
                <a:spcPts val="0"/>
              </a:spcAft>
              <a:buClr>
                <a:schemeClr val="dk2"/>
              </a:buClr>
              <a:buSzPts val="2500"/>
              <a:buChar char="●"/>
            </a:pPr>
            <a:r>
              <a:rPr lang="it" sz="2500"/>
              <a:t>Others may not have enough information to answer yet</a:t>
            </a:r>
            <a:endParaRPr sz="2500"/>
          </a:p>
          <a:p>
            <a:pPr indent="-387350" lvl="0" marL="457200" marR="0" rtl="0" algn="l">
              <a:lnSpc>
                <a:spcPct val="115000"/>
              </a:lnSpc>
              <a:spcBef>
                <a:spcPts val="0"/>
              </a:spcBef>
              <a:spcAft>
                <a:spcPts val="0"/>
              </a:spcAft>
              <a:buClr>
                <a:schemeClr val="dk2"/>
              </a:buClr>
              <a:buSzPts val="2500"/>
              <a:buChar char="●"/>
            </a:pPr>
            <a:r>
              <a:rPr lang="it" sz="2500"/>
              <a:t>Present the short list, hide the long list</a:t>
            </a:r>
            <a:endParaRPr sz="25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Deferred Choices</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I don’t want to answer that now, just let me finish.</a:t>
            </a:r>
            <a:endParaRPr sz="1500"/>
          </a:p>
        </p:txBody>
      </p:sp>
      <p:sp>
        <p:nvSpPr>
          <p:cNvPr id="313" name="Google Shape;313;p5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Use good defaults, allow users to view defaults</a:t>
            </a:r>
            <a:endParaRPr sz="2500"/>
          </a:p>
          <a:p>
            <a:pPr indent="-387350" lvl="0" marL="457200" marR="0" rtl="0" algn="l">
              <a:lnSpc>
                <a:spcPct val="115000"/>
              </a:lnSpc>
              <a:spcBef>
                <a:spcPts val="0"/>
              </a:spcBef>
              <a:spcAft>
                <a:spcPts val="0"/>
              </a:spcAft>
              <a:buClr>
                <a:schemeClr val="dk2"/>
              </a:buClr>
              <a:buSzPts val="2500"/>
              <a:buChar char="●"/>
            </a:pPr>
            <a:r>
              <a:rPr lang="it" sz="2500"/>
              <a:t>“You can always change this later by …”</a:t>
            </a:r>
            <a:endParaRPr sz="2500"/>
          </a:p>
          <a:p>
            <a:pPr indent="-387350" lvl="0" marL="457200" marR="0" rtl="0" algn="l">
              <a:lnSpc>
                <a:spcPct val="115000"/>
              </a:lnSpc>
              <a:spcBef>
                <a:spcPts val="0"/>
              </a:spcBef>
              <a:spcAft>
                <a:spcPts val="0"/>
              </a:spcAft>
              <a:buClr>
                <a:schemeClr val="dk2"/>
              </a:buClr>
              <a:buSzPts val="2500"/>
              <a:buChar char="●"/>
            </a:pPr>
            <a:r>
              <a:rPr lang="it" sz="2500"/>
              <a:t>Some sites store a users half-finished form entries or other persistent data</a:t>
            </a:r>
            <a:endParaRPr sz="2500"/>
          </a:p>
          <a:p>
            <a:pPr indent="-387350" lvl="0" marL="457200" marR="0" rtl="0" algn="l">
              <a:lnSpc>
                <a:spcPct val="115000"/>
              </a:lnSpc>
              <a:spcBef>
                <a:spcPts val="0"/>
              </a:spcBef>
              <a:spcAft>
                <a:spcPts val="0"/>
              </a:spcAft>
              <a:buClr>
                <a:schemeClr val="dk2"/>
              </a:buClr>
              <a:buSzPts val="2500"/>
              <a:buChar char="●"/>
            </a:pPr>
            <a:r>
              <a:rPr lang="it" sz="2500"/>
              <a:t>Far more likely to register if they’re allowed to experience the website-drawn in and engaged-and then asked later about who they are</a:t>
            </a:r>
            <a:endParaRPr sz="2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Incremental Construction</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That doesn’t look right; let me change it again.  That’s better.</a:t>
            </a:r>
            <a:endParaRPr sz="1500"/>
          </a:p>
        </p:txBody>
      </p:sp>
      <p:sp>
        <p:nvSpPr>
          <p:cNvPr id="320" name="Google Shape;320;p5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People don’t usually create all at once</a:t>
            </a:r>
            <a:endParaRPr sz="2500"/>
          </a:p>
          <a:p>
            <a:pPr indent="-387350" lvl="0" marL="457200" marR="0" rtl="0" algn="l">
              <a:lnSpc>
                <a:spcPct val="115000"/>
              </a:lnSpc>
              <a:spcBef>
                <a:spcPts val="0"/>
              </a:spcBef>
              <a:spcAft>
                <a:spcPts val="0"/>
              </a:spcAft>
              <a:buClr>
                <a:schemeClr val="dk2"/>
              </a:buClr>
              <a:buSzPts val="2500"/>
              <a:buChar char="●"/>
            </a:pPr>
            <a:r>
              <a:rPr lang="it" sz="2500"/>
              <a:t>Users start with small pieces, work on it, step back and look at it, test it, fit it and start to build other parts of it</a:t>
            </a:r>
            <a:endParaRPr sz="2500"/>
          </a:p>
          <a:p>
            <a:pPr indent="-387350" lvl="0" marL="457200" marR="0" rtl="0" algn="l">
              <a:lnSpc>
                <a:spcPct val="115000"/>
              </a:lnSpc>
              <a:spcBef>
                <a:spcPts val="0"/>
              </a:spcBef>
              <a:spcAft>
                <a:spcPts val="0"/>
              </a:spcAft>
              <a:buClr>
                <a:schemeClr val="dk2"/>
              </a:buClr>
              <a:buSzPts val="2500"/>
              <a:buChar char="●"/>
            </a:pPr>
            <a:r>
              <a:rPr lang="it" sz="2500"/>
              <a:t>Builder-style interfaces need to support that style of work</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Incremental Construction</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That doesn’t look right; let me change it again.  That’s better.</a:t>
            </a:r>
            <a:endParaRPr sz="1500"/>
          </a:p>
        </p:txBody>
      </p:sp>
      <p:sp>
        <p:nvSpPr>
          <p:cNvPr id="327" name="Google Shape;327;p5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Keep interface responsive to quick changes and saves</a:t>
            </a:r>
            <a:endParaRPr sz="2500"/>
          </a:p>
          <a:p>
            <a:pPr indent="-387350" lvl="0" marL="457200" marR="0" rtl="0" algn="l">
              <a:lnSpc>
                <a:spcPct val="115000"/>
              </a:lnSpc>
              <a:spcBef>
                <a:spcPts val="0"/>
              </a:spcBef>
              <a:spcAft>
                <a:spcPts val="0"/>
              </a:spcAft>
              <a:buClr>
                <a:schemeClr val="dk2"/>
              </a:buClr>
              <a:buSzPts val="2500"/>
              <a:buChar char="●"/>
            </a:pPr>
            <a:r>
              <a:rPr lang="it" sz="2500"/>
              <a:t>Feedback is critical: constantly show the user what the whole thing looks and behaves like while the user works</a:t>
            </a:r>
            <a:endParaRPr sz="2500"/>
          </a:p>
          <a:p>
            <a:pPr indent="-387350" lvl="0" marL="457200" marR="0" rtl="0" algn="l">
              <a:lnSpc>
                <a:spcPct val="115000"/>
              </a:lnSpc>
              <a:spcBef>
                <a:spcPts val="0"/>
              </a:spcBef>
              <a:spcAft>
                <a:spcPts val="0"/>
              </a:spcAft>
              <a:buClr>
                <a:schemeClr val="dk2"/>
              </a:buClr>
              <a:buSzPts val="2500"/>
              <a:buChar char="●"/>
            </a:pPr>
            <a:r>
              <a:rPr lang="it" sz="2500"/>
              <a:t>When good tools support creative activities, the activities can induce a state of “flow” in the user</a:t>
            </a:r>
            <a:endParaRPr sz="2500"/>
          </a:p>
          <a:p>
            <a:pPr indent="-387350" lvl="0" marL="457200" marR="0" rtl="0" algn="l">
              <a:lnSpc>
                <a:spcPct val="115000"/>
              </a:lnSpc>
              <a:spcBef>
                <a:spcPts val="0"/>
              </a:spcBef>
              <a:spcAft>
                <a:spcPts val="0"/>
              </a:spcAft>
              <a:buClr>
                <a:schemeClr val="dk2"/>
              </a:buClr>
              <a:buSzPts val="2500"/>
              <a:buChar char="●"/>
            </a:pPr>
            <a:r>
              <a:rPr lang="it" sz="2500"/>
              <a:t>The enjoyment of the activity is it’s own reward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Incremental Construction</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That doesn’t look right; let me change it again.  That’s better.</a:t>
            </a:r>
            <a:endParaRPr sz="1500"/>
          </a:p>
        </p:txBody>
      </p:sp>
      <p:pic>
        <p:nvPicPr>
          <p:cNvPr id="334" name="Google Shape;334;p53"/>
          <p:cNvPicPr preferRelativeResize="0"/>
          <p:nvPr/>
        </p:nvPicPr>
        <p:blipFill rotWithShape="1">
          <a:blip r:embed="rId3">
            <a:alphaModFix/>
          </a:blip>
          <a:srcRect b="6751" l="0" r="0" t="0"/>
          <a:stretch/>
        </p:blipFill>
        <p:spPr>
          <a:xfrm>
            <a:off x="2737625" y="1245550"/>
            <a:ext cx="3668749" cy="34209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Habituation</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That gesture works everywhere else; why doesn’t it work here, too?</a:t>
            </a:r>
            <a:endParaRPr sz="1500"/>
          </a:p>
        </p:txBody>
      </p:sp>
      <p:sp>
        <p:nvSpPr>
          <p:cNvPr id="341" name="Google Shape;341;p5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The user no longer has to think about habitual actions</a:t>
            </a:r>
            <a:endParaRPr sz="2500"/>
          </a:p>
          <a:p>
            <a:pPr indent="-387350" lvl="0" marL="457200" marR="0" rtl="0" algn="l">
              <a:lnSpc>
                <a:spcPct val="115000"/>
              </a:lnSpc>
              <a:spcBef>
                <a:spcPts val="0"/>
              </a:spcBef>
              <a:spcAft>
                <a:spcPts val="0"/>
              </a:spcAft>
              <a:buClr>
                <a:schemeClr val="dk2"/>
              </a:buClr>
              <a:buSzPts val="2500"/>
              <a:buChar char="●"/>
            </a:pPr>
            <a:r>
              <a:rPr lang="it" sz="2500"/>
              <a:t>Habituation measurably improves efficiency, as you can imagine</a:t>
            </a:r>
            <a:endParaRPr sz="2500"/>
          </a:p>
          <a:p>
            <a:pPr indent="-387350" lvl="0" marL="457200" marR="0" rtl="0" algn="l">
              <a:lnSpc>
                <a:spcPct val="115000"/>
              </a:lnSpc>
              <a:spcBef>
                <a:spcPts val="0"/>
              </a:spcBef>
              <a:spcAft>
                <a:spcPts val="0"/>
              </a:spcAft>
              <a:buClr>
                <a:schemeClr val="dk2"/>
              </a:buClr>
              <a:buSzPts val="2500"/>
              <a:buChar char="●"/>
            </a:pPr>
            <a:r>
              <a:rPr lang="it" sz="2500"/>
              <a:t>But it can also lay traps for the user</a:t>
            </a:r>
            <a:endParaRPr sz="2500"/>
          </a:p>
          <a:p>
            <a:pPr indent="-387350" lvl="0" marL="457200" marR="0" rtl="0" algn="l">
              <a:lnSpc>
                <a:spcPct val="115000"/>
              </a:lnSpc>
              <a:spcBef>
                <a:spcPts val="0"/>
              </a:spcBef>
              <a:spcAft>
                <a:spcPts val="0"/>
              </a:spcAft>
              <a:buClr>
                <a:schemeClr val="dk2"/>
              </a:buClr>
              <a:buSzPts val="2500"/>
              <a:buChar char="●"/>
            </a:pPr>
            <a:r>
              <a:rPr lang="it" sz="2500"/>
              <a:t>If a gesture doesn’t work-or, worse, does something destructive</a:t>
            </a:r>
            <a:endParaRPr/>
          </a:p>
          <a:p>
            <a:pPr indent="-139700" lvl="0" marL="342900" rtl="0" algn="l">
              <a:spcBef>
                <a:spcPts val="160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Microbreaks</a:t>
            </a:r>
            <a:br>
              <a:rPr b="0" i="0" lang="it" sz="4400" u="none">
                <a:solidFill>
                  <a:schemeClr val="dk2"/>
                </a:solidFill>
                <a:latin typeface="Arial"/>
                <a:ea typeface="Arial"/>
                <a:cs typeface="Arial"/>
                <a:sym typeface="Arial"/>
              </a:rPr>
            </a:br>
            <a:r>
              <a:rPr lang="it" sz="1500"/>
              <a:t>I’m waiting for the train. Let me do something useful for two minutes.</a:t>
            </a:r>
            <a:endParaRPr sz="1500"/>
          </a:p>
        </p:txBody>
      </p:sp>
      <p:sp>
        <p:nvSpPr>
          <p:cNvPr id="348" name="Google Shape;348;p5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rtl="0" algn="l">
              <a:spcBef>
                <a:spcPts val="0"/>
              </a:spcBef>
              <a:spcAft>
                <a:spcPts val="0"/>
              </a:spcAft>
              <a:buClr>
                <a:schemeClr val="dk2"/>
              </a:buClr>
              <a:buSzPts val="2500"/>
              <a:buChar char="●"/>
            </a:pPr>
            <a:r>
              <a:rPr lang="it" sz="2500"/>
              <a:t>Users naturally take small breaks between focused activities</a:t>
            </a:r>
            <a:endParaRPr sz="2500"/>
          </a:p>
          <a:p>
            <a:pPr indent="-387350" lvl="0" marL="457200" rtl="0" algn="l">
              <a:spcBef>
                <a:spcPts val="0"/>
              </a:spcBef>
              <a:spcAft>
                <a:spcPts val="0"/>
              </a:spcAft>
              <a:buClr>
                <a:schemeClr val="dk2"/>
              </a:buClr>
              <a:buSzPts val="2500"/>
              <a:buChar char="●"/>
            </a:pPr>
            <a:r>
              <a:rPr lang="it" sz="2500"/>
              <a:t>These short pauses are essential for cognitive processing and stress relief</a:t>
            </a:r>
            <a:endParaRPr sz="2500"/>
          </a:p>
          <a:p>
            <a:pPr indent="-387350" lvl="0" marL="457200" rtl="0" algn="l">
              <a:spcBef>
                <a:spcPts val="0"/>
              </a:spcBef>
              <a:spcAft>
                <a:spcPts val="0"/>
              </a:spcAft>
              <a:buClr>
                <a:schemeClr val="dk2"/>
              </a:buClr>
              <a:buSzPts val="2500"/>
              <a:buChar char="●"/>
            </a:pPr>
            <a:r>
              <a:rPr lang="it" sz="2500"/>
              <a:t>Interface design needs to support graceful interruption and resumption</a:t>
            </a:r>
            <a:endParaRPr sz="2500"/>
          </a:p>
          <a:p>
            <a:pPr indent="-387350" lvl="0" marL="457200" rtl="0" algn="l">
              <a:spcBef>
                <a:spcPts val="0"/>
              </a:spcBef>
              <a:spcAft>
                <a:spcPts val="0"/>
              </a:spcAft>
              <a:buClr>
                <a:schemeClr val="dk2"/>
              </a:buClr>
              <a:buSzPts val="2500"/>
              <a:buChar char="●"/>
            </a:pPr>
            <a:r>
              <a:rPr lang="it" sz="2500"/>
              <a:t>If tasks can't be easily paused and resumed, users get frustrated and make mistakes</a:t>
            </a:r>
            <a:endParaRPr sz="2500"/>
          </a:p>
          <a:p>
            <a:pPr indent="-139700" lvl="0" marL="342900" rtl="0" algn="l">
              <a:spcBef>
                <a:spcPts val="160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Spatial Memory</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I swear that button was here a minute ago. Where did it go?</a:t>
            </a:r>
            <a:endParaRPr sz="1500"/>
          </a:p>
        </p:txBody>
      </p:sp>
      <p:sp>
        <p:nvSpPr>
          <p:cNvPr id="355" name="Google Shape;355;p5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People often find objects by remembering where they are, not what they’re named</a:t>
            </a:r>
            <a:endParaRPr sz="2500"/>
          </a:p>
          <a:p>
            <a:pPr indent="-387350" lvl="0" marL="457200" marR="0" rtl="0" algn="l">
              <a:lnSpc>
                <a:spcPct val="115000"/>
              </a:lnSpc>
              <a:spcBef>
                <a:spcPts val="0"/>
              </a:spcBef>
              <a:spcAft>
                <a:spcPts val="0"/>
              </a:spcAft>
              <a:buClr>
                <a:schemeClr val="dk2"/>
              </a:buClr>
              <a:buSzPts val="2500"/>
              <a:buChar char="●"/>
            </a:pPr>
            <a:r>
              <a:rPr lang="it" sz="2500"/>
              <a:t>Dialog buttons such as “OK” and “Cancel” go in predictable places</a:t>
            </a:r>
            <a:endParaRPr sz="2500"/>
          </a:p>
          <a:p>
            <a:pPr indent="-387350" lvl="0" marL="457200" marR="0" rtl="0" algn="l">
              <a:lnSpc>
                <a:spcPct val="115000"/>
              </a:lnSpc>
              <a:spcBef>
                <a:spcPts val="0"/>
              </a:spcBef>
              <a:spcAft>
                <a:spcPts val="0"/>
              </a:spcAft>
              <a:buClr>
                <a:schemeClr val="dk2"/>
              </a:buClr>
              <a:buSzPts val="2500"/>
              <a:buChar char="●"/>
            </a:pPr>
            <a:r>
              <a:rPr lang="it" sz="2500"/>
              <a:t>Explains why it’s good to provide user-arranged areas for storing objects</a:t>
            </a:r>
            <a:endParaRPr sz="2500"/>
          </a:p>
          <a:p>
            <a:pPr indent="-387350" lvl="0" marL="457200" marR="0" rtl="0" algn="l">
              <a:lnSpc>
                <a:spcPct val="115000"/>
              </a:lnSpc>
              <a:spcBef>
                <a:spcPts val="0"/>
              </a:spcBef>
              <a:spcAft>
                <a:spcPts val="0"/>
              </a:spcAft>
              <a:buClr>
                <a:schemeClr val="dk2"/>
              </a:buClr>
              <a:buSzPts val="2500"/>
              <a:buChar char="●"/>
            </a:pPr>
            <a:r>
              <a:rPr lang="it" sz="2500"/>
              <a:t>The tops and bottoms of lists and menus are special locations, cognitively speaking</a:t>
            </a:r>
            <a:endParaRPr/>
          </a:p>
          <a:p>
            <a:pPr indent="-139700" lvl="0" marL="342900" rtl="0" algn="l">
              <a:spcBef>
                <a:spcPts val="160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Prospective Memory</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I’m putting this here to remind myself to deal with it later.</a:t>
            </a:r>
            <a:endParaRPr sz="1500"/>
          </a:p>
        </p:txBody>
      </p:sp>
      <p:sp>
        <p:nvSpPr>
          <p:cNvPr id="362" name="Google Shape;362;p57"/>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If you need to bring a book to work for the next day, you might place it by the door</a:t>
            </a:r>
            <a:endParaRPr sz="2500"/>
          </a:p>
          <a:p>
            <a:pPr indent="-387350" lvl="0" marL="457200" marR="0" rtl="0" algn="l">
              <a:lnSpc>
                <a:spcPct val="115000"/>
              </a:lnSpc>
              <a:spcBef>
                <a:spcPts val="0"/>
              </a:spcBef>
              <a:spcAft>
                <a:spcPts val="0"/>
              </a:spcAft>
              <a:buClr>
                <a:schemeClr val="dk2"/>
              </a:buClr>
              <a:buSzPts val="2500"/>
              <a:buChar char="●"/>
            </a:pPr>
            <a:r>
              <a:rPr lang="it" sz="2500"/>
              <a:t>Need to respond to an email, you might leave it on your screen as a reminder</a:t>
            </a:r>
            <a:endParaRPr sz="2500"/>
          </a:p>
          <a:p>
            <a:pPr indent="-387350" lvl="0" marL="457200" marR="0" rtl="0" algn="l">
              <a:lnSpc>
                <a:spcPct val="115000"/>
              </a:lnSpc>
              <a:spcBef>
                <a:spcPts val="0"/>
              </a:spcBef>
              <a:spcAft>
                <a:spcPts val="0"/>
              </a:spcAft>
              <a:buClr>
                <a:schemeClr val="dk2"/>
              </a:buClr>
              <a:buSzPts val="2500"/>
              <a:buChar char="●"/>
            </a:pPr>
            <a:r>
              <a:rPr lang="it" sz="2500"/>
              <a:t>Give People the tools to create their own reminder systems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Prospective Memory</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I’m putting this here to remind myself to deal with it later.</a:t>
            </a:r>
            <a:endParaRPr sz="1500"/>
          </a:p>
        </p:txBody>
      </p:sp>
      <p:sp>
        <p:nvSpPr>
          <p:cNvPr id="369" name="Google Shape;369;p58"/>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If someone leaves a form half-finished, and closes it, you could retain the data</a:t>
            </a:r>
            <a:endParaRPr sz="2500"/>
          </a:p>
          <a:p>
            <a:pPr indent="-387350" lvl="0" marL="457200" marR="0" rtl="0" algn="l">
              <a:lnSpc>
                <a:spcPct val="115000"/>
              </a:lnSpc>
              <a:spcBef>
                <a:spcPts val="0"/>
              </a:spcBef>
              <a:spcAft>
                <a:spcPts val="0"/>
              </a:spcAft>
              <a:buClr>
                <a:schemeClr val="dk2"/>
              </a:buClr>
              <a:buSzPts val="2500"/>
              <a:buChar char="●"/>
            </a:pPr>
            <a:r>
              <a:rPr lang="it" sz="2500"/>
              <a:t>Think about how to leave some artifacts around, that identify the unfinished tasks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Streamlined Repetition</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I have to repeat this how many times?</a:t>
            </a:r>
            <a:endParaRPr sz="1500"/>
          </a:p>
        </p:txBody>
      </p:sp>
      <p:sp>
        <p:nvSpPr>
          <p:cNvPr id="376" name="Google Shape;376;p5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Users sometimes find themselves having to perform the same operation over and over again</a:t>
            </a:r>
            <a:endParaRPr sz="2500"/>
          </a:p>
          <a:p>
            <a:pPr indent="-387350" lvl="0" marL="457200" marR="0" rtl="0" algn="l">
              <a:lnSpc>
                <a:spcPct val="115000"/>
              </a:lnSpc>
              <a:spcBef>
                <a:spcPts val="0"/>
              </a:spcBef>
              <a:spcAft>
                <a:spcPts val="0"/>
              </a:spcAft>
              <a:buClr>
                <a:schemeClr val="dk2"/>
              </a:buClr>
              <a:buSzPts val="2500"/>
              <a:buChar char="●"/>
            </a:pPr>
            <a:r>
              <a:rPr lang="it" sz="2500"/>
              <a:t>The easier it is for them, the better</a:t>
            </a:r>
            <a:endParaRPr sz="2500"/>
          </a:p>
          <a:p>
            <a:pPr indent="-387350" lvl="0" marL="457200" marR="0" rtl="0" algn="l">
              <a:lnSpc>
                <a:spcPct val="115000"/>
              </a:lnSpc>
              <a:spcBef>
                <a:spcPts val="0"/>
              </a:spcBef>
              <a:spcAft>
                <a:spcPts val="0"/>
              </a:spcAft>
              <a:buClr>
                <a:schemeClr val="dk2"/>
              </a:buClr>
              <a:buSzPts val="2500"/>
              <a:buChar char="●"/>
            </a:pPr>
            <a:r>
              <a:rPr lang="it" sz="2500"/>
              <a:t>Streamline repetitive tasks that could other-wise be time consuming</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Keyboard Only</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Please don’t make me use the mouse.</a:t>
            </a:r>
            <a:endParaRPr sz="1500"/>
          </a:p>
        </p:txBody>
      </p:sp>
      <p:sp>
        <p:nvSpPr>
          <p:cNvPr id="383" name="Google Shape;383;p6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Relates to habituation and flow</a:t>
            </a:r>
            <a:endParaRPr sz="2500"/>
          </a:p>
          <a:p>
            <a:pPr indent="-387350" lvl="0" marL="457200" marR="0" rtl="0" algn="l">
              <a:lnSpc>
                <a:spcPct val="115000"/>
              </a:lnSpc>
              <a:spcBef>
                <a:spcPts val="0"/>
              </a:spcBef>
              <a:spcAft>
                <a:spcPts val="0"/>
              </a:spcAft>
              <a:buClr>
                <a:schemeClr val="dk2"/>
              </a:buClr>
              <a:buSzPts val="2500"/>
              <a:buChar char="●"/>
            </a:pPr>
            <a:r>
              <a:rPr lang="it" sz="2500"/>
              <a:t>Makes it easier to streamline repetitive tasks</a:t>
            </a:r>
            <a:endParaRPr sz="2500"/>
          </a:p>
          <a:p>
            <a:pPr indent="-387350" lvl="0" marL="457200" marR="0" rtl="0" algn="l">
              <a:lnSpc>
                <a:spcPct val="115000"/>
              </a:lnSpc>
              <a:spcBef>
                <a:spcPts val="0"/>
              </a:spcBef>
              <a:spcAft>
                <a:spcPts val="0"/>
              </a:spcAft>
              <a:buClr>
                <a:schemeClr val="dk2"/>
              </a:buClr>
              <a:buSzPts val="2500"/>
              <a:buChar char="●"/>
            </a:pPr>
            <a:r>
              <a:rPr lang="it" sz="2500"/>
              <a:t>Keyboard commands will always be faster than mouse movements</a:t>
            </a:r>
            <a:endParaRPr sz="2500"/>
          </a:p>
          <a:p>
            <a:pPr indent="-387350" lvl="0" marL="457200" marR="0" rtl="0" algn="l">
              <a:lnSpc>
                <a:spcPct val="115000"/>
              </a:lnSpc>
              <a:spcBef>
                <a:spcPts val="0"/>
              </a:spcBef>
              <a:spcAft>
                <a:spcPts val="0"/>
              </a:spcAft>
              <a:buClr>
                <a:schemeClr val="dk2"/>
              </a:buClr>
              <a:buSzPts val="2500"/>
              <a:buChar char="●"/>
            </a:pPr>
            <a:r>
              <a:rPr lang="it" sz="2500"/>
              <a:t>Shortcuts are assumed; “control-s”, “tab”, “arrow keys” “return key” “space bar”</a:t>
            </a:r>
            <a:endParaRPr/>
          </a:p>
          <a:p>
            <a:pPr indent="-139700" lvl="0" marL="342900" rtl="0" algn="l">
              <a:spcBef>
                <a:spcPts val="160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1"/>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lang="it" sz="3400"/>
              <a:t>Other</a:t>
            </a:r>
            <a:r>
              <a:rPr lang="it" sz="3400"/>
              <a:t> People’s Advice</a:t>
            </a:r>
            <a:br>
              <a:rPr b="0" i="0" lang="it" sz="4400" u="none">
                <a:solidFill>
                  <a:schemeClr val="dk2"/>
                </a:solidFill>
                <a:latin typeface="Arial"/>
                <a:ea typeface="Arial"/>
                <a:cs typeface="Arial"/>
                <a:sym typeface="Arial"/>
              </a:rPr>
            </a:br>
            <a:r>
              <a:rPr b="0" i="0" lang="it" sz="1500" u="none">
                <a:latin typeface="Arial"/>
                <a:ea typeface="Arial"/>
                <a:cs typeface="Arial"/>
                <a:sym typeface="Arial"/>
              </a:rPr>
              <a:t>What did everyone else say about this?</a:t>
            </a:r>
            <a:endParaRPr sz="1500"/>
          </a:p>
        </p:txBody>
      </p:sp>
      <p:sp>
        <p:nvSpPr>
          <p:cNvPr id="390" name="Google Shape;390;p61"/>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87350" lvl="0" marL="457200" marR="0" rtl="0" algn="l">
              <a:lnSpc>
                <a:spcPct val="115000"/>
              </a:lnSpc>
              <a:spcBef>
                <a:spcPts val="0"/>
              </a:spcBef>
              <a:spcAft>
                <a:spcPts val="0"/>
              </a:spcAft>
              <a:buClr>
                <a:schemeClr val="dk2"/>
              </a:buClr>
              <a:buSzPts val="2500"/>
              <a:buChar char="●"/>
            </a:pPr>
            <a:r>
              <a:rPr lang="it" sz="2500"/>
              <a:t>The advice of peers, whether direct or indirect, influences people’s choices</a:t>
            </a:r>
            <a:endParaRPr sz="2500"/>
          </a:p>
          <a:p>
            <a:pPr indent="-387350" lvl="0" marL="457200" marR="0" rtl="0" algn="l">
              <a:lnSpc>
                <a:spcPct val="115000"/>
              </a:lnSpc>
              <a:spcBef>
                <a:spcPts val="0"/>
              </a:spcBef>
              <a:spcAft>
                <a:spcPts val="0"/>
              </a:spcAft>
              <a:buClr>
                <a:schemeClr val="dk2"/>
              </a:buClr>
              <a:buSzPts val="2500"/>
              <a:buChar char="●"/>
            </a:pPr>
            <a:r>
              <a:rPr lang="it" sz="2500"/>
              <a:t>People can be more effective when aided by others.  If not, they might at least be happier with the outcomes</a:t>
            </a:r>
            <a:endParaRPr sz="2500"/>
          </a:p>
          <a:p>
            <a:pPr indent="-387350" lvl="0" marL="457200" marR="0" rtl="0" algn="l">
              <a:lnSpc>
                <a:spcPct val="115000"/>
              </a:lnSpc>
              <a:spcBef>
                <a:spcPts val="0"/>
              </a:spcBef>
              <a:spcAft>
                <a:spcPts val="0"/>
              </a:spcAft>
              <a:buClr>
                <a:schemeClr val="dk2"/>
              </a:buClr>
              <a:buSzPts val="2500"/>
              <a:buChar char="●"/>
            </a:pPr>
            <a:r>
              <a:rPr lang="it" sz="2500"/>
              <a:t>An online support community is a valuable part of a complete help system</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Layered Design</a:t>
            </a:r>
            <a:endParaRPr/>
          </a:p>
        </p:txBody>
      </p:sp>
      <p:sp>
        <p:nvSpPr>
          <p:cNvPr id="396" name="Google Shape;396;p6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0"/>
              </a:spcAft>
              <a:buNone/>
            </a:pPr>
            <a:r>
              <a:t/>
            </a:r>
            <a:endParaRPr sz="1200"/>
          </a:p>
          <a:p>
            <a:pPr indent="0" lvl="0" marL="0" rtl="0" algn="l">
              <a:spcBef>
                <a:spcPts val="1600"/>
              </a:spcBef>
              <a:spcAft>
                <a:spcPts val="1600"/>
              </a:spcAft>
              <a:buNone/>
            </a:pPr>
            <a:r>
              <a:rPr lang="it" sz="1200"/>
              <a:t>Designing up from the content/data layer to the presentation layer (based on ideas by Jesse James Garrett, The Elements of User Experience: User- Centered Design for the Web and Beyond [New Riders, 2011])</a:t>
            </a:r>
            <a:endParaRPr sz="1200"/>
          </a:p>
        </p:txBody>
      </p:sp>
      <p:pic>
        <p:nvPicPr>
          <p:cNvPr id="397" name="Google Shape;397;p62"/>
          <p:cNvPicPr preferRelativeResize="0"/>
          <p:nvPr/>
        </p:nvPicPr>
        <p:blipFill>
          <a:blip r:embed="rId3">
            <a:alphaModFix/>
          </a:blip>
          <a:stretch>
            <a:fillRect/>
          </a:stretch>
        </p:blipFill>
        <p:spPr>
          <a:xfrm>
            <a:off x="1855875" y="1035425"/>
            <a:ext cx="5432249" cy="30726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1" name="Shape 401"/>
        <p:cNvGrpSpPr/>
        <p:nvPr/>
      </p:nvGrpSpPr>
      <p:grpSpPr>
        <a:xfrm>
          <a:off x="0" y="0"/>
          <a:ext cx="0" cy="0"/>
          <a:chOff x="0" y="0"/>
          <a:chExt cx="0" cy="0"/>
        </a:xfrm>
      </p:grpSpPr>
      <p:sp>
        <p:nvSpPr>
          <p:cNvPr id="402" name="Google Shape;402;p6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Users behavior patterns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403" name="Google Shape;403;p6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have already seen how to identify users needs, motivations and goals (personas, stories…).</a:t>
            </a:r>
            <a:endParaRPr/>
          </a:p>
          <a:p>
            <a:pPr indent="0" lvl="0" marL="0" rtl="0" algn="l">
              <a:spcBef>
                <a:spcPts val="1600"/>
              </a:spcBef>
              <a:spcAft>
                <a:spcPts val="0"/>
              </a:spcAft>
              <a:buNone/>
            </a:pPr>
            <a:r>
              <a:rPr lang="it"/>
              <a:t>But when a user starts an interaction with a system, their actions will be influenced by the information available and the interface in which they are present. </a:t>
            </a:r>
            <a:endParaRPr/>
          </a:p>
          <a:p>
            <a:pPr indent="0" lvl="0" marL="0" rtl="0" algn="l">
              <a:spcBef>
                <a:spcPts val="1600"/>
              </a:spcBef>
              <a:spcAft>
                <a:spcPts val="0"/>
              </a:spcAft>
              <a:buNone/>
            </a:pPr>
            <a:r>
              <a:rPr lang="it"/>
              <a:t>During the last 30 years, Information Architecture experts have recognize that users usually perform a certain set of the same behavior patterns: the flow of the succession of events between user and system.</a:t>
            </a:r>
            <a:endParaRPr/>
          </a:p>
          <a:p>
            <a:pPr indent="0" lvl="0" marL="0" rtl="0" algn="l">
              <a:spcBef>
                <a:spcPts val="1600"/>
              </a:spcBef>
              <a:spcAft>
                <a:spcPts val="0"/>
              </a:spcAft>
              <a:buClr>
                <a:schemeClr val="dk1"/>
              </a:buClr>
              <a:buSzPts val="1100"/>
              <a:buFont typeface="Arial"/>
              <a:buNone/>
            </a:pPr>
            <a:r>
              <a:rPr lang="it"/>
              <a:t>Specifically, in regard to information-seek, different different patterns of behavior have been identified. In the next slides we will see some of them. </a:t>
            </a:r>
            <a:r>
              <a:rPr lang="it" sz="1500"/>
              <a:t>(Morville Peter,  Jeffery Callender. Search Patterns. Design for Discovery. O'Really Media, 2010.)</a:t>
            </a:r>
            <a:endParaRPr sz="1500"/>
          </a:p>
          <a:p>
            <a:pPr indent="0" lvl="0" marL="0" rtl="0" algn="l">
              <a:spcBef>
                <a:spcPts val="1600"/>
              </a:spcBef>
              <a:spcAft>
                <a:spcPts val="16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7" name="Shape 407"/>
        <p:cNvGrpSpPr/>
        <p:nvPr/>
      </p:nvGrpSpPr>
      <p:grpSpPr>
        <a:xfrm>
          <a:off x="0" y="0"/>
          <a:ext cx="0" cy="0"/>
          <a:chOff x="0" y="0"/>
          <a:chExt cx="0" cy="0"/>
        </a:xfrm>
      </p:grpSpPr>
      <p:sp>
        <p:nvSpPr>
          <p:cNvPr id="408" name="Google Shape;408;p6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Information-seeking behavior patterns</a:t>
            </a:r>
            <a:endParaRPr/>
          </a:p>
        </p:txBody>
      </p:sp>
      <p:sp>
        <p:nvSpPr>
          <p:cNvPr id="409" name="Google Shape;409;p64"/>
          <p:cNvSpPr txBox="1"/>
          <p:nvPr>
            <p:ph idx="1" type="body"/>
          </p:nvPr>
        </p:nvSpPr>
        <p:spPr>
          <a:xfrm>
            <a:off x="311700" y="6190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it"/>
              <a:t>1. </a:t>
            </a:r>
            <a:r>
              <a:rPr b="1" lang="it"/>
              <a:t>Quit</a:t>
            </a:r>
            <a:r>
              <a:rPr lang="it"/>
              <a:t>:  the user performs a search, sees the results and exits. </a:t>
            </a:r>
            <a:endParaRPr/>
          </a:p>
          <a:p>
            <a:pPr indent="0" lvl="0" marL="0" rtl="0" algn="l">
              <a:spcBef>
                <a:spcPts val="1600"/>
              </a:spcBef>
              <a:spcAft>
                <a:spcPts val="0"/>
              </a:spcAft>
              <a:buClr>
                <a:schemeClr val="dk1"/>
              </a:buClr>
              <a:buSzPts val="1100"/>
              <a:buFont typeface="Arial"/>
              <a:buNone/>
            </a:pPr>
            <a:r>
              <a:rPr lang="it"/>
              <a:t>2. </a:t>
            </a:r>
            <a:r>
              <a:rPr b="1" lang="it"/>
              <a:t>Narrow</a:t>
            </a:r>
            <a:r>
              <a:rPr lang="it"/>
              <a:t>: the user performs a search, sees the results and refines them using filters, sorting tools or the advanced search.</a:t>
            </a:r>
            <a:endParaRPr/>
          </a:p>
          <a:p>
            <a:pPr indent="0" lvl="0" marL="0" rtl="0" algn="l">
              <a:spcBef>
                <a:spcPts val="1600"/>
              </a:spcBef>
              <a:spcAft>
                <a:spcPts val="0"/>
              </a:spcAft>
              <a:buClr>
                <a:schemeClr val="dk1"/>
              </a:buClr>
              <a:buSzPts val="1100"/>
              <a:buFont typeface="Arial"/>
              <a:buNone/>
            </a:pPr>
            <a:r>
              <a:rPr lang="it"/>
              <a:t>3. </a:t>
            </a:r>
            <a:r>
              <a:rPr b="1" lang="it"/>
              <a:t>Expand</a:t>
            </a:r>
            <a:r>
              <a:rPr lang="it"/>
              <a:t>: the user performs a search, sees the results and expands the scope (</a:t>
            </a:r>
            <a:r>
              <a:rPr lang="it"/>
              <a:t>displaying related results</a:t>
            </a:r>
            <a:r>
              <a:rPr lang="it"/>
              <a:t>, etc.).</a:t>
            </a:r>
            <a:endParaRPr/>
          </a:p>
          <a:p>
            <a:pPr indent="0" lvl="0" marL="0" rtl="0" algn="l">
              <a:spcBef>
                <a:spcPts val="1600"/>
              </a:spcBef>
              <a:spcAft>
                <a:spcPts val="1600"/>
              </a:spcAft>
              <a:buNone/>
            </a:pPr>
            <a:r>
              <a:t/>
            </a:r>
            <a:endParaRPr/>
          </a:p>
        </p:txBody>
      </p:sp>
      <p:pic>
        <p:nvPicPr>
          <p:cNvPr id="410" name="Google Shape;410;p64"/>
          <p:cNvPicPr preferRelativeResize="0"/>
          <p:nvPr/>
        </p:nvPicPr>
        <p:blipFill>
          <a:blip r:embed="rId3">
            <a:alphaModFix/>
          </a:blip>
          <a:stretch>
            <a:fillRect/>
          </a:stretch>
        </p:blipFill>
        <p:spPr>
          <a:xfrm>
            <a:off x="4572000" y="636723"/>
            <a:ext cx="4379949" cy="1293375"/>
          </a:xfrm>
          <a:prstGeom prst="rect">
            <a:avLst/>
          </a:prstGeom>
          <a:noFill/>
          <a:ln>
            <a:noFill/>
          </a:ln>
        </p:spPr>
      </p:pic>
      <p:pic>
        <p:nvPicPr>
          <p:cNvPr id="411" name="Google Shape;411;p64"/>
          <p:cNvPicPr preferRelativeResize="0"/>
          <p:nvPr/>
        </p:nvPicPr>
        <p:blipFill>
          <a:blip r:embed="rId4">
            <a:alphaModFix/>
          </a:blip>
          <a:stretch>
            <a:fillRect/>
          </a:stretch>
        </p:blipFill>
        <p:spPr>
          <a:xfrm>
            <a:off x="4572000" y="2018475"/>
            <a:ext cx="4249702" cy="1293375"/>
          </a:xfrm>
          <a:prstGeom prst="rect">
            <a:avLst/>
          </a:prstGeom>
          <a:noFill/>
          <a:ln>
            <a:noFill/>
          </a:ln>
        </p:spPr>
      </p:pic>
      <p:pic>
        <p:nvPicPr>
          <p:cNvPr id="412" name="Google Shape;412;p64"/>
          <p:cNvPicPr preferRelativeResize="0"/>
          <p:nvPr/>
        </p:nvPicPr>
        <p:blipFill>
          <a:blip r:embed="rId5">
            <a:alphaModFix/>
          </a:blip>
          <a:stretch>
            <a:fillRect/>
          </a:stretch>
        </p:blipFill>
        <p:spPr>
          <a:xfrm>
            <a:off x="4637125" y="3554112"/>
            <a:ext cx="4249699" cy="14116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6" name="Shape 416"/>
        <p:cNvGrpSpPr/>
        <p:nvPr/>
      </p:nvGrpSpPr>
      <p:grpSpPr>
        <a:xfrm>
          <a:off x="0" y="0"/>
          <a:ext cx="0" cy="0"/>
          <a:chOff x="0" y="0"/>
          <a:chExt cx="0" cy="0"/>
        </a:xfrm>
      </p:grpSpPr>
      <p:sp>
        <p:nvSpPr>
          <p:cNvPr id="417" name="Google Shape;417;p6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Information-seeking behavior patterns</a:t>
            </a:r>
            <a:endParaRPr/>
          </a:p>
          <a:p>
            <a:pPr indent="0" lvl="0" marL="0" rtl="0" algn="l">
              <a:spcBef>
                <a:spcPts val="0"/>
              </a:spcBef>
              <a:spcAft>
                <a:spcPts val="0"/>
              </a:spcAft>
              <a:buNone/>
            </a:pPr>
            <a:r>
              <a:t/>
            </a:r>
            <a:endParaRPr/>
          </a:p>
        </p:txBody>
      </p:sp>
      <p:sp>
        <p:nvSpPr>
          <p:cNvPr id="418" name="Google Shape;418;p65"/>
          <p:cNvSpPr txBox="1"/>
          <p:nvPr>
            <p:ph idx="1" type="body"/>
          </p:nvPr>
        </p:nvSpPr>
        <p:spPr>
          <a:xfrm>
            <a:off x="311700" y="619075"/>
            <a:ext cx="4260300" cy="390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it"/>
              <a:t>4. </a:t>
            </a:r>
            <a:r>
              <a:rPr b="1" lang="it"/>
              <a:t>Pearl growing</a:t>
            </a:r>
            <a:r>
              <a:rPr lang="it"/>
              <a:t>: the user performs a search, opens one of the results and then opens or uses links within the result (</a:t>
            </a:r>
            <a:r>
              <a:rPr lang="it"/>
              <a:t>mining topics from the result, </a:t>
            </a:r>
            <a:r>
              <a:rPr lang="it"/>
              <a:t>typical navigation pattern in Wikipedia).</a:t>
            </a:r>
            <a:endParaRPr/>
          </a:p>
          <a:p>
            <a:pPr indent="0" lvl="0" marL="0" rtl="0" algn="l">
              <a:spcBef>
                <a:spcPts val="1600"/>
              </a:spcBef>
              <a:spcAft>
                <a:spcPts val="0"/>
              </a:spcAft>
              <a:buNone/>
            </a:pPr>
            <a:r>
              <a:rPr lang="it"/>
              <a:t>5. </a:t>
            </a:r>
            <a:r>
              <a:rPr b="1" lang="it"/>
              <a:t>Pogosticking</a:t>
            </a:r>
            <a:r>
              <a:rPr lang="it"/>
              <a:t>: the user performs a search, and then repeats the action of opening a result and returning to the results page.</a:t>
            </a:r>
            <a:endParaRPr/>
          </a:p>
          <a:p>
            <a:pPr indent="0" lvl="0" marL="0" rtl="0" algn="l">
              <a:spcBef>
                <a:spcPts val="1600"/>
              </a:spcBef>
              <a:spcAft>
                <a:spcPts val="1600"/>
              </a:spcAft>
              <a:buNone/>
            </a:pPr>
            <a:r>
              <a:t/>
            </a:r>
            <a:endParaRPr/>
          </a:p>
        </p:txBody>
      </p:sp>
      <p:pic>
        <p:nvPicPr>
          <p:cNvPr id="419" name="Google Shape;419;p65"/>
          <p:cNvPicPr preferRelativeResize="0"/>
          <p:nvPr/>
        </p:nvPicPr>
        <p:blipFill>
          <a:blip r:embed="rId3">
            <a:alphaModFix/>
          </a:blip>
          <a:stretch>
            <a:fillRect/>
          </a:stretch>
        </p:blipFill>
        <p:spPr>
          <a:xfrm>
            <a:off x="4841200" y="855843"/>
            <a:ext cx="3553550" cy="1471725"/>
          </a:xfrm>
          <a:prstGeom prst="rect">
            <a:avLst/>
          </a:prstGeom>
          <a:noFill/>
          <a:ln>
            <a:noFill/>
          </a:ln>
        </p:spPr>
      </p:pic>
      <p:pic>
        <p:nvPicPr>
          <p:cNvPr id="420" name="Google Shape;420;p65"/>
          <p:cNvPicPr preferRelativeResize="0"/>
          <p:nvPr/>
        </p:nvPicPr>
        <p:blipFill>
          <a:blip r:embed="rId4">
            <a:alphaModFix/>
          </a:blip>
          <a:stretch>
            <a:fillRect/>
          </a:stretch>
        </p:blipFill>
        <p:spPr>
          <a:xfrm>
            <a:off x="5185352" y="2546700"/>
            <a:ext cx="2865255" cy="25025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4" name="Shape 424"/>
        <p:cNvGrpSpPr/>
        <p:nvPr/>
      </p:nvGrpSpPr>
      <p:grpSpPr>
        <a:xfrm>
          <a:off x="0" y="0"/>
          <a:ext cx="0" cy="0"/>
          <a:chOff x="0" y="0"/>
          <a:chExt cx="0" cy="0"/>
        </a:xfrm>
      </p:grpSpPr>
      <p:sp>
        <p:nvSpPr>
          <p:cNvPr id="425" name="Google Shape;425;p6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Information-seeking behavior patterns</a:t>
            </a:r>
            <a:endParaRPr/>
          </a:p>
          <a:p>
            <a:pPr indent="0" lvl="0" marL="0" rtl="0" algn="l">
              <a:spcBef>
                <a:spcPts val="0"/>
              </a:spcBef>
              <a:spcAft>
                <a:spcPts val="0"/>
              </a:spcAft>
              <a:buNone/>
            </a:pPr>
            <a:r>
              <a:t/>
            </a:r>
            <a:endParaRPr/>
          </a:p>
        </p:txBody>
      </p:sp>
      <p:sp>
        <p:nvSpPr>
          <p:cNvPr id="426" name="Google Shape;426;p66"/>
          <p:cNvSpPr txBox="1"/>
          <p:nvPr>
            <p:ph idx="1" type="body"/>
          </p:nvPr>
        </p:nvSpPr>
        <p:spPr>
          <a:xfrm>
            <a:off x="311700" y="619075"/>
            <a:ext cx="4260300" cy="390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it"/>
              <a:t>6. </a:t>
            </a:r>
            <a:r>
              <a:rPr b="1" lang="it"/>
              <a:t>Thrashing</a:t>
            </a:r>
            <a:r>
              <a:rPr lang="it"/>
              <a:t>: the user performs a search, sees the results, and then returns to perform a new search by adding details to the query.</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it"/>
              <a:t>7. </a:t>
            </a:r>
            <a:r>
              <a:rPr b="1" lang="it"/>
              <a:t>Berry picking</a:t>
            </a:r>
            <a:r>
              <a:rPr lang="it"/>
              <a:t>: the user performs a search, opens a result, and from the information received performs a new search refining the query from time to time.</a:t>
            </a:r>
            <a:endParaRPr/>
          </a:p>
        </p:txBody>
      </p:sp>
      <p:pic>
        <p:nvPicPr>
          <p:cNvPr id="427" name="Google Shape;427;p66"/>
          <p:cNvPicPr preferRelativeResize="0"/>
          <p:nvPr/>
        </p:nvPicPr>
        <p:blipFill>
          <a:blip r:embed="rId3">
            <a:alphaModFix/>
          </a:blip>
          <a:stretch>
            <a:fillRect/>
          </a:stretch>
        </p:blipFill>
        <p:spPr>
          <a:xfrm>
            <a:off x="4680950" y="936825"/>
            <a:ext cx="3842499" cy="1787425"/>
          </a:xfrm>
          <a:prstGeom prst="rect">
            <a:avLst/>
          </a:prstGeom>
          <a:noFill/>
          <a:ln>
            <a:noFill/>
          </a:ln>
        </p:spPr>
      </p:pic>
      <p:grpSp>
        <p:nvGrpSpPr>
          <p:cNvPr id="428" name="Google Shape;428;p66"/>
          <p:cNvGrpSpPr/>
          <p:nvPr/>
        </p:nvGrpSpPr>
        <p:grpSpPr>
          <a:xfrm>
            <a:off x="4572000" y="3024350"/>
            <a:ext cx="3842499" cy="1867476"/>
            <a:chOff x="4680950" y="1096825"/>
            <a:chExt cx="3842499" cy="1867476"/>
          </a:xfrm>
        </p:grpSpPr>
        <p:pic>
          <p:nvPicPr>
            <p:cNvPr id="429" name="Google Shape;429;p66"/>
            <p:cNvPicPr preferRelativeResize="0"/>
            <p:nvPr/>
          </p:nvPicPr>
          <p:blipFill>
            <a:blip r:embed="rId3">
              <a:alphaModFix/>
            </a:blip>
            <a:stretch>
              <a:fillRect/>
            </a:stretch>
          </p:blipFill>
          <p:spPr>
            <a:xfrm>
              <a:off x="4680950" y="1176875"/>
              <a:ext cx="3842499" cy="1787425"/>
            </a:xfrm>
            <a:prstGeom prst="rect">
              <a:avLst/>
            </a:prstGeom>
            <a:noFill/>
            <a:ln>
              <a:noFill/>
            </a:ln>
          </p:spPr>
        </p:pic>
        <p:sp>
          <p:nvSpPr>
            <p:cNvPr id="430" name="Google Shape;430;p66"/>
            <p:cNvSpPr txBox="1"/>
            <p:nvPr/>
          </p:nvSpPr>
          <p:spPr>
            <a:xfrm>
              <a:off x="4680950" y="1096825"/>
              <a:ext cx="163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it">
                  <a:solidFill>
                    <a:srgbClr val="289BBE"/>
                  </a:solidFill>
                  <a:highlight>
                    <a:schemeClr val="lt1"/>
                  </a:highlight>
                </a:rPr>
                <a:t>Berry picking</a:t>
              </a:r>
              <a:endParaRPr i="1">
                <a:solidFill>
                  <a:srgbClr val="289BBE"/>
                </a:solidFill>
                <a:highlight>
                  <a:schemeClr val="lt1"/>
                </a:highlight>
              </a:endParaRPr>
            </a:p>
          </p:txBody>
        </p:sp>
        <p:pic>
          <p:nvPicPr>
            <p:cNvPr id="431" name="Google Shape;431;p66"/>
            <p:cNvPicPr preferRelativeResize="0"/>
            <p:nvPr/>
          </p:nvPicPr>
          <p:blipFill rotWithShape="1">
            <a:blip r:embed="rId4">
              <a:alphaModFix/>
            </a:blip>
            <a:srcRect b="0" l="37582" r="37631" t="29148"/>
            <a:stretch/>
          </p:blipFill>
          <p:spPr>
            <a:xfrm>
              <a:off x="7464725" y="1800051"/>
              <a:ext cx="983477" cy="1164250"/>
            </a:xfrm>
            <a:prstGeom prst="rect">
              <a:avLst/>
            </a:prstGeom>
            <a:noFill/>
            <a:ln>
              <a:noFill/>
            </a:ln>
          </p:spPr>
        </p:pic>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5" name="Shape 435"/>
        <p:cNvGrpSpPr/>
        <p:nvPr/>
      </p:nvGrpSpPr>
      <p:grpSpPr>
        <a:xfrm>
          <a:off x="0" y="0"/>
          <a:ext cx="0" cy="0"/>
          <a:chOff x="0" y="0"/>
          <a:chExt cx="0" cy="0"/>
        </a:xfrm>
      </p:grpSpPr>
      <p:sp>
        <p:nvSpPr>
          <p:cNvPr id="436" name="Google Shape;436;p6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Antipatterns</a:t>
            </a:r>
            <a:endParaRPr/>
          </a:p>
        </p:txBody>
      </p:sp>
      <p:sp>
        <p:nvSpPr>
          <p:cNvPr id="437" name="Google Shape;437;p6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Some of the patterns we just saw are behaviors that can happens at times:</a:t>
            </a:r>
            <a:endParaRPr/>
          </a:p>
          <a:p>
            <a:pPr indent="0" lvl="0" marL="0" rtl="0" algn="l">
              <a:spcBef>
                <a:spcPts val="1600"/>
              </a:spcBef>
              <a:spcAft>
                <a:spcPts val="0"/>
              </a:spcAft>
              <a:buNone/>
            </a:pPr>
            <a:r>
              <a:rPr lang="it"/>
              <a:t>“</a:t>
            </a:r>
            <a:r>
              <a:rPr lang="it"/>
              <a:t>That’s to be expected, but when it happens a lot, it’s not sampling; it’s a symptom.” (Morville and Callender)</a:t>
            </a:r>
            <a:endParaRPr/>
          </a:p>
          <a:p>
            <a:pPr indent="0" lvl="0" marL="0" rtl="0" algn="l">
              <a:spcBef>
                <a:spcPts val="1600"/>
              </a:spcBef>
              <a:spcAft>
                <a:spcPts val="0"/>
              </a:spcAft>
              <a:buNone/>
            </a:pPr>
            <a:r>
              <a:rPr lang="it"/>
              <a:t>This is the case of </a:t>
            </a:r>
            <a:r>
              <a:rPr lang="it" u="sng"/>
              <a:t>Pogosticking, Thrashing and Berry picking</a:t>
            </a:r>
            <a:r>
              <a:rPr lang="it"/>
              <a:t>.</a:t>
            </a:r>
            <a:endParaRPr/>
          </a:p>
          <a:p>
            <a:pPr indent="0" lvl="0" marL="0" rtl="0" algn="l">
              <a:spcBef>
                <a:spcPts val="1600"/>
              </a:spcBef>
              <a:spcAft>
                <a:spcPts val="0"/>
              </a:spcAft>
              <a:buClr>
                <a:schemeClr val="dk1"/>
              </a:buClr>
              <a:buSzPts val="1100"/>
              <a:buFont typeface="Arial"/>
              <a:buNone/>
            </a:pPr>
            <a:r>
              <a:rPr lang="it"/>
              <a:t>If this is a repeated behavior within the interface then it must be considered a symptom of antipattern: </a:t>
            </a:r>
            <a:r>
              <a:rPr b="1" lang="it"/>
              <a:t>a search pattern produced by a poor Information Architecture and design!</a:t>
            </a:r>
            <a:endParaRPr b="1"/>
          </a:p>
          <a:p>
            <a:pPr indent="0" lvl="0" marL="0" rtl="0" algn="l">
              <a:spcBef>
                <a:spcPts val="1600"/>
              </a:spcBef>
              <a:spcAft>
                <a:spcPts val="16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1" name="Shape 441"/>
        <p:cNvGrpSpPr/>
        <p:nvPr/>
      </p:nvGrpSpPr>
      <p:grpSpPr>
        <a:xfrm>
          <a:off x="0" y="0"/>
          <a:ext cx="0" cy="0"/>
          <a:chOff x="0" y="0"/>
          <a:chExt cx="0" cy="0"/>
        </a:xfrm>
      </p:grpSpPr>
      <p:sp>
        <p:nvSpPr>
          <p:cNvPr id="442" name="Google Shape;442;p6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Design patterns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6" name="Shape 446"/>
        <p:cNvGrpSpPr/>
        <p:nvPr/>
      </p:nvGrpSpPr>
      <p:grpSpPr>
        <a:xfrm>
          <a:off x="0" y="0"/>
          <a:ext cx="0" cy="0"/>
          <a:chOff x="0" y="0"/>
          <a:chExt cx="0" cy="0"/>
        </a:xfrm>
      </p:grpSpPr>
      <p:sp>
        <p:nvSpPr>
          <p:cNvPr id="447" name="Google Shape;447;p6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patterns</a:t>
            </a:r>
            <a:endParaRPr/>
          </a:p>
        </p:txBody>
      </p:sp>
      <p:sp>
        <p:nvSpPr>
          <p:cNvPr id="448" name="Google Shape;448;p6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it"/>
              <a:t>In parallel and closely related to the behavior patterns, it is possible to identify other possible additional patterns referred, however, directly to the design activity.</a:t>
            </a:r>
            <a:endParaRPr/>
          </a:p>
          <a:p>
            <a:pPr indent="0" lvl="0" marL="0" rtl="0" algn="l">
              <a:spcBef>
                <a:spcPts val="1600"/>
              </a:spcBef>
              <a:spcAft>
                <a:spcPts val="0"/>
              </a:spcAft>
              <a:buNone/>
            </a:pPr>
            <a:r>
              <a:rPr lang="it"/>
              <a:t>This design patterns </a:t>
            </a:r>
            <a:r>
              <a:rPr b="1" lang="it"/>
              <a:t>have emerged as repeatable solutions to common problems. </a:t>
            </a:r>
            <a:r>
              <a:rPr lang="it"/>
              <a:t>They can work like a sort of best practices, or design components that allow you to quickly identify possible features your website or app needs or must provide to the users.</a:t>
            </a:r>
            <a:endParaRPr/>
          </a:p>
          <a:p>
            <a:pPr indent="0" lvl="0" marL="0" rtl="0" algn="l">
              <a:spcBef>
                <a:spcPts val="1600"/>
              </a:spcBef>
              <a:spcAft>
                <a:spcPts val="160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2" name="Shape 452"/>
        <p:cNvGrpSpPr/>
        <p:nvPr/>
      </p:nvGrpSpPr>
      <p:grpSpPr>
        <a:xfrm>
          <a:off x="0" y="0"/>
          <a:ext cx="0" cy="0"/>
          <a:chOff x="0" y="0"/>
          <a:chExt cx="0" cy="0"/>
        </a:xfrm>
      </p:grpSpPr>
      <p:sp>
        <p:nvSpPr>
          <p:cNvPr id="453" name="Google Shape;453;p7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patterns</a:t>
            </a:r>
            <a:endParaRPr/>
          </a:p>
        </p:txBody>
      </p:sp>
      <p:sp>
        <p:nvSpPr>
          <p:cNvPr id="454" name="Google Shape;454;p70"/>
          <p:cNvSpPr txBox="1"/>
          <p:nvPr>
            <p:ph idx="1" type="body"/>
          </p:nvPr>
        </p:nvSpPr>
        <p:spPr>
          <a:xfrm>
            <a:off x="311700" y="619075"/>
            <a:ext cx="8520600" cy="86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Continuing</a:t>
            </a:r>
            <a:r>
              <a:rPr lang="it"/>
              <a:t> with the information-seeking activity, a possible set of design patterns could be:</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
        <p:nvSpPr>
          <p:cNvPr id="455" name="Google Shape;455;p70"/>
          <p:cNvSpPr txBox="1"/>
          <p:nvPr/>
        </p:nvSpPr>
        <p:spPr>
          <a:xfrm>
            <a:off x="311700" y="1483675"/>
            <a:ext cx="4294200" cy="33783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it" sz="1800">
                <a:solidFill>
                  <a:schemeClr val="dk2"/>
                </a:solidFill>
              </a:rPr>
              <a:t>1. </a:t>
            </a:r>
            <a:r>
              <a:rPr b="1" lang="it" sz="1800">
                <a:solidFill>
                  <a:schemeClr val="dk2"/>
                </a:solidFill>
              </a:rPr>
              <a:t>Autocomplete</a:t>
            </a:r>
            <a:r>
              <a:rPr lang="it" sz="1800">
                <a:solidFill>
                  <a:schemeClr val="dk2"/>
                </a:solidFill>
              </a:rPr>
              <a:t>: completes the search query at the stage when the user formulates it, thus trying to return the searched query as directly as possible.</a:t>
            </a:r>
            <a:endParaRPr sz="1800">
              <a:solidFill>
                <a:schemeClr val="dk2"/>
              </a:solidFill>
            </a:endParaRPr>
          </a:p>
          <a:p>
            <a:pPr indent="0" lvl="0" marL="0" rtl="0" algn="l">
              <a:lnSpc>
                <a:spcPct val="115000"/>
              </a:lnSpc>
              <a:spcBef>
                <a:spcPts val="1600"/>
              </a:spcBef>
              <a:spcAft>
                <a:spcPts val="0"/>
              </a:spcAft>
              <a:buClr>
                <a:schemeClr val="dk1"/>
              </a:buClr>
              <a:buSzPts val="1100"/>
              <a:buFont typeface="Arial"/>
              <a:buNone/>
            </a:pPr>
            <a:r>
              <a:rPr lang="it" sz="1800">
                <a:solidFill>
                  <a:schemeClr val="dk2"/>
                </a:solidFill>
              </a:rPr>
              <a:t>2. </a:t>
            </a:r>
            <a:r>
              <a:rPr b="1" lang="it" sz="1800">
                <a:solidFill>
                  <a:schemeClr val="dk2"/>
                </a:solidFill>
              </a:rPr>
              <a:t>Autosuggest</a:t>
            </a:r>
            <a:r>
              <a:rPr lang="it" sz="1800">
                <a:solidFill>
                  <a:schemeClr val="dk2"/>
                </a:solidFill>
              </a:rPr>
              <a:t>: similar to autocomplete but tries to help the user by providing him with even distant (but related) ideas from the query.</a:t>
            </a:r>
            <a:endParaRPr sz="1800">
              <a:solidFill>
                <a:schemeClr val="dk2"/>
              </a:solidFill>
            </a:endParaRPr>
          </a:p>
          <a:p>
            <a:pPr indent="0" lvl="0" marL="0" rtl="0" algn="l">
              <a:lnSpc>
                <a:spcPct val="115000"/>
              </a:lnSpc>
              <a:spcBef>
                <a:spcPts val="1600"/>
              </a:spcBef>
              <a:spcAft>
                <a:spcPts val="1600"/>
              </a:spcAft>
              <a:buClr>
                <a:schemeClr val="dk1"/>
              </a:buClr>
              <a:buSzPts val="1100"/>
              <a:buFont typeface="Arial"/>
              <a:buNone/>
            </a:pPr>
            <a:r>
              <a:rPr lang="it" sz="1800">
                <a:solidFill>
                  <a:schemeClr val="dk2"/>
                </a:solidFill>
              </a:rPr>
              <a:t>3. </a:t>
            </a:r>
            <a:r>
              <a:rPr b="1" lang="it" sz="1800">
                <a:solidFill>
                  <a:schemeClr val="dk2"/>
                </a:solidFill>
              </a:rPr>
              <a:t>Instant Results</a:t>
            </a:r>
            <a:r>
              <a:rPr lang="it" sz="1800">
                <a:solidFill>
                  <a:schemeClr val="dk2"/>
                </a:solidFill>
              </a:rPr>
              <a:t>: provides results while the query is being typed.</a:t>
            </a:r>
            <a:endParaRPr/>
          </a:p>
        </p:txBody>
      </p:sp>
      <p:pic>
        <p:nvPicPr>
          <p:cNvPr id="456" name="Google Shape;456;p70"/>
          <p:cNvPicPr preferRelativeResize="0"/>
          <p:nvPr/>
        </p:nvPicPr>
        <p:blipFill>
          <a:blip r:embed="rId3">
            <a:alphaModFix/>
          </a:blip>
          <a:stretch>
            <a:fillRect/>
          </a:stretch>
        </p:blipFill>
        <p:spPr>
          <a:xfrm>
            <a:off x="5092750" y="1266350"/>
            <a:ext cx="3583551" cy="1421575"/>
          </a:xfrm>
          <a:prstGeom prst="rect">
            <a:avLst/>
          </a:prstGeom>
          <a:noFill/>
          <a:ln>
            <a:noFill/>
          </a:ln>
        </p:spPr>
      </p:pic>
      <p:pic>
        <p:nvPicPr>
          <p:cNvPr id="457" name="Google Shape;457;p70"/>
          <p:cNvPicPr preferRelativeResize="0"/>
          <p:nvPr/>
        </p:nvPicPr>
        <p:blipFill>
          <a:blip r:embed="rId4">
            <a:alphaModFix/>
          </a:blip>
          <a:stretch>
            <a:fillRect/>
          </a:stretch>
        </p:blipFill>
        <p:spPr>
          <a:xfrm>
            <a:off x="5505902" y="2687925"/>
            <a:ext cx="2930000" cy="158434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1" name="Shape 461"/>
        <p:cNvGrpSpPr/>
        <p:nvPr/>
      </p:nvGrpSpPr>
      <p:grpSpPr>
        <a:xfrm>
          <a:off x="0" y="0"/>
          <a:ext cx="0" cy="0"/>
          <a:chOff x="0" y="0"/>
          <a:chExt cx="0" cy="0"/>
        </a:xfrm>
      </p:grpSpPr>
      <p:sp>
        <p:nvSpPr>
          <p:cNvPr id="462" name="Google Shape;462;p7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Information-seeking Design patterns</a:t>
            </a:r>
            <a:endParaRPr/>
          </a:p>
        </p:txBody>
      </p:sp>
      <p:sp>
        <p:nvSpPr>
          <p:cNvPr id="463" name="Google Shape;463;p71"/>
          <p:cNvSpPr txBox="1"/>
          <p:nvPr>
            <p:ph idx="1" type="body"/>
          </p:nvPr>
        </p:nvSpPr>
        <p:spPr>
          <a:xfrm>
            <a:off x="311700" y="619075"/>
            <a:ext cx="4260300" cy="4346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4. </a:t>
            </a:r>
            <a:r>
              <a:rPr b="1" lang="it"/>
              <a:t>Did you mean</a:t>
            </a:r>
            <a:r>
              <a:rPr lang="it"/>
              <a:t>: after the query is submitted, it provides a hint about the most appropriate result (useful in case of spelling errors for example).</a:t>
            </a:r>
            <a:endParaRPr/>
          </a:p>
          <a:p>
            <a:pPr indent="0" lvl="0" marL="0" rtl="0" algn="l">
              <a:spcBef>
                <a:spcPts val="1600"/>
              </a:spcBef>
              <a:spcAft>
                <a:spcPts val="0"/>
              </a:spcAft>
              <a:buNone/>
            </a:pPr>
            <a:r>
              <a:rPr lang="it"/>
              <a:t>5. </a:t>
            </a:r>
            <a:r>
              <a:rPr b="1" lang="it"/>
              <a:t>Autocorrect</a:t>
            </a:r>
            <a:r>
              <a:rPr lang="it"/>
              <a:t>: instead of suggesting a correction in the search query, it automatically applies it and shows the results.</a:t>
            </a:r>
            <a:endParaRPr/>
          </a:p>
          <a:p>
            <a:pPr indent="0" lvl="0" marL="0" rtl="0" algn="l">
              <a:spcBef>
                <a:spcPts val="1600"/>
              </a:spcBef>
              <a:spcAft>
                <a:spcPts val="1600"/>
              </a:spcAft>
              <a:buNone/>
            </a:pPr>
            <a:r>
              <a:rPr lang="it"/>
              <a:t>6. </a:t>
            </a:r>
            <a:r>
              <a:rPr b="1" lang="it"/>
              <a:t>Best First</a:t>
            </a:r>
            <a:r>
              <a:rPr lang="it"/>
              <a:t>: shows as the first results the best ones chosen by an algorithm (by relevance, popularity, date, format, in a customized way for the user specific etc.).</a:t>
            </a:r>
            <a:endParaRPr/>
          </a:p>
        </p:txBody>
      </p:sp>
      <p:pic>
        <p:nvPicPr>
          <p:cNvPr id="464" name="Google Shape;464;p71"/>
          <p:cNvPicPr preferRelativeResize="0"/>
          <p:nvPr/>
        </p:nvPicPr>
        <p:blipFill>
          <a:blip r:embed="rId3">
            <a:alphaModFix/>
          </a:blip>
          <a:stretch>
            <a:fillRect/>
          </a:stretch>
        </p:blipFill>
        <p:spPr>
          <a:xfrm>
            <a:off x="5130825" y="3391875"/>
            <a:ext cx="3244476" cy="1498325"/>
          </a:xfrm>
          <a:prstGeom prst="rect">
            <a:avLst/>
          </a:prstGeom>
          <a:noFill/>
          <a:ln>
            <a:noFill/>
          </a:ln>
        </p:spPr>
      </p:pic>
      <p:pic>
        <p:nvPicPr>
          <p:cNvPr id="465" name="Google Shape;465;p71"/>
          <p:cNvPicPr preferRelativeResize="0"/>
          <p:nvPr/>
        </p:nvPicPr>
        <p:blipFill>
          <a:blip r:embed="rId4">
            <a:alphaModFix/>
          </a:blip>
          <a:stretch>
            <a:fillRect/>
          </a:stretch>
        </p:blipFill>
        <p:spPr>
          <a:xfrm>
            <a:off x="5621150" y="1918313"/>
            <a:ext cx="2521725" cy="13668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9" name="Shape 469"/>
        <p:cNvGrpSpPr/>
        <p:nvPr/>
      </p:nvGrpSpPr>
      <p:grpSpPr>
        <a:xfrm>
          <a:off x="0" y="0"/>
          <a:ext cx="0" cy="0"/>
          <a:chOff x="0" y="0"/>
          <a:chExt cx="0" cy="0"/>
        </a:xfrm>
      </p:grpSpPr>
      <p:sp>
        <p:nvSpPr>
          <p:cNvPr id="470" name="Google Shape;470;p7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Information-seeking Design patterns</a:t>
            </a:r>
            <a:endParaRPr/>
          </a:p>
          <a:p>
            <a:pPr indent="0" lvl="0" marL="0" rtl="0" algn="l">
              <a:spcBef>
                <a:spcPts val="0"/>
              </a:spcBef>
              <a:spcAft>
                <a:spcPts val="0"/>
              </a:spcAft>
              <a:buNone/>
            </a:pPr>
            <a:r>
              <a:t/>
            </a:r>
            <a:endParaRPr/>
          </a:p>
        </p:txBody>
      </p:sp>
      <p:sp>
        <p:nvSpPr>
          <p:cNvPr id="471" name="Google Shape;471;p72"/>
          <p:cNvSpPr txBox="1"/>
          <p:nvPr>
            <p:ph idx="1" type="body"/>
          </p:nvPr>
        </p:nvSpPr>
        <p:spPr>
          <a:xfrm>
            <a:off x="311700" y="619075"/>
            <a:ext cx="4260300" cy="4346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t"/>
              <a:t>7. </a:t>
            </a:r>
            <a:r>
              <a:rPr b="1" lang="it"/>
              <a:t>Partial matches</a:t>
            </a:r>
            <a:r>
              <a:rPr lang="it"/>
              <a:t>: shows the results that most closely match the query allowing a page with zero results not to be returned.</a:t>
            </a:r>
            <a:endParaRPr/>
          </a:p>
          <a:p>
            <a:pPr indent="0" lvl="0" marL="0" rtl="0" algn="l">
              <a:spcBef>
                <a:spcPts val="1600"/>
              </a:spcBef>
              <a:spcAft>
                <a:spcPts val="0"/>
              </a:spcAft>
              <a:buNone/>
            </a:pPr>
            <a:r>
              <a:rPr lang="it"/>
              <a:t>8. </a:t>
            </a:r>
            <a:r>
              <a:rPr b="1" lang="it"/>
              <a:t>Related Searches</a:t>
            </a:r>
            <a:r>
              <a:rPr lang="it"/>
              <a:t>: shows related searches with the query made that can provide inspiration to the user for further research or help clarify an ambiguous query.</a:t>
            </a:r>
            <a:endParaRPr/>
          </a:p>
          <a:p>
            <a:pPr indent="0" lvl="0" marL="0" rtl="0" algn="l">
              <a:spcBef>
                <a:spcPts val="1600"/>
              </a:spcBef>
              <a:spcAft>
                <a:spcPts val="1600"/>
              </a:spcAft>
              <a:buNone/>
            </a:pPr>
            <a:r>
              <a:rPr lang="it"/>
              <a:t>9. Federated Search: allows you to search several databases at once. As a result there will be a variety of results that are difficult to refine.</a:t>
            </a:r>
            <a:endParaRPr/>
          </a:p>
        </p:txBody>
      </p:sp>
      <p:pic>
        <p:nvPicPr>
          <p:cNvPr id="472" name="Google Shape;472;p72"/>
          <p:cNvPicPr preferRelativeResize="0"/>
          <p:nvPr/>
        </p:nvPicPr>
        <p:blipFill>
          <a:blip r:embed="rId3">
            <a:alphaModFix/>
          </a:blip>
          <a:stretch>
            <a:fillRect/>
          </a:stretch>
        </p:blipFill>
        <p:spPr>
          <a:xfrm>
            <a:off x="4894925" y="3514419"/>
            <a:ext cx="3865075" cy="13788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6" name="Shape 476"/>
        <p:cNvGrpSpPr/>
        <p:nvPr/>
      </p:nvGrpSpPr>
      <p:grpSpPr>
        <a:xfrm>
          <a:off x="0" y="0"/>
          <a:ext cx="0" cy="0"/>
          <a:chOff x="0" y="0"/>
          <a:chExt cx="0" cy="0"/>
        </a:xfrm>
      </p:grpSpPr>
      <p:sp>
        <p:nvSpPr>
          <p:cNvPr id="477" name="Google Shape;477;p7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Information-seeking Design patterns</a:t>
            </a:r>
            <a:endParaRPr/>
          </a:p>
          <a:p>
            <a:pPr indent="0" lvl="0" marL="0" rtl="0" algn="l">
              <a:spcBef>
                <a:spcPts val="0"/>
              </a:spcBef>
              <a:spcAft>
                <a:spcPts val="0"/>
              </a:spcAft>
              <a:buNone/>
            </a:pPr>
            <a:r>
              <a:t/>
            </a:r>
            <a:endParaRPr/>
          </a:p>
        </p:txBody>
      </p:sp>
      <p:sp>
        <p:nvSpPr>
          <p:cNvPr id="478" name="Google Shape;478;p73"/>
          <p:cNvSpPr txBox="1"/>
          <p:nvPr>
            <p:ph idx="1" type="body"/>
          </p:nvPr>
        </p:nvSpPr>
        <p:spPr>
          <a:xfrm>
            <a:off x="311700" y="619075"/>
            <a:ext cx="4260300" cy="434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10. </a:t>
            </a:r>
            <a:r>
              <a:rPr b="1" lang="it"/>
              <a:t>Faceted Navigation</a:t>
            </a:r>
            <a:r>
              <a:rPr lang="it"/>
              <a:t>: provides the user with options to refine results through fields regarding different types of metadata (price, color, tags, etc.).</a:t>
            </a:r>
            <a:endParaRPr/>
          </a:p>
          <a:p>
            <a:pPr indent="0" lvl="0" marL="0" rtl="0" algn="l">
              <a:spcBef>
                <a:spcPts val="1600"/>
              </a:spcBef>
              <a:spcAft>
                <a:spcPts val="0"/>
              </a:spcAft>
              <a:buNone/>
            </a:pPr>
            <a:r>
              <a:rPr lang="it"/>
              <a:t>11. </a:t>
            </a:r>
            <a:r>
              <a:rPr b="1" lang="it"/>
              <a:t>Advanced Search</a:t>
            </a:r>
            <a:r>
              <a:rPr lang="it"/>
              <a:t>: allows the user to refine the search before performing it through more or less elaborate options.</a:t>
            </a:r>
            <a:endParaRPr/>
          </a:p>
          <a:p>
            <a:pPr indent="0" lvl="0" marL="0" rtl="0" algn="l">
              <a:spcBef>
                <a:spcPts val="1600"/>
              </a:spcBef>
              <a:spcAft>
                <a:spcPts val="1600"/>
              </a:spcAft>
              <a:buNone/>
            </a:pPr>
            <a:r>
              <a:rPr lang="it"/>
              <a:t>12. </a:t>
            </a:r>
            <a:r>
              <a:rPr b="1" lang="it"/>
              <a:t>Scoped Search</a:t>
            </a:r>
            <a:r>
              <a:rPr lang="it"/>
              <a:t>: if content is organized into categories, a dropdown menu can be provided to specify the scope of the search.</a:t>
            </a:r>
            <a:endParaRPr/>
          </a:p>
        </p:txBody>
      </p:sp>
      <p:pic>
        <p:nvPicPr>
          <p:cNvPr id="479" name="Google Shape;479;p73"/>
          <p:cNvPicPr preferRelativeResize="0"/>
          <p:nvPr/>
        </p:nvPicPr>
        <p:blipFill>
          <a:blip r:embed="rId3">
            <a:alphaModFix/>
          </a:blip>
          <a:stretch>
            <a:fillRect/>
          </a:stretch>
        </p:blipFill>
        <p:spPr>
          <a:xfrm>
            <a:off x="4948175" y="725975"/>
            <a:ext cx="3830851" cy="1318723"/>
          </a:xfrm>
          <a:prstGeom prst="rect">
            <a:avLst/>
          </a:prstGeom>
          <a:noFill/>
          <a:ln>
            <a:noFill/>
          </a:ln>
        </p:spPr>
      </p:pic>
      <p:pic>
        <p:nvPicPr>
          <p:cNvPr id="480" name="Google Shape;480;p73"/>
          <p:cNvPicPr preferRelativeResize="0"/>
          <p:nvPr/>
        </p:nvPicPr>
        <p:blipFill>
          <a:blip r:embed="rId4">
            <a:alphaModFix/>
          </a:blip>
          <a:stretch>
            <a:fillRect/>
          </a:stretch>
        </p:blipFill>
        <p:spPr>
          <a:xfrm>
            <a:off x="5153650" y="2089400"/>
            <a:ext cx="3023825" cy="14060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4" name="Shape 484"/>
        <p:cNvGrpSpPr/>
        <p:nvPr/>
      </p:nvGrpSpPr>
      <p:grpSpPr>
        <a:xfrm>
          <a:off x="0" y="0"/>
          <a:ext cx="0" cy="0"/>
          <a:chOff x="0" y="0"/>
          <a:chExt cx="0" cy="0"/>
        </a:xfrm>
      </p:grpSpPr>
      <p:sp>
        <p:nvSpPr>
          <p:cNvPr id="485" name="Google Shape;485;p7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Information-seeking Design patterns</a:t>
            </a:r>
            <a:endParaRPr/>
          </a:p>
          <a:p>
            <a:pPr indent="0" lvl="0" marL="0" rtl="0" algn="l">
              <a:spcBef>
                <a:spcPts val="0"/>
              </a:spcBef>
              <a:spcAft>
                <a:spcPts val="0"/>
              </a:spcAft>
              <a:buNone/>
            </a:pPr>
            <a:r>
              <a:t/>
            </a:r>
            <a:endParaRPr/>
          </a:p>
        </p:txBody>
      </p:sp>
      <p:sp>
        <p:nvSpPr>
          <p:cNvPr id="486" name="Google Shape;486;p74"/>
          <p:cNvSpPr txBox="1"/>
          <p:nvPr>
            <p:ph idx="1" type="body"/>
          </p:nvPr>
        </p:nvSpPr>
        <p:spPr>
          <a:xfrm>
            <a:off x="311700" y="619075"/>
            <a:ext cx="4260300" cy="43467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it"/>
              <a:t>13. </a:t>
            </a:r>
            <a:r>
              <a:rPr b="1" lang="it"/>
              <a:t>Personalization</a:t>
            </a:r>
            <a:r>
              <a:rPr lang="it"/>
              <a:t>: concerns the adaptation of the results shown to the specific user using the system (e.g., recommended results on Amazon or personalized results on Google Maps).</a:t>
            </a:r>
            <a:endParaRPr/>
          </a:p>
          <a:p>
            <a:pPr indent="0" lvl="0" marL="0" rtl="0" algn="l">
              <a:spcBef>
                <a:spcPts val="1600"/>
              </a:spcBef>
              <a:spcAft>
                <a:spcPts val="0"/>
              </a:spcAft>
              <a:buNone/>
            </a:pPr>
            <a:r>
              <a:rPr lang="it"/>
              <a:t>14. </a:t>
            </a:r>
            <a:r>
              <a:rPr b="1" lang="it"/>
              <a:t>Pagination</a:t>
            </a:r>
            <a:r>
              <a:rPr lang="it"/>
              <a:t>: shows a maximum number of results per page. The standard set by Google is ten results per page. Crucial here are the snippets provided for each result (what it is about, available links, etc.).</a:t>
            </a:r>
            <a:endParaRPr/>
          </a:p>
          <a:p>
            <a:pPr indent="0" lvl="0" marL="0" rtl="0" algn="l">
              <a:spcBef>
                <a:spcPts val="1600"/>
              </a:spcBef>
              <a:spcAft>
                <a:spcPts val="1600"/>
              </a:spcAft>
              <a:buNone/>
            </a:pPr>
            <a:r>
              <a:rPr lang="it"/>
              <a:t>15. </a:t>
            </a:r>
            <a:r>
              <a:rPr b="1" lang="it"/>
              <a:t>Structured Results</a:t>
            </a:r>
            <a:r>
              <a:rPr lang="it"/>
              <a:t>: each individual result is displayed in the manner most congruent with its content (an address will be represented in a map, a stock market index in a graph, etc.).</a:t>
            </a:r>
            <a:endParaRPr/>
          </a:p>
        </p:txBody>
      </p:sp>
      <p:pic>
        <p:nvPicPr>
          <p:cNvPr id="487" name="Google Shape;487;p74"/>
          <p:cNvPicPr preferRelativeResize="0"/>
          <p:nvPr/>
        </p:nvPicPr>
        <p:blipFill>
          <a:blip r:embed="rId3">
            <a:alphaModFix/>
          </a:blip>
          <a:stretch>
            <a:fillRect/>
          </a:stretch>
        </p:blipFill>
        <p:spPr>
          <a:xfrm>
            <a:off x="5123200" y="560850"/>
            <a:ext cx="3449926" cy="1685300"/>
          </a:xfrm>
          <a:prstGeom prst="rect">
            <a:avLst/>
          </a:prstGeom>
          <a:noFill/>
          <a:ln>
            <a:noFill/>
          </a:ln>
        </p:spPr>
      </p:pic>
      <p:pic>
        <p:nvPicPr>
          <p:cNvPr id="488" name="Google Shape;488;p74"/>
          <p:cNvPicPr preferRelativeResize="0"/>
          <p:nvPr/>
        </p:nvPicPr>
        <p:blipFill>
          <a:blip r:embed="rId4">
            <a:alphaModFix/>
          </a:blip>
          <a:stretch>
            <a:fillRect/>
          </a:stretch>
        </p:blipFill>
        <p:spPr>
          <a:xfrm>
            <a:off x="5286475" y="2246150"/>
            <a:ext cx="2974675" cy="1444075"/>
          </a:xfrm>
          <a:prstGeom prst="rect">
            <a:avLst/>
          </a:prstGeom>
          <a:noFill/>
          <a:ln>
            <a:noFill/>
          </a:ln>
        </p:spPr>
      </p:pic>
      <p:pic>
        <p:nvPicPr>
          <p:cNvPr id="489" name="Google Shape;489;p74"/>
          <p:cNvPicPr preferRelativeResize="0"/>
          <p:nvPr/>
        </p:nvPicPr>
        <p:blipFill>
          <a:blip r:embed="rId5">
            <a:alphaModFix/>
          </a:blip>
          <a:stretch>
            <a:fillRect/>
          </a:stretch>
        </p:blipFill>
        <p:spPr>
          <a:xfrm>
            <a:off x="5286476" y="3642026"/>
            <a:ext cx="3139052" cy="14440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3" name="Shape 493"/>
        <p:cNvGrpSpPr/>
        <p:nvPr/>
      </p:nvGrpSpPr>
      <p:grpSpPr>
        <a:xfrm>
          <a:off x="0" y="0"/>
          <a:ext cx="0" cy="0"/>
          <a:chOff x="0" y="0"/>
          <a:chExt cx="0" cy="0"/>
        </a:xfrm>
      </p:grpSpPr>
      <p:sp>
        <p:nvSpPr>
          <p:cNvPr id="494" name="Google Shape;494;p7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Information-seeking Design patterns</a:t>
            </a:r>
            <a:endParaRPr/>
          </a:p>
          <a:p>
            <a:pPr indent="0" lvl="0" marL="0" rtl="0" algn="l">
              <a:spcBef>
                <a:spcPts val="0"/>
              </a:spcBef>
              <a:spcAft>
                <a:spcPts val="0"/>
              </a:spcAft>
              <a:buNone/>
            </a:pPr>
            <a:r>
              <a:t/>
            </a:r>
            <a:endParaRPr/>
          </a:p>
        </p:txBody>
      </p:sp>
      <p:sp>
        <p:nvSpPr>
          <p:cNvPr id="495" name="Google Shape;495;p75"/>
          <p:cNvSpPr txBox="1"/>
          <p:nvPr>
            <p:ph idx="1" type="body"/>
          </p:nvPr>
        </p:nvSpPr>
        <p:spPr>
          <a:xfrm>
            <a:off x="311700" y="619075"/>
            <a:ext cx="4260300" cy="43467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16. </a:t>
            </a:r>
            <a:r>
              <a:rPr b="1" lang="it"/>
              <a:t>Actionable Results</a:t>
            </a:r>
            <a:r>
              <a:rPr lang="it"/>
              <a:t>: depending on its content, each result will provide the ability to interact with it (a phone number that allows a call to be made directly, a video that allows it to be played).</a:t>
            </a:r>
            <a:endParaRPr/>
          </a:p>
          <a:p>
            <a:pPr indent="0" lvl="0" marL="0" rtl="0" algn="l">
              <a:spcBef>
                <a:spcPts val="1600"/>
              </a:spcBef>
              <a:spcAft>
                <a:spcPts val="0"/>
              </a:spcAft>
              <a:buNone/>
            </a:pPr>
            <a:r>
              <a:rPr lang="it"/>
              <a:t>17. </a:t>
            </a:r>
            <a:r>
              <a:rPr b="1" lang="it"/>
              <a:t>Comparing Results</a:t>
            </a:r>
            <a:r>
              <a:rPr lang="it"/>
              <a:t>: allows the user to compare results with each other (for example, the features and price of different products).</a:t>
            </a:r>
            <a:endParaRPr/>
          </a:p>
          <a:p>
            <a:pPr indent="0" lvl="0" marL="0" rtl="0" algn="l">
              <a:spcBef>
                <a:spcPts val="1600"/>
              </a:spcBef>
              <a:spcAft>
                <a:spcPts val="1600"/>
              </a:spcAft>
              <a:buNone/>
            </a:pPr>
            <a:r>
              <a:rPr lang="it"/>
              <a:t>18. </a:t>
            </a:r>
            <a:r>
              <a:rPr b="1" lang="it"/>
              <a:t>Unified Discovery</a:t>
            </a:r>
            <a:r>
              <a:rPr lang="it"/>
              <a:t>: the search and refinement modes are combined together. On the same page you can find a search bar, exploration of a browsable taxonomy, faceted navigation, and so on.</a:t>
            </a:r>
            <a:endParaRPr/>
          </a:p>
        </p:txBody>
      </p:sp>
      <p:pic>
        <p:nvPicPr>
          <p:cNvPr id="496" name="Google Shape;496;p75"/>
          <p:cNvPicPr preferRelativeResize="0"/>
          <p:nvPr/>
        </p:nvPicPr>
        <p:blipFill>
          <a:blip r:embed="rId3">
            <a:alphaModFix/>
          </a:blip>
          <a:stretch>
            <a:fillRect/>
          </a:stretch>
        </p:blipFill>
        <p:spPr>
          <a:xfrm>
            <a:off x="4571994" y="636725"/>
            <a:ext cx="4494826" cy="1564750"/>
          </a:xfrm>
          <a:prstGeom prst="rect">
            <a:avLst/>
          </a:prstGeom>
          <a:noFill/>
          <a:ln>
            <a:noFill/>
          </a:ln>
        </p:spPr>
      </p:pic>
      <p:pic>
        <p:nvPicPr>
          <p:cNvPr id="497" name="Google Shape;497;p75"/>
          <p:cNvPicPr preferRelativeResize="0"/>
          <p:nvPr/>
        </p:nvPicPr>
        <p:blipFill>
          <a:blip r:embed="rId4">
            <a:alphaModFix/>
          </a:blip>
          <a:stretch>
            <a:fillRect/>
          </a:stretch>
        </p:blipFill>
        <p:spPr>
          <a:xfrm>
            <a:off x="4739625" y="2939750"/>
            <a:ext cx="4267199" cy="197555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Interfaces’ layout and components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6" name="Shape 506"/>
        <p:cNvGrpSpPr/>
        <p:nvPr/>
      </p:nvGrpSpPr>
      <p:grpSpPr>
        <a:xfrm>
          <a:off x="0" y="0"/>
          <a:ext cx="0" cy="0"/>
          <a:chOff x="0" y="0"/>
          <a:chExt cx="0" cy="0"/>
        </a:xfrm>
      </p:grpSpPr>
      <p:sp>
        <p:nvSpPr>
          <p:cNvPr id="507" name="Google Shape;507;p7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a:t>The Document Object Model (DOM)</a:t>
            </a:r>
            <a:endParaRPr/>
          </a:p>
          <a:p>
            <a:pPr indent="0" lvl="0" marL="0" rtl="0" algn="l">
              <a:spcBef>
                <a:spcPts val="1600"/>
              </a:spcBef>
              <a:spcAft>
                <a:spcPts val="0"/>
              </a:spcAft>
              <a:buNone/>
            </a:pPr>
            <a:r>
              <a:t/>
            </a:r>
            <a:endParaRPr/>
          </a:p>
        </p:txBody>
      </p:sp>
      <p:sp>
        <p:nvSpPr>
          <p:cNvPr id="508" name="Google Shape;508;p7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Document Object Model, usually referred to as the DOM, is an essential part of making websites interactive. </a:t>
            </a:r>
            <a:endParaRPr/>
          </a:p>
          <a:p>
            <a:pPr indent="0" lvl="0" marL="0" rtl="0" algn="l">
              <a:spcBef>
                <a:spcPts val="1600"/>
              </a:spcBef>
              <a:spcAft>
                <a:spcPts val="0"/>
              </a:spcAft>
              <a:buNone/>
            </a:pPr>
            <a:r>
              <a:rPr lang="it"/>
              <a:t>It is an interface that allows a programming language to manipulate the content, structure, and style of a website. </a:t>
            </a:r>
            <a:endParaRPr/>
          </a:p>
          <a:p>
            <a:pPr indent="0" lvl="0" marL="0" rtl="0" algn="l">
              <a:spcBef>
                <a:spcPts val="1600"/>
              </a:spcBef>
              <a:spcAft>
                <a:spcPts val="0"/>
              </a:spcAft>
              <a:buClr>
                <a:schemeClr val="dk1"/>
              </a:buClr>
              <a:buSzPts val="1100"/>
              <a:buFont typeface="Arial"/>
              <a:buNone/>
            </a:pPr>
            <a:r>
              <a:rPr lang="it"/>
              <a:t>JavaScript is (can be) the client-side scripting language that connects to the DOM in an internet browser</a:t>
            </a:r>
            <a:endParaRPr/>
          </a:p>
          <a:p>
            <a:pPr indent="0" lvl="0" marL="0" rtl="0" algn="l">
              <a:spcBef>
                <a:spcPts val="1600"/>
              </a:spcBef>
              <a:spcAft>
                <a:spcPts val="0"/>
              </a:spcAft>
              <a:buNone/>
            </a:pPr>
            <a:r>
              <a:rPr lang="it"/>
              <a:t>Almost any time a website performs an action, such as rotating between a slideshow of images, displaying an error when a user attempts to submit an incomplete form, or toggling a navigation menu, it is the result of JavaScript (or another web language) accessing and manipulating the DOM. </a:t>
            </a:r>
            <a:endParaRPr/>
          </a:p>
          <a:p>
            <a:pPr indent="0" lvl="0" marL="0" rtl="0" algn="l">
              <a:spcBef>
                <a:spcPts val="1600"/>
              </a:spcBef>
              <a:spcAft>
                <a:spcPts val="0"/>
              </a:spcAft>
              <a:buClr>
                <a:schemeClr val="dk1"/>
              </a:buClr>
              <a:buSzPts val="1100"/>
              <a:buFont typeface="Arial"/>
              <a:buNone/>
            </a:pPr>
            <a:r>
              <a:rPr lang="it"/>
              <a:t>more info </a:t>
            </a:r>
            <a:r>
              <a:rPr lang="it" u="sng">
                <a:solidFill>
                  <a:schemeClr val="hlink"/>
                </a:solidFill>
                <a:hlinkClick r:id="rId3"/>
              </a:rPr>
              <a:t>https://www.taniarascia.com/introduction-to-the-dom/</a:t>
            </a:r>
            <a:r>
              <a:rPr lang="it"/>
              <a:t> </a:t>
            </a:r>
            <a:endParaRPr/>
          </a:p>
          <a:p>
            <a:pPr indent="0" lvl="0" marL="0" rtl="0" algn="l">
              <a:spcBef>
                <a:spcPts val="1600"/>
              </a:spcBef>
              <a:spcAft>
                <a:spcPts val="160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2" name="Shape 512"/>
        <p:cNvGrpSpPr/>
        <p:nvPr/>
      </p:nvGrpSpPr>
      <p:grpSpPr>
        <a:xfrm>
          <a:off x="0" y="0"/>
          <a:ext cx="0" cy="0"/>
          <a:chOff x="0" y="0"/>
          <a:chExt cx="0" cy="0"/>
        </a:xfrm>
      </p:grpSpPr>
      <p:sp>
        <p:nvSpPr>
          <p:cNvPr id="513" name="Google Shape;513;p7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lang="it"/>
              <a:t>The Document Object Model (DOM)</a:t>
            </a:r>
            <a:endParaRPr/>
          </a:p>
        </p:txBody>
      </p:sp>
      <p:sp>
        <p:nvSpPr>
          <p:cNvPr id="514" name="Google Shape;514;p78"/>
          <p:cNvSpPr txBox="1"/>
          <p:nvPr>
            <p:ph idx="1" type="body"/>
          </p:nvPr>
        </p:nvSpPr>
        <p:spPr>
          <a:xfrm>
            <a:off x="311700" y="619075"/>
            <a:ext cx="6012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The DOM </a:t>
            </a:r>
            <a:r>
              <a:rPr lang="it" sz="1700"/>
              <a:t>is a cross-platform and language-independent interface that treats an XML or HTML document as a tree structure wherein each node is an object representing a part of the document. </a:t>
            </a:r>
            <a:endParaRPr sz="1700"/>
          </a:p>
          <a:p>
            <a:pPr indent="0" lvl="0" marL="0" rtl="0" algn="l">
              <a:spcBef>
                <a:spcPts val="1600"/>
              </a:spcBef>
              <a:spcAft>
                <a:spcPts val="0"/>
              </a:spcAft>
              <a:buNone/>
            </a:pPr>
            <a:r>
              <a:rPr lang="it" sz="1700"/>
              <a:t>The DOM represents a document with a logical tree. Each branch of the tree ends in a node, and each node contains objects. </a:t>
            </a:r>
            <a:endParaRPr sz="1700"/>
          </a:p>
          <a:p>
            <a:pPr indent="0" lvl="0" marL="0" rtl="0" algn="l">
              <a:spcBef>
                <a:spcPts val="1600"/>
              </a:spcBef>
              <a:spcAft>
                <a:spcPts val="0"/>
              </a:spcAft>
              <a:buNone/>
            </a:pPr>
            <a:r>
              <a:rPr lang="it" sz="1700"/>
              <a:t>DOM methods allow programmatic access to the tree; with them one can change the structure, style or content of a document. </a:t>
            </a:r>
            <a:endParaRPr sz="1700"/>
          </a:p>
          <a:p>
            <a:pPr indent="0" lvl="0" marL="0" rtl="0" algn="l">
              <a:spcBef>
                <a:spcPts val="1600"/>
              </a:spcBef>
              <a:spcAft>
                <a:spcPts val="0"/>
              </a:spcAft>
              <a:buClr>
                <a:schemeClr val="dk1"/>
              </a:buClr>
              <a:buSzPts val="1100"/>
              <a:buFont typeface="Arial"/>
              <a:buNone/>
            </a:pPr>
            <a:r>
              <a:rPr lang="it" sz="1700"/>
              <a:t>Nodes can have event handlers attached to them. Once an event is triggered, the event handlers get executed.</a:t>
            </a:r>
            <a:endParaRPr sz="1700"/>
          </a:p>
          <a:p>
            <a:pPr indent="0" lvl="0" marL="0" rtl="0" algn="l">
              <a:spcBef>
                <a:spcPts val="1600"/>
              </a:spcBef>
              <a:spcAft>
                <a:spcPts val="0"/>
              </a:spcAft>
              <a:buClr>
                <a:schemeClr val="dk1"/>
              </a:buClr>
              <a:buSzPts val="1100"/>
              <a:buFont typeface="Arial"/>
              <a:buNone/>
            </a:pPr>
            <a:r>
              <a:t/>
            </a:r>
            <a:endParaRPr sz="1700"/>
          </a:p>
          <a:p>
            <a:pPr indent="0" lvl="0" marL="0" rtl="0" algn="l">
              <a:spcBef>
                <a:spcPts val="1600"/>
              </a:spcBef>
              <a:spcAft>
                <a:spcPts val="1600"/>
              </a:spcAft>
              <a:buNone/>
            </a:pPr>
            <a:r>
              <a:t/>
            </a:r>
            <a:endParaRPr sz="1700"/>
          </a:p>
        </p:txBody>
      </p:sp>
      <p:pic>
        <p:nvPicPr>
          <p:cNvPr id="515" name="Google Shape;515;p78"/>
          <p:cNvPicPr preferRelativeResize="0"/>
          <p:nvPr/>
        </p:nvPicPr>
        <p:blipFill>
          <a:blip r:embed="rId3">
            <a:alphaModFix/>
          </a:blip>
          <a:stretch>
            <a:fillRect/>
          </a:stretch>
        </p:blipFill>
        <p:spPr>
          <a:xfrm>
            <a:off x="6324501" y="712925"/>
            <a:ext cx="2819500" cy="29186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9" name="Shape 519"/>
        <p:cNvGrpSpPr/>
        <p:nvPr/>
      </p:nvGrpSpPr>
      <p:grpSpPr>
        <a:xfrm>
          <a:off x="0" y="0"/>
          <a:ext cx="0" cy="0"/>
          <a:chOff x="0" y="0"/>
          <a:chExt cx="0" cy="0"/>
        </a:xfrm>
      </p:grpSpPr>
      <p:sp>
        <p:nvSpPr>
          <p:cNvPr id="520" name="Google Shape;520;p7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a:t>The Document Object Model (DOM)</a:t>
            </a:r>
            <a:endParaRPr/>
          </a:p>
          <a:p>
            <a:pPr indent="0" lvl="0" marL="0" rtl="0" algn="l">
              <a:spcBef>
                <a:spcPts val="1600"/>
              </a:spcBef>
              <a:spcAft>
                <a:spcPts val="0"/>
              </a:spcAft>
              <a:buNone/>
            </a:pPr>
            <a:r>
              <a:t/>
            </a:r>
            <a:endParaRPr/>
          </a:p>
        </p:txBody>
      </p:sp>
      <p:sp>
        <p:nvSpPr>
          <p:cNvPr id="521" name="Google Shape;521;p7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principal standardization of the DOM was handled by the World Wide Web Consortium, which last developed a recommendation in 2004. </a:t>
            </a:r>
            <a:endParaRPr/>
          </a:p>
          <a:p>
            <a:pPr indent="0" lvl="0" marL="0" rtl="0" algn="l">
              <a:spcBef>
                <a:spcPts val="1600"/>
              </a:spcBef>
              <a:spcAft>
                <a:spcPts val="0"/>
              </a:spcAft>
              <a:buClr>
                <a:schemeClr val="dk1"/>
              </a:buClr>
              <a:buSzPts val="1100"/>
              <a:buFont typeface="Arial"/>
              <a:buNone/>
            </a:pPr>
            <a:r>
              <a:rPr lang="it"/>
              <a:t>WHATWG took over the development of the standard, publishing it as a living document. The W3C now publishes stable snapshots of the WHATWG standard.</a:t>
            </a:r>
            <a:endParaRPr/>
          </a:p>
          <a:p>
            <a:pPr indent="0" lvl="0" marL="0" rtl="0" algn="l">
              <a:spcBef>
                <a:spcPts val="1600"/>
              </a:spcBef>
              <a:spcAft>
                <a:spcPts val="160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5" name="Shape 525"/>
        <p:cNvGrpSpPr/>
        <p:nvPr/>
      </p:nvGrpSpPr>
      <p:grpSpPr>
        <a:xfrm>
          <a:off x="0" y="0"/>
          <a:ext cx="0" cy="0"/>
          <a:chOff x="0" y="0"/>
          <a:chExt cx="0" cy="0"/>
        </a:xfrm>
      </p:grpSpPr>
      <p:sp>
        <p:nvSpPr>
          <p:cNvPr id="526" name="Google Shape;526;p8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render a document such as a HTML page, most web browsers use an internal model similar to the DOM. </a:t>
            </a:r>
            <a:endParaRPr/>
          </a:p>
          <a:p>
            <a:pPr indent="0" lvl="0" marL="0" rtl="0" algn="l">
              <a:spcBef>
                <a:spcPts val="1600"/>
              </a:spcBef>
              <a:spcAft>
                <a:spcPts val="0"/>
              </a:spcAft>
              <a:buNone/>
            </a:pPr>
            <a:r>
              <a:rPr lang="it"/>
              <a:t>The nodes of every document are organized in a tree structure, called the DOM tree, with the topmost node named as "Document object". </a:t>
            </a:r>
            <a:endParaRPr/>
          </a:p>
          <a:p>
            <a:pPr indent="0" lvl="0" marL="0" rtl="0" algn="l">
              <a:spcBef>
                <a:spcPts val="1600"/>
              </a:spcBef>
              <a:spcAft>
                <a:spcPts val="0"/>
              </a:spcAft>
              <a:buClr>
                <a:schemeClr val="dk1"/>
              </a:buClr>
              <a:buSzPts val="1100"/>
              <a:buFont typeface="Arial"/>
              <a:buNone/>
            </a:pPr>
            <a:r>
              <a:rPr lang="it"/>
              <a:t>When an HTML page is rendered in browsers, the browser downloads the HTML into local memory and automatically parses it to display the page on screen.</a:t>
            </a:r>
            <a:endParaRPr/>
          </a:p>
          <a:p>
            <a:pPr indent="0" lvl="0" marL="0" rtl="0" algn="l">
              <a:spcBef>
                <a:spcPts val="1600"/>
              </a:spcBef>
              <a:spcAft>
                <a:spcPts val="1600"/>
              </a:spcAft>
              <a:buNone/>
            </a:pPr>
            <a:r>
              <a:t/>
            </a:r>
            <a:endParaRPr/>
          </a:p>
        </p:txBody>
      </p:sp>
      <p:sp>
        <p:nvSpPr>
          <p:cNvPr id="527" name="Google Shape;527;p8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DOM in Web Browser</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1" name="Shape 531"/>
        <p:cNvGrpSpPr/>
        <p:nvPr/>
      </p:nvGrpSpPr>
      <p:grpSpPr>
        <a:xfrm>
          <a:off x="0" y="0"/>
          <a:ext cx="0" cy="0"/>
          <a:chOff x="0" y="0"/>
          <a:chExt cx="0" cy="0"/>
        </a:xfrm>
      </p:grpSpPr>
      <p:sp>
        <p:nvSpPr>
          <p:cNvPr id="532" name="Google Shape;532;p8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DOM in JavaScript</a:t>
            </a:r>
            <a:endParaRPr/>
          </a:p>
        </p:txBody>
      </p:sp>
      <p:sp>
        <p:nvSpPr>
          <p:cNvPr id="533" name="Google Shape;533;p8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When a JavaScript web page is loaded, the browser creates a Document Object Model of the page, which is an object oriented representation of an HTML document that acts as an interface between JavaScript and the document itself. </a:t>
            </a:r>
            <a:endParaRPr/>
          </a:p>
          <a:p>
            <a:pPr indent="0" lvl="0" marL="0" rtl="0" algn="l">
              <a:spcBef>
                <a:spcPts val="1600"/>
              </a:spcBef>
              <a:spcAft>
                <a:spcPts val="0"/>
              </a:spcAft>
              <a:buClr>
                <a:schemeClr val="dk1"/>
              </a:buClr>
              <a:buSzPts val="1100"/>
              <a:buFont typeface="Arial"/>
              <a:buNone/>
            </a:pPr>
            <a:r>
              <a:rPr lang="it"/>
              <a:t>This allows the creation of dynamic web pages, because within a page JavaScript can:</a:t>
            </a:r>
            <a:endParaRPr/>
          </a:p>
          <a:p>
            <a:pPr indent="-342900" lvl="0" marL="457200" rtl="0" algn="l">
              <a:spcBef>
                <a:spcPts val="1600"/>
              </a:spcBef>
              <a:spcAft>
                <a:spcPts val="0"/>
              </a:spcAft>
              <a:buSzPts val="1800"/>
              <a:buChar char="●"/>
            </a:pPr>
            <a:r>
              <a:rPr lang="it"/>
              <a:t>add, change, and remove any of the HTML elements and attributes</a:t>
            </a:r>
            <a:endParaRPr/>
          </a:p>
          <a:p>
            <a:pPr indent="-342900" lvl="0" marL="457200" rtl="0" algn="l">
              <a:spcBef>
                <a:spcPts val="0"/>
              </a:spcBef>
              <a:spcAft>
                <a:spcPts val="0"/>
              </a:spcAft>
              <a:buSzPts val="1800"/>
              <a:buChar char="●"/>
            </a:pPr>
            <a:r>
              <a:rPr lang="it"/>
              <a:t>change any of the CSS styles</a:t>
            </a:r>
            <a:endParaRPr/>
          </a:p>
          <a:p>
            <a:pPr indent="-342900" lvl="0" marL="457200" rtl="0" algn="l">
              <a:spcBef>
                <a:spcPts val="0"/>
              </a:spcBef>
              <a:spcAft>
                <a:spcPts val="0"/>
              </a:spcAft>
              <a:buSzPts val="1800"/>
              <a:buChar char="●"/>
            </a:pPr>
            <a:r>
              <a:rPr lang="it"/>
              <a:t>react to all the existing events</a:t>
            </a:r>
            <a:endParaRPr/>
          </a:p>
          <a:p>
            <a:pPr indent="-342900" lvl="0" marL="457200" rtl="0" algn="l">
              <a:spcBef>
                <a:spcPts val="0"/>
              </a:spcBef>
              <a:spcAft>
                <a:spcPts val="0"/>
              </a:spcAft>
              <a:buSzPts val="1800"/>
              <a:buChar char="●"/>
            </a:pPr>
            <a:r>
              <a:rPr lang="it"/>
              <a:t>create new events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Interfaces’ components</a:t>
            </a:r>
            <a:endParaRPr/>
          </a:p>
        </p:txBody>
      </p:sp>
      <p:sp>
        <p:nvSpPr>
          <p:cNvPr id="539" name="Google Shape;539;p8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600"/>
              <a:t>When designing your interface, try to be consistent and predictable in your choice of interface elements. Whether they are aware of it or not, users have become familiar with elements acting in a certain way, so choosing to adopt those elements when appropriate will help with task completion, efficiency, and satisfaction.</a:t>
            </a:r>
            <a:endParaRPr sz="1600"/>
          </a:p>
          <a:p>
            <a:pPr indent="0" lvl="0" marL="0" rtl="0" algn="l">
              <a:spcBef>
                <a:spcPts val="1600"/>
              </a:spcBef>
              <a:spcAft>
                <a:spcPts val="0"/>
              </a:spcAft>
              <a:buClr>
                <a:schemeClr val="dk1"/>
              </a:buClr>
              <a:buSzPts val="1100"/>
              <a:buFont typeface="Arial"/>
              <a:buNone/>
            </a:pPr>
            <a:r>
              <a:rPr lang="it" sz="1600"/>
              <a:t>Interface elements include but are not limited to:</a:t>
            </a:r>
            <a:endParaRPr sz="1600"/>
          </a:p>
          <a:p>
            <a:pPr indent="-330200" lvl="0" marL="457200" rtl="0" algn="l">
              <a:spcBef>
                <a:spcPts val="1600"/>
              </a:spcBef>
              <a:spcAft>
                <a:spcPts val="0"/>
              </a:spcAft>
              <a:buSzPts val="1600"/>
              <a:buChar char="●"/>
            </a:pPr>
            <a:r>
              <a:rPr b="1" lang="it" sz="1600"/>
              <a:t>Input Controls:</a:t>
            </a:r>
            <a:r>
              <a:rPr lang="it" sz="1600"/>
              <a:t> checkboxes, radio buttons, dropdown lists, list boxes, buttons, toggles, text fields, date field</a:t>
            </a:r>
            <a:endParaRPr sz="1600"/>
          </a:p>
          <a:p>
            <a:pPr indent="-330200" lvl="0" marL="457200" rtl="0" algn="l">
              <a:spcBef>
                <a:spcPts val="0"/>
              </a:spcBef>
              <a:spcAft>
                <a:spcPts val="0"/>
              </a:spcAft>
              <a:buSzPts val="1600"/>
              <a:buChar char="●"/>
            </a:pPr>
            <a:r>
              <a:rPr b="1" lang="it" sz="1600"/>
              <a:t>Navigational Components:</a:t>
            </a:r>
            <a:r>
              <a:rPr lang="it" sz="1600"/>
              <a:t> breadcrumb, slider, search field, pagination, slider, tags, icons</a:t>
            </a:r>
            <a:endParaRPr sz="1600"/>
          </a:p>
          <a:p>
            <a:pPr indent="-330200" lvl="0" marL="457200" rtl="0" algn="l">
              <a:spcBef>
                <a:spcPts val="0"/>
              </a:spcBef>
              <a:spcAft>
                <a:spcPts val="0"/>
              </a:spcAft>
              <a:buSzPts val="1600"/>
              <a:buChar char="●"/>
            </a:pPr>
            <a:r>
              <a:rPr b="1" lang="it" sz="1600"/>
              <a:t>Informational Components:</a:t>
            </a:r>
            <a:r>
              <a:rPr lang="it" sz="1600"/>
              <a:t> tooltips, icons, progress bar, notifications, message boxes, modal windows</a:t>
            </a:r>
            <a:endParaRPr sz="1600"/>
          </a:p>
          <a:p>
            <a:pPr indent="-330200" lvl="0" marL="457200" rtl="0" algn="l">
              <a:spcBef>
                <a:spcPts val="0"/>
              </a:spcBef>
              <a:spcAft>
                <a:spcPts val="0"/>
              </a:spcAft>
              <a:buSzPts val="1600"/>
              <a:buChar char="●"/>
            </a:pPr>
            <a:r>
              <a:rPr b="1" lang="it" sz="1600"/>
              <a:t>Containers: </a:t>
            </a:r>
            <a:r>
              <a:rPr lang="it" sz="1600"/>
              <a:t>accordion</a:t>
            </a:r>
            <a:endParaRPr sz="1600"/>
          </a:p>
          <a:p>
            <a:pPr indent="0" lvl="0" marL="0" rtl="0" algn="l">
              <a:spcBef>
                <a:spcPts val="1600"/>
              </a:spcBef>
              <a:spcAft>
                <a:spcPts val="1600"/>
              </a:spcAft>
              <a:buNone/>
            </a:pPr>
            <a:r>
              <a:rPr lang="it" sz="1600"/>
              <a:t>Continue: </a:t>
            </a:r>
            <a:r>
              <a:rPr lang="it" sz="1600" u="sng">
                <a:solidFill>
                  <a:schemeClr val="hlink"/>
                </a:solidFill>
                <a:hlinkClick r:id="rId3"/>
              </a:rPr>
              <a:t>here</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