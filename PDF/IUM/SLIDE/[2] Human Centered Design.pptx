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93ece797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93ece797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93ece797a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93ece797a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93ece797a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93ece797a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93ece797a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93ece797a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93ece797a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93ece797a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0252882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0252882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93ece797a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93ece797a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93ece797a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93ece797a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93ece797a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93ece797a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93ece797a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93ece797a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0252882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0252882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93ece797a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93ece797a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93ece797a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93ece797a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93ece797a0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93ece797a0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93ece797a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93ece797a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60bcd3df5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60bcd3df5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40252882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40252882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93ef40ba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93ef40ba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93ece797a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93ece797a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93ece797a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93ece797a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93ece797a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93ece797a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93ece797a0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93ece797a0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IUM 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www.designkit.org/human-centered-design" TargetMode="External"/><Relationship Id="rId4" Type="http://schemas.openxmlformats.org/officeDocument/2006/relationships/hyperlink" Target="https://www.youtube.com/watch?v=rmM0kRf8Dbk&amp;ab_channel=NNgroup"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hyperlink" Target="https://www.usability.gov/what-and-why/user-centered-design.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Human Centered Design</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a:t>
            </a:r>
            <a:r>
              <a:rPr lang="it"/>
              <a:t> Centered Design</a:t>
            </a:r>
            <a:endParaRPr/>
          </a:p>
        </p:txBody>
      </p:sp>
      <p:sp>
        <p:nvSpPr>
          <p:cNvPr id="62" name="Google Shape;62;p1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it"/>
              <a:t>I progettisti devono produrre cose che soddisfino i bisogni della gente, in termini di funzioni, facilità d’uso e gratificazione emotiva. In altre parole, il design (di prodotto) deve essere pensato come un’esperienza totale (per l'utente).</a:t>
            </a:r>
            <a:r>
              <a:rPr b="1" lang="it"/>
              <a:t> </a:t>
            </a:r>
            <a:endParaRPr b="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rPr lang="it"/>
              <a:t>[Donald Norman — La caffettiera del masochista]</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68" name="Google Shape;68;p1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Le persone sono sempre più </a:t>
            </a:r>
            <a:r>
              <a:rPr lang="it" u="sng"/>
              <a:t>frustrate</a:t>
            </a:r>
            <a:r>
              <a:rPr lang="it" u="sng"/>
              <a:t> dalla complessità degli oggetti quotidiani.</a:t>
            </a:r>
            <a:r>
              <a:rPr lang="it"/>
              <a:t> Dalla complessità sempre maggiore del cruscotto dell'auto, dalla lavatrice piena di incomprensibili funzioni e pulsanti, dalla crescente automazione della casa, e dalla continua proliferazione di funzioni che i progettisti aggiungono con orgoglio ad ogni nuova versione dei loro prodotti.</a:t>
            </a:r>
            <a:endParaRPr/>
          </a:p>
          <a:p>
            <a:pPr indent="0" lvl="0" marL="0" rtl="0" algn="l">
              <a:spcBef>
                <a:spcPts val="1600"/>
              </a:spcBef>
              <a:spcAft>
                <a:spcPts val="0"/>
              </a:spcAft>
              <a:buClr>
                <a:schemeClr val="dk1"/>
              </a:buClr>
              <a:buSzPts val="1100"/>
              <a:buFont typeface="Arial"/>
              <a:buNone/>
            </a:pPr>
            <a:r>
              <a:rPr lang="it"/>
              <a:t>La vita della maggior parte degli utenti è ormai diventata una battaglia quotidiana per la sopravvivenza alla invadente e iper-funzionale tecnologia. </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74" name="Google Shape;74;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Questo problema origina direttamente dalla modalità con la quale vengono oggigiorno progettati gli oggetti quotidiani ed in particolare quelli tecnologici. </a:t>
            </a:r>
            <a:endParaRPr/>
          </a:p>
          <a:p>
            <a:pPr indent="0" lvl="0" marL="0" rtl="0" algn="l">
              <a:spcBef>
                <a:spcPts val="1600"/>
              </a:spcBef>
              <a:spcAft>
                <a:spcPts val="0"/>
              </a:spcAft>
              <a:buNone/>
            </a:pPr>
            <a:r>
              <a:rPr lang="it"/>
              <a:t>Le macchine (computer) hanno una modalità di funzionamento logica, dovuta all'algoritmo che il progettista ha sviluppato come anima della macchina. Noi umani invece siamo tutt'altro che logici e razionali, siamo intuitivi, flessibili, versatili e curiosi.</a:t>
            </a:r>
            <a:endParaRPr/>
          </a:p>
          <a:p>
            <a:pPr indent="0" lvl="0" marL="0" rtl="0" algn="l">
              <a:spcBef>
                <a:spcPts val="1600"/>
              </a:spcBef>
              <a:spcAft>
                <a:spcPts val="0"/>
              </a:spcAft>
              <a:buClr>
                <a:schemeClr val="dk1"/>
              </a:buClr>
              <a:buSzPts val="1100"/>
              <a:buFont typeface="Arial"/>
              <a:buNone/>
            </a:pPr>
            <a:r>
              <a:rPr lang="it" u="sng"/>
              <a:t>E' chiaro quindi che nell'interazione uomo-macchina si va a creare una relazione fra specie diverse che hanno modalità di pensiero e di funzionamento opposte.</a:t>
            </a:r>
            <a:endParaRPr u="sng"/>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80" name="Google Shape;80;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Gli ingegneri e gli informatici, orgogliosi dei loro progressi tecnologici, hanno preteso da sempre che gli umani si adattassero alle loro macchine. </a:t>
            </a:r>
            <a:endParaRPr/>
          </a:p>
          <a:p>
            <a:pPr indent="0" lvl="0" marL="0" rtl="0" algn="l">
              <a:spcBef>
                <a:spcPts val="1600"/>
              </a:spcBef>
              <a:spcAft>
                <a:spcPts val="0"/>
              </a:spcAft>
              <a:buClr>
                <a:schemeClr val="dk1"/>
              </a:buClr>
              <a:buSzPts val="1100"/>
              <a:buFont typeface="Arial"/>
              <a:buNone/>
            </a:pPr>
            <a:r>
              <a:rPr lang="it"/>
              <a:t>Le macchine sono viste dai progettisti come un elemento di orgoglio che rappresenta il progresso e chi non è in grado di capirle è retrogrado, vecchio e a volte anche un po' stupido.</a:t>
            </a:r>
            <a:endParaRPr/>
          </a:p>
          <a:p>
            <a:pPr indent="0" lvl="0" marL="0" rtl="0" algn="l">
              <a:spcBef>
                <a:spcPts val="1600"/>
              </a:spcBef>
              <a:spcAft>
                <a:spcPts val="0"/>
              </a:spcAft>
              <a:buClr>
                <a:schemeClr val="dk1"/>
              </a:buClr>
              <a:buSzPts val="1100"/>
              <a:buFont typeface="Arial"/>
              <a:buNone/>
            </a:pPr>
            <a:r>
              <a:rPr lang="it"/>
              <a:t>Questo </a:t>
            </a:r>
            <a:r>
              <a:rPr lang="it" u="sng"/>
              <a:t>approccio tecno-centrico</a:t>
            </a:r>
            <a:r>
              <a:rPr lang="it"/>
              <a:t> dei progettisti ha in realtà leso lo sviluppo stesso della tecnologia dal momento che ne ha rallentato la sua diffusione e accettazione.</a:t>
            </a:r>
            <a:endParaRPr/>
          </a:p>
          <a:p>
            <a:pPr indent="0" lvl="0" marL="0" rtl="0" algn="l">
              <a:spcBef>
                <a:spcPts val="1600"/>
              </a:spcBef>
              <a:spcAft>
                <a:spcPts val="0"/>
              </a:spcAft>
              <a:buClr>
                <a:schemeClr val="dk1"/>
              </a:buClr>
              <a:buSzPts val="1100"/>
              <a:buFont typeface="Arial"/>
              <a:buNone/>
            </a:pPr>
            <a:r>
              <a:rPr lang="it"/>
              <a:t>La maggior parte degli utenti oggi è frustrata dall'utilizzo di incomprensibili oggetti tecnologici di cui non capisce il principio di funzionamento e dove tipicamente si limita ad utilizzare il 10% delle funzionalità disponibili.</a:t>
            </a: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86" name="Google Shape;86;p1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Le macchine hanno delle loro regole di funzionamento che sono spesso note solo ai progettisti. Quando non si seguono queste regole le cose non vanno come previsto e l'utente si sente stupido ed incapace. La macchina è perfetta, non può sbagliare, quindi se le cose sono andate male è sicuramente colpa dell'umano. </a:t>
            </a:r>
            <a:endParaRPr/>
          </a:p>
          <a:p>
            <a:pPr indent="0" lvl="0" marL="0" rtl="0" algn="l">
              <a:spcBef>
                <a:spcPts val="1600"/>
              </a:spcBef>
              <a:spcAft>
                <a:spcPts val="0"/>
              </a:spcAft>
              <a:buClr>
                <a:schemeClr val="dk1"/>
              </a:buClr>
              <a:buSzPts val="1100"/>
              <a:buFont typeface="Arial"/>
              <a:buNone/>
            </a:pPr>
            <a:r>
              <a:rPr b="1" lang="it"/>
              <a:t>E' vero! ma non è l'umano utente ad aver sbagliato, la colpa è del progettista!</a:t>
            </a:r>
            <a:endParaRPr b="1"/>
          </a:p>
          <a:p>
            <a:pPr indent="0" lvl="0" marL="0" rtl="0" algn="l">
              <a:spcBef>
                <a:spcPts val="1600"/>
              </a:spcBef>
              <a:spcAft>
                <a:spcPts val="0"/>
              </a:spcAft>
              <a:buNone/>
            </a:pPr>
            <a:r>
              <a:rPr i="1" lang="it" u="sng"/>
              <a:t>Nel design antropocentrico si inverte il paradigma di progettazione mettendo l'utente al centro del processo. </a:t>
            </a:r>
            <a:endParaRPr i="1" u="sng"/>
          </a:p>
          <a:p>
            <a:pPr indent="0" lvl="0" marL="0" rtl="0" algn="l">
              <a:spcBef>
                <a:spcPts val="1600"/>
              </a:spcBef>
              <a:spcAft>
                <a:spcPts val="0"/>
              </a:spcAft>
              <a:buClr>
                <a:schemeClr val="dk1"/>
              </a:buClr>
              <a:buSzPts val="1100"/>
              <a:buFont typeface="Arial"/>
              <a:buNone/>
            </a:pPr>
            <a:r>
              <a:rPr lang="it"/>
              <a:t>Le funzionalità del prodotto vengono dopo. Prima ci sono i bisogni dell'utente!</a:t>
            </a:r>
            <a:endParaRPr/>
          </a:p>
          <a:p>
            <a:pPr indent="0" lvl="0" marL="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Centered Design</a:t>
            </a:r>
            <a:endParaRPr/>
          </a:p>
        </p:txBody>
      </p:sp>
      <p:sp>
        <p:nvSpPr>
          <p:cNvPr id="92" name="Google Shape;92;p19"/>
          <p:cNvSpPr txBox="1"/>
          <p:nvPr>
            <p:ph idx="1" type="body"/>
          </p:nvPr>
        </p:nvSpPr>
        <p:spPr>
          <a:xfrm>
            <a:off x="375400" y="6907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Human-centred design </a:t>
            </a:r>
            <a:r>
              <a:rPr b="1" lang="it"/>
              <a:t>is an approach to interactive systems development</a:t>
            </a:r>
            <a:r>
              <a:rPr lang="it"/>
              <a:t> that </a:t>
            </a:r>
            <a:r>
              <a:rPr b="1" lang="it"/>
              <a:t>aims to make systems usable and useful by focusing on the users</a:t>
            </a:r>
            <a:r>
              <a:rPr lang="it"/>
              <a:t>, their needs and requirements, and by applying human factors/ergonomics, usability knowledge, and techniques. </a:t>
            </a:r>
            <a:endParaRPr/>
          </a:p>
          <a:p>
            <a:pPr indent="0" lvl="0" marL="0" rtl="0" algn="l">
              <a:spcBef>
                <a:spcPts val="1600"/>
              </a:spcBef>
              <a:spcAft>
                <a:spcPts val="0"/>
              </a:spcAft>
              <a:buNone/>
            </a:pPr>
            <a:r>
              <a:rPr b="1" lang="it"/>
              <a:t>This approach enhances effectiveness and efficiency</a:t>
            </a:r>
            <a:r>
              <a:rPr lang="it"/>
              <a:t>, improves human well-being, user satisfaction, accessibility and sustainability; and counteracts possible adverse effects of use on human health, safety and performance. </a:t>
            </a:r>
            <a:endParaRPr/>
          </a:p>
          <a:p>
            <a:pPr indent="0" lvl="0" marL="0" rtl="0" algn="l">
              <a:spcBef>
                <a:spcPts val="1600"/>
              </a:spcBef>
              <a:spcAft>
                <a:spcPts val="1600"/>
              </a:spcAft>
              <a:buNone/>
            </a:pPr>
            <a:r>
              <a:rPr lang="it"/>
              <a:t>ISO 9241-210:2010(E)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p:txBody>
      </p:sp>
      <p:sp>
        <p:nvSpPr>
          <p:cNvPr id="98" name="Google Shape;98;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Questo processo, apparentemente ovvio e banale, risulta </a:t>
            </a:r>
            <a:r>
              <a:rPr lang="it" u="sng"/>
              <a:t>in realtà estremamente difficile da applicare per gli informatici.</a:t>
            </a:r>
            <a:r>
              <a:rPr lang="it"/>
              <a:t> </a:t>
            </a:r>
            <a:endParaRPr/>
          </a:p>
          <a:p>
            <a:pPr indent="0" lvl="0" marL="0" rtl="0" algn="l">
              <a:spcBef>
                <a:spcPts val="1600"/>
              </a:spcBef>
              <a:spcAft>
                <a:spcPts val="0"/>
              </a:spcAft>
              <a:buClr>
                <a:schemeClr val="dk1"/>
              </a:buClr>
              <a:buSzPts val="1100"/>
              <a:buFont typeface="Arial"/>
              <a:buNone/>
            </a:pPr>
            <a:r>
              <a:rPr lang="it"/>
              <a:t>I tecnici infatti amano le funzioni e le funzionalità, amano le peculiarità tecniche dei sistemi e sono spesso spinti a sviluppare nuove soluzioni non tanto per risolvere il problema ma piuttosto per la soddisfazione personale di aver implementato qualcosa che prima non esisteva.</a:t>
            </a:r>
            <a:endParaRPr/>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Esempio di sviluppo tecno-centrico</a:t>
            </a:r>
            <a:endParaRPr/>
          </a:p>
        </p:txBody>
      </p:sp>
      <p:sp>
        <p:nvSpPr>
          <p:cNvPr id="104" name="Google Shape;104;p2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La blockchain, c</a:t>
            </a:r>
            <a:r>
              <a:rPr lang="it"/>
              <a:t>reata per diletto da degli appassionati di crittografia, ha dato vita alla prima criptomoneta della storia. </a:t>
            </a:r>
            <a:endParaRPr/>
          </a:p>
          <a:p>
            <a:pPr indent="0" lvl="0" marL="0" rtl="0" algn="l">
              <a:spcBef>
                <a:spcPts val="1600"/>
              </a:spcBef>
              <a:spcAft>
                <a:spcPts val="0"/>
              </a:spcAft>
              <a:buNone/>
            </a:pPr>
            <a:r>
              <a:rPr lang="it"/>
              <a:t>Dopo il boom di Bitcoin e delle altre cryptomonete è scoppiata la bolla blockchain dove tutti nel mondo IT hanno iniziato a dichiarare che grazie alla blockchain si sarebbe potuto innovare in maniera radicale tantissimi settori. </a:t>
            </a:r>
            <a:endParaRPr/>
          </a:p>
          <a:p>
            <a:pPr indent="0" lvl="0" marL="0" rtl="0" algn="l">
              <a:spcBef>
                <a:spcPts val="1600"/>
              </a:spcBef>
              <a:spcAft>
                <a:spcPts val="0"/>
              </a:spcAft>
              <a:buClr>
                <a:schemeClr val="dk1"/>
              </a:buClr>
              <a:buSzPts val="1100"/>
              <a:buFont typeface="Arial"/>
              <a:buNone/>
            </a:pPr>
            <a:r>
              <a:rPr lang="it"/>
              <a:t>Ad oggi in realtà non si è ancora trovata per la blockchain un’applicazione di successo alternativa alle cryptomonete e che non fosse in precedenza comunque realizzabile.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105" name="Google Shape;105;p21"/>
          <p:cNvPicPr preferRelativeResize="0"/>
          <p:nvPr/>
        </p:nvPicPr>
        <p:blipFill rotWithShape="1">
          <a:blip r:embed="rId3">
            <a:alphaModFix/>
          </a:blip>
          <a:srcRect b="28970" l="0" r="0" t="27530"/>
          <a:stretch/>
        </p:blipFill>
        <p:spPr>
          <a:xfrm>
            <a:off x="1829675" y="3306200"/>
            <a:ext cx="5484648" cy="1590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Esempio di sviluppo tecno-centrico</a:t>
            </a:r>
            <a:endParaRPr/>
          </a:p>
          <a:p>
            <a:pPr indent="0" lvl="0" marL="0" rtl="0" algn="l">
              <a:spcBef>
                <a:spcPts val="0"/>
              </a:spcBef>
              <a:spcAft>
                <a:spcPts val="0"/>
              </a:spcAft>
              <a:buNone/>
            </a:pPr>
            <a:r>
              <a:t/>
            </a:r>
            <a:endParaRPr/>
          </a:p>
        </p:txBody>
      </p:sp>
      <p:sp>
        <p:nvSpPr>
          <p:cNvPr id="111" name="Google Shape;111;p2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 dirla in altre parole, nessun utente ci ha chiesto di sviluppare la blockchain in quanto tale, c'era bisogno di scambiarsi denaro in maniera alternativa e quindi sono nate le cryptomonete e la blockchain è nata come tecnologia per abilitarle. </a:t>
            </a:r>
            <a:endParaRPr/>
          </a:p>
          <a:p>
            <a:pPr indent="0" lvl="0" marL="0" rtl="0" algn="l">
              <a:spcBef>
                <a:spcPts val="1600"/>
              </a:spcBef>
              <a:spcAft>
                <a:spcPts val="0"/>
              </a:spcAft>
              <a:buClr>
                <a:schemeClr val="dk1"/>
              </a:buClr>
              <a:buSzPts val="1100"/>
              <a:buFont typeface="Arial"/>
              <a:buNone/>
            </a:pPr>
            <a:r>
              <a:rPr lang="it"/>
              <a:t>Ora la corsa a cercare di applicare la blockchain ad altri settori non sta funzionando perché stiamo cercando un problema per una tecnologia e non una tecnologia per risolvere un problema!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112" name="Google Shape;112;p22"/>
          <p:cNvPicPr preferRelativeResize="0"/>
          <p:nvPr/>
        </p:nvPicPr>
        <p:blipFill rotWithShape="1">
          <a:blip r:embed="rId3">
            <a:alphaModFix/>
          </a:blip>
          <a:srcRect b="28970" l="0" r="0" t="27530"/>
          <a:stretch/>
        </p:blipFill>
        <p:spPr>
          <a:xfrm>
            <a:off x="1829675" y="3306200"/>
            <a:ext cx="5484648" cy="1590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Sviluppo Antropocentrico</a:t>
            </a:r>
            <a:endParaRPr/>
          </a:p>
        </p:txBody>
      </p:sp>
      <p:sp>
        <p:nvSpPr>
          <p:cNvPr id="118" name="Google Shape;118;p2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La morale di questo ragionamento è molto semplice: </a:t>
            </a:r>
            <a:r>
              <a:rPr lang="it" u="sng"/>
              <a:t>se vogliamo progettare tecnologia per le persone dobbiamo capire sia la tecnologia che le persone.</a:t>
            </a:r>
            <a:r>
              <a:rPr lang="it"/>
              <a:t> </a:t>
            </a:r>
            <a:endParaRPr/>
          </a:p>
          <a:p>
            <a:pPr indent="0" lvl="0" marL="0" rtl="0" algn="l">
              <a:spcBef>
                <a:spcPts val="1600"/>
              </a:spcBef>
              <a:spcAft>
                <a:spcPts val="1600"/>
              </a:spcAft>
              <a:buNone/>
            </a:pPr>
            <a:r>
              <a:rPr b="1" lang="it"/>
              <a:t>Dobbiamo smettere di progettare per le persone come vorremmo che fossero e iniziare a progettare per come realmente sono!</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24" name="Google Shape;124;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Human-centered design is a design philosophy. </a:t>
            </a:r>
            <a:endParaRPr/>
          </a:p>
          <a:p>
            <a:pPr indent="0" lvl="0" marL="0" rtl="0" algn="l">
              <a:spcBef>
                <a:spcPts val="1600"/>
              </a:spcBef>
              <a:spcAft>
                <a:spcPts val="0"/>
              </a:spcAft>
              <a:buNone/>
            </a:pPr>
            <a:r>
              <a:rPr lang="it"/>
              <a:t>It means starting with a good understanding of people and the needs that the design is intended to meet. </a:t>
            </a:r>
            <a:endParaRPr/>
          </a:p>
          <a:p>
            <a:pPr indent="0" lvl="0" marL="0" rtl="0" algn="l">
              <a:spcBef>
                <a:spcPts val="1600"/>
              </a:spcBef>
              <a:spcAft>
                <a:spcPts val="0"/>
              </a:spcAft>
              <a:buNone/>
            </a:pPr>
            <a:r>
              <a:rPr lang="it"/>
              <a:t>This understanding comes about primarily through </a:t>
            </a:r>
            <a:r>
              <a:rPr b="1" lang="it"/>
              <a:t>observation, for people themselves are often unaware of their true needs, </a:t>
            </a:r>
            <a:r>
              <a:rPr lang="it"/>
              <a:t>even unaware of the difficulties they are encountering. </a:t>
            </a:r>
            <a:endParaRPr/>
          </a:p>
          <a:p>
            <a:pPr indent="0" lvl="0" marL="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130" name="Google Shape;130;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human-centered design (HCD), </a:t>
            </a:r>
            <a:r>
              <a:rPr b="1" lang="it"/>
              <a:t>an approach that puts human needs, capabilities, and behavior first, then designs to accommodate those needs, </a:t>
            </a:r>
            <a:r>
              <a:rPr lang="it"/>
              <a:t>capabilities, and ways of behaving.</a:t>
            </a:r>
            <a:endParaRPr/>
          </a:p>
          <a:p>
            <a:pPr indent="0" lvl="0" marL="0" rtl="0" algn="l">
              <a:spcBef>
                <a:spcPts val="1600"/>
              </a:spcBef>
              <a:spcAft>
                <a:spcPts val="0"/>
              </a:spcAft>
              <a:buNone/>
            </a:pPr>
            <a:r>
              <a:rPr b="1" lang="it"/>
              <a:t>Good design requires good communication, </a:t>
            </a:r>
            <a:r>
              <a:rPr lang="it"/>
              <a:t>especially from machine to person, indicating what actions are possible, what is happening, and what is about to happen. </a:t>
            </a:r>
            <a:endParaRPr/>
          </a:p>
          <a:p>
            <a:pPr indent="0" lvl="0" marL="0" rtl="0" algn="l">
              <a:spcBef>
                <a:spcPts val="1600"/>
              </a:spcBef>
              <a:spcAft>
                <a:spcPts val="1600"/>
              </a:spcAft>
              <a:buNone/>
            </a:pPr>
            <a:r>
              <a:rPr b="1" lang="it"/>
              <a:t>Communication is especially important when things go wrong. </a:t>
            </a:r>
            <a:r>
              <a:rPr lang="it"/>
              <a:t>It is relatively easy to design things that work smoothly and harmoniously as long as things go right. But as soon as there is a problem or a misunderstanding, the problems arise.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36" name="Google Shape;136;p2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Designers need to </a:t>
            </a:r>
            <a:r>
              <a:rPr b="1" lang="it"/>
              <a:t>focus their attention on the cases where things go wrong</a:t>
            </a:r>
            <a:r>
              <a:rPr lang="it"/>
              <a:t>, not just on when things work as planned.</a:t>
            </a:r>
            <a:endParaRPr/>
          </a:p>
          <a:p>
            <a:pPr indent="0" lvl="0" marL="0" rtl="0" algn="l">
              <a:spcBef>
                <a:spcPts val="1600"/>
              </a:spcBef>
              <a:spcAft>
                <a:spcPts val="0"/>
              </a:spcAft>
              <a:buNone/>
            </a:pPr>
            <a:r>
              <a:rPr lang="it"/>
              <a:t>Actually, this is where the most satisfaction can arise: when something goes wrong but the machine highlights the problems, then the person understands the issue, takes the proper actions, and the problem is solved. </a:t>
            </a:r>
            <a:endParaRPr/>
          </a:p>
          <a:p>
            <a:pPr indent="0" lvl="0" marL="0" rtl="0" algn="l">
              <a:spcBef>
                <a:spcPts val="1600"/>
              </a:spcBef>
              <a:spcAft>
                <a:spcPts val="0"/>
              </a:spcAft>
              <a:buClr>
                <a:schemeClr val="dk1"/>
              </a:buClr>
              <a:buSzPts val="1100"/>
              <a:buFont typeface="Arial"/>
              <a:buNone/>
            </a:pPr>
            <a:r>
              <a:rPr lang="it"/>
              <a:t>When this happens smoothly, the collaboration of person and device feels wonderful.</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Viva i Bug! Viva i crash! </a:t>
            </a:r>
            <a:endParaRPr/>
          </a:p>
        </p:txBody>
      </p:sp>
      <p:sp>
        <p:nvSpPr>
          <p:cNvPr id="142" name="Google Shape;142;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Non bisogna aver paura che l'utente abbia problemi o che il nostro software abbia degli errori o bug, è inevitabile che questo accada. </a:t>
            </a:r>
            <a:endParaRPr/>
          </a:p>
          <a:p>
            <a:pPr indent="0" lvl="0" marL="0" rtl="0" algn="l">
              <a:spcBef>
                <a:spcPts val="1600"/>
              </a:spcBef>
              <a:spcAft>
                <a:spcPts val="0"/>
              </a:spcAft>
              <a:buClr>
                <a:schemeClr val="dk1"/>
              </a:buClr>
              <a:buSzPts val="1100"/>
              <a:buFont typeface="Arial"/>
              <a:buNone/>
            </a:pPr>
            <a:r>
              <a:rPr lang="it"/>
              <a:t>E' importante quindi progettare </a:t>
            </a:r>
            <a:r>
              <a:rPr lang="it"/>
              <a:t>perché</a:t>
            </a:r>
            <a:r>
              <a:rPr lang="it"/>
              <a:t> </a:t>
            </a:r>
            <a:r>
              <a:rPr lang="it" u="sng"/>
              <a:t>l'utente</a:t>
            </a:r>
            <a:r>
              <a:rPr lang="it" u="sng"/>
              <a:t> venga guidato nella risoluzione e gestione dell'errore senza provare frustrazione</a:t>
            </a:r>
            <a:r>
              <a:rPr lang="it"/>
              <a:t>. Avremo così un utente soddisfatto. </a:t>
            </a:r>
            <a:endParaRPr/>
          </a:p>
          <a:p>
            <a:pPr indent="0" lvl="0" marL="0" rtl="0" algn="l">
              <a:spcBef>
                <a:spcPts val="160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Le emozioni degli utenti</a:t>
            </a:r>
            <a:endParaRPr/>
          </a:p>
        </p:txBody>
      </p:sp>
      <p:sp>
        <p:nvSpPr>
          <p:cNvPr id="148" name="Google Shape;148;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L'esperienza di utilizzo produce emozioni negli utenti, più emozioni positive (successi) l'utente avrà e migliore sarà la percezione che avrà del nostro prodotto. </a:t>
            </a:r>
            <a:endParaRPr/>
          </a:p>
          <a:p>
            <a:pPr indent="0" lvl="0" marL="0" rtl="0" algn="l">
              <a:spcBef>
                <a:spcPts val="1600"/>
              </a:spcBef>
              <a:spcAft>
                <a:spcPts val="0"/>
              </a:spcAft>
              <a:buClr>
                <a:schemeClr val="dk1"/>
              </a:buClr>
              <a:buSzPts val="1100"/>
              <a:buFont typeface="Arial"/>
              <a:buNone/>
            </a:pPr>
            <a:r>
              <a:rPr lang="it"/>
              <a:t>E' importante sottolineare inoltre che </a:t>
            </a:r>
            <a:r>
              <a:rPr lang="it" u="sng"/>
              <a:t>i ricordi hanno la capacità di far provare emozioni più profonde rispetto al presente.</a:t>
            </a:r>
            <a:r>
              <a:rPr lang="it"/>
              <a:t> </a:t>
            </a:r>
            <a:endParaRPr/>
          </a:p>
          <a:p>
            <a:pPr indent="0" lvl="0" marL="0" rtl="0" algn="l">
              <a:spcBef>
                <a:spcPts val="1600"/>
              </a:spcBef>
              <a:spcAft>
                <a:spcPts val="0"/>
              </a:spcAft>
              <a:buClr>
                <a:schemeClr val="dk1"/>
              </a:buClr>
              <a:buSzPts val="1100"/>
              <a:buFont typeface="Arial"/>
              <a:buNone/>
            </a:pPr>
            <a:r>
              <a:rPr lang="it"/>
              <a:t>Un utente che di fronte ad un problema riesce a risolverlo perché ben guidato dalla tecnologia avrà memoria di un suo successo. Questo tipo di sensazioni sono molto forti e se associate al prodotto fanno si che l'utente sviluppi empatia per il prodotto e che quindi lo apprezzi e ne senta il bisogno.</a:t>
            </a:r>
            <a:endParaRPr/>
          </a:p>
          <a:p>
            <a:pPr indent="0" lvl="0" marL="0" rtl="0" algn="l">
              <a:spcBef>
                <a:spcPts val="1600"/>
              </a:spcBef>
              <a:spcAft>
                <a:spcPts val="0"/>
              </a:spcAft>
              <a:buClr>
                <a:schemeClr val="dk1"/>
              </a:buClr>
              <a:buSzPts val="1100"/>
              <a:buFont typeface="Arial"/>
              <a:buNone/>
            </a:pPr>
            <a:r>
              <a:rPr lang="it"/>
              <a:t>L'obiettivo dello HCD deve essere quindi quello di </a:t>
            </a:r>
            <a:r>
              <a:rPr b="1" lang="it"/>
              <a:t>creare nell'utente empatia verso il sistema</a:t>
            </a:r>
            <a:r>
              <a:rPr lang="it"/>
              <a:t>.</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54" name="Google Shape;154;p2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Getting the specification of the thing to be defined is one of the most difficult parts of the design, so much so that the </a:t>
            </a:r>
            <a:r>
              <a:rPr b="1" lang="it"/>
              <a:t>HCD principle is to avoid specifying the problem as long as possible but instead to iterate upon repeated approximations. </a:t>
            </a:r>
            <a:endParaRPr b="1"/>
          </a:p>
          <a:p>
            <a:pPr indent="0" lvl="0" marL="0" rtl="0" algn="l">
              <a:spcBef>
                <a:spcPts val="1600"/>
              </a:spcBef>
              <a:spcAft>
                <a:spcPts val="0"/>
              </a:spcAft>
              <a:buClr>
                <a:schemeClr val="dk1"/>
              </a:buClr>
              <a:buSzPts val="1100"/>
              <a:buFont typeface="Arial"/>
              <a:buNone/>
            </a:pPr>
            <a:r>
              <a:rPr lang="it"/>
              <a:t>This is done through rapid tests of ideas, and after each test modifying the approach and the problem definition.</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60" name="Google Shape;160;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L'HCD è quindi una forma di pensiero ed è quindi compatibile con le varie discipline del design di prodotto che abbiamo precedentemente introdotto </a:t>
            </a:r>
            <a:endParaRPr/>
          </a:p>
          <a:p>
            <a:pPr indent="0" lvl="0" marL="0" rtl="0" algn="l">
              <a:spcBef>
                <a:spcPts val="1600"/>
              </a:spcBef>
              <a:spcAft>
                <a:spcPts val="0"/>
              </a:spcAft>
              <a:buClr>
                <a:schemeClr val="dk1"/>
              </a:buClr>
              <a:buSzPts val="1100"/>
              <a:buFont typeface="Arial"/>
              <a:buNone/>
            </a:pPr>
            <a:r>
              <a:rPr lang="it"/>
              <a:t>Si può infatti applicare il pensiero HCD sia al design industriale che alla progettazione dell'interazione o dell'esperienza utente, lo </a:t>
            </a:r>
            <a:r>
              <a:rPr b="1" lang="it"/>
              <a:t>HCD non è un'area o un metodo, è una forma di pensiero.</a:t>
            </a:r>
            <a:endParaRPr/>
          </a:p>
          <a:p>
            <a:pPr indent="0" lvl="0" marL="0" rtl="0" algn="l">
              <a:spcBef>
                <a:spcPts val="1600"/>
              </a:spcBef>
              <a:spcAft>
                <a:spcPts val="1600"/>
              </a:spcAft>
              <a:buNone/>
            </a:pPr>
            <a:r>
              <a:t/>
            </a:r>
            <a:endParaRPr/>
          </a:p>
        </p:txBody>
      </p:sp>
      <p:pic>
        <p:nvPicPr>
          <p:cNvPr id="161" name="Google Shape;161;p30"/>
          <p:cNvPicPr preferRelativeResize="0"/>
          <p:nvPr/>
        </p:nvPicPr>
        <p:blipFill>
          <a:blip r:embed="rId3">
            <a:alphaModFix/>
          </a:blip>
          <a:stretch>
            <a:fillRect/>
          </a:stretch>
        </p:blipFill>
        <p:spPr>
          <a:xfrm>
            <a:off x="1652588" y="2943225"/>
            <a:ext cx="5838825" cy="2000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167" name="Google Shape;167;p3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it" sz="1500">
                <a:solidFill>
                  <a:srgbClr val="616161"/>
                </a:solidFill>
                <a:highlight>
                  <a:srgbClr val="FFFFFF"/>
                </a:highlight>
              </a:rPr>
              <a:t>Human-centered design is a creative approach to problem solving […]. It’s a process that starts with the people you’re designing for and ends with new solutions that are tailor made to suit their needs. Human-centered design is all about building a deep empathy with the people you’re designing for.</a:t>
            </a:r>
            <a:endParaRPr i="1" sz="1500">
              <a:solidFill>
                <a:srgbClr val="616161"/>
              </a:solidFill>
              <a:highlight>
                <a:srgbClr val="FFFFFF"/>
              </a:highlight>
            </a:endParaRPr>
          </a:p>
          <a:p>
            <a:pPr indent="0" lvl="0" marL="0" rtl="0" algn="l">
              <a:spcBef>
                <a:spcPts val="1600"/>
              </a:spcBef>
              <a:spcAft>
                <a:spcPts val="0"/>
              </a:spcAft>
              <a:buNone/>
            </a:pPr>
            <a:r>
              <a:rPr lang="it" sz="1500">
                <a:solidFill>
                  <a:srgbClr val="616161"/>
                </a:solidFill>
                <a:highlight>
                  <a:srgbClr val="FFFFFF"/>
                </a:highlight>
              </a:rPr>
              <a:t>— fonte: </a:t>
            </a:r>
            <a:r>
              <a:rPr lang="it" sz="1500">
                <a:solidFill>
                  <a:srgbClr val="243C3F"/>
                </a:solidFill>
                <a:highlight>
                  <a:srgbClr val="FFFFFF"/>
                </a:highlight>
                <a:uFill>
                  <a:noFill/>
                </a:uFill>
                <a:hlinkClick r:id="rId3">
                  <a:extLst>
                    <a:ext uri="{A12FA001-AC4F-418D-AE19-62706E023703}">
                      <ahyp:hlinkClr val="tx"/>
                    </a:ext>
                  </a:extLst>
                </a:hlinkClick>
              </a:rPr>
              <a:t>www.designkit.org/human-centered-design</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it"/>
              <a:t>D. Norman HCD principles </a:t>
            </a:r>
            <a:r>
              <a:rPr lang="it" sz="1100" u="sng">
                <a:solidFill>
                  <a:schemeClr val="hlink"/>
                </a:solidFill>
                <a:hlinkClick r:id="rId4"/>
              </a:rPr>
              <a:t>https://www.youtube.com/watch?v=rmM0kRf8Dbk&amp;ab_channel=NNgroup</a:t>
            </a:r>
            <a:endParaRPr sz="1100"/>
          </a:p>
          <a:p>
            <a:pPr indent="0" lvl="0" marL="0" rtl="0" algn="l">
              <a:spcBef>
                <a:spcPts val="1600"/>
              </a:spcBef>
              <a:spcAft>
                <a:spcPts val="1600"/>
              </a:spcAft>
              <a:buNone/>
            </a:pPr>
            <a:r>
              <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173" name="Google Shape;173;p3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 sottolineare quanto l'HCD sia ritenuto oggigiorno fondamentale per la progettazione di sistemi destinati all'utilizzo umano, è importante ricordare che il design antropocentrico è ormai parte della norma ISO EU. </a:t>
            </a:r>
            <a:endParaRPr/>
          </a:p>
          <a:p>
            <a:pPr indent="0" lvl="0" marL="0" rtl="0" algn="l">
              <a:spcBef>
                <a:spcPts val="1600"/>
              </a:spcBef>
              <a:spcAft>
                <a:spcPts val="0"/>
              </a:spcAft>
              <a:buClr>
                <a:schemeClr val="dk1"/>
              </a:buClr>
              <a:buSzPts val="1100"/>
              <a:buFont typeface="Arial"/>
              <a:buNone/>
            </a:pPr>
            <a:r>
              <a:rPr b="1" lang="it" sz="1300"/>
              <a:t>ISO 9241-210:2019 Ergonomics of human-system interaction Part 210: Human-centred design for interactive systems</a:t>
            </a:r>
            <a:endParaRPr/>
          </a:p>
          <a:p>
            <a:pPr indent="0" lvl="0" marL="0" rtl="0" algn="l">
              <a:spcBef>
                <a:spcPts val="1600"/>
              </a:spcBef>
              <a:spcAft>
                <a:spcPts val="0"/>
              </a:spcAft>
              <a:buClr>
                <a:schemeClr val="dk1"/>
              </a:buClr>
              <a:buSzPts val="1100"/>
              <a:buFont typeface="Arial"/>
              <a:buNone/>
            </a:pPr>
            <a:r>
              <a:rPr i="1" lang="it" sz="1400"/>
              <a:t>This document provides requirements and recommendations for human-centred design principles and activities throughout the life cycle of computer-based interactive systems. It is intended to be used by those managing design processes, and is concerned with ways in which both hardware and software components of interactive systems can enhance human-system interaction.</a:t>
            </a:r>
            <a:endParaRPr/>
          </a:p>
          <a:p>
            <a:pPr indent="0" lvl="0" marL="0" rtl="0" algn="l">
              <a:spcBef>
                <a:spcPts val="160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179" name="Google Shape;179;p3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Un buon processo HCD parte sempre dall'osservazione dell'utente e dei suoi bisogni. </a:t>
            </a:r>
            <a:endParaRPr/>
          </a:p>
          <a:p>
            <a:pPr indent="0" lvl="0" marL="0" rtl="0" algn="l">
              <a:spcBef>
                <a:spcPts val="1600"/>
              </a:spcBef>
              <a:spcAft>
                <a:spcPts val="0"/>
              </a:spcAft>
              <a:buNone/>
            </a:pPr>
            <a:r>
              <a:rPr lang="it"/>
              <a:t>Tuttavia, tale osservazione non è sempre possibile o facile da attuare. </a:t>
            </a:r>
            <a:endParaRPr/>
          </a:p>
          <a:p>
            <a:pPr indent="0" lvl="0" marL="0" rtl="0" algn="l">
              <a:spcBef>
                <a:spcPts val="1600"/>
              </a:spcBef>
              <a:spcAft>
                <a:spcPts val="0"/>
              </a:spcAft>
              <a:buClr>
                <a:schemeClr val="dk1"/>
              </a:buClr>
              <a:buSzPts val="1100"/>
              <a:buFont typeface="Arial"/>
              <a:buNone/>
            </a:pPr>
            <a:r>
              <a:rPr lang="it"/>
              <a:t>Analizzeremo varie tecniche di prototipazione rapida e metodi di lavoro finalizzati all'estrazione veloce di bisogni utente e all'esecuzione rapida e a basso costo di test.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4"/>
          <p:cNvSpPr txBox="1"/>
          <p:nvPr>
            <p:ph idx="1" type="body"/>
          </p:nvPr>
        </p:nvSpPr>
        <p:spPr>
          <a:xfrm>
            <a:off x="311700" y="619075"/>
            <a:ext cx="5007000" cy="432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1400"/>
              <a:t>Possiamo schematizzare un processo di HCD come un flusso continuo ed iterativo che attraversa le seguenti fasi: </a:t>
            </a:r>
            <a:endParaRPr sz="1400"/>
          </a:p>
          <a:p>
            <a:pPr indent="-317500" lvl="0" marL="457200" rtl="0" algn="l">
              <a:spcBef>
                <a:spcPts val="1600"/>
              </a:spcBef>
              <a:spcAft>
                <a:spcPts val="0"/>
              </a:spcAft>
              <a:buSzPts val="1400"/>
              <a:buChar char="●"/>
            </a:pPr>
            <a:r>
              <a:rPr b="1" lang="it" sz="1400"/>
              <a:t>Specificare il contesto d'uso:</a:t>
            </a:r>
            <a:r>
              <a:rPr lang="it" sz="1400"/>
              <a:t> identificare gli utenti che utilizzeranno il prodotto, per cosa lo utilizzeranno e sotto quale condizioni e vincoli;</a:t>
            </a:r>
            <a:endParaRPr sz="1400"/>
          </a:p>
          <a:p>
            <a:pPr indent="-317500" lvl="0" marL="457200" rtl="0" algn="l">
              <a:spcBef>
                <a:spcPts val="0"/>
              </a:spcBef>
              <a:spcAft>
                <a:spcPts val="0"/>
              </a:spcAft>
              <a:buSzPts val="1400"/>
              <a:buChar char="●"/>
            </a:pPr>
            <a:r>
              <a:rPr b="1" lang="it" sz="1400"/>
              <a:t>Specificare i Requirements:</a:t>
            </a:r>
            <a:r>
              <a:rPr lang="it" sz="1400"/>
              <a:t> Identificare i business requirement e gli obiettivi utente che devono essere raggiunti grazie all'utilizzo del software;</a:t>
            </a:r>
            <a:endParaRPr sz="1400"/>
          </a:p>
          <a:p>
            <a:pPr indent="-317500" lvl="0" marL="457200" rtl="0" algn="l">
              <a:spcBef>
                <a:spcPts val="0"/>
              </a:spcBef>
              <a:spcAft>
                <a:spcPts val="0"/>
              </a:spcAft>
              <a:buSzPts val="1400"/>
              <a:buChar char="●"/>
            </a:pPr>
            <a:r>
              <a:rPr b="1" lang="it" sz="1400"/>
              <a:t>Progettare la soluzione:</a:t>
            </a:r>
            <a:r>
              <a:rPr lang="it" sz="1400"/>
              <a:t> questa fase può essere a sua volta spacchettata in sotto fasi iterative. Si passa tipicamente da delle bozze a dei prototipi e poi alla soluzione;</a:t>
            </a:r>
            <a:endParaRPr sz="1400"/>
          </a:p>
          <a:p>
            <a:pPr indent="-317500" lvl="0" marL="457200" rtl="0" algn="l">
              <a:spcBef>
                <a:spcPts val="0"/>
              </a:spcBef>
              <a:spcAft>
                <a:spcPts val="0"/>
              </a:spcAft>
              <a:buSzPts val="1400"/>
              <a:buChar char="●"/>
            </a:pPr>
            <a:r>
              <a:rPr b="1" lang="it" sz="1400"/>
              <a:t>Testare e valutare:</a:t>
            </a:r>
            <a:r>
              <a:rPr lang="it" sz="1400"/>
              <a:t> è fondamentale testare e quindi valutare il sistema così da poter iniziare il ciclo sulla base dei risultati dei test e quindi procedere ad uno sviluppo e miglioramento incrementale.</a:t>
            </a:r>
            <a:endParaRPr sz="1400"/>
          </a:p>
          <a:p>
            <a:pPr indent="0" lvl="0" marL="0" rtl="0" algn="l">
              <a:spcBef>
                <a:spcPts val="1600"/>
              </a:spcBef>
              <a:spcAft>
                <a:spcPts val="0"/>
              </a:spcAft>
              <a:buClr>
                <a:schemeClr val="dk1"/>
              </a:buClr>
              <a:buSzPts val="1100"/>
              <a:buFont typeface="Arial"/>
              <a:buNone/>
            </a:pPr>
            <a:r>
              <a:t/>
            </a:r>
            <a:endParaRPr sz="1400"/>
          </a:p>
          <a:p>
            <a:pPr indent="0" lvl="0" marL="0" rtl="0" algn="l">
              <a:spcBef>
                <a:spcPts val="1600"/>
              </a:spcBef>
              <a:spcAft>
                <a:spcPts val="1600"/>
              </a:spcAft>
              <a:buNone/>
            </a:pPr>
            <a:r>
              <a:t/>
            </a:r>
            <a:endParaRPr sz="1400"/>
          </a:p>
        </p:txBody>
      </p:sp>
      <p:pic>
        <p:nvPicPr>
          <p:cNvPr id="186" name="Google Shape;186;p34"/>
          <p:cNvPicPr preferRelativeResize="0"/>
          <p:nvPr/>
        </p:nvPicPr>
        <p:blipFill>
          <a:blip r:embed="rId3">
            <a:alphaModFix/>
          </a:blip>
          <a:stretch>
            <a:fillRect/>
          </a:stretch>
        </p:blipFill>
        <p:spPr>
          <a:xfrm>
            <a:off x="5407275" y="884675"/>
            <a:ext cx="3637675" cy="3726950"/>
          </a:xfrm>
          <a:prstGeom prst="rect">
            <a:avLst/>
          </a:prstGeom>
          <a:noFill/>
          <a:ln>
            <a:noFill/>
          </a:ln>
        </p:spPr>
      </p:pic>
      <p:sp>
        <p:nvSpPr>
          <p:cNvPr id="187" name="Google Shape;187;p34"/>
          <p:cNvSpPr txBox="1"/>
          <p:nvPr/>
        </p:nvSpPr>
        <p:spPr>
          <a:xfrm>
            <a:off x="5565500" y="4611625"/>
            <a:ext cx="35271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800" u="sng">
                <a:solidFill>
                  <a:schemeClr val="hlink"/>
                </a:solidFill>
                <a:hlinkClick r:id="rId4"/>
              </a:rPr>
              <a:t>https://www.usability.gov/what-and-why/user-centered-design.html</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193" name="Google Shape;193;p3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 ora, al fine di inquadrare meglio la filosofia HCD nel contesto dello sviluppo software vi basti pensare che le versioni alfa e beta dei nostri software possono diventare potenti strumenti di analisi degli utenti. Le versioni di test non servono quindi solamente a fare debugging del codice e delle funzioni, ma servono anche e </a:t>
            </a:r>
            <a:r>
              <a:rPr lang="it"/>
              <a:t>soprattutto</a:t>
            </a:r>
            <a:r>
              <a:rPr lang="it"/>
              <a:t> a capire che cosa fanno e come si comportano gli utenti durante l'utilizzo del nostro software.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rPr lang="it"/>
              <a:t>Nello sviluppo software diventa quindi indispensabile abilitare dei sistemi di tracking dell'utente finalizzati alla produzione di statistiche di utilizzo.</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